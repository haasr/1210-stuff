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512" r:id="rId2"/>
    <p:sldId id="351" r:id="rId3"/>
    <p:sldId id="293" r:id="rId4"/>
    <p:sldId id="294" r:id="rId5"/>
    <p:sldId id="295" r:id="rId6"/>
    <p:sldId id="297" r:id="rId7"/>
    <p:sldId id="325" r:id="rId8"/>
    <p:sldId id="324" r:id="rId9"/>
    <p:sldId id="296" r:id="rId10"/>
    <p:sldId id="298" r:id="rId11"/>
    <p:sldId id="301" r:id="rId12"/>
    <p:sldId id="302" r:id="rId13"/>
    <p:sldId id="303" r:id="rId14"/>
    <p:sldId id="331" r:id="rId15"/>
    <p:sldId id="332" r:id="rId16"/>
    <p:sldId id="514" r:id="rId17"/>
    <p:sldId id="334" r:id="rId18"/>
    <p:sldId id="335" r:id="rId19"/>
    <p:sldId id="336" r:id="rId20"/>
    <p:sldId id="342" r:id="rId21"/>
    <p:sldId id="337" r:id="rId22"/>
    <p:sldId id="338" r:id="rId23"/>
    <p:sldId id="339" r:id="rId24"/>
    <p:sldId id="340" r:id="rId25"/>
    <p:sldId id="341" r:id="rId26"/>
    <p:sldId id="333" r:id="rId27"/>
    <p:sldId id="305" r:id="rId28"/>
    <p:sldId id="306" r:id="rId29"/>
    <p:sldId id="307" r:id="rId30"/>
    <p:sldId id="308" r:id="rId31"/>
    <p:sldId id="309" r:id="rId32"/>
    <p:sldId id="310" r:id="rId33"/>
    <p:sldId id="312" r:id="rId34"/>
    <p:sldId id="313" r:id="rId35"/>
    <p:sldId id="314" r:id="rId36"/>
    <p:sldId id="315" r:id="rId37"/>
    <p:sldId id="316" r:id="rId38"/>
    <p:sldId id="326" r:id="rId39"/>
    <p:sldId id="317" r:id="rId40"/>
    <p:sldId id="319" r:id="rId41"/>
    <p:sldId id="327" r:id="rId42"/>
    <p:sldId id="311" r:id="rId43"/>
    <p:sldId id="321" r:id="rId44"/>
    <p:sldId id="322" r:id="rId45"/>
    <p:sldId id="328" r:id="rId46"/>
    <p:sldId id="343" r:id="rId47"/>
    <p:sldId id="344" r:id="rId48"/>
    <p:sldId id="345" r:id="rId49"/>
    <p:sldId id="346" r:id="rId50"/>
    <p:sldId id="347" r:id="rId51"/>
    <p:sldId id="348" r:id="rId52"/>
    <p:sldId id="349" r:id="rId53"/>
    <p:sldId id="29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6EDD3"/>
    <a:srgbClr val="1D8B59"/>
    <a:srgbClr val="26B474"/>
    <a:srgbClr val="DBD4EC"/>
    <a:srgbClr val="BBAEDC"/>
    <a:srgbClr val="F7CDC4"/>
    <a:srgbClr val="C43E1C"/>
    <a:srgbClr val="3376CC"/>
    <a:srgbClr val="8DB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867" autoAdjust="0"/>
  </p:normalViewPr>
  <p:slideViewPr>
    <p:cSldViewPr snapToGrid="0">
      <p:cViewPr varScale="1">
        <p:scale>
          <a:sx n="87" d="100"/>
          <a:sy n="87" d="100"/>
        </p:scale>
        <p:origin x="1422" y="90"/>
      </p:cViewPr>
      <p:guideLst/>
    </p:cSldViewPr>
  </p:slideViewPr>
  <p:notesTextViewPr>
    <p:cViewPr>
      <p:scale>
        <a:sx n="1" d="1"/>
        <a:sy n="1" d="1"/>
      </p:scale>
      <p:origin x="0" y="0"/>
    </p:cViewPr>
  </p:notesTextViewPr>
  <p:sorterViewPr>
    <p:cViewPr>
      <p:scale>
        <a:sx n="100" d="100"/>
        <a:sy n="100" d="100"/>
      </p:scale>
      <p:origin x="0" y="-3570"/>
    </p:cViewPr>
  </p:sorter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image" Target="../media/image31.svg"/></Relationships>
</file>

<file path=ppt/diagrams/_rels/data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image" Target="../media/image48.svg"/><Relationship Id="rId4" Type="http://schemas.openxmlformats.org/officeDocument/2006/relationships/image" Target="../media/image51.svg"/></Relationships>
</file>

<file path=ppt/diagrams/_rels/data3.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svg"/><Relationship Id="rId1" Type="http://schemas.openxmlformats.org/officeDocument/2006/relationships/image" Target="../media/image5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image" Target="../media/image3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image" Target="../media/image48.svg"/><Relationship Id="rId4" Type="http://schemas.openxmlformats.org/officeDocument/2006/relationships/image" Target="../media/image5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svg"/><Relationship Id="rId1" Type="http://schemas.openxmlformats.org/officeDocument/2006/relationships/image" Target="../media/image52.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523D9A-13BF-4A4E-BC7D-08FFF7E4CDC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E193A89-7EAD-42B2-8EF9-E4F438936BF6}">
      <dgm:prSet/>
      <dgm:spPr/>
      <dgm:t>
        <a:bodyPr/>
        <a:lstStyle/>
        <a:p>
          <a:r>
            <a:rPr lang="en-US" dirty="0">
              <a:solidFill>
                <a:schemeClr val="tx2">
                  <a:lumMod val="50000"/>
                </a:schemeClr>
              </a:solidFill>
            </a:rPr>
            <a:t>There are many companies from whom you can purchase a domain</a:t>
          </a:r>
        </a:p>
      </dgm:t>
    </dgm:pt>
    <dgm:pt modelId="{5DB94C8F-4C1B-487A-B02B-8AB3C2102EF9}" type="parTrans" cxnId="{AF74F75D-D9F5-4722-9A52-695F916F7365}">
      <dgm:prSet/>
      <dgm:spPr/>
      <dgm:t>
        <a:bodyPr/>
        <a:lstStyle/>
        <a:p>
          <a:endParaRPr lang="en-US"/>
        </a:p>
      </dgm:t>
    </dgm:pt>
    <dgm:pt modelId="{D81992A9-A3DC-4FA2-8540-FC297F528F8C}" type="sibTrans" cxnId="{AF74F75D-D9F5-4722-9A52-695F916F7365}">
      <dgm:prSet/>
      <dgm:spPr/>
      <dgm:t>
        <a:bodyPr/>
        <a:lstStyle/>
        <a:p>
          <a:endParaRPr lang="en-US"/>
        </a:p>
      </dgm:t>
    </dgm:pt>
    <dgm:pt modelId="{1383307E-2690-46D1-ACBB-AD7755FF7D91}">
      <dgm:prSet/>
      <dgm:spPr/>
      <dgm:t>
        <a:bodyPr/>
        <a:lstStyle/>
        <a:p>
          <a:r>
            <a:rPr lang="en-US" dirty="0">
              <a:solidFill>
                <a:schemeClr val="tx2">
                  <a:lumMod val="50000"/>
                </a:schemeClr>
              </a:solidFill>
            </a:rPr>
            <a:t>The Internet Corporation for Assigned Names and Numbers (ICANN) is the agency that is actually responsible for, among other things, domain registration</a:t>
          </a:r>
        </a:p>
      </dgm:t>
    </dgm:pt>
    <dgm:pt modelId="{38F6B8E6-24A9-4DFD-9884-B53ADA79E1C3}" type="parTrans" cxnId="{99DC2163-5270-47D4-BE9D-95920905D8D1}">
      <dgm:prSet/>
      <dgm:spPr/>
      <dgm:t>
        <a:bodyPr/>
        <a:lstStyle/>
        <a:p>
          <a:endParaRPr lang="en-US"/>
        </a:p>
      </dgm:t>
    </dgm:pt>
    <dgm:pt modelId="{8BEA529B-C54A-495F-B608-0D199F05BD3F}" type="sibTrans" cxnId="{99DC2163-5270-47D4-BE9D-95920905D8D1}">
      <dgm:prSet/>
      <dgm:spPr/>
      <dgm:t>
        <a:bodyPr/>
        <a:lstStyle/>
        <a:p>
          <a:endParaRPr lang="en-US"/>
        </a:p>
      </dgm:t>
    </dgm:pt>
    <dgm:pt modelId="{A10655A1-F8F6-443E-B10F-2C89718D51A8}">
      <dgm:prSet/>
      <dgm:spPr>
        <a:solidFill>
          <a:schemeClr val="accent4">
            <a:lumMod val="20000"/>
            <a:lumOff val="80000"/>
          </a:schemeClr>
        </a:solidFill>
      </dgm:spPr>
      <dgm:t>
        <a:bodyPr/>
        <a:lstStyle/>
        <a:p>
          <a:r>
            <a:rPr lang="en-US" dirty="0">
              <a:solidFill>
                <a:schemeClr val="tx2">
                  <a:lumMod val="50000"/>
                </a:schemeClr>
              </a:solidFill>
            </a:rPr>
            <a:t>Other companies, such as GoDaddy, act as middlemen between their customers and ICANN</a:t>
          </a:r>
        </a:p>
      </dgm:t>
    </dgm:pt>
    <dgm:pt modelId="{288C62EE-3594-451B-94A6-17487D05B113}" type="parTrans" cxnId="{D0C41EED-0DEB-4A21-B86A-F77D876A97DA}">
      <dgm:prSet/>
      <dgm:spPr/>
      <dgm:t>
        <a:bodyPr/>
        <a:lstStyle/>
        <a:p>
          <a:endParaRPr lang="en-US"/>
        </a:p>
      </dgm:t>
    </dgm:pt>
    <dgm:pt modelId="{D94E32D1-DD31-4642-BD58-367820E44284}" type="sibTrans" cxnId="{D0C41EED-0DEB-4A21-B86A-F77D876A97DA}">
      <dgm:prSet/>
      <dgm:spPr/>
      <dgm:t>
        <a:bodyPr/>
        <a:lstStyle/>
        <a:p>
          <a:endParaRPr lang="en-US"/>
        </a:p>
      </dgm:t>
    </dgm:pt>
    <dgm:pt modelId="{05EEE0F1-88D4-4DBF-97DF-7FDA5E44BD81}" type="pres">
      <dgm:prSet presAssocID="{8B523D9A-13BF-4A4E-BC7D-08FFF7E4CDC4}" presName="root" presStyleCnt="0">
        <dgm:presLayoutVars>
          <dgm:dir/>
          <dgm:resizeHandles val="exact"/>
        </dgm:presLayoutVars>
      </dgm:prSet>
      <dgm:spPr/>
    </dgm:pt>
    <dgm:pt modelId="{D4D2CD4A-1D16-49C4-83AD-36D12CD35905}" type="pres">
      <dgm:prSet presAssocID="{EE193A89-7EAD-42B2-8EF9-E4F438936BF6}" presName="compNode" presStyleCnt="0"/>
      <dgm:spPr/>
    </dgm:pt>
    <dgm:pt modelId="{777342D0-B1D8-41C0-843D-BDCB5332CDCD}" type="pres">
      <dgm:prSet presAssocID="{EE193A89-7EAD-42B2-8EF9-E4F438936BF6}" presName="bgRect" presStyleLbl="bgShp" presStyleIdx="0" presStyleCnt="3"/>
      <dgm:spPr>
        <a:solidFill>
          <a:schemeClr val="accent2">
            <a:lumMod val="20000"/>
            <a:lumOff val="80000"/>
          </a:schemeClr>
        </a:solidFill>
      </dgm:spPr>
    </dgm:pt>
    <dgm:pt modelId="{A4AB070E-A566-4D35-B68A-D4D12F312751}" type="pres">
      <dgm:prSet presAssocID="{EE193A89-7EAD-42B2-8EF9-E4F438936BF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uilding"/>
        </a:ext>
      </dgm:extLst>
    </dgm:pt>
    <dgm:pt modelId="{A2B9947D-87B1-435E-BBB0-219AC0C14420}" type="pres">
      <dgm:prSet presAssocID="{EE193A89-7EAD-42B2-8EF9-E4F438936BF6}" presName="spaceRect" presStyleCnt="0"/>
      <dgm:spPr/>
    </dgm:pt>
    <dgm:pt modelId="{EFC5231E-B8AC-4667-884A-A6013534D06F}" type="pres">
      <dgm:prSet presAssocID="{EE193A89-7EAD-42B2-8EF9-E4F438936BF6}" presName="parTx" presStyleLbl="revTx" presStyleIdx="0" presStyleCnt="3">
        <dgm:presLayoutVars>
          <dgm:chMax val="0"/>
          <dgm:chPref val="0"/>
        </dgm:presLayoutVars>
      </dgm:prSet>
      <dgm:spPr/>
    </dgm:pt>
    <dgm:pt modelId="{D8BBC9E6-9C8C-464F-BEE3-DAF1194443C5}" type="pres">
      <dgm:prSet presAssocID="{D81992A9-A3DC-4FA2-8540-FC297F528F8C}" presName="sibTrans" presStyleCnt="0"/>
      <dgm:spPr/>
    </dgm:pt>
    <dgm:pt modelId="{A3D52997-11E6-4D02-8DFB-87A92BB45E6F}" type="pres">
      <dgm:prSet presAssocID="{1383307E-2690-46D1-ACBB-AD7755FF7D91}" presName="compNode" presStyleCnt="0"/>
      <dgm:spPr/>
    </dgm:pt>
    <dgm:pt modelId="{F3082905-C44B-4CEE-B287-D74916F9CB30}" type="pres">
      <dgm:prSet presAssocID="{1383307E-2690-46D1-ACBB-AD7755FF7D91}" presName="bgRect" presStyleLbl="bgShp" presStyleIdx="1" presStyleCnt="3"/>
      <dgm:spPr>
        <a:solidFill>
          <a:schemeClr val="accent3">
            <a:lumMod val="20000"/>
            <a:lumOff val="80000"/>
          </a:schemeClr>
        </a:solidFill>
      </dgm:spPr>
    </dgm:pt>
    <dgm:pt modelId="{2D452E11-E6B3-4A0C-B353-19D5383A74A5}" type="pres">
      <dgm:prSet presAssocID="{1383307E-2690-46D1-ACBB-AD7755FF7D9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BC1C0749-5E54-4E13-8F51-AEE37932F246}" type="pres">
      <dgm:prSet presAssocID="{1383307E-2690-46D1-ACBB-AD7755FF7D91}" presName="spaceRect" presStyleCnt="0"/>
      <dgm:spPr/>
    </dgm:pt>
    <dgm:pt modelId="{799FCE2C-9897-414D-B923-4D8135C9A10E}" type="pres">
      <dgm:prSet presAssocID="{1383307E-2690-46D1-ACBB-AD7755FF7D91}" presName="parTx" presStyleLbl="revTx" presStyleIdx="1" presStyleCnt="3">
        <dgm:presLayoutVars>
          <dgm:chMax val="0"/>
          <dgm:chPref val="0"/>
        </dgm:presLayoutVars>
      </dgm:prSet>
      <dgm:spPr/>
    </dgm:pt>
    <dgm:pt modelId="{ED8DF3FC-7D0C-43E4-92E1-E61443411E29}" type="pres">
      <dgm:prSet presAssocID="{8BEA529B-C54A-495F-B608-0D199F05BD3F}" presName="sibTrans" presStyleCnt="0"/>
      <dgm:spPr/>
    </dgm:pt>
    <dgm:pt modelId="{0EEEB755-1074-4022-A9C2-4EA15A4DEFE2}" type="pres">
      <dgm:prSet presAssocID="{A10655A1-F8F6-443E-B10F-2C89718D51A8}" presName="compNode" presStyleCnt="0"/>
      <dgm:spPr/>
    </dgm:pt>
    <dgm:pt modelId="{BA7F4421-A69E-43C0-AF86-87F1CF77D653}" type="pres">
      <dgm:prSet presAssocID="{A10655A1-F8F6-443E-B10F-2C89718D51A8}" presName="bgRect" presStyleLbl="bgShp" presStyleIdx="2" presStyleCnt="3"/>
      <dgm:spPr>
        <a:solidFill>
          <a:schemeClr val="accent4">
            <a:lumMod val="20000"/>
            <a:lumOff val="80000"/>
          </a:schemeClr>
        </a:solidFill>
      </dgm:spPr>
    </dgm:pt>
    <dgm:pt modelId="{0AB34D5A-6C46-419A-AC43-8F36024F5AB9}" type="pres">
      <dgm:prSet presAssocID="{A10655A1-F8F6-443E-B10F-2C89718D51A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roup of People"/>
        </a:ext>
      </dgm:extLst>
    </dgm:pt>
    <dgm:pt modelId="{1BC0550F-5C08-4525-BCF1-DDB2B99A40A7}" type="pres">
      <dgm:prSet presAssocID="{A10655A1-F8F6-443E-B10F-2C89718D51A8}" presName="spaceRect" presStyleCnt="0"/>
      <dgm:spPr/>
    </dgm:pt>
    <dgm:pt modelId="{911C4BA8-141B-4E36-B41E-C804DE0634E7}" type="pres">
      <dgm:prSet presAssocID="{A10655A1-F8F6-443E-B10F-2C89718D51A8}" presName="parTx" presStyleLbl="revTx" presStyleIdx="2" presStyleCnt="3">
        <dgm:presLayoutVars>
          <dgm:chMax val="0"/>
          <dgm:chPref val="0"/>
        </dgm:presLayoutVars>
      </dgm:prSet>
      <dgm:spPr/>
    </dgm:pt>
  </dgm:ptLst>
  <dgm:cxnLst>
    <dgm:cxn modelId="{AF74F75D-D9F5-4722-9A52-695F916F7365}" srcId="{8B523D9A-13BF-4A4E-BC7D-08FFF7E4CDC4}" destId="{EE193A89-7EAD-42B2-8EF9-E4F438936BF6}" srcOrd="0" destOrd="0" parTransId="{5DB94C8F-4C1B-487A-B02B-8AB3C2102EF9}" sibTransId="{D81992A9-A3DC-4FA2-8540-FC297F528F8C}"/>
    <dgm:cxn modelId="{99DC2163-5270-47D4-BE9D-95920905D8D1}" srcId="{8B523D9A-13BF-4A4E-BC7D-08FFF7E4CDC4}" destId="{1383307E-2690-46D1-ACBB-AD7755FF7D91}" srcOrd="1" destOrd="0" parTransId="{38F6B8E6-24A9-4DFD-9884-B53ADA79E1C3}" sibTransId="{8BEA529B-C54A-495F-B608-0D199F05BD3F}"/>
    <dgm:cxn modelId="{BDC25845-3795-4581-81EF-3BC42809F760}" type="presOf" srcId="{EE193A89-7EAD-42B2-8EF9-E4F438936BF6}" destId="{EFC5231E-B8AC-4667-884A-A6013534D06F}" srcOrd="0" destOrd="0" presId="urn:microsoft.com/office/officeart/2018/2/layout/IconVerticalSolidList"/>
    <dgm:cxn modelId="{E5DB7D9B-FEB3-4A9E-A43A-883740F3DC13}" type="presOf" srcId="{1383307E-2690-46D1-ACBB-AD7755FF7D91}" destId="{799FCE2C-9897-414D-B923-4D8135C9A10E}" srcOrd="0" destOrd="0" presId="urn:microsoft.com/office/officeart/2018/2/layout/IconVerticalSolidList"/>
    <dgm:cxn modelId="{CB4BEED2-83DE-41B7-A5B2-1B0134B29C5E}" type="presOf" srcId="{8B523D9A-13BF-4A4E-BC7D-08FFF7E4CDC4}" destId="{05EEE0F1-88D4-4DBF-97DF-7FDA5E44BD81}" srcOrd="0" destOrd="0" presId="urn:microsoft.com/office/officeart/2018/2/layout/IconVerticalSolidList"/>
    <dgm:cxn modelId="{D0C41EED-0DEB-4A21-B86A-F77D876A97DA}" srcId="{8B523D9A-13BF-4A4E-BC7D-08FFF7E4CDC4}" destId="{A10655A1-F8F6-443E-B10F-2C89718D51A8}" srcOrd="2" destOrd="0" parTransId="{288C62EE-3594-451B-94A6-17487D05B113}" sibTransId="{D94E32D1-DD31-4642-BD58-367820E44284}"/>
    <dgm:cxn modelId="{E793E1F1-385E-40EB-84D9-0779947A3B53}" type="presOf" srcId="{A10655A1-F8F6-443E-B10F-2C89718D51A8}" destId="{911C4BA8-141B-4E36-B41E-C804DE0634E7}" srcOrd="0" destOrd="0" presId="urn:microsoft.com/office/officeart/2018/2/layout/IconVerticalSolidList"/>
    <dgm:cxn modelId="{80C77174-C56F-45D7-BA62-2C4FE914C186}" type="presParOf" srcId="{05EEE0F1-88D4-4DBF-97DF-7FDA5E44BD81}" destId="{D4D2CD4A-1D16-49C4-83AD-36D12CD35905}" srcOrd="0" destOrd="0" presId="urn:microsoft.com/office/officeart/2018/2/layout/IconVerticalSolidList"/>
    <dgm:cxn modelId="{A41C80E8-F708-4DD5-A9D3-C53EAE06112C}" type="presParOf" srcId="{D4D2CD4A-1D16-49C4-83AD-36D12CD35905}" destId="{777342D0-B1D8-41C0-843D-BDCB5332CDCD}" srcOrd="0" destOrd="0" presId="urn:microsoft.com/office/officeart/2018/2/layout/IconVerticalSolidList"/>
    <dgm:cxn modelId="{55C2690A-F556-45CD-9DB3-EF1F6EB9EF8E}" type="presParOf" srcId="{D4D2CD4A-1D16-49C4-83AD-36D12CD35905}" destId="{A4AB070E-A566-4D35-B68A-D4D12F312751}" srcOrd="1" destOrd="0" presId="urn:microsoft.com/office/officeart/2018/2/layout/IconVerticalSolidList"/>
    <dgm:cxn modelId="{DCCF6B09-ECB6-4D38-BBC4-0A703CFD086C}" type="presParOf" srcId="{D4D2CD4A-1D16-49C4-83AD-36D12CD35905}" destId="{A2B9947D-87B1-435E-BBB0-219AC0C14420}" srcOrd="2" destOrd="0" presId="urn:microsoft.com/office/officeart/2018/2/layout/IconVerticalSolidList"/>
    <dgm:cxn modelId="{4D453C33-9385-4810-A921-9E307DEEFBA6}" type="presParOf" srcId="{D4D2CD4A-1D16-49C4-83AD-36D12CD35905}" destId="{EFC5231E-B8AC-4667-884A-A6013534D06F}" srcOrd="3" destOrd="0" presId="urn:microsoft.com/office/officeart/2018/2/layout/IconVerticalSolidList"/>
    <dgm:cxn modelId="{D9CE7C46-589A-4A35-A967-4EAE3F7DCC19}" type="presParOf" srcId="{05EEE0F1-88D4-4DBF-97DF-7FDA5E44BD81}" destId="{D8BBC9E6-9C8C-464F-BEE3-DAF1194443C5}" srcOrd="1" destOrd="0" presId="urn:microsoft.com/office/officeart/2018/2/layout/IconVerticalSolidList"/>
    <dgm:cxn modelId="{F38471D8-DECC-4FAD-A2D8-BA03ACDA0296}" type="presParOf" srcId="{05EEE0F1-88D4-4DBF-97DF-7FDA5E44BD81}" destId="{A3D52997-11E6-4D02-8DFB-87A92BB45E6F}" srcOrd="2" destOrd="0" presId="urn:microsoft.com/office/officeart/2018/2/layout/IconVerticalSolidList"/>
    <dgm:cxn modelId="{AA28064A-D53C-422F-83F9-496815FBDFFD}" type="presParOf" srcId="{A3D52997-11E6-4D02-8DFB-87A92BB45E6F}" destId="{F3082905-C44B-4CEE-B287-D74916F9CB30}" srcOrd="0" destOrd="0" presId="urn:microsoft.com/office/officeart/2018/2/layout/IconVerticalSolidList"/>
    <dgm:cxn modelId="{8BACDD64-01D7-4656-B8CC-5579146EE161}" type="presParOf" srcId="{A3D52997-11E6-4D02-8DFB-87A92BB45E6F}" destId="{2D452E11-E6B3-4A0C-B353-19D5383A74A5}" srcOrd="1" destOrd="0" presId="urn:microsoft.com/office/officeart/2018/2/layout/IconVerticalSolidList"/>
    <dgm:cxn modelId="{012F884E-979E-420F-8967-6098F7582066}" type="presParOf" srcId="{A3D52997-11E6-4D02-8DFB-87A92BB45E6F}" destId="{BC1C0749-5E54-4E13-8F51-AEE37932F246}" srcOrd="2" destOrd="0" presId="urn:microsoft.com/office/officeart/2018/2/layout/IconVerticalSolidList"/>
    <dgm:cxn modelId="{F5949751-5B13-40E2-BDEA-05BA54F13204}" type="presParOf" srcId="{A3D52997-11E6-4D02-8DFB-87A92BB45E6F}" destId="{799FCE2C-9897-414D-B923-4D8135C9A10E}" srcOrd="3" destOrd="0" presId="urn:microsoft.com/office/officeart/2018/2/layout/IconVerticalSolidList"/>
    <dgm:cxn modelId="{33493351-F8D9-4364-BEC6-508C83A31608}" type="presParOf" srcId="{05EEE0F1-88D4-4DBF-97DF-7FDA5E44BD81}" destId="{ED8DF3FC-7D0C-43E4-92E1-E61443411E29}" srcOrd="3" destOrd="0" presId="urn:microsoft.com/office/officeart/2018/2/layout/IconVerticalSolidList"/>
    <dgm:cxn modelId="{D8966008-9F0D-4D62-BD37-8C3FAEB63036}" type="presParOf" srcId="{05EEE0F1-88D4-4DBF-97DF-7FDA5E44BD81}" destId="{0EEEB755-1074-4022-A9C2-4EA15A4DEFE2}" srcOrd="4" destOrd="0" presId="urn:microsoft.com/office/officeart/2018/2/layout/IconVerticalSolidList"/>
    <dgm:cxn modelId="{35442B70-F8A4-43D7-A907-7E42FE192BEF}" type="presParOf" srcId="{0EEEB755-1074-4022-A9C2-4EA15A4DEFE2}" destId="{BA7F4421-A69E-43C0-AF86-87F1CF77D653}" srcOrd="0" destOrd="0" presId="urn:microsoft.com/office/officeart/2018/2/layout/IconVerticalSolidList"/>
    <dgm:cxn modelId="{995BD6A2-04D2-4B58-A685-5E7D3299E04F}" type="presParOf" srcId="{0EEEB755-1074-4022-A9C2-4EA15A4DEFE2}" destId="{0AB34D5A-6C46-419A-AC43-8F36024F5AB9}" srcOrd="1" destOrd="0" presId="urn:microsoft.com/office/officeart/2018/2/layout/IconVerticalSolidList"/>
    <dgm:cxn modelId="{9598C240-2DD5-4D0F-A03F-1AF16B1BB160}" type="presParOf" srcId="{0EEEB755-1074-4022-A9C2-4EA15A4DEFE2}" destId="{1BC0550F-5C08-4525-BCF1-DDB2B99A40A7}" srcOrd="2" destOrd="0" presId="urn:microsoft.com/office/officeart/2018/2/layout/IconVerticalSolidList"/>
    <dgm:cxn modelId="{02A8DCF8-5103-4C4F-A305-11E24E8B83B8}" type="presParOf" srcId="{0EEEB755-1074-4022-A9C2-4EA15A4DEFE2}" destId="{911C4BA8-141B-4E36-B41E-C804DE0634E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679EA6-F896-4415-9714-3237B638C659}" type="doc">
      <dgm:prSet loTypeId="urn:microsoft.com/office/officeart/2018/2/layout/IconCircleList" loCatId="icon" qsTypeId="urn:microsoft.com/office/officeart/2005/8/quickstyle/simple1" qsCatId="simple" csTypeId="urn:microsoft.com/office/officeart/2005/8/colors/colorful2" csCatId="colorful" phldr="1"/>
      <dgm:spPr/>
      <dgm:t>
        <a:bodyPr/>
        <a:lstStyle/>
        <a:p>
          <a:endParaRPr lang="en-US"/>
        </a:p>
      </dgm:t>
    </dgm:pt>
    <dgm:pt modelId="{BCC7DC29-33EB-4CC7-B27C-68475BA763EE}">
      <dgm:prSet custT="1"/>
      <dgm:spPr/>
      <dgm:t>
        <a:bodyPr/>
        <a:lstStyle/>
        <a:p>
          <a:pPr>
            <a:lnSpc>
              <a:spcPct val="100000"/>
            </a:lnSpc>
          </a:pPr>
          <a:r>
            <a:rPr lang="en-US" sz="2200" dirty="0"/>
            <a:t>Web sites are usually a result of teams of people working together toward a common goal </a:t>
          </a:r>
        </a:p>
      </dgm:t>
    </dgm:pt>
    <dgm:pt modelId="{48F87DBD-AEF4-4BDB-A220-7C3116F16C56}" type="parTrans" cxnId="{45BE8EA5-5CA8-4801-9146-425E772CE3E9}">
      <dgm:prSet/>
      <dgm:spPr/>
      <dgm:t>
        <a:bodyPr/>
        <a:lstStyle/>
        <a:p>
          <a:endParaRPr lang="en-US"/>
        </a:p>
      </dgm:t>
    </dgm:pt>
    <dgm:pt modelId="{DE938DC7-B5B0-47F9-B836-C59CE2F7BDF4}" type="sibTrans" cxnId="{45BE8EA5-5CA8-4801-9146-425E772CE3E9}">
      <dgm:prSet/>
      <dgm:spPr/>
      <dgm:t>
        <a:bodyPr/>
        <a:lstStyle/>
        <a:p>
          <a:pPr>
            <a:lnSpc>
              <a:spcPct val="100000"/>
            </a:lnSpc>
          </a:pPr>
          <a:endParaRPr lang="en-US"/>
        </a:p>
      </dgm:t>
    </dgm:pt>
    <dgm:pt modelId="{86040A5C-FF84-4866-A165-A11944FCE1D8}">
      <dgm:prSet custT="1"/>
      <dgm:spPr/>
      <dgm:t>
        <a:bodyPr/>
        <a:lstStyle/>
        <a:p>
          <a:pPr>
            <a:lnSpc>
              <a:spcPct val="100000"/>
            </a:lnSpc>
          </a:pPr>
          <a:r>
            <a:rPr lang="en-US" sz="2200" dirty="0"/>
            <a:t>This is the reason for our semester project - working as part of a team</a:t>
          </a:r>
        </a:p>
      </dgm:t>
    </dgm:pt>
    <dgm:pt modelId="{E3694E66-DA21-47B6-9C52-1E1A6C7BAE55}" type="parTrans" cxnId="{8A7D0A4A-81D0-4F40-9F59-062DB18D89C9}">
      <dgm:prSet/>
      <dgm:spPr/>
      <dgm:t>
        <a:bodyPr/>
        <a:lstStyle/>
        <a:p>
          <a:endParaRPr lang="en-US"/>
        </a:p>
      </dgm:t>
    </dgm:pt>
    <dgm:pt modelId="{7FF74330-D243-4BAA-A2FB-BAB4D7CB4F84}" type="sibTrans" cxnId="{8A7D0A4A-81D0-4F40-9F59-062DB18D89C9}">
      <dgm:prSet/>
      <dgm:spPr/>
      <dgm:t>
        <a:bodyPr/>
        <a:lstStyle/>
        <a:p>
          <a:pPr>
            <a:lnSpc>
              <a:spcPct val="100000"/>
            </a:lnSpc>
          </a:pPr>
          <a:endParaRPr lang="en-US"/>
        </a:p>
      </dgm:t>
    </dgm:pt>
    <dgm:pt modelId="{401EEE7D-A064-45B0-90CD-976BD7A50215}">
      <dgm:prSet custT="1"/>
      <dgm:spPr/>
      <dgm:t>
        <a:bodyPr/>
        <a:lstStyle/>
        <a:p>
          <a:pPr>
            <a:lnSpc>
              <a:spcPct val="100000"/>
            </a:lnSpc>
          </a:pPr>
          <a:r>
            <a:rPr lang="en-US" sz="2200" dirty="0"/>
            <a:t>Each team member brings his or her own set of education, experience, skills, and knowledge to the project</a:t>
          </a:r>
        </a:p>
      </dgm:t>
    </dgm:pt>
    <dgm:pt modelId="{D647B0FC-0359-4BC7-BDA0-2A4B8EF5AF37}" type="parTrans" cxnId="{D2EEA981-20E0-424E-9017-E6CF7EAC74A4}">
      <dgm:prSet/>
      <dgm:spPr/>
      <dgm:t>
        <a:bodyPr/>
        <a:lstStyle/>
        <a:p>
          <a:endParaRPr lang="en-US"/>
        </a:p>
      </dgm:t>
    </dgm:pt>
    <dgm:pt modelId="{61E79F95-A1DD-4AF5-97BA-4314DF616345}" type="sibTrans" cxnId="{D2EEA981-20E0-424E-9017-E6CF7EAC74A4}">
      <dgm:prSet/>
      <dgm:spPr/>
      <dgm:t>
        <a:bodyPr/>
        <a:lstStyle/>
        <a:p>
          <a:pPr>
            <a:lnSpc>
              <a:spcPct val="100000"/>
            </a:lnSpc>
          </a:pPr>
          <a:endParaRPr lang="en-US"/>
        </a:p>
      </dgm:t>
    </dgm:pt>
    <dgm:pt modelId="{39B7A0C2-4119-4026-A62B-6C01CE487E74}">
      <dgm:prSet custT="1"/>
      <dgm:spPr/>
      <dgm:t>
        <a:bodyPr/>
        <a:lstStyle/>
        <a:p>
          <a:pPr>
            <a:lnSpc>
              <a:spcPct val="100000"/>
            </a:lnSpc>
          </a:pPr>
          <a:r>
            <a:rPr lang="en-US" sz="2200" dirty="0"/>
            <a:t>Here, we see the ‘Gestalt,’ the whole being greater than the sum of its parts, in action</a:t>
          </a:r>
        </a:p>
      </dgm:t>
    </dgm:pt>
    <dgm:pt modelId="{5AFD45D2-5B79-4DED-AD0A-35FB0191A280}" type="parTrans" cxnId="{799E169E-1D9E-4373-80C8-AA8147CB876E}">
      <dgm:prSet/>
      <dgm:spPr/>
      <dgm:t>
        <a:bodyPr/>
        <a:lstStyle/>
        <a:p>
          <a:endParaRPr lang="en-US"/>
        </a:p>
      </dgm:t>
    </dgm:pt>
    <dgm:pt modelId="{8C8E504B-EB24-4D51-895F-AA479F9339FE}" type="sibTrans" cxnId="{799E169E-1D9E-4373-80C8-AA8147CB876E}">
      <dgm:prSet/>
      <dgm:spPr/>
      <dgm:t>
        <a:bodyPr/>
        <a:lstStyle/>
        <a:p>
          <a:endParaRPr lang="en-US"/>
        </a:p>
      </dgm:t>
    </dgm:pt>
    <dgm:pt modelId="{EB4F66C2-963E-476E-98C3-E5C840E99F02}" type="pres">
      <dgm:prSet presAssocID="{E9679EA6-F896-4415-9714-3237B638C659}" presName="root" presStyleCnt="0">
        <dgm:presLayoutVars>
          <dgm:dir/>
          <dgm:resizeHandles val="exact"/>
        </dgm:presLayoutVars>
      </dgm:prSet>
      <dgm:spPr/>
    </dgm:pt>
    <dgm:pt modelId="{80DB6FB0-213A-4713-ADC4-7A87419404A0}" type="pres">
      <dgm:prSet presAssocID="{E9679EA6-F896-4415-9714-3237B638C659}" presName="container" presStyleCnt="0">
        <dgm:presLayoutVars>
          <dgm:dir/>
          <dgm:resizeHandles val="exact"/>
        </dgm:presLayoutVars>
      </dgm:prSet>
      <dgm:spPr/>
    </dgm:pt>
    <dgm:pt modelId="{5CDF23C9-5DA8-4A5B-AA8B-56E8874D511F}" type="pres">
      <dgm:prSet presAssocID="{BCC7DC29-33EB-4CC7-B27C-68475BA763EE}" presName="compNode" presStyleCnt="0"/>
      <dgm:spPr/>
    </dgm:pt>
    <dgm:pt modelId="{BDFF0873-5DF4-4DDE-BCFB-223597D5B3E0}" type="pres">
      <dgm:prSet presAssocID="{BCC7DC29-33EB-4CC7-B27C-68475BA763EE}" presName="iconBgRect" presStyleLbl="bgShp" presStyleIdx="0" presStyleCnt="4"/>
      <dgm:spPr/>
    </dgm:pt>
    <dgm:pt modelId="{2D48236C-1909-4B20-B880-1A6E982EC9DF}" type="pres">
      <dgm:prSet presAssocID="{BCC7DC29-33EB-4CC7-B27C-68475BA763E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User Network"/>
        </a:ext>
      </dgm:extLst>
    </dgm:pt>
    <dgm:pt modelId="{E9B51D36-54BB-439F-9EB1-9DAC8B4E9418}" type="pres">
      <dgm:prSet presAssocID="{BCC7DC29-33EB-4CC7-B27C-68475BA763EE}" presName="spaceRect" presStyleCnt="0"/>
      <dgm:spPr/>
    </dgm:pt>
    <dgm:pt modelId="{6A5F12A6-3711-48E5-8E84-BD2028F4DB25}" type="pres">
      <dgm:prSet presAssocID="{BCC7DC29-33EB-4CC7-B27C-68475BA763EE}" presName="textRect" presStyleLbl="revTx" presStyleIdx="0" presStyleCnt="4">
        <dgm:presLayoutVars>
          <dgm:chMax val="1"/>
          <dgm:chPref val="1"/>
        </dgm:presLayoutVars>
      </dgm:prSet>
      <dgm:spPr/>
    </dgm:pt>
    <dgm:pt modelId="{811F415C-16E4-4BBB-971F-EB0C2B7893AF}" type="pres">
      <dgm:prSet presAssocID="{DE938DC7-B5B0-47F9-B836-C59CE2F7BDF4}" presName="sibTrans" presStyleLbl="sibTrans2D1" presStyleIdx="0" presStyleCnt="0"/>
      <dgm:spPr/>
    </dgm:pt>
    <dgm:pt modelId="{9AAFE565-4740-43BF-9AB9-52FC0957FE99}" type="pres">
      <dgm:prSet presAssocID="{86040A5C-FF84-4866-A165-A11944FCE1D8}" presName="compNode" presStyleCnt="0"/>
      <dgm:spPr/>
    </dgm:pt>
    <dgm:pt modelId="{4E044C4A-1483-4E7F-92AE-CAEC356BA687}" type="pres">
      <dgm:prSet presAssocID="{86040A5C-FF84-4866-A165-A11944FCE1D8}" presName="iconBgRect" presStyleLbl="bgShp" presStyleIdx="1" presStyleCnt="4"/>
      <dgm:spPr/>
    </dgm:pt>
    <dgm:pt modelId="{36EBE5CC-DEA3-4582-B3A6-768FE2D13FEB}" type="pres">
      <dgm:prSet presAssocID="{86040A5C-FF84-4866-A165-A11944FCE1D8}"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assroom"/>
        </a:ext>
      </dgm:extLst>
    </dgm:pt>
    <dgm:pt modelId="{340EE42A-F811-4D38-9C5A-78897C93CC17}" type="pres">
      <dgm:prSet presAssocID="{86040A5C-FF84-4866-A165-A11944FCE1D8}" presName="spaceRect" presStyleCnt="0"/>
      <dgm:spPr/>
    </dgm:pt>
    <dgm:pt modelId="{7530480B-197E-49FE-BDA8-B35B16739ADD}" type="pres">
      <dgm:prSet presAssocID="{86040A5C-FF84-4866-A165-A11944FCE1D8}" presName="textRect" presStyleLbl="revTx" presStyleIdx="1" presStyleCnt="4">
        <dgm:presLayoutVars>
          <dgm:chMax val="1"/>
          <dgm:chPref val="1"/>
        </dgm:presLayoutVars>
      </dgm:prSet>
      <dgm:spPr/>
    </dgm:pt>
    <dgm:pt modelId="{5AA4F9CB-3055-44FC-8649-1F236ED5304E}" type="pres">
      <dgm:prSet presAssocID="{7FF74330-D243-4BAA-A2FB-BAB4D7CB4F84}" presName="sibTrans" presStyleLbl="sibTrans2D1" presStyleIdx="0" presStyleCnt="0"/>
      <dgm:spPr/>
    </dgm:pt>
    <dgm:pt modelId="{9B210A6D-9CA0-4787-ABC9-4E46F141AEAB}" type="pres">
      <dgm:prSet presAssocID="{401EEE7D-A064-45B0-90CD-976BD7A50215}" presName="compNode" presStyleCnt="0"/>
      <dgm:spPr/>
    </dgm:pt>
    <dgm:pt modelId="{0DE75619-AFC2-475D-852A-4A18E0025992}" type="pres">
      <dgm:prSet presAssocID="{401EEE7D-A064-45B0-90CD-976BD7A50215}" presName="iconBgRect" presStyleLbl="bgShp" presStyleIdx="2" presStyleCnt="4"/>
      <dgm:spPr/>
    </dgm:pt>
    <dgm:pt modelId="{252727ED-8241-48E6-829A-6BA731633B69}" type="pres">
      <dgm:prSet presAssocID="{401EEE7D-A064-45B0-90CD-976BD7A50215}"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ierarchy"/>
        </a:ext>
      </dgm:extLst>
    </dgm:pt>
    <dgm:pt modelId="{A730735E-C616-4FF2-8312-CD12D02A8C1A}" type="pres">
      <dgm:prSet presAssocID="{401EEE7D-A064-45B0-90CD-976BD7A50215}" presName="spaceRect" presStyleCnt="0"/>
      <dgm:spPr/>
    </dgm:pt>
    <dgm:pt modelId="{247079A5-6A1B-42A2-A4AE-F28E5B7614B5}" type="pres">
      <dgm:prSet presAssocID="{401EEE7D-A064-45B0-90CD-976BD7A50215}" presName="textRect" presStyleLbl="revTx" presStyleIdx="2" presStyleCnt="4">
        <dgm:presLayoutVars>
          <dgm:chMax val="1"/>
          <dgm:chPref val="1"/>
        </dgm:presLayoutVars>
      </dgm:prSet>
      <dgm:spPr/>
    </dgm:pt>
    <dgm:pt modelId="{1B539CE0-FA20-45EB-8D2D-16612FAA13A7}" type="pres">
      <dgm:prSet presAssocID="{61E79F95-A1DD-4AF5-97BA-4314DF616345}" presName="sibTrans" presStyleLbl="sibTrans2D1" presStyleIdx="0" presStyleCnt="0"/>
      <dgm:spPr/>
    </dgm:pt>
    <dgm:pt modelId="{0AD49488-A8D9-4B9F-B5B1-63EFA4E3843C}" type="pres">
      <dgm:prSet presAssocID="{39B7A0C2-4119-4026-A62B-6C01CE487E74}" presName="compNode" presStyleCnt="0"/>
      <dgm:spPr/>
    </dgm:pt>
    <dgm:pt modelId="{28D4B13B-730E-4EC6-84B9-B4BCB6FC9541}" type="pres">
      <dgm:prSet presAssocID="{39B7A0C2-4119-4026-A62B-6C01CE487E74}" presName="iconBgRect" presStyleLbl="bgShp" presStyleIdx="3" presStyleCnt="4"/>
      <dgm:spPr/>
    </dgm:pt>
    <dgm:pt modelId="{2B67391C-17D3-40D1-8B08-4F15AAB891F3}" type="pres">
      <dgm:prSet presAssocID="{39B7A0C2-4119-4026-A62B-6C01CE487E7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lter"/>
        </a:ext>
      </dgm:extLst>
    </dgm:pt>
    <dgm:pt modelId="{AD16F342-19ED-4F1E-A84D-FBBA5CBAA945}" type="pres">
      <dgm:prSet presAssocID="{39B7A0C2-4119-4026-A62B-6C01CE487E74}" presName="spaceRect" presStyleCnt="0"/>
      <dgm:spPr/>
    </dgm:pt>
    <dgm:pt modelId="{1545AD23-4BF8-4A99-AB02-3EB860FB5835}" type="pres">
      <dgm:prSet presAssocID="{39B7A0C2-4119-4026-A62B-6C01CE487E74}" presName="textRect" presStyleLbl="revTx" presStyleIdx="3" presStyleCnt="4">
        <dgm:presLayoutVars>
          <dgm:chMax val="1"/>
          <dgm:chPref val="1"/>
        </dgm:presLayoutVars>
      </dgm:prSet>
      <dgm:spPr/>
    </dgm:pt>
  </dgm:ptLst>
  <dgm:cxnLst>
    <dgm:cxn modelId="{B5F0871B-A82C-4E3C-BAAB-E58823742D1E}" type="presOf" srcId="{86040A5C-FF84-4866-A165-A11944FCE1D8}" destId="{7530480B-197E-49FE-BDA8-B35B16739ADD}" srcOrd="0" destOrd="0" presId="urn:microsoft.com/office/officeart/2018/2/layout/IconCircleList"/>
    <dgm:cxn modelId="{5EB5132B-5920-46BE-B484-D0BAEA71D9D2}" type="presOf" srcId="{E9679EA6-F896-4415-9714-3237B638C659}" destId="{EB4F66C2-963E-476E-98C3-E5C840E99F02}" srcOrd="0" destOrd="0" presId="urn:microsoft.com/office/officeart/2018/2/layout/IconCircleList"/>
    <dgm:cxn modelId="{B4965F3A-2F4C-4F6E-A836-8C606504C85B}" type="presOf" srcId="{BCC7DC29-33EB-4CC7-B27C-68475BA763EE}" destId="{6A5F12A6-3711-48E5-8E84-BD2028F4DB25}" srcOrd="0" destOrd="0" presId="urn:microsoft.com/office/officeart/2018/2/layout/IconCircleList"/>
    <dgm:cxn modelId="{D371343D-B6F1-4826-B835-B58E817D0BBD}" type="presOf" srcId="{61E79F95-A1DD-4AF5-97BA-4314DF616345}" destId="{1B539CE0-FA20-45EB-8D2D-16612FAA13A7}" srcOrd="0" destOrd="0" presId="urn:microsoft.com/office/officeart/2018/2/layout/IconCircleList"/>
    <dgm:cxn modelId="{F5DE5066-CDD6-44A5-81E7-62DB506C8522}" type="presOf" srcId="{401EEE7D-A064-45B0-90CD-976BD7A50215}" destId="{247079A5-6A1B-42A2-A4AE-F28E5B7614B5}" srcOrd="0" destOrd="0" presId="urn:microsoft.com/office/officeart/2018/2/layout/IconCircleList"/>
    <dgm:cxn modelId="{8A7D0A4A-81D0-4F40-9F59-062DB18D89C9}" srcId="{E9679EA6-F896-4415-9714-3237B638C659}" destId="{86040A5C-FF84-4866-A165-A11944FCE1D8}" srcOrd="1" destOrd="0" parTransId="{E3694E66-DA21-47B6-9C52-1E1A6C7BAE55}" sibTransId="{7FF74330-D243-4BAA-A2FB-BAB4D7CB4F84}"/>
    <dgm:cxn modelId="{D2EEA981-20E0-424E-9017-E6CF7EAC74A4}" srcId="{E9679EA6-F896-4415-9714-3237B638C659}" destId="{401EEE7D-A064-45B0-90CD-976BD7A50215}" srcOrd="2" destOrd="0" parTransId="{D647B0FC-0359-4BC7-BDA0-2A4B8EF5AF37}" sibTransId="{61E79F95-A1DD-4AF5-97BA-4314DF616345}"/>
    <dgm:cxn modelId="{F74D0091-B84D-4D5A-B295-DE7F071C23CF}" type="presOf" srcId="{7FF74330-D243-4BAA-A2FB-BAB4D7CB4F84}" destId="{5AA4F9CB-3055-44FC-8649-1F236ED5304E}" srcOrd="0" destOrd="0" presId="urn:microsoft.com/office/officeart/2018/2/layout/IconCircleList"/>
    <dgm:cxn modelId="{799E169E-1D9E-4373-80C8-AA8147CB876E}" srcId="{E9679EA6-F896-4415-9714-3237B638C659}" destId="{39B7A0C2-4119-4026-A62B-6C01CE487E74}" srcOrd="3" destOrd="0" parTransId="{5AFD45D2-5B79-4DED-AD0A-35FB0191A280}" sibTransId="{8C8E504B-EB24-4D51-895F-AA479F9339FE}"/>
    <dgm:cxn modelId="{45BE8EA5-5CA8-4801-9146-425E772CE3E9}" srcId="{E9679EA6-F896-4415-9714-3237B638C659}" destId="{BCC7DC29-33EB-4CC7-B27C-68475BA763EE}" srcOrd="0" destOrd="0" parTransId="{48F87DBD-AEF4-4BDB-A220-7C3116F16C56}" sibTransId="{DE938DC7-B5B0-47F9-B836-C59CE2F7BDF4}"/>
    <dgm:cxn modelId="{E2BD6AD8-DD4A-4140-B2D6-391D242AD8B8}" type="presOf" srcId="{DE938DC7-B5B0-47F9-B836-C59CE2F7BDF4}" destId="{811F415C-16E4-4BBB-971F-EB0C2B7893AF}" srcOrd="0" destOrd="0" presId="urn:microsoft.com/office/officeart/2018/2/layout/IconCircleList"/>
    <dgm:cxn modelId="{6EB579E5-A3F0-4E6E-A680-8F54986664F8}" type="presOf" srcId="{39B7A0C2-4119-4026-A62B-6C01CE487E74}" destId="{1545AD23-4BF8-4A99-AB02-3EB860FB5835}" srcOrd="0" destOrd="0" presId="urn:microsoft.com/office/officeart/2018/2/layout/IconCircleList"/>
    <dgm:cxn modelId="{D83A33F6-42E9-476B-AC2A-0E7D872B2422}" type="presParOf" srcId="{EB4F66C2-963E-476E-98C3-E5C840E99F02}" destId="{80DB6FB0-213A-4713-ADC4-7A87419404A0}" srcOrd="0" destOrd="0" presId="urn:microsoft.com/office/officeart/2018/2/layout/IconCircleList"/>
    <dgm:cxn modelId="{9ED73275-6EBF-48F2-AC4A-85DAD732BB13}" type="presParOf" srcId="{80DB6FB0-213A-4713-ADC4-7A87419404A0}" destId="{5CDF23C9-5DA8-4A5B-AA8B-56E8874D511F}" srcOrd="0" destOrd="0" presId="urn:microsoft.com/office/officeart/2018/2/layout/IconCircleList"/>
    <dgm:cxn modelId="{03EC860D-8CD7-4D5C-86D7-23AA05206164}" type="presParOf" srcId="{5CDF23C9-5DA8-4A5B-AA8B-56E8874D511F}" destId="{BDFF0873-5DF4-4DDE-BCFB-223597D5B3E0}" srcOrd="0" destOrd="0" presId="urn:microsoft.com/office/officeart/2018/2/layout/IconCircleList"/>
    <dgm:cxn modelId="{B4F6C2B2-23BA-4231-916D-151CEE1FD4D7}" type="presParOf" srcId="{5CDF23C9-5DA8-4A5B-AA8B-56E8874D511F}" destId="{2D48236C-1909-4B20-B880-1A6E982EC9DF}" srcOrd="1" destOrd="0" presId="urn:microsoft.com/office/officeart/2018/2/layout/IconCircleList"/>
    <dgm:cxn modelId="{7456E925-0192-4785-9245-054680088779}" type="presParOf" srcId="{5CDF23C9-5DA8-4A5B-AA8B-56E8874D511F}" destId="{E9B51D36-54BB-439F-9EB1-9DAC8B4E9418}" srcOrd="2" destOrd="0" presId="urn:microsoft.com/office/officeart/2018/2/layout/IconCircleList"/>
    <dgm:cxn modelId="{5E31134E-7BD2-4FEF-9683-EB2DB94654F7}" type="presParOf" srcId="{5CDF23C9-5DA8-4A5B-AA8B-56E8874D511F}" destId="{6A5F12A6-3711-48E5-8E84-BD2028F4DB25}" srcOrd="3" destOrd="0" presId="urn:microsoft.com/office/officeart/2018/2/layout/IconCircleList"/>
    <dgm:cxn modelId="{BAD665D8-B73D-4199-AA83-F9A744C50194}" type="presParOf" srcId="{80DB6FB0-213A-4713-ADC4-7A87419404A0}" destId="{811F415C-16E4-4BBB-971F-EB0C2B7893AF}" srcOrd="1" destOrd="0" presId="urn:microsoft.com/office/officeart/2018/2/layout/IconCircleList"/>
    <dgm:cxn modelId="{C0F3B2F9-AD30-48D0-87FE-08911A4BDA52}" type="presParOf" srcId="{80DB6FB0-213A-4713-ADC4-7A87419404A0}" destId="{9AAFE565-4740-43BF-9AB9-52FC0957FE99}" srcOrd="2" destOrd="0" presId="urn:microsoft.com/office/officeart/2018/2/layout/IconCircleList"/>
    <dgm:cxn modelId="{2EC86D0E-4950-417B-A3F4-F6894E61773E}" type="presParOf" srcId="{9AAFE565-4740-43BF-9AB9-52FC0957FE99}" destId="{4E044C4A-1483-4E7F-92AE-CAEC356BA687}" srcOrd="0" destOrd="0" presId="urn:microsoft.com/office/officeart/2018/2/layout/IconCircleList"/>
    <dgm:cxn modelId="{9BE4802D-96CE-4B4A-8670-529A4516FC07}" type="presParOf" srcId="{9AAFE565-4740-43BF-9AB9-52FC0957FE99}" destId="{36EBE5CC-DEA3-4582-B3A6-768FE2D13FEB}" srcOrd="1" destOrd="0" presId="urn:microsoft.com/office/officeart/2018/2/layout/IconCircleList"/>
    <dgm:cxn modelId="{7E35B7F9-0002-4B13-8E02-60987E1C8EFD}" type="presParOf" srcId="{9AAFE565-4740-43BF-9AB9-52FC0957FE99}" destId="{340EE42A-F811-4D38-9C5A-78897C93CC17}" srcOrd="2" destOrd="0" presId="urn:microsoft.com/office/officeart/2018/2/layout/IconCircleList"/>
    <dgm:cxn modelId="{68760123-C191-4888-9D58-92291A37471A}" type="presParOf" srcId="{9AAFE565-4740-43BF-9AB9-52FC0957FE99}" destId="{7530480B-197E-49FE-BDA8-B35B16739ADD}" srcOrd="3" destOrd="0" presId="urn:microsoft.com/office/officeart/2018/2/layout/IconCircleList"/>
    <dgm:cxn modelId="{0A25BA1C-3C86-4CD7-8FE7-1026C7262664}" type="presParOf" srcId="{80DB6FB0-213A-4713-ADC4-7A87419404A0}" destId="{5AA4F9CB-3055-44FC-8649-1F236ED5304E}" srcOrd="3" destOrd="0" presId="urn:microsoft.com/office/officeart/2018/2/layout/IconCircleList"/>
    <dgm:cxn modelId="{BAA18887-0BF5-4C7B-9EDE-EF2507CCB1B5}" type="presParOf" srcId="{80DB6FB0-213A-4713-ADC4-7A87419404A0}" destId="{9B210A6D-9CA0-4787-ABC9-4E46F141AEAB}" srcOrd="4" destOrd="0" presId="urn:microsoft.com/office/officeart/2018/2/layout/IconCircleList"/>
    <dgm:cxn modelId="{FD0C68A7-859B-4BF3-9C99-0E059530FDCF}" type="presParOf" srcId="{9B210A6D-9CA0-4787-ABC9-4E46F141AEAB}" destId="{0DE75619-AFC2-475D-852A-4A18E0025992}" srcOrd="0" destOrd="0" presId="urn:microsoft.com/office/officeart/2018/2/layout/IconCircleList"/>
    <dgm:cxn modelId="{3CA123EE-C803-4FE4-94F2-0D8993BB421E}" type="presParOf" srcId="{9B210A6D-9CA0-4787-ABC9-4E46F141AEAB}" destId="{252727ED-8241-48E6-829A-6BA731633B69}" srcOrd="1" destOrd="0" presId="urn:microsoft.com/office/officeart/2018/2/layout/IconCircleList"/>
    <dgm:cxn modelId="{FB8A7147-ACE7-4EB5-8009-397A8277C3F4}" type="presParOf" srcId="{9B210A6D-9CA0-4787-ABC9-4E46F141AEAB}" destId="{A730735E-C616-4FF2-8312-CD12D02A8C1A}" srcOrd="2" destOrd="0" presId="urn:microsoft.com/office/officeart/2018/2/layout/IconCircleList"/>
    <dgm:cxn modelId="{779F9FE3-B387-4B8B-82A5-21F057D1C957}" type="presParOf" srcId="{9B210A6D-9CA0-4787-ABC9-4E46F141AEAB}" destId="{247079A5-6A1B-42A2-A4AE-F28E5B7614B5}" srcOrd="3" destOrd="0" presId="urn:microsoft.com/office/officeart/2018/2/layout/IconCircleList"/>
    <dgm:cxn modelId="{50874D23-8BC1-4F88-AE5D-0F08EF10CD00}" type="presParOf" srcId="{80DB6FB0-213A-4713-ADC4-7A87419404A0}" destId="{1B539CE0-FA20-45EB-8D2D-16612FAA13A7}" srcOrd="5" destOrd="0" presId="urn:microsoft.com/office/officeart/2018/2/layout/IconCircleList"/>
    <dgm:cxn modelId="{A4FCD422-16D6-4E58-B867-DADCD2F7A552}" type="presParOf" srcId="{80DB6FB0-213A-4713-ADC4-7A87419404A0}" destId="{0AD49488-A8D9-4B9F-B5B1-63EFA4E3843C}" srcOrd="6" destOrd="0" presId="urn:microsoft.com/office/officeart/2018/2/layout/IconCircleList"/>
    <dgm:cxn modelId="{5653FE80-6456-42DD-9859-AF38376D0194}" type="presParOf" srcId="{0AD49488-A8D9-4B9F-B5B1-63EFA4E3843C}" destId="{28D4B13B-730E-4EC6-84B9-B4BCB6FC9541}" srcOrd="0" destOrd="0" presId="urn:microsoft.com/office/officeart/2018/2/layout/IconCircleList"/>
    <dgm:cxn modelId="{91C64B7C-DEF6-4DF0-BF3C-F762CEF07DA0}" type="presParOf" srcId="{0AD49488-A8D9-4B9F-B5B1-63EFA4E3843C}" destId="{2B67391C-17D3-40D1-8B08-4F15AAB891F3}" srcOrd="1" destOrd="0" presId="urn:microsoft.com/office/officeart/2018/2/layout/IconCircleList"/>
    <dgm:cxn modelId="{BAD4F09D-0CF3-46A6-AEAC-FEBCEA647C62}" type="presParOf" srcId="{0AD49488-A8D9-4B9F-B5B1-63EFA4E3843C}" destId="{AD16F342-19ED-4F1E-A84D-FBBA5CBAA945}" srcOrd="2" destOrd="0" presId="urn:microsoft.com/office/officeart/2018/2/layout/IconCircleList"/>
    <dgm:cxn modelId="{8D9CC4F0-FC35-4956-8821-995E66A60C11}" type="presParOf" srcId="{0AD49488-A8D9-4B9F-B5B1-63EFA4E3843C}" destId="{1545AD23-4BF8-4A99-AB02-3EB860FB583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BF89BA-293A-4669-A555-FA5F79C7FDD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1D751BB-BF88-474D-871D-616E3E8BD099}">
      <dgm:prSet/>
      <dgm:spPr/>
      <dgm:t>
        <a:bodyPr/>
        <a:lstStyle/>
        <a:p>
          <a:pPr>
            <a:lnSpc>
              <a:spcPct val="100000"/>
            </a:lnSpc>
          </a:pPr>
          <a:r>
            <a:rPr lang="en-US"/>
            <a:t>Learning how to craft a full-blown website must begin with basics - the ‘building blocks’</a:t>
          </a:r>
        </a:p>
      </dgm:t>
    </dgm:pt>
    <dgm:pt modelId="{B79ACA5D-D02A-4080-81DC-CD2CDD86A2D7}" type="parTrans" cxnId="{C2080A45-5791-4B1F-8771-1B105FD0C0B1}">
      <dgm:prSet/>
      <dgm:spPr/>
      <dgm:t>
        <a:bodyPr/>
        <a:lstStyle/>
        <a:p>
          <a:endParaRPr lang="en-US"/>
        </a:p>
      </dgm:t>
    </dgm:pt>
    <dgm:pt modelId="{E6873A0F-8169-4FB7-84AC-9A6B87E985AD}" type="sibTrans" cxnId="{C2080A45-5791-4B1F-8771-1B105FD0C0B1}">
      <dgm:prSet/>
      <dgm:spPr/>
      <dgm:t>
        <a:bodyPr/>
        <a:lstStyle/>
        <a:p>
          <a:endParaRPr lang="en-US"/>
        </a:p>
      </dgm:t>
    </dgm:pt>
    <dgm:pt modelId="{82FB4158-0DBE-4E97-9D3A-F9425EB76105}">
      <dgm:prSet/>
      <dgm:spPr/>
      <dgm:t>
        <a:bodyPr/>
        <a:lstStyle/>
        <a:p>
          <a:pPr>
            <a:lnSpc>
              <a:spcPct val="100000"/>
            </a:lnSpc>
          </a:pPr>
          <a:r>
            <a:rPr lang="en-US"/>
            <a:t>We can then use those to create more sophisticated solutions</a:t>
          </a:r>
        </a:p>
      </dgm:t>
    </dgm:pt>
    <dgm:pt modelId="{CD6E126F-594B-46AE-AE90-3D96D84C8EE6}" type="parTrans" cxnId="{73E39624-B3BD-4AE3-A92C-25E5DC2AA102}">
      <dgm:prSet/>
      <dgm:spPr/>
      <dgm:t>
        <a:bodyPr/>
        <a:lstStyle/>
        <a:p>
          <a:endParaRPr lang="en-US"/>
        </a:p>
      </dgm:t>
    </dgm:pt>
    <dgm:pt modelId="{9020549A-2A6E-4704-8A98-A8EA4FA599C6}" type="sibTrans" cxnId="{73E39624-B3BD-4AE3-A92C-25E5DC2AA102}">
      <dgm:prSet/>
      <dgm:spPr/>
      <dgm:t>
        <a:bodyPr/>
        <a:lstStyle/>
        <a:p>
          <a:endParaRPr lang="en-US"/>
        </a:p>
      </dgm:t>
    </dgm:pt>
    <dgm:pt modelId="{F6959402-0D1D-4038-A602-D367132322E3}">
      <dgm:prSet/>
      <dgm:spPr/>
      <dgm:t>
        <a:bodyPr/>
        <a:lstStyle/>
        <a:p>
          <a:pPr>
            <a:lnSpc>
              <a:spcPct val="100000"/>
            </a:lnSpc>
          </a:pPr>
          <a:r>
            <a:rPr lang="en-US"/>
            <a:t>Ultimately, we will possess the knowledge and skills to product effective, dynamic websites that fulfill our clients’ and users’ needs to make the web a productive part of clients’ business practices</a:t>
          </a:r>
        </a:p>
      </dgm:t>
    </dgm:pt>
    <dgm:pt modelId="{E3F129DA-118E-4F4B-944E-7FAA68F79B08}" type="parTrans" cxnId="{2DDFA75E-2C33-40E1-9A1E-AA05A1663C8C}">
      <dgm:prSet/>
      <dgm:spPr/>
      <dgm:t>
        <a:bodyPr/>
        <a:lstStyle/>
        <a:p>
          <a:endParaRPr lang="en-US"/>
        </a:p>
      </dgm:t>
    </dgm:pt>
    <dgm:pt modelId="{E953B3F4-F581-438E-B0C3-A6E68289A087}" type="sibTrans" cxnId="{2DDFA75E-2C33-40E1-9A1E-AA05A1663C8C}">
      <dgm:prSet/>
      <dgm:spPr/>
      <dgm:t>
        <a:bodyPr/>
        <a:lstStyle/>
        <a:p>
          <a:endParaRPr lang="en-US"/>
        </a:p>
      </dgm:t>
    </dgm:pt>
    <dgm:pt modelId="{5AD4F0E5-EC08-4065-A1A2-399D4338EFD5}" type="pres">
      <dgm:prSet presAssocID="{C1BF89BA-293A-4669-A555-FA5F79C7FDD0}" presName="root" presStyleCnt="0">
        <dgm:presLayoutVars>
          <dgm:dir/>
          <dgm:resizeHandles val="exact"/>
        </dgm:presLayoutVars>
      </dgm:prSet>
      <dgm:spPr/>
    </dgm:pt>
    <dgm:pt modelId="{C27C9543-6120-4272-9C6E-3AC75A185C0C}" type="pres">
      <dgm:prSet presAssocID="{A1D751BB-BF88-474D-871D-616E3E8BD099}" presName="compNode" presStyleCnt="0"/>
      <dgm:spPr/>
    </dgm:pt>
    <dgm:pt modelId="{3B9C9143-E1D5-4DC3-9137-2BD7675E31F9}" type="pres">
      <dgm:prSet presAssocID="{A1D751BB-BF88-474D-871D-616E3E8BD099}" presName="bgRect" presStyleLbl="bgShp" presStyleIdx="0" presStyleCnt="3"/>
      <dgm:spPr/>
    </dgm:pt>
    <dgm:pt modelId="{5A1665E9-3F42-422C-B4ED-89A1868F7909}" type="pres">
      <dgm:prSet presAssocID="{A1D751BB-BF88-474D-871D-616E3E8BD09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ining Tools"/>
        </a:ext>
      </dgm:extLst>
    </dgm:pt>
    <dgm:pt modelId="{0E34F3CE-EFD4-4657-8EB0-9D9616CBA09C}" type="pres">
      <dgm:prSet presAssocID="{A1D751BB-BF88-474D-871D-616E3E8BD099}" presName="spaceRect" presStyleCnt="0"/>
      <dgm:spPr/>
    </dgm:pt>
    <dgm:pt modelId="{F170B83D-5267-47B2-A1A1-1F743E6400B9}" type="pres">
      <dgm:prSet presAssocID="{A1D751BB-BF88-474D-871D-616E3E8BD099}" presName="parTx" presStyleLbl="revTx" presStyleIdx="0" presStyleCnt="3">
        <dgm:presLayoutVars>
          <dgm:chMax val="0"/>
          <dgm:chPref val="0"/>
        </dgm:presLayoutVars>
      </dgm:prSet>
      <dgm:spPr/>
    </dgm:pt>
    <dgm:pt modelId="{033A9E4E-EA2E-43D6-8B75-096A094692F7}" type="pres">
      <dgm:prSet presAssocID="{E6873A0F-8169-4FB7-84AC-9A6B87E985AD}" presName="sibTrans" presStyleCnt="0"/>
      <dgm:spPr/>
    </dgm:pt>
    <dgm:pt modelId="{0CD5544E-B383-4613-A391-7F01AFCE3984}" type="pres">
      <dgm:prSet presAssocID="{82FB4158-0DBE-4E97-9D3A-F9425EB76105}" presName="compNode" presStyleCnt="0"/>
      <dgm:spPr/>
    </dgm:pt>
    <dgm:pt modelId="{C13F58C3-0EF0-4835-B60B-715F46FDF2C1}" type="pres">
      <dgm:prSet presAssocID="{82FB4158-0DBE-4E97-9D3A-F9425EB76105}" presName="bgRect" presStyleLbl="bgShp" presStyleIdx="1" presStyleCnt="3"/>
      <dgm:spPr/>
    </dgm:pt>
    <dgm:pt modelId="{BE2D94E4-279F-4F94-B8BF-9CF3C763F988}" type="pres">
      <dgm:prSet presAssocID="{82FB4158-0DBE-4E97-9D3A-F9425EB7610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bulb"/>
        </a:ext>
      </dgm:extLst>
    </dgm:pt>
    <dgm:pt modelId="{519D8193-95C9-44AB-BE4B-8D691E824624}" type="pres">
      <dgm:prSet presAssocID="{82FB4158-0DBE-4E97-9D3A-F9425EB76105}" presName="spaceRect" presStyleCnt="0"/>
      <dgm:spPr/>
    </dgm:pt>
    <dgm:pt modelId="{22B98E76-28B7-463A-885D-516D83BB57D6}" type="pres">
      <dgm:prSet presAssocID="{82FB4158-0DBE-4E97-9D3A-F9425EB76105}" presName="parTx" presStyleLbl="revTx" presStyleIdx="1" presStyleCnt="3">
        <dgm:presLayoutVars>
          <dgm:chMax val="0"/>
          <dgm:chPref val="0"/>
        </dgm:presLayoutVars>
      </dgm:prSet>
      <dgm:spPr/>
    </dgm:pt>
    <dgm:pt modelId="{C526CF07-7D50-4507-8474-32996E1228A0}" type="pres">
      <dgm:prSet presAssocID="{9020549A-2A6E-4704-8A98-A8EA4FA599C6}" presName="sibTrans" presStyleCnt="0"/>
      <dgm:spPr/>
    </dgm:pt>
    <dgm:pt modelId="{FEB8A9A0-A9B0-4921-877B-F317EA80AF8B}" type="pres">
      <dgm:prSet presAssocID="{F6959402-0D1D-4038-A602-D367132322E3}" presName="compNode" presStyleCnt="0"/>
      <dgm:spPr/>
    </dgm:pt>
    <dgm:pt modelId="{74182C0A-E520-495D-8A5B-2B70A2B89E20}" type="pres">
      <dgm:prSet presAssocID="{F6959402-0D1D-4038-A602-D367132322E3}" presName="bgRect" presStyleLbl="bgShp" presStyleIdx="2" presStyleCnt="3"/>
      <dgm:spPr/>
    </dgm:pt>
    <dgm:pt modelId="{8979BACA-A352-4651-A9D4-AE958973EDF9}" type="pres">
      <dgm:prSet presAssocID="{F6959402-0D1D-4038-A602-D367132322E3}"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lassroom"/>
        </a:ext>
      </dgm:extLst>
    </dgm:pt>
    <dgm:pt modelId="{3CF9E173-CCA8-4A33-8120-DB5897194671}" type="pres">
      <dgm:prSet presAssocID="{F6959402-0D1D-4038-A602-D367132322E3}" presName="spaceRect" presStyleCnt="0"/>
      <dgm:spPr/>
    </dgm:pt>
    <dgm:pt modelId="{C1F7FC6A-9255-4962-84A1-88BEE8D44FFD}" type="pres">
      <dgm:prSet presAssocID="{F6959402-0D1D-4038-A602-D367132322E3}" presName="parTx" presStyleLbl="revTx" presStyleIdx="2" presStyleCnt="3">
        <dgm:presLayoutVars>
          <dgm:chMax val="0"/>
          <dgm:chPref val="0"/>
        </dgm:presLayoutVars>
      </dgm:prSet>
      <dgm:spPr/>
    </dgm:pt>
  </dgm:ptLst>
  <dgm:cxnLst>
    <dgm:cxn modelId="{73E39624-B3BD-4AE3-A92C-25E5DC2AA102}" srcId="{C1BF89BA-293A-4669-A555-FA5F79C7FDD0}" destId="{82FB4158-0DBE-4E97-9D3A-F9425EB76105}" srcOrd="1" destOrd="0" parTransId="{CD6E126F-594B-46AE-AE90-3D96D84C8EE6}" sibTransId="{9020549A-2A6E-4704-8A98-A8EA4FA599C6}"/>
    <dgm:cxn modelId="{2DDFA75E-2C33-40E1-9A1E-AA05A1663C8C}" srcId="{C1BF89BA-293A-4669-A555-FA5F79C7FDD0}" destId="{F6959402-0D1D-4038-A602-D367132322E3}" srcOrd="2" destOrd="0" parTransId="{E3F129DA-118E-4F4B-944E-7FAA68F79B08}" sibTransId="{E953B3F4-F581-438E-B0C3-A6E68289A087}"/>
    <dgm:cxn modelId="{59A5EC5F-4FBD-47DC-BC41-D3044A004819}" type="presOf" srcId="{82FB4158-0DBE-4E97-9D3A-F9425EB76105}" destId="{22B98E76-28B7-463A-885D-516D83BB57D6}" srcOrd="0" destOrd="0" presId="urn:microsoft.com/office/officeart/2018/2/layout/IconVerticalSolidList"/>
    <dgm:cxn modelId="{7975B641-8A32-492C-B471-DC347BAC4234}" type="presOf" srcId="{A1D751BB-BF88-474D-871D-616E3E8BD099}" destId="{F170B83D-5267-47B2-A1A1-1F743E6400B9}" srcOrd="0" destOrd="0" presId="urn:microsoft.com/office/officeart/2018/2/layout/IconVerticalSolidList"/>
    <dgm:cxn modelId="{C2080A45-5791-4B1F-8771-1B105FD0C0B1}" srcId="{C1BF89BA-293A-4669-A555-FA5F79C7FDD0}" destId="{A1D751BB-BF88-474D-871D-616E3E8BD099}" srcOrd="0" destOrd="0" parTransId="{B79ACA5D-D02A-4080-81DC-CD2CDD86A2D7}" sibTransId="{E6873A0F-8169-4FB7-84AC-9A6B87E985AD}"/>
    <dgm:cxn modelId="{F8FAF1A0-A236-4EF8-B7A8-7AAC5F1A1428}" type="presOf" srcId="{C1BF89BA-293A-4669-A555-FA5F79C7FDD0}" destId="{5AD4F0E5-EC08-4065-A1A2-399D4338EFD5}" srcOrd="0" destOrd="0" presId="urn:microsoft.com/office/officeart/2018/2/layout/IconVerticalSolidList"/>
    <dgm:cxn modelId="{755B7AD7-D23C-422E-BDC1-3C657028E70C}" type="presOf" srcId="{F6959402-0D1D-4038-A602-D367132322E3}" destId="{C1F7FC6A-9255-4962-84A1-88BEE8D44FFD}" srcOrd="0" destOrd="0" presId="urn:microsoft.com/office/officeart/2018/2/layout/IconVerticalSolidList"/>
    <dgm:cxn modelId="{8D2CEC24-9FED-4A5E-BBF2-0CD4BCFAF430}" type="presParOf" srcId="{5AD4F0E5-EC08-4065-A1A2-399D4338EFD5}" destId="{C27C9543-6120-4272-9C6E-3AC75A185C0C}" srcOrd="0" destOrd="0" presId="urn:microsoft.com/office/officeart/2018/2/layout/IconVerticalSolidList"/>
    <dgm:cxn modelId="{FBB102B7-C378-4149-89AB-AF291FBA0ADE}" type="presParOf" srcId="{C27C9543-6120-4272-9C6E-3AC75A185C0C}" destId="{3B9C9143-E1D5-4DC3-9137-2BD7675E31F9}" srcOrd="0" destOrd="0" presId="urn:microsoft.com/office/officeart/2018/2/layout/IconVerticalSolidList"/>
    <dgm:cxn modelId="{D92F1E42-620F-41C5-8ECD-140998561B2B}" type="presParOf" srcId="{C27C9543-6120-4272-9C6E-3AC75A185C0C}" destId="{5A1665E9-3F42-422C-B4ED-89A1868F7909}" srcOrd="1" destOrd="0" presId="urn:microsoft.com/office/officeart/2018/2/layout/IconVerticalSolidList"/>
    <dgm:cxn modelId="{24D1CDC2-7CF0-4977-AB03-A94AE31F185F}" type="presParOf" srcId="{C27C9543-6120-4272-9C6E-3AC75A185C0C}" destId="{0E34F3CE-EFD4-4657-8EB0-9D9616CBA09C}" srcOrd="2" destOrd="0" presId="urn:microsoft.com/office/officeart/2018/2/layout/IconVerticalSolidList"/>
    <dgm:cxn modelId="{1EEB1A93-A611-4681-B16D-DDB0BB007C25}" type="presParOf" srcId="{C27C9543-6120-4272-9C6E-3AC75A185C0C}" destId="{F170B83D-5267-47B2-A1A1-1F743E6400B9}" srcOrd="3" destOrd="0" presId="urn:microsoft.com/office/officeart/2018/2/layout/IconVerticalSolidList"/>
    <dgm:cxn modelId="{A2418B0E-402A-4792-8144-BE14A8D8D1EF}" type="presParOf" srcId="{5AD4F0E5-EC08-4065-A1A2-399D4338EFD5}" destId="{033A9E4E-EA2E-43D6-8B75-096A094692F7}" srcOrd="1" destOrd="0" presId="urn:microsoft.com/office/officeart/2018/2/layout/IconVerticalSolidList"/>
    <dgm:cxn modelId="{9E0A96C5-A668-4DE1-B179-33CED1B8ABA2}" type="presParOf" srcId="{5AD4F0E5-EC08-4065-A1A2-399D4338EFD5}" destId="{0CD5544E-B383-4613-A391-7F01AFCE3984}" srcOrd="2" destOrd="0" presId="urn:microsoft.com/office/officeart/2018/2/layout/IconVerticalSolidList"/>
    <dgm:cxn modelId="{AD5CED0C-4DD4-41B8-A6F5-89D5500B7B91}" type="presParOf" srcId="{0CD5544E-B383-4613-A391-7F01AFCE3984}" destId="{C13F58C3-0EF0-4835-B60B-715F46FDF2C1}" srcOrd="0" destOrd="0" presId="urn:microsoft.com/office/officeart/2018/2/layout/IconVerticalSolidList"/>
    <dgm:cxn modelId="{8E46D0FF-CE54-4FA2-A259-567330F4B1BB}" type="presParOf" srcId="{0CD5544E-B383-4613-A391-7F01AFCE3984}" destId="{BE2D94E4-279F-4F94-B8BF-9CF3C763F988}" srcOrd="1" destOrd="0" presId="urn:microsoft.com/office/officeart/2018/2/layout/IconVerticalSolidList"/>
    <dgm:cxn modelId="{7F381C28-B83F-4862-BC16-78B70865AA4D}" type="presParOf" srcId="{0CD5544E-B383-4613-A391-7F01AFCE3984}" destId="{519D8193-95C9-44AB-BE4B-8D691E824624}" srcOrd="2" destOrd="0" presId="urn:microsoft.com/office/officeart/2018/2/layout/IconVerticalSolidList"/>
    <dgm:cxn modelId="{DF087A74-93A0-44B2-A8BE-9E764292233D}" type="presParOf" srcId="{0CD5544E-B383-4613-A391-7F01AFCE3984}" destId="{22B98E76-28B7-463A-885D-516D83BB57D6}" srcOrd="3" destOrd="0" presId="urn:microsoft.com/office/officeart/2018/2/layout/IconVerticalSolidList"/>
    <dgm:cxn modelId="{35653356-44EE-4EB5-A129-C9107F691E4D}" type="presParOf" srcId="{5AD4F0E5-EC08-4065-A1A2-399D4338EFD5}" destId="{C526CF07-7D50-4507-8474-32996E1228A0}" srcOrd="3" destOrd="0" presId="urn:microsoft.com/office/officeart/2018/2/layout/IconVerticalSolidList"/>
    <dgm:cxn modelId="{7BE4411D-24F9-45B1-94F9-F0EA492E6FA7}" type="presParOf" srcId="{5AD4F0E5-EC08-4065-A1A2-399D4338EFD5}" destId="{FEB8A9A0-A9B0-4921-877B-F317EA80AF8B}" srcOrd="4" destOrd="0" presId="urn:microsoft.com/office/officeart/2018/2/layout/IconVerticalSolidList"/>
    <dgm:cxn modelId="{1C502FBC-B305-449F-88CC-0D4BE0A2909E}" type="presParOf" srcId="{FEB8A9A0-A9B0-4921-877B-F317EA80AF8B}" destId="{74182C0A-E520-495D-8A5B-2B70A2B89E20}" srcOrd="0" destOrd="0" presId="urn:microsoft.com/office/officeart/2018/2/layout/IconVerticalSolidList"/>
    <dgm:cxn modelId="{6250544D-8A6A-4C4D-ABAE-105B466AF52A}" type="presParOf" srcId="{FEB8A9A0-A9B0-4921-877B-F317EA80AF8B}" destId="{8979BACA-A352-4651-A9D4-AE958973EDF9}" srcOrd="1" destOrd="0" presId="urn:microsoft.com/office/officeart/2018/2/layout/IconVerticalSolidList"/>
    <dgm:cxn modelId="{3A40CC45-DBC7-4727-B19B-A4D2EC2CE9E8}" type="presParOf" srcId="{FEB8A9A0-A9B0-4921-877B-F317EA80AF8B}" destId="{3CF9E173-CCA8-4A33-8120-DB5897194671}" srcOrd="2" destOrd="0" presId="urn:microsoft.com/office/officeart/2018/2/layout/IconVerticalSolidList"/>
    <dgm:cxn modelId="{F9A5B92F-21F6-421B-B690-984F60FF6306}" type="presParOf" srcId="{FEB8A9A0-A9B0-4921-877B-F317EA80AF8B}" destId="{C1F7FC6A-9255-4962-84A1-88BEE8D44FF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7342D0-B1D8-41C0-843D-BDCB5332CDCD}">
      <dsp:nvSpPr>
        <dsp:cNvPr id="0" name=""/>
        <dsp:cNvSpPr/>
      </dsp:nvSpPr>
      <dsp:spPr>
        <a:xfrm>
          <a:off x="0" y="531"/>
          <a:ext cx="10515600" cy="1244702"/>
        </a:xfrm>
        <a:prstGeom prst="roundRect">
          <a:avLst>
            <a:gd name="adj" fmla="val 10000"/>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A4AB070E-A566-4D35-B68A-D4D12F312751}">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C5231E-B8AC-4667-884A-A6013534D06F}">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dirty="0">
              <a:solidFill>
                <a:schemeClr val="tx2">
                  <a:lumMod val="50000"/>
                </a:schemeClr>
              </a:solidFill>
            </a:rPr>
            <a:t>There are many companies from whom you can purchase a domain</a:t>
          </a:r>
        </a:p>
      </dsp:txBody>
      <dsp:txXfrm>
        <a:off x="1437631" y="531"/>
        <a:ext cx="9077968" cy="1244702"/>
      </dsp:txXfrm>
    </dsp:sp>
    <dsp:sp modelId="{F3082905-C44B-4CEE-B287-D74916F9CB30}">
      <dsp:nvSpPr>
        <dsp:cNvPr id="0" name=""/>
        <dsp:cNvSpPr/>
      </dsp:nvSpPr>
      <dsp:spPr>
        <a:xfrm>
          <a:off x="0" y="1556410"/>
          <a:ext cx="10515600" cy="1244702"/>
        </a:xfrm>
        <a:prstGeom prst="roundRect">
          <a:avLst>
            <a:gd name="adj" fmla="val 10000"/>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2D452E11-E6B3-4A0C-B353-19D5383A74A5}">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9FCE2C-9897-414D-B923-4D8135C9A10E}">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dirty="0">
              <a:solidFill>
                <a:schemeClr val="tx2">
                  <a:lumMod val="50000"/>
                </a:schemeClr>
              </a:solidFill>
            </a:rPr>
            <a:t>The Internet Corporation for Assigned Names and Numbers (ICANN) is the agency that is actually responsible for, among other things, domain registration</a:t>
          </a:r>
        </a:p>
      </dsp:txBody>
      <dsp:txXfrm>
        <a:off x="1437631" y="1556410"/>
        <a:ext cx="9077968" cy="1244702"/>
      </dsp:txXfrm>
    </dsp:sp>
    <dsp:sp modelId="{BA7F4421-A69E-43C0-AF86-87F1CF77D653}">
      <dsp:nvSpPr>
        <dsp:cNvPr id="0" name=""/>
        <dsp:cNvSpPr/>
      </dsp:nvSpPr>
      <dsp:spPr>
        <a:xfrm>
          <a:off x="0" y="3112289"/>
          <a:ext cx="10515600" cy="1244702"/>
        </a:xfrm>
        <a:prstGeom prst="roundRect">
          <a:avLst>
            <a:gd name="adj" fmla="val 10000"/>
          </a:avLst>
        </a:prstGeom>
        <a:solidFill>
          <a:schemeClr val="accent4">
            <a:lumMod val="20000"/>
            <a:lumOff val="80000"/>
          </a:schemeClr>
        </a:solidFill>
        <a:ln>
          <a:noFill/>
        </a:ln>
        <a:effectLst/>
      </dsp:spPr>
      <dsp:style>
        <a:lnRef idx="0">
          <a:scrgbClr r="0" g="0" b="0"/>
        </a:lnRef>
        <a:fillRef idx="1">
          <a:scrgbClr r="0" g="0" b="0"/>
        </a:fillRef>
        <a:effectRef idx="0">
          <a:scrgbClr r="0" g="0" b="0"/>
        </a:effectRef>
        <a:fontRef idx="minor"/>
      </dsp:style>
    </dsp:sp>
    <dsp:sp modelId="{0AB34D5A-6C46-419A-AC43-8F36024F5AB9}">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1C4BA8-141B-4E36-B41E-C804DE0634E7}">
      <dsp:nvSpPr>
        <dsp:cNvPr id="0" name=""/>
        <dsp:cNvSpPr/>
      </dsp:nvSpPr>
      <dsp:spPr>
        <a:xfrm>
          <a:off x="1437631" y="3112289"/>
          <a:ext cx="9077968" cy="1244702"/>
        </a:xfrm>
        <a:prstGeom prst="rect">
          <a:avLst/>
        </a:prstGeom>
        <a:solidFill>
          <a:schemeClr val="accent4">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dirty="0">
              <a:solidFill>
                <a:schemeClr val="tx2">
                  <a:lumMod val="50000"/>
                </a:schemeClr>
              </a:solidFill>
            </a:rPr>
            <a:t>Other companies, such as GoDaddy, act as middlemen between their customers and ICANN</a:t>
          </a:r>
        </a:p>
      </dsp:txBody>
      <dsp:txXfrm>
        <a:off x="1437631" y="3112289"/>
        <a:ext cx="9077968" cy="12447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FF0873-5DF4-4DDE-BCFB-223597D5B3E0}">
      <dsp:nvSpPr>
        <dsp:cNvPr id="0" name=""/>
        <dsp:cNvSpPr/>
      </dsp:nvSpPr>
      <dsp:spPr>
        <a:xfrm>
          <a:off x="117601" y="701935"/>
          <a:ext cx="1287020" cy="128702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48236C-1909-4B20-B880-1A6E982EC9DF}">
      <dsp:nvSpPr>
        <dsp:cNvPr id="0" name=""/>
        <dsp:cNvSpPr/>
      </dsp:nvSpPr>
      <dsp:spPr>
        <a:xfrm>
          <a:off x="387875" y="972209"/>
          <a:ext cx="746471" cy="7464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5F12A6-3711-48E5-8E84-BD2028F4DB25}">
      <dsp:nvSpPr>
        <dsp:cNvPr id="0" name=""/>
        <dsp:cNvSpPr/>
      </dsp:nvSpPr>
      <dsp:spPr>
        <a:xfrm>
          <a:off x="1680411" y="701935"/>
          <a:ext cx="3033690" cy="1287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dirty="0"/>
            <a:t>Web sites are usually a result of teams of people working together toward a common goal </a:t>
          </a:r>
        </a:p>
      </dsp:txBody>
      <dsp:txXfrm>
        <a:off x="1680411" y="701935"/>
        <a:ext cx="3033690" cy="1287020"/>
      </dsp:txXfrm>
    </dsp:sp>
    <dsp:sp modelId="{4E044C4A-1483-4E7F-92AE-CAEC356BA687}">
      <dsp:nvSpPr>
        <dsp:cNvPr id="0" name=""/>
        <dsp:cNvSpPr/>
      </dsp:nvSpPr>
      <dsp:spPr>
        <a:xfrm>
          <a:off x="5242698" y="701935"/>
          <a:ext cx="1287020" cy="128702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EBE5CC-DEA3-4582-B3A6-768FE2D13FEB}">
      <dsp:nvSpPr>
        <dsp:cNvPr id="0" name=""/>
        <dsp:cNvSpPr/>
      </dsp:nvSpPr>
      <dsp:spPr>
        <a:xfrm>
          <a:off x="5512972" y="972209"/>
          <a:ext cx="746471" cy="7464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30480B-197E-49FE-BDA8-B35B16739ADD}">
      <dsp:nvSpPr>
        <dsp:cNvPr id="0" name=""/>
        <dsp:cNvSpPr/>
      </dsp:nvSpPr>
      <dsp:spPr>
        <a:xfrm>
          <a:off x="6805508" y="701935"/>
          <a:ext cx="3033690" cy="1287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dirty="0"/>
            <a:t>This is the reason for our semester project - working as part of a team</a:t>
          </a:r>
        </a:p>
      </dsp:txBody>
      <dsp:txXfrm>
        <a:off x="6805508" y="701935"/>
        <a:ext cx="3033690" cy="1287020"/>
      </dsp:txXfrm>
    </dsp:sp>
    <dsp:sp modelId="{0DE75619-AFC2-475D-852A-4A18E0025992}">
      <dsp:nvSpPr>
        <dsp:cNvPr id="0" name=""/>
        <dsp:cNvSpPr/>
      </dsp:nvSpPr>
      <dsp:spPr>
        <a:xfrm>
          <a:off x="117601" y="2803707"/>
          <a:ext cx="1287020" cy="128702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2727ED-8241-48E6-829A-6BA731633B69}">
      <dsp:nvSpPr>
        <dsp:cNvPr id="0" name=""/>
        <dsp:cNvSpPr/>
      </dsp:nvSpPr>
      <dsp:spPr>
        <a:xfrm>
          <a:off x="387875" y="3073982"/>
          <a:ext cx="746471" cy="7464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7079A5-6A1B-42A2-A4AE-F28E5B7614B5}">
      <dsp:nvSpPr>
        <dsp:cNvPr id="0" name=""/>
        <dsp:cNvSpPr/>
      </dsp:nvSpPr>
      <dsp:spPr>
        <a:xfrm>
          <a:off x="1680411" y="2803707"/>
          <a:ext cx="3033690" cy="1287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dirty="0"/>
            <a:t>Each team member brings his or her own set of education, experience, skills, and knowledge to the project</a:t>
          </a:r>
        </a:p>
      </dsp:txBody>
      <dsp:txXfrm>
        <a:off x="1680411" y="2803707"/>
        <a:ext cx="3033690" cy="1287020"/>
      </dsp:txXfrm>
    </dsp:sp>
    <dsp:sp modelId="{28D4B13B-730E-4EC6-84B9-B4BCB6FC9541}">
      <dsp:nvSpPr>
        <dsp:cNvPr id="0" name=""/>
        <dsp:cNvSpPr/>
      </dsp:nvSpPr>
      <dsp:spPr>
        <a:xfrm>
          <a:off x="5242698" y="2803707"/>
          <a:ext cx="1287020" cy="128702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67391C-17D3-40D1-8B08-4F15AAB891F3}">
      <dsp:nvSpPr>
        <dsp:cNvPr id="0" name=""/>
        <dsp:cNvSpPr/>
      </dsp:nvSpPr>
      <dsp:spPr>
        <a:xfrm>
          <a:off x="5512972" y="3073982"/>
          <a:ext cx="746471" cy="7464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45AD23-4BF8-4A99-AB02-3EB860FB5835}">
      <dsp:nvSpPr>
        <dsp:cNvPr id="0" name=""/>
        <dsp:cNvSpPr/>
      </dsp:nvSpPr>
      <dsp:spPr>
        <a:xfrm>
          <a:off x="6805508" y="2803707"/>
          <a:ext cx="3033690" cy="1287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dirty="0"/>
            <a:t>Here, we see the ‘Gestalt,’ the whole being greater than the sum of its parts, in action</a:t>
          </a:r>
        </a:p>
      </dsp:txBody>
      <dsp:txXfrm>
        <a:off x="6805508" y="2803707"/>
        <a:ext cx="3033690" cy="12870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9C9143-E1D5-4DC3-9137-2BD7675E31F9}">
      <dsp:nvSpPr>
        <dsp:cNvPr id="0" name=""/>
        <dsp:cNvSpPr/>
      </dsp:nvSpPr>
      <dsp:spPr>
        <a:xfrm>
          <a:off x="0" y="585"/>
          <a:ext cx="9956800" cy="136899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1665E9-3F42-422C-B4ED-89A1868F7909}">
      <dsp:nvSpPr>
        <dsp:cNvPr id="0" name=""/>
        <dsp:cNvSpPr/>
      </dsp:nvSpPr>
      <dsp:spPr>
        <a:xfrm>
          <a:off x="414121" y="308609"/>
          <a:ext cx="752948" cy="7529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70B83D-5267-47B2-A1A1-1F743E6400B9}">
      <dsp:nvSpPr>
        <dsp:cNvPr id="0" name=""/>
        <dsp:cNvSpPr/>
      </dsp:nvSpPr>
      <dsp:spPr>
        <a:xfrm>
          <a:off x="1581192" y="585"/>
          <a:ext cx="8375607" cy="1368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886" tIns="144886" rIns="144886" bIns="144886" numCol="1" spcCol="1270" anchor="ctr" anchorCtr="0">
          <a:noAutofit/>
        </a:bodyPr>
        <a:lstStyle/>
        <a:p>
          <a:pPr marL="0" lvl="0" indent="0" algn="l" defTabSz="1022350">
            <a:lnSpc>
              <a:spcPct val="100000"/>
            </a:lnSpc>
            <a:spcBef>
              <a:spcPct val="0"/>
            </a:spcBef>
            <a:spcAft>
              <a:spcPct val="35000"/>
            </a:spcAft>
            <a:buNone/>
          </a:pPr>
          <a:r>
            <a:rPr lang="en-US" sz="2300" kern="1200"/>
            <a:t>Learning how to craft a full-blown website must begin with basics - the ‘building blocks’</a:t>
          </a:r>
        </a:p>
      </dsp:txBody>
      <dsp:txXfrm>
        <a:off x="1581192" y="585"/>
        <a:ext cx="8375607" cy="1368997"/>
      </dsp:txXfrm>
    </dsp:sp>
    <dsp:sp modelId="{C13F58C3-0EF0-4835-B60B-715F46FDF2C1}">
      <dsp:nvSpPr>
        <dsp:cNvPr id="0" name=""/>
        <dsp:cNvSpPr/>
      </dsp:nvSpPr>
      <dsp:spPr>
        <a:xfrm>
          <a:off x="0" y="1711832"/>
          <a:ext cx="9956800" cy="136899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2D94E4-279F-4F94-B8BF-9CF3C763F988}">
      <dsp:nvSpPr>
        <dsp:cNvPr id="0" name=""/>
        <dsp:cNvSpPr/>
      </dsp:nvSpPr>
      <dsp:spPr>
        <a:xfrm>
          <a:off x="414121" y="2019857"/>
          <a:ext cx="752948" cy="7529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B98E76-28B7-463A-885D-516D83BB57D6}">
      <dsp:nvSpPr>
        <dsp:cNvPr id="0" name=""/>
        <dsp:cNvSpPr/>
      </dsp:nvSpPr>
      <dsp:spPr>
        <a:xfrm>
          <a:off x="1581192" y="1711832"/>
          <a:ext cx="8375607" cy="1368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886" tIns="144886" rIns="144886" bIns="144886" numCol="1" spcCol="1270" anchor="ctr" anchorCtr="0">
          <a:noAutofit/>
        </a:bodyPr>
        <a:lstStyle/>
        <a:p>
          <a:pPr marL="0" lvl="0" indent="0" algn="l" defTabSz="1022350">
            <a:lnSpc>
              <a:spcPct val="100000"/>
            </a:lnSpc>
            <a:spcBef>
              <a:spcPct val="0"/>
            </a:spcBef>
            <a:spcAft>
              <a:spcPct val="35000"/>
            </a:spcAft>
            <a:buNone/>
          </a:pPr>
          <a:r>
            <a:rPr lang="en-US" sz="2300" kern="1200"/>
            <a:t>We can then use those to create more sophisticated solutions</a:t>
          </a:r>
        </a:p>
      </dsp:txBody>
      <dsp:txXfrm>
        <a:off x="1581192" y="1711832"/>
        <a:ext cx="8375607" cy="1368997"/>
      </dsp:txXfrm>
    </dsp:sp>
    <dsp:sp modelId="{74182C0A-E520-495D-8A5B-2B70A2B89E20}">
      <dsp:nvSpPr>
        <dsp:cNvPr id="0" name=""/>
        <dsp:cNvSpPr/>
      </dsp:nvSpPr>
      <dsp:spPr>
        <a:xfrm>
          <a:off x="0" y="3423079"/>
          <a:ext cx="9956800" cy="136899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79BACA-A352-4651-A9D4-AE958973EDF9}">
      <dsp:nvSpPr>
        <dsp:cNvPr id="0" name=""/>
        <dsp:cNvSpPr/>
      </dsp:nvSpPr>
      <dsp:spPr>
        <a:xfrm>
          <a:off x="414121" y="3731104"/>
          <a:ext cx="752948" cy="7529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F7FC6A-9255-4962-84A1-88BEE8D44FFD}">
      <dsp:nvSpPr>
        <dsp:cNvPr id="0" name=""/>
        <dsp:cNvSpPr/>
      </dsp:nvSpPr>
      <dsp:spPr>
        <a:xfrm>
          <a:off x="1581192" y="3423079"/>
          <a:ext cx="8375607" cy="1368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886" tIns="144886" rIns="144886" bIns="144886" numCol="1" spcCol="1270" anchor="ctr" anchorCtr="0">
          <a:noAutofit/>
        </a:bodyPr>
        <a:lstStyle/>
        <a:p>
          <a:pPr marL="0" lvl="0" indent="0" algn="l" defTabSz="1022350">
            <a:lnSpc>
              <a:spcPct val="100000"/>
            </a:lnSpc>
            <a:spcBef>
              <a:spcPct val="0"/>
            </a:spcBef>
            <a:spcAft>
              <a:spcPct val="35000"/>
            </a:spcAft>
            <a:buNone/>
          </a:pPr>
          <a:r>
            <a:rPr lang="en-US" sz="2300" kern="1200"/>
            <a:t>Ultimately, we will possess the knowledge and skills to product effective, dynamic websites that fulfill our clients’ and users’ needs to make the web a productive part of clients’ business practices</a:t>
          </a:r>
        </a:p>
      </dsp:txBody>
      <dsp:txXfrm>
        <a:off x="1581192" y="3423079"/>
        <a:ext cx="8375607" cy="136899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D5DFF5-5C3A-60CC-11A0-D74B13B872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521745F-D06E-FCEA-3A1D-81300AD8CA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88F0EA-E00D-4F69-9596-E8D9B4BBC74A}" type="datetimeFigureOut">
              <a:rPr lang="en-US" smtClean="0"/>
              <a:t>8/7/2026</a:t>
            </a:fld>
            <a:endParaRPr lang="en-US"/>
          </a:p>
        </p:txBody>
      </p:sp>
      <p:sp>
        <p:nvSpPr>
          <p:cNvPr id="4" name="Footer Placeholder 3">
            <a:extLst>
              <a:ext uri="{FF2B5EF4-FFF2-40B4-BE49-F238E27FC236}">
                <a16:creationId xmlns:a16="http://schemas.microsoft.com/office/drawing/2014/main" id="{D2050043-DE5E-C86A-ED50-D3CBA859E9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7AF8A8-738B-E996-A20E-C035AB7C28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286384-199B-42CC-A90B-516EB23FAD4A}" type="slidenum">
              <a:rPr lang="en-US" smtClean="0"/>
              <a:t>‹#›</a:t>
            </a:fld>
            <a:endParaRPr lang="en-US"/>
          </a:p>
        </p:txBody>
      </p:sp>
    </p:spTree>
    <p:extLst>
      <p:ext uri="{BB962C8B-B14F-4D97-AF65-F5344CB8AC3E}">
        <p14:creationId xmlns:p14="http://schemas.microsoft.com/office/powerpoint/2010/main" val="26161835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1467CC-16CE-4122-B8BB-E0B2855A7FB8}"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24B24E-E92A-446E-9BBA-E049DEAECB46}" type="slidenum">
              <a:rPr lang="en-US" smtClean="0"/>
              <a:t>‹#›</a:t>
            </a:fld>
            <a:endParaRPr lang="en-US"/>
          </a:p>
        </p:txBody>
      </p:sp>
    </p:spTree>
    <p:extLst>
      <p:ext uri="{BB962C8B-B14F-4D97-AF65-F5344CB8AC3E}">
        <p14:creationId xmlns:p14="http://schemas.microsoft.com/office/powerpoint/2010/main" val="418281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1</a:t>
            </a:fld>
            <a:endParaRPr lang="en-US"/>
          </a:p>
        </p:txBody>
      </p:sp>
    </p:spTree>
    <p:extLst>
      <p:ext uri="{BB962C8B-B14F-4D97-AF65-F5344CB8AC3E}">
        <p14:creationId xmlns:p14="http://schemas.microsoft.com/office/powerpoint/2010/main" val="3085860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24B24E-E92A-446E-9BBA-E049DEAECB46}" type="slidenum">
              <a:rPr lang="en-US" smtClean="0"/>
              <a:t>52</a:t>
            </a:fld>
            <a:endParaRPr lang="en-US"/>
          </a:p>
        </p:txBody>
      </p:sp>
    </p:spTree>
    <p:extLst>
      <p:ext uri="{BB962C8B-B14F-4D97-AF65-F5344CB8AC3E}">
        <p14:creationId xmlns:p14="http://schemas.microsoft.com/office/powerpoint/2010/main" val="159232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endParaRPr lang="en-US" dirty="0"/>
          </a:p>
        </p:txBody>
      </p:sp>
    </p:spTree>
    <p:extLst>
      <p:ext uri="{BB962C8B-B14F-4D97-AF65-F5344CB8AC3E}">
        <p14:creationId xmlns:p14="http://schemas.microsoft.com/office/powerpoint/2010/main" val="2436724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2.png"/><Relationship Id="rId16"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microsoft.com/office/2007/relationships/hdphoto" Target="../media/hdphoto1.wdp"/><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png"/><Relationship Id="rId14"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502A189-2B57-C927-377D-F831B32D7CD1}"/>
              </a:ext>
            </a:extLst>
          </p:cNvPr>
          <p:cNvSpPr/>
          <p:nvPr userDrawn="1"/>
        </p:nvSpPr>
        <p:spPr>
          <a:xfrm rot="21445655">
            <a:off x="69346" y="4396968"/>
            <a:ext cx="12011481" cy="14077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1216741-237D-0769-D99B-267B5D217537}"/>
              </a:ext>
            </a:extLst>
          </p:cNvPr>
          <p:cNvSpPr/>
          <p:nvPr userDrawn="1"/>
        </p:nvSpPr>
        <p:spPr>
          <a:xfrm rot="21427662">
            <a:off x="-60052" y="6003794"/>
            <a:ext cx="4469000" cy="9305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E89674F-E33C-2D82-00F4-96B3AD40E68B}"/>
              </a:ext>
            </a:extLst>
          </p:cNvPr>
          <p:cNvPicPr>
            <a:picLocks noChangeAspect="1"/>
          </p:cNvPicPr>
          <p:nvPr userDrawn="1"/>
        </p:nvPicPr>
        <p:blipFill>
          <a:blip r:embed="rId2">
            <a:extLst>
              <a:ext uri="{28A0092B-C50C-407E-A947-70E740481C1C}">
                <a14:useLocalDpi xmlns:a14="http://schemas.microsoft.com/office/drawing/2010/main" val="0"/>
              </a:ext>
            </a:extLst>
          </a:blip>
          <a:srcRect l="5402" t="79881" b="3862"/>
          <a:stretch>
            <a:fillRect/>
          </a:stretch>
        </p:blipFill>
        <p:spPr>
          <a:xfrm>
            <a:off x="0" y="5767798"/>
            <a:ext cx="8458587" cy="1090201"/>
          </a:xfrm>
          <a:prstGeom prst="rect">
            <a:avLst/>
          </a:prstGeom>
        </p:spPr>
      </p:pic>
      <p:pic>
        <p:nvPicPr>
          <p:cNvPr id="20" name="Picture 19">
            <a:extLst>
              <a:ext uri="{FF2B5EF4-FFF2-40B4-BE49-F238E27FC236}">
                <a16:creationId xmlns:a16="http://schemas.microsoft.com/office/drawing/2014/main" id="{7562235D-3592-B27E-4298-EAB9B742B776}"/>
              </a:ext>
            </a:extLst>
          </p:cNvPr>
          <p:cNvPicPr>
            <a:picLocks noChangeAspect="1"/>
          </p:cNvPicPr>
          <p:nvPr userDrawn="1"/>
        </p:nvPicPr>
        <p:blipFill>
          <a:blip r:embed="rId3"/>
          <a:srcRect l="21456" t="64054" r="17391"/>
          <a:stretch>
            <a:fillRect/>
          </a:stretch>
        </p:blipFill>
        <p:spPr>
          <a:xfrm>
            <a:off x="2657475" y="5770987"/>
            <a:ext cx="4120571" cy="287494"/>
          </a:xfrm>
          <a:prstGeom prst="rect">
            <a:avLst/>
          </a:prstGeom>
        </p:spPr>
      </p:pic>
      <p:sp>
        <p:nvSpPr>
          <p:cNvPr id="9" name="Rectangle 8">
            <a:extLst>
              <a:ext uri="{FF2B5EF4-FFF2-40B4-BE49-F238E27FC236}">
                <a16:creationId xmlns:a16="http://schemas.microsoft.com/office/drawing/2014/main" id="{054EEE6A-C6E4-A152-1B90-5323F41D80B0}"/>
              </a:ext>
            </a:extLst>
          </p:cNvPr>
          <p:cNvSpPr/>
          <p:nvPr userDrawn="1"/>
        </p:nvSpPr>
        <p:spPr>
          <a:xfrm rot="21417291">
            <a:off x="2322985" y="3818640"/>
            <a:ext cx="9823266" cy="19835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2908FD1D-6E84-981D-B344-286B78D5AA58}"/>
              </a:ext>
            </a:extLst>
          </p:cNvPr>
          <p:cNvPicPr>
            <a:picLocks noChangeAspect="1"/>
          </p:cNvPicPr>
          <p:nvPr userDrawn="1"/>
        </p:nvPicPr>
        <p:blipFill>
          <a:blip r:embed="rId4">
            <a:alphaModFix amt="8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b="11630"/>
          <a:stretch>
            <a:fillRect/>
          </a:stretch>
        </p:blipFill>
        <p:spPr>
          <a:xfrm rot="21408228">
            <a:off x="-842222" y="1130631"/>
            <a:ext cx="5485683" cy="4856978"/>
          </a:xfrm>
          <a:prstGeom prst="rect">
            <a:avLst/>
          </a:prstGeom>
          <a:effectLst>
            <a:softEdge rad="0"/>
          </a:effectLst>
        </p:spPr>
      </p:pic>
      <p:sp>
        <p:nvSpPr>
          <p:cNvPr id="11" name="Holder 3">
            <a:extLst>
              <a:ext uri="{FF2B5EF4-FFF2-40B4-BE49-F238E27FC236}">
                <a16:creationId xmlns:a16="http://schemas.microsoft.com/office/drawing/2014/main" id="{8FA63A7F-3217-2288-452F-D3FCF999DEC6}"/>
              </a:ext>
            </a:extLst>
          </p:cNvPr>
          <p:cNvSpPr>
            <a:spLocks noGrp="1"/>
          </p:cNvSpPr>
          <p:nvPr>
            <p:ph type="subTitle" idx="4"/>
          </p:nvPr>
        </p:nvSpPr>
        <p:spPr>
          <a:xfrm>
            <a:off x="1524000" y="4084859"/>
            <a:ext cx="9144000" cy="457048"/>
          </a:xfrm>
          <a:prstGeom prst="rect">
            <a:avLst/>
          </a:prstGeom>
          <a:ln>
            <a:noFill/>
          </a:ln>
        </p:spPr>
        <p:txBody>
          <a:bodyPr wrap="square" lIns="0" tIns="0" rIns="0" bIns="0" anchor="ctr">
            <a:spAutoFit/>
          </a:bodyPr>
          <a:lstStyle>
            <a:lvl1pPr algn="ctr">
              <a:buNone/>
              <a:defRPr sz="3300" b="0" i="0">
                <a:solidFill>
                  <a:schemeClr val="tx2"/>
                </a:solidFill>
                <a:latin typeface="+mn-lt"/>
                <a:ea typeface="Bahnschrift" panose="020B0502040204020203" pitchFamily="34" charset="0"/>
                <a:cs typeface="Arial" charset="0"/>
              </a:defRPr>
            </a:lvl1pPr>
          </a:lstStyle>
          <a:p>
            <a:r>
              <a:rPr lang="en-US"/>
              <a:t>Click to edit Master subtitle style</a:t>
            </a:r>
            <a:endParaRPr dirty="0"/>
          </a:p>
        </p:txBody>
      </p:sp>
      <p:sp>
        <p:nvSpPr>
          <p:cNvPr id="14" name="Text Placeholder 23">
            <a:extLst>
              <a:ext uri="{FF2B5EF4-FFF2-40B4-BE49-F238E27FC236}">
                <a16:creationId xmlns:a16="http://schemas.microsoft.com/office/drawing/2014/main" id="{B5728811-BAD7-EDE2-0F78-822178836DC7}"/>
              </a:ext>
            </a:extLst>
          </p:cNvPr>
          <p:cNvSpPr>
            <a:spLocks noGrp="1"/>
          </p:cNvSpPr>
          <p:nvPr>
            <p:ph type="body" sz="quarter" idx="10"/>
          </p:nvPr>
        </p:nvSpPr>
        <p:spPr>
          <a:xfrm>
            <a:off x="2580290" y="4867147"/>
            <a:ext cx="7031421" cy="686695"/>
          </a:xfrm>
        </p:spPr>
        <p:txBody>
          <a:bodyPr anchor="ctr">
            <a:normAutofit/>
          </a:bodyPr>
          <a:lstStyle>
            <a:lvl1pPr algn="ctr">
              <a:buNone/>
              <a:defRPr sz="2000">
                <a:solidFill>
                  <a:schemeClr val="accent2">
                    <a:lumMod val="75000"/>
                  </a:schemeClr>
                </a:solidFill>
                <a:latin typeface="Bahnschrift" panose="020B0502040204020203" pitchFamily="34" charset="0"/>
              </a:defRPr>
            </a:lvl1pPr>
          </a:lstStyle>
          <a:p>
            <a:pPr lvl="0"/>
            <a:r>
              <a:rPr lang="en-US"/>
              <a:t>Click to edit Master text styles</a:t>
            </a:r>
          </a:p>
        </p:txBody>
      </p:sp>
      <p:sp>
        <p:nvSpPr>
          <p:cNvPr id="19" name="Title 42">
            <a:extLst>
              <a:ext uri="{FF2B5EF4-FFF2-40B4-BE49-F238E27FC236}">
                <a16:creationId xmlns:a16="http://schemas.microsoft.com/office/drawing/2014/main" id="{65249093-A560-0C05-828F-9B8248E53E2C}"/>
              </a:ext>
            </a:extLst>
          </p:cNvPr>
          <p:cNvSpPr>
            <a:spLocks noGrp="1"/>
          </p:cNvSpPr>
          <p:nvPr>
            <p:ph type="title" hasCustomPrompt="1"/>
          </p:nvPr>
        </p:nvSpPr>
        <p:spPr>
          <a:xfrm>
            <a:off x="828544" y="2438135"/>
            <a:ext cx="10515600" cy="1325563"/>
          </a:xfrm>
        </p:spPr>
        <p:txBody>
          <a:bodyPr/>
          <a:lstStyle>
            <a:lvl1pPr algn="ctr">
              <a:defRPr sz="5000" b="1">
                <a:solidFill>
                  <a:schemeClr val="tx2"/>
                </a:solidFill>
                <a:latin typeface="Text Me One" pitchFamily="2" charset="0"/>
              </a:defRPr>
            </a:lvl1pPr>
          </a:lstStyle>
          <a:p>
            <a:r>
              <a:rPr lang="en-US" dirty="0"/>
              <a:t>CLICK TO EDIT MASTER TITLE STYLE</a:t>
            </a:r>
          </a:p>
        </p:txBody>
      </p:sp>
      <p:pic>
        <p:nvPicPr>
          <p:cNvPr id="23" name="Picture 22">
            <a:extLst>
              <a:ext uri="{FF2B5EF4-FFF2-40B4-BE49-F238E27FC236}">
                <a16:creationId xmlns:a16="http://schemas.microsoft.com/office/drawing/2014/main" id="{388D5A43-18D8-A9F1-6F5E-147A7C2DA6B1}"/>
              </a:ext>
            </a:extLst>
          </p:cNvPr>
          <p:cNvPicPr>
            <a:picLocks noChangeAspect="1"/>
          </p:cNvPicPr>
          <p:nvPr userDrawn="1"/>
        </p:nvPicPr>
        <p:blipFill>
          <a:blip r:embed="rId6"/>
          <a:srcRect l="4864" t="16748" r="77379" b="51965"/>
          <a:stretch>
            <a:fillRect/>
          </a:stretch>
        </p:blipFill>
        <p:spPr>
          <a:xfrm>
            <a:off x="2800457" y="6075941"/>
            <a:ext cx="1105314" cy="474903"/>
          </a:xfrm>
          <a:prstGeom prst="rect">
            <a:avLst/>
          </a:prstGeom>
        </p:spPr>
      </p:pic>
      <p:pic>
        <p:nvPicPr>
          <p:cNvPr id="28" name="Picture 27">
            <a:extLst>
              <a:ext uri="{FF2B5EF4-FFF2-40B4-BE49-F238E27FC236}">
                <a16:creationId xmlns:a16="http://schemas.microsoft.com/office/drawing/2014/main" id="{2893C971-8BFD-8F5A-2912-9897D729FC77}"/>
              </a:ext>
            </a:extLst>
          </p:cNvPr>
          <p:cNvPicPr>
            <a:picLocks noChangeAspect="1"/>
          </p:cNvPicPr>
          <p:nvPr userDrawn="1"/>
        </p:nvPicPr>
        <p:blipFill>
          <a:blip r:embed="rId7"/>
          <a:srcRect t="19478"/>
          <a:stretch>
            <a:fillRect/>
          </a:stretch>
        </p:blipFill>
        <p:spPr>
          <a:xfrm>
            <a:off x="10975856" y="5681273"/>
            <a:ext cx="1216144" cy="645163"/>
          </a:xfrm>
          <a:prstGeom prst="rect">
            <a:avLst/>
          </a:prstGeom>
        </p:spPr>
      </p:pic>
      <p:pic>
        <p:nvPicPr>
          <p:cNvPr id="30" name="Picture 29">
            <a:extLst>
              <a:ext uri="{FF2B5EF4-FFF2-40B4-BE49-F238E27FC236}">
                <a16:creationId xmlns:a16="http://schemas.microsoft.com/office/drawing/2014/main" id="{491126BC-8E4E-AEDF-D09C-FE043D1A8608}"/>
              </a:ext>
            </a:extLst>
          </p:cNvPr>
          <p:cNvPicPr>
            <a:picLocks noChangeAspect="1"/>
          </p:cNvPicPr>
          <p:nvPr userDrawn="1"/>
        </p:nvPicPr>
        <p:blipFill>
          <a:blip r:embed="rId8"/>
          <a:srcRect l="23407" t="28145"/>
          <a:stretch>
            <a:fillRect/>
          </a:stretch>
        </p:blipFill>
        <p:spPr>
          <a:xfrm>
            <a:off x="828544" y="6014585"/>
            <a:ext cx="248082" cy="287495"/>
          </a:xfrm>
          <a:prstGeom prst="rect">
            <a:avLst/>
          </a:prstGeom>
        </p:spPr>
      </p:pic>
      <p:pic>
        <p:nvPicPr>
          <p:cNvPr id="32" name="Picture 31">
            <a:extLst>
              <a:ext uri="{FF2B5EF4-FFF2-40B4-BE49-F238E27FC236}">
                <a16:creationId xmlns:a16="http://schemas.microsoft.com/office/drawing/2014/main" id="{BFB46271-354B-D9F0-C43F-237A0BEF9F00}"/>
              </a:ext>
            </a:extLst>
          </p:cNvPr>
          <p:cNvPicPr>
            <a:picLocks noChangeAspect="1"/>
          </p:cNvPicPr>
          <p:nvPr userDrawn="1"/>
        </p:nvPicPr>
        <p:blipFill>
          <a:blip r:embed="rId8"/>
          <a:stretch>
            <a:fillRect/>
          </a:stretch>
        </p:blipFill>
        <p:spPr>
          <a:xfrm>
            <a:off x="5354462" y="5995022"/>
            <a:ext cx="477574" cy="589945"/>
          </a:xfrm>
          <a:prstGeom prst="rect">
            <a:avLst/>
          </a:prstGeom>
        </p:spPr>
      </p:pic>
      <p:pic>
        <p:nvPicPr>
          <p:cNvPr id="34" name="Picture 33">
            <a:extLst>
              <a:ext uri="{FF2B5EF4-FFF2-40B4-BE49-F238E27FC236}">
                <a16:creationId xmlns:a16="http://schemas.microsoft.com/office/drawing/2014/main" id="{E53B015C-48F2-F48F-8B4E-E17E1DC5A78A}"/>
              </a:ext>
            </a:extLst>
          </p:cNvPr>
          <p:cNvPicPr>
            <a:picLocks noChangeAspect="1"/>
          </p:cNvPicPr>
          <p:nvPr userDrawn="1"/>
        </p:nvPicPr>
        <p:blipFill>
          <a:blip r:embed="rId9"/>
          <a:stretch>
            <a:fillRect/>
          </a:stretch>
        </p:blipFill>
        <p:spPr>
          <a:xfrm>
            <a:off x="10299486" y="6275198"/>
            <a:ext cx="676369" cy="409632"/>
          </a:xfrm>
          <a:prstGeom prst="rect">
            <a:avLst/>
          </a:prstGeom>
        </p:spPr>
      </p:pic>
      <p:pic>
        <p:nvPicPr>
          <p:cNvPr id="36" name="Picture 35">
            <a:extLst>
              <a:ext uri="{FF2B5EF4-FFF2-40B4-BE49-F238E27FC236}">
                <a16:creationId xmlns:a16="http://schemas.microsoft.com/office/drawing/2014/main" id="{6786BABE-62AB-0560-4106-EF69AC885F9C}"/>
              </a:ext>
            </a:extLst>
          </p:cNvPr>
          <p:cNvPicPr>
            <a:picLocks noChangeAspect="1"/>
          </p:cNvPicPr>
          <p:nvPr userDrawn="1"/>
        </p:nvPicPr>
        <p:blipFill>
          <a:blip r:embed="rId10"/>
          <a:stretch>
            <a:fillRect/>
          </a:stretch>
        </p:blipFill>
        <p:spPr>
          <a:xfrm>
            <a:off x="9216260" y="5872601"/>
            <a:ext cx="517545" cy="743141"/>
          </a:xfrm>
          <a:prstGeom prst="rect">
            <a:avLst/>
          </a:prstGeom>
        </p:spPr>
      </p:pic>
      <p:pic>
        <p:nvPicPr>
          <p:cNvPr id="38" name="Picture 37">
            <a:extLst>
              <a:ext uri="{FF2B5EF4-FFF2-40B4-BE49-F238E27FC236}">
                <a16:creationId xmlns:a16="http://schemas.microsoft.com/office/drawing/2014/main" id="{7F180099-B636-5463-532F-5A22785CECA6}"/>
              </a:ext>
            </a:extLst>
          </p:cNvPr>
          <p:cNvPicPr>
            <a:picLocks noChangeAspect="1"/>
          </p:cNvPicPr>
          <p:nvPr userDrawn="1"/>
        </p:nvPicPr>
        <p:blipFill>
          <a:blip r:embed="rId11"/>
          <a:srcRect t="24241"/>
          <a:stretch>
            <a:fillRect/>
          </a:stretch>
        </p:blipFill>
        <p:spPr>
          <a:xfrm>
            <a:off x="7305773" y="5729495"/>
            <a:ext cx="957103" cy="531053"/>
          </a:xfrm>
          <a:prstGeom prst="rect">
            <a:avLst/>
          </a:prstGeom>
        </p:spPr>
      </p:pic>
      <p:pic>
        <p:nvPicPr>
          <p:cNvPr id="40" name="Picture 39">
            <a:extLst>
              <a:ext uri="{FF2B5EF4-FFF2-40B4-BE49-F238E27FC236}">
                <a16:creationId xmlns:a16="http://schemas.microsoft.com/office/drawing/2014/main" id="{C1914764-E001-08FA-E2C5-62C087CC8FED}"/>
              </a:ext>
            </a:extLst>
          </p:cNvPr>
          <p:cNvPicPr>
            <a:picLocks noChangeAspect="1"/>
          </p:cNvPicPr>
          <p:nvPr userDrawn="1"/>
        </p:nvPicPr>
        <p:blipFill>
          <a:blip r:embed="rId12"/>
          <a:stretch>
            <a:fillRect/>
          </a:stretch>
        </p:blipFill>
        <p:spPr>
          <a:xfrm rot="12077710">
            <a:off x="8417340" y="6368186"/>
            <a:ext cx="515835" cy="453310"/>
          </a:xfrm>
          <a:prstGeom prst="rect">
            <a:avLst/>
          </a:prstGeom>
        </p:spPr>
      </p:pic>
      <p:pic>
        <p:nvPicPr>
          <p:cNvPr id="42" name="Picture 41">
            <a:extLst>
              <a:ext uri="{FF2B5EF4-FFF2-40B4-BE49-F238E27FC236}">
                <a16:creationId xmlns:a16="http://schemas.microsoft.com/office/drawing/2014/main" id="{8726D3FF-1307-9C3E-CBAA-205686C19AC5}"/>
              </a:ext>
            </a:extLst>
          </p:cNvPr>
          <p:cNvPicPr>
            <a:picLocks noChangeAspect="1"/>
          </p:cNvPicPr>
          <p:nvPr userDrawn="1"/>
        </p:nvPicPr>
        <p:blipFill>
          <a:blip r:embed="rId13"/>
          <a:stretch>
            <a:fillRect/>
          </a:stretch>
        </p:blipFill>
        <p:spPr>
          <a:xfrm rot="20104791">
            <a:off x="6939109" y="6415056"/>
            <a:ext cx="342948" cy="466790"/>
          </a:xfrm>
          <a:prstGeom prst="rect">
            <a:avLst/>
          </a:prstGeom>
        </p:spPr>
      </p:pic>
      <p:pic>
        <p:nvPicPr>
          <p:cNvPr id="48" name="Picture 47">
            <a:extLst>
              <a:ext uri="{FF2B5EF4-FFF2-40B4-BE49-F238E27FC236}">
                <a16:creationId xmlns:a16="http://schemas.microsoft.com/office/drawing/2014/main" id="{AD057DB6-D21D-71FF-3D4C-9868A0DA9DD5}"/>
              </a:ext>
            </a:extLst>
          </p:cNvPr>
          <p:cNvPicPr>
            <a:picLocks noChangeAspect="1"/>
          </p:cNvPicPr>
          <p:nvPr userDrawn="1"/>
        </p:nvPicPr>
        <p:blipFill>
          <a:blip r:embed="rId14">
            <a:alphaModFix amt="69000"/>
          </a:blip>
          <a:stretch>
            <a:fillRect/>
          </a:stretch>
        </p:blipFill>
        <p:spPr>
          <a:xfrm rot="21399994">
            <a:off x="10322219" y="3545618"/>
            <a:ext cx="2123641" cy="1617007"/>
          </a:xfrm>
          <a:prstGeom prst="rect">
            <a:avLst/>
          </a:prstGeom>
        </p:spPr>
      </p:pic>
      <p:cxnSp>
        <p:nvCxnSpPr>
          <p:cNvPr id="18" name="Straight Connector 17">
            <a:extLst>
              <a:ext uri="{FF2B5EF4-FFF2-40B4-BE49-F238E27FC236}">
                <a16:creationId xmlns:a16="http://schemas.microsoft.com/office/drawing/2014/main" id="{B07C398C-D17A-4704-FC83-8A97D3BAA141}"/>
              </a:ext>
            </a:extLst>
          </p:cNvPr>
          <p:cNvCxnSpPr>
            <a:cxnSpLocks/>
          </p:cNvCxnSpPr>
          <p:nvPr userDrawn="1"/>
        </p:nvCxnSpPr>
        <p:spPr>
          <a:xfrm flipV="1">
            <a:off x="-6645" y="5570975"/>
            <a:ext cx="12278435" cy="531053"/>
          </a:xfrm>
          <a:prstGeom prst="line">
            <a:avLst/>
          </a:prstGeom>
          <a:ln w="41275">
            <a:solidFill>
              <a:schemeClr val="tx2"/>
            </a:solidFill>
          </a:ln>
        </p:spPr>
        <p:style>
          <a:lnRef idx="1">
            <a:schemeClr val="accent1"/>
          </a:lnRef>
          <a:fillRef idx="0">
            <a:schemeClr val="accent1"/>
          </a:fillRef>
          <a:effectRef idx="0">
            <a:schemeClr val="accent1"/>
          </a:effectRef>
          <a:fontRef idx="minor">
            <a:schemeClr val="tx1"/>
          </a:fontRef>
        </p:style>
      </p:cxnSp>
      <p:pic>
        <p:nvPicPr>
          <p:cNvPr id="52" name="Picture 51">
            <a:extLst>
              <a:ext uri="{FF2B5EF4-FFF2-40B4-BE49-F238E27FC236}">
                <a16:creationId xmlns:a16="http://schemas.microsoft.com/office/drawing/2014/main" id="{959CD51F-18C5-450B-BF53-575F3099C6FB}"/>
              </a:ext>
            </a:extLst>
          </p:cNvPr>
          <p:cNvPicPr>
            <a:picLocks noChangeAspect="1"/>
          </p:cNvPicPr>
          <p:nvPr userDrawn="1"/>
        </p:nvPicPr>
        <p:blipFill>
          <a:blip r:embed="rId14">
            <a:alphaModFix amt="69000"/>
          </a:blip>
          <a:stretch>
            <a:fillRect/>
          </a:stretch>
        </p:blipFill>
        <p:spPr>
          <a:xfrm rot="21426855">
            <a:off x="-733620" y="2340375"/>
            <a:ext cx="2123641" cy="1617007"/>
          </a:xfrm>
          <a:prstGeom prst="rect">
            <a:avLst/>
          </a:prstGeom>
        </p:spPr>
      </p:pic>
      <p:sp>
        <p:nvSpPr>
          <p:cNvPr id="12" name="Rectangle 11">
            <a:extLst>
              <a:ext uri="{FF2B5EF4-FFF2-40B4-BE49-F238E27FC236}">
                <a16:creationId xmlns:a16="http://schemas.microsoft.com/office/drawing/2014/main" id="{385A0640-87F0-31FC-4CC8-4440071D89E0}"/>
              </a:ext>
            </a:extLst>
          </p:cNvPr>
          <p:cNvSpPr/>
          <p:nvPr userDrawn="1"/>
        </p:nvSpPr>
        <p:spPr>
          <a:xfrm rot="21448443">
            <a:off x="-72497" y="-400007"/>
            <a:ext cx="12286865" cy="24789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 name="Picture 60">
            <a:extLst>
              <a:ext uri="{FF2B5EF4-FFF2-40B4-BE49-F238E27FC236}">
                <a16:creationId xmlns:a16="http://schemas.microsoft.com/office/drawing/2014/main" id="{B0A04AD3-D133-2F98-8BF5-829D1691D5FF}"/>
              </a:ext>
            </a:extLst>
          </p:cNvPr>
          <p:cNvPicPr>
            <a:picLocks noChangeAspect="1"/>
          </p:cNvPicPr>
          <p:nvPr userDrawn="1"/>
        </p:nvPicPr>
        <p:blipFill>
          <a:blip r:embed="rId4">
            <a:alphaModFix amt="2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t="1" b="79480"/>
          <a:stretch>
            <a:fillRect/>
          </a:stretch>
        </p:blipFill>
        <p:spPr>
          <a:xfrm rot="21408228">
            <a:off x="-949281" y="1162572"/>
            <a:ext cx="5485683" cy="1127760"/>
          </a:xfrm>
          <a:prstGeom prst="rect">
            <a:avLst/>
          </a:prstGeom>
          <a:effectLst>
            <a:softEdge rad="0"/>
          </a:effectLst>
        </p:spPr>
      </p:pic>
      <p:pic>
        <p:nvPicPr>
          <p:cNvPr id="62" name="Picture 61">
            <a:extLst>
              <a:ext uri="{FF2B5EF4-FFF2-40B4-BE49-F238E27FC236}">
                <a16:creationId xmlns:a16="http://schemas.microsoft.com/office/drawing/2014/main" id="{FE78F02A-2690-E709-7190-54BD4AF34994}"/>
              </a:ext>
            </a:extLst>
          </p:cNvPr>
          <p:cNvPicPr>
            <a:picLocks noChangeAspect="1"/>
          </p:cNvPicPr>
          <p:nvPr userDrawn="1"/>
        </p:nvPicPr>
        <p:blipFill>
          <a:blip r:embed="rId4">
            <a:alphaModFix amt="8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t="55117" r="46272" b="11630"/>
          <a:stretch>
            <a:fillRect/>
          </a:stretch>
        </p:blipFill>
        <p:spPr>
          <a:xfrm rot="21382046">
            <a:off x="9391938" y="1860924"/>
            <a:ext cx="2947358" cy="1827694"/>
          </a:xfrm>
          <a:prstGeom prst="rect">
            <a:avLst/>
          </a:prstGeom>
          <a:effectLst>
            <a:softEdge rad="0"/>
          </a:effectLst>
        </p:spPr>
      </p:pic>
      <p:cxnSp>
        <p:nvCxnSpPr>
          <p:cNvPr id="13" name="Straight Connector 12">
            <a:extLst>
              <a:ext uri="{FF2B5EF4-FFF2-40B4-BE49-F238E27FC236}">
                <a16:creationId xmlns:a16="http://schemas.microsoft.com/office/drawing/2014/main" id="{D736ABF1-4104-4493-5E03-678B80EDF52A}"/>
              </a:ext>
            </a:extLst>
          </p:cNvPr>
          <p:cNvCxnSpPr>
            <a:cxnSpLocks/>
          </p:cNvCxnSpPr>
          <p:nvPr userDrawn="1"/>
        </p:nvCxnSpPr>
        <p:spPr>
          <a:xfrm flipV="1">
            <a:off x="-96090" y="1812859"/>
            <a:ext cx="12399178" cy="521290"/>
          </a:xfrm>
          <a:prstGeom prst="line">
            <a:avLst/>
          </a:prstGeom>
          <a:ln w="41275">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D79E7D8B-FED9-BE69-9E15-79A00AB56FDB}"/>
              </a:ext>
            </a:extLst>
          </p:cNvPr>
          <p:cNvPicPr>
            <a:picLocks noChangeAspect="1"/>
          </p:cNvPicPr>
          <p:nvPr userDrawn="1"/>
        </p:nvPicPr>
        <p:blipFill>
          <a:blip r:embed="rId15">
            <a:duotone>
              <a:schemeClr val="accent2">
                <a:shade val="45000"/>
                <a:satMod val="135000"/>
              </a:schemeClr>
              <a:prstClr val="white"/>
            </a:duotone>
          </a:blip>
          <a:stretch>
            <a:fillRect/>
          </a:stretch>
        </p:blipFill>
        <p:spPr>
          <a:xfrm>
            <a:off x="4603638" y="889865"/>
            <a:ext cx="2934594" cy="764474"/>
          </a:xfrm>
          <a:prstGeom prst="rect">
            <a:avLst/>
          </a:prstGeom>
        </p:spPr>
      </p:pic>
      <p:pic>
        <p:nvPicPr>
          <p:cNvPr id="1025" name="Picture 1024">
            <a:extLst>
              <a:ext uri="{FF2B5EF4-FFF2-40B4-BE49-F238E27FC236}">
                <a16:creationId xmlns:a16="http://schemas.microsoft.com/office/drawing/2014/main" id="{D94884FC-EC7A-27EA-A3A1-1B9EF6AA03D5}"/>
              </a:ext>
            </a:extLst>
          </p:cNvPr>
          <p:cNvPicPr>
            <a:picLocks noChangeAspect="1"/>
          </p:cNvPicPr>
          <p:nvPr userDrawn="1"/>
        </p:nvPicPr>
        <p:blipFill>
          <a:blip r:embed="rId16">
            <a:alphaModFix amt="86000"/>
          </a:blip>
          <a:stretch>
            <a:fillRect/>
          </a:stretch>
        </p:blipFill>
        <p:spPr>
          <a:xfrm>
            <a:off x="5886976" y="508585"/>
            <a:ext cx="494774" cy="494774"/>
          </a:xfrm>
          <a:prstGeom prst="rect">
            <a:avLst/>
          </a:prstGeom>
        </p:spPr>
      </p:pic>
    </p:spTree>
    <p:extLst>
      <p:ext uri="{BB962C8B-B14F-4D97-AF65-F5344CB8AC3E}">
        <p14:creationId xmlns:p14="http://schemas.microsoft.com/office/powerpoint/2010/main" val="2076172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C9F4A-E4AA-AFA8-A6E0-722E3426EB6F}"/>
              </a:ext>
            </a:extLst>
          </p:cNvPr>
          <p:cNvSpPr>
            <a:spLocks noGrp="1"/>
          </p:cNvSpPr>
          <p:nvPr>
            <p:ph idx="1"/>
          </p:nvPr>
        </p:nvSpPr>
        <p:spPr>
          <a:xfrm>
            <a:off x="1397000" y="1384300"/>
            <a:ext cx="9956800" cy="4792663"/>
          </a:xfrm>
        </p:spPr>
        <p:txBody>
          <a:bodyPr/>
          <a:lstStyle>
            <a:lvl1pPr>
              <a:spcAft>
                <a:spcPts val="1800"/>
              </a:spcAft>
              <a:defRPr>
                <a:solidFill>
                  <a:schemeClr val="bg2">
                    <a:lumMod val="25000"/>
                  </a:schemeClr>
                </a:solidFill>
                <a:latin typeface="Avenir"/>
              </a:defRPr>
            </a:lvl1pPr>
            <a:lvl2pPr>
              <a:spcAft>
                <a:spcPts val="1800"/>
              </a:spcAft>
              <a:defRPr>
                <a:solidFill>
                  <a:schemeClr val="bg2">
                    <a:lumMod val="25000"/>
                  </a:schemeClr>
                </a:solidFill>
                <a:latin typeface="Avenir"/>
              </a:defRPr>
            </a:lvl2pPr>
            <a:lvl3pPr>
              <a:spcAft>
                <a:spcPts val="1200"/>
              </a:spcAft>
              <a:defRPr>
                <a:solidFill>
                  <a:schemeClr val="bg2">
                    <a:lumMod val="25000"/>
                  </a:schemeClr>
                </a:solidFill>
                <a:latin typeface="Avenir"/>
              </a:defRPr>
            </a:lvl3pPr>
            <a:lvl4pPr>
              <a:spcAft>
                <a:spcPts val="600"/>
              </a:spcAft>
              <a:defRPr>
                <a:solidFill>
                  <a:schemeClr val="bg2">
                    <a:lumMod val="25000"/>
                  </a:schemeClr>
                </a:solidFill>
                <a:latin typeface="Avenir"/>
              </a:defRPr>
            </a:lvl4pPr>
            <a:lvl5pPr>
              <a:spcAft>
                <a:spcPts val="300"/>
              </a:spcAft>
              <a:defRPr>
                <a:solidFill>
                  <a:schemeClr val="bg2">
                    <a:lumMod val="25000"/>
                  </a:schemeClr>
                </a:solidFill>
                <a:latin typeface="Aveni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E7573E01-F548-B945-781C-BDDFB6E1CE94}"/>
              </a:ext>
            </a:extLst>
          </p:cNvPr>
          <p:cNvSpPr>
            <a:spLocks noGrp="1"/>
          </p:cNvSpPr>
          <p:nvPr>
            <p:ph type="title"/>
          </p:nvPr>
        </p:nvSpPr>
        <p:spPr>
          <a:xfrm>
            <a:off x="1270000" y="365126"/>
            <a:ext cx="10083800" cy="768350"/>
          </a:xfrm>
        </p:spPr>
        <p:txBody>
          <a:bodyPr/>
          <a:lstStyle/>
          <a:p>
            <a:r>
              <a:rPr lang="en-US"/>
              <a:t>Click to edit Master title style</a:t>
            </a:r>
            <a:endParaRPr lang="en-US" dirty="0"/>
          </a:p>
        </p:txBody>
      </p:sp>
    </p:spTree>
    <p:extLst>
      <p:ext uri="{BB962C8B-B14F-4D97-AF65-F5344CB8AC3E}">
        <p14:creationId xmlns:p14="http://schemas.microsoft.com/office/powerpoint/2010/main" val="4051857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5BBE-15CE-FECC-0EA2-4392182B0F9A}"/>
              </a:ext>
            </a:extLst>
          </p:cNvPr>
          <p:cNvSpPr>
            <a:spLocks noGrp="1"/>
          </p:cNvSpPr>
          <p:nvPr>
            <p:ph type="title"/>
          </p:nvPr>
        </p:nvSpPr>
        <p:spPr>
          <a:xfrm>
            <a:off x="831850" y="690564"/>
            <a:ext cx="10515600" cy="2043112"/>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860049-57EF-DA0B-2419-4F41FE8817EC}"/>
              </a:ext>
            </a:extLst>
          </p:cNvPr>
          <p:cNvSpPr>
            <a:spLocks noGrp="1"/>
          </p:cNvSpPr>
          <p:nvPr>
            <p:ph type="body" idx="1"/>
          </p:nvPr>
        </p:nvSpPr>
        <p:spPr>
          <a:xfrm>
            <a:off x="838200" y="338931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351004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5BBE-15CE-FECC-0EA2-4392182B0F9A}"/>
              </a:ext>
            </a:extLst>
          </p:cNvPr>
          <p:cNvSpPr>
            <a:spLocks noGrp="1"/>
          </p:cNvSpPr>
          <p:nvPr>
            <p:ph type="title"/>
          </p:nvPr>
        </p:nvSpPr>
        <p:spPr>
          <a:xfrm>
            <a:off x="831850" y="690564"/>
            <a:ext cx="10515600" cy="2043112"/>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860049-57EF-DA0B-2419-4F41FE8817EC}"/>
              </a:ext>
            </a:extLst>
          </p:cNvPr>
          <p:cNvSpPr>
            <a:spLocks noGrp="1"/>
          </p:cNvSpPr>
          <p:nvPr>
            <p:ph type="body" idx="1"/>
          </p:nvPr>
        </p:nvSpPr>
        <p:spPr>
          <a:xfrm>
            <a:off x="838200" y="338931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48417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060F1-50B1-D5E8-9069-BBC4AB3175B1}"/>
              </a:ext>
            </a:extLst>
          </p:cNvPr>
          <p:cNvSpPr>
            <a:spLocks noGrp="1"/>
          </p:cNvSpPr>
          <p:nvPr>
            <p:ph type="title"/>
          </p:nvPr>
        </p:nvSpPr>
        <p:spPr>
          <a:xfrm>
            <a:off x="838200" y="365126"/>
            <a:ext cx="10515600" cy="76835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6A16D44-9053-488D-C196-3EEF4F8E7D73}"/>
              </a:ext>
            </a:extLst>
          </p:cNvPr>
          <p:cNvSpPr>
            <a:spLocks noGrp="1"/>
          </p:cNvSpPr>
          <p:nvPr>
            <p:ph sz="half" idx="1"/>
          </p:nvPr>
        </p:nvSpPr>
        <p:spPr>
          <a:xfrm>
            <a:off x="838200" y="1312863"/>
            <a:ext cx="5181600" cy="486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138D4C6-FE86-E6F4-D966-08345F9E47B4}"/>
              </a:ext>
            </a:extLst>
          </p:cNvPr>
          <p:cNvSpPr>
            <a:spLocks noGrp="1"/>
          </p:cNvSpPr>
          <p:nvPr>
            <p:ph sz="half" idx="2"/>
          </p:nvPr>
        </p:nvSpPr>
        <p:spPr>
          <a:xfrm>
            <a:off x="6172200" y="1312863"/>
            <a:ext cx="5181600" cy="486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5072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500623-B814-AA29-1478-860D146CAE14}"/>
              </a:ext>
            </a:extLst>
          </p:cNvPr>
          <p:cNvSpPr>
            <a:spLocks noGrp="1"/>
          </p:cNvSpPr>
          <p:nvPr>
            <p:ph type="body" idx="1"/>
          </p:nvPr>
        </p:nvSpPr>
        <p:spPr>
          <a:xfrm>
            <a:off x="839788" y="1209675"/>
            <a:ext cx="5157787" cy="981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FE7B30-4700-CE3D-CF95-DF3D2FB9F6DC}"/>
              </a:ext>
            </a:extLst>
          </p:cNvPr>
          <p:cNvSpPr>
            <a:spLocks noGrp="1"/>
          </p:cNvSpPr>
          <p:nvPr>
            <p:ph sz="half" idx="2"/>
          </p:nvPr>
        </p:nvSpPr>
        <p:spPr>
          <a:xfrm>
            <a:off x="839788" y="2266949"/>
            <a:ext cx="5157787" cy="3922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97EB1C-E741-5458-B88B-1B4EA577B79B}"/>
              </a:ext>
            </a:extLst>
          </p:cNvPr>
          <p:cNvSpPr>
            <a:spLocks noGrp="1"/>
          </p:cNvSpPr>
          <p:nvPr>
            <p:ph type="body" sz="quarter" idx="3"/>
          </p:nvPr>
        </p:nvSpPr>
        <p:spPr>
          <a:xfrm>
            <a:off x="6172200" y="1209675"/>
            <a:ext cx="5183188" cy="981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4958A-139C-712C-756C-7D57D85373A2}"/>
              </a:ext>
            </a:extLst>
          </p:cNvPr>
          <p:cNvSpPr>
            <a:spLocks noGrp="1"/>
          </p:cNvSpPr>
          <p:nvPr>
            <p:ph sz="quarter" idx="4"/>
          </p:nvPr>
        </p:nvSpPr>
        <p:spPr>
          <a:xfrm>
            <a:off x="6172200" y="2266949"/>
            <a:ext cx="5183188" cy="3922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1">
            <a:extLst>
              <a:ext uri="{FF2B5EF4-FFF2-40B4-BE49-F238E27FC236}">
                <a16:creationId xmlns:a16="http://schemas.microsoft.com/office/drawing/2014/main" id="{C18B09D6-A041-338A-CB2B-40754AEEF59A}"/>
              </a:ext>
            </a:extLst>
          </p:cNvPr>
          <p:cNvSpPr>
            <a:spLocks noGrp="1"/>
          </p:cNvSpPr>
          <p:nvPr>
            <p:ph type="title"/>
          </p:nvPr>
        </p:nvSpPr>
        <p:spPr>
          <a:xfrm>
            <a:off x="838200" y="365126"/>
            <a:ext cx="10515600" cy="768350"/>
          </a:xfrm>
        </p:spPr>
        <p:txBody>
          <a:bodyPr/>
          <a:lstStyle/>
          <a:p>
            <a:r>
              <a:rPr lang="en-US"/>
              <a:t>Click to edit Master title style</a:t>
            </a:r>
            <a:endParaRPr lang="en-US" dirty="0"/>
          </a:p>
        </p:txBody>
      </p:sp>
    </p:spTree>
    <p:extLst>
      <p:ext uri="{BB962C8B-B14F-4D97-AF65-F5344CB8AC3E}">
        <p14:creationId xmlns:p14="http://schemas.microsoft.com/office/powerpoint/2010/main" val="238130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C6407EC-06E4-D8F0-F6D7-BE094DC079AF}"/>
              </a:ext>
            </a:extLst>
          </p:cNvPr>
          <p:cNvSpPr>
            <a:spLocks noGrp="1"/>
          </p:cNvSpPr>
          <p:nvPr>
            <p:ph type="title"/>
          </p:nvPr>
        </p:nvSpPr>
        <p:spPr>
          <a:xfrm>
            <a:off x="838200" y="365126"/>
            <a:ext cx="10515600" cy="768350"/>
          </a:xfrm>
        </p:spPr>
        <p:txBody>
          <a:bodyPr/>
          <a:lstStyle/>
          <a:p>
            <a:r>
              <a:rPr lang="en-US"/>
              <a:t>Click to edit Master title style</a:t>
            </a:r>
          </a:p>
        </p:txBody>
      </p:sp>
    </p:spTree>
    <p:extLst>
      <p:ext uri="{BB962C8B-B14F-4D97-AF65-F5344CB8AC3E}">
        <p14:creationId xmlns:p14="http://schemas.microsoft.com/office/powerpoint/2010/main" val="2001605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247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D43A-720E-736E-D62A-EA38D20AC1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4BC827-315B-E749-A310-2EF3406168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7FF770-77DF-FE4D-8554-E3ABB36464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24109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A9F3-F346-BB20-1B1E-E53DB1EE7E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225A3-D646-8708-CE66-B452140318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5489DE-7F13-FF58-5E20-11F941632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012521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D799-F14C-682F-BA8C-38570FF5A8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9CB458-665C-F4E6-D069-76EBF80DC0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3CC8D2-B2D9-D372-1854-D78AECAED39A}"/>
              </a:ext>
            </a:extLst>
          </p:cNvPr>
          <p:cNvSpPr>
            <a:spLocks noGrp="1"/>
          </p:cNvSpPr>
          <p:nvPr>
            <p:ph type="dt" sz="half" idx="10"/>
          </p:nvPr>
        </p:nvSpPr>
        <p:spPr>
          <a:xfrm>
            <a:off x="838200" y="6356350"/>
            <a:ext cx="2743200" cy="365125"/>
          </a:xfrm>
          <a:prstGeom prst="rect">
            <a:avLst/>
          </a:prstGeom>
        </p:spPr>
        <p:txBody>
          <a:bodyPr/>
          <a:lstStyle/>
          <a:p>
            <a:fld id="{FEE2AF39-4A2E-4BB2-B90D-C09D4ADF0C9D}" type="datetimeFigureOut">
              <a:rPr lang="en-US" smtClean="0"/>
              <a:t>8/7/2026</a:t>
            </a:fld>
            <a:endParaRPr lang="en-US"/>
          </a:p>
        </p:txBody>
      </p:sp>
      <p:sp>
        <p:nvSpPr>
          <p:cNvPr id="5" name="Footer Placeholder 4">
            <a:extLst>
              <a:ext uri="{FF2B5EF4-FFF2-40B4-BE49-F238E27FC236}">
                <a16:creationId xmlns:a16="http://schemas.microsoft.com/office/drawing/2014/main" id="{C3FB4B92-87EF-8CDC-D841-12872C10CF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42073D2-A493-19CF-574F-F7D2C4B3F8C6}"/>
              </a:ext>
            </a:extLst>
          </p:cNvPr>
          <p:cNvSpPr>
            <a:spLocks noGrp="1"/>
          </p:cNvSpPr>
          <p:nvPr>
            <p:ph type="sldNum" sz="quarter" idx="12"/>
          </p:nvPr>
        </p:nvSpPr>
        <p:spPr>
          <a:xfrm>
            <a:off x="8610600" y="6356350"/>
            <a:ext cx="2743200" cy="365125"/>
          </a:xfrm>
          <a:prstGeom prst="rect">
            <a:avLst/>
          </a:prstGeom>
        </p:spPr>
        <p:txBody>
          <a:bodyPr/>
          <a:lstStyle/>
          <a:p>
            <a:fld id="{B3D7EEE9-2273-4822-B6B6-BD0A1D117B59}" type="slidenum">
              <a:rPr lang="en-US" smtClean="0"/>
              <a:t>‹#›</a:t>
            </a:fld>
            <a:endParaRPr lang="en-US"/>
          </a:p>
        </p:txBody>
      </p:sp>
    </p:spTree>
    <p:extLst>
      <p:ext uri="{BB962C8B-B14F-4D97-AF65-F5344CB8AC3E}">
        <p14:creationId xmlns:p14="http://schemas.microsoft.com/office/powerpoint/2010/main" val="1948220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1890EC-AD11-A012-0E00-40B281369E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DAAACC-DDC8-5DE8-B758-0B8ACEF987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A8E7EF-D1CD-652C-325E-0928FC0F3493}"/>
              </a:ext>
            </a:extLst>
          </p:cNvPr>
          <p:cNvSpPr>
            <a:spLocks noGrp="1"/>
          </p:cNvSpPr>
          <p:nvPr>
            <p:ph type="dt" sz="half" idx="10"/>
          </p:nvPr>
        </p:nvSpPr>
        <p:spPr>
          <a:xfrm>
            <a:off x="838200" y="6356350"/>
            <a:ext cx="2743200" cy="365125"/>
          </a:xfrm>
          <a:prstGeom prst="rect">
            <a:avLst/>
          </a:prstGeom>
        </p:spPr>
        <p:txBody>
          <a:bodyPr/>
          <a:lstStyle/>
          <a:p>
            <a:fld id="{FEE2AF39-4A2E-4BB2-B90D-C09D4ADF0C9D}" type="datetimeFigureOut">
              <a:rPr lang="en-US" smtClean="0"/>
              <a:t>8/7/2026</a:t>
            </a:fld>
            <a:endParaRPr lang="en-US"/>
          </a:p>
        </p:txBody>
      </p:sp>
      <p:sp>
        <p:nvSpPr>
          <p:cNvPr id="5" name="Footer Placeholder 4">
            <a:extLst>
              <a:ext uri="{FF2B5EF4-FFF2-40B4-BE49-F238E27FC236}">
                <a16:creationId xmlns:a16="http://schemas.microsoft.com/office/drawing/2014/main" id="{3F53CDAF-E4AF-C9EB-4CDB-2246556E542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DD008F7-5E17-873A-40FD-ACDE0C3C2C9F}"/>
              </a:ext>
            </a:extLst>
          </p:cNvPr>
          <p:cNvSpPr>
            <a:spLocks noGrp="1"/>
          </p:cNvSpPr>
          <p:nvPr>
            <p:ph type="sldNum" sz="quarter" idx="12"/>
          </p:nvPr>
        </p:nvSpPr>
        <p:spPr>
          <a:xfrm>
            <a:off x="8610600" y="6356350"/>
            <a:ext cx="2743200" cy="365125"/>
          </a:xfrm>
          <a:prstGeom prst="rect">
            <a:avLst/>
          </a:prstGeom>
        </p:spPr>
        <p:txBody>
          <a:bodyPr/>
          <a:lstStyle/>
          <a:p>
            <a:fld id="{B3D7EEE9-2273-4822-B6B6-BD0A1D117B59}" type="slidenum">
              <a:rPr lang="en-US" smtClean="0"/>
              <a:t>‹#›</a:t>
            </a:fld>
            <a:endParaRPr lang="en-US"/>
          </a:p>
        </p:txBody>
      </p:sp>
    </p:spTree>
    <p:extLst>
      <p:ext uri="{BB962C8B-B14F-4D97-AF65-F5344CB8AC3E}">
        <p14:creationId xmlns:p14="http://schemas.microsoft.com/office/powerpoint/2010/main" val="3413164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C5BED7-9B4D-FAE0-C708-F335944633E7}"/>
              </a:ext>
            </a:extLst>
          </p:cNvPr>
          <p:cNvSpPr>
            <a:spLocks noGrp="1"/>
          </p:cNvSpPr>
          <p:nvPr>
            <p:ph type="title"/>
          </p:nvPr>
        </p:nvSpPr>
        <p:spPr>
          <a:xfrm>
            <a:off x="838200" y="365125"/>
            <a:ext cx="10515600" cy="81560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9A36A39-B7FB-7B10-14CB-F05DF64ECC0B}"/>
              </a:ext>
            </a:extLst>
          </p:cNvPr>
          <p:cNvSpPr>
            <a:spLocks noGrp="1"/>
          </p:cNvSpPr>
          <p:nvPr>
            <p:ph type="body" idx="1"/>
          </p:nvPr>
        </p:nvSpPr>
        <p:spPr>
          <a:xfrm>
            <a:off x="838200" y="1358283"/>
            <a:ext cx="10515600" cy="48186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07867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100" b="1" kern="1200">
          <a:solidFill>
            <a:schemeClr val="tx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100" kern="1200">
          <a:solidFill>
            <a:schemeClr val="bg2">
              <a:lumMod val="25000"/>
            </a:schemeClr>
          </a:solidFill>
          <a:latin typeface="Avenir"/>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700" kern="1200">
          <a:solidFill>
            <a:schemeClr val="bg2">
              <a:lumMod val="25000"/>
            </a:schemeClr>
          </a:solidFill>
          <a:latin typeface="Avenir"/>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Avenir"/>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100" kern="1200">
          <a:solidFill>
            <a:schemeClr val="bg2">
              <a:lumMod val="25000"/>
            </a:schemeClr>
          </a:solidFill>
          <a:latin typeface="Avenir"/>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Avenir"/>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oogle.com/font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google.com/font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Layout" Target="../slideLayouts/slideLayout3.xml"/><Relationship Id="rId4" Type="http://schemas.openxmlformats.org/officeDocument/2006/relationships/image" Target="../media/image30.svg"/></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hyperlink" Target="https://letsencrypt.org/" TargetMode="External"/><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3.xml.rels><?xml version="1.0" encoding="UTF-8" standalone="yes"?>
<Relationships xmlns="http://schemas.openxmlformats.org/package/2006/relationships"><Relationship Id="rId3" Type="http://schemas.openxmlformats.org/officeDocument/2006/relationships/hyperlink" Target="mailto:pittares@etsu.edu"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6.jpg"/><Relationship Id="rId4" Type="http://schemas.openxmlformats.org/officeDocument/2006/relationships/image" Target="../media/image5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E02FE30-B475-2DAA-624F-E1F3FD8E2DDE}"/>
              </a:ext>
            </a:extLst>
          </p:cNvPr>
          <p:cNvSpPr>
            <a:spLocks noGrp="1"/>
          </p:cNvSpPr>
          <p:nvPr>
            <p:ph type="subTitle" idx="4"/>
          </p:nvPr>
        </p:nvSpPr>
        <p:spPr>
          <a:xfrm>
            <a:off x="1524000" y="4084859"/>
            <a:ext cx="9144000" cy="457048"/>
          </a:xfrm>
        </p:spPr>
        <p:txBody>
          <a:bodyPr/>
          <a:lstStyle/>
          <a:p>
            <a:r>
              <a:rPr lang="en-US" dirty="0">
                <a:solidFill>
                  <a:schemeClr val="tx1"/>
                </a:solidFill>
              </a:rPr>
              <a:t>CSCI 1210</a:t>
            </a:r>
          </a:p>
        </p:txBody>
      </p:sp>
      <p:sp>
        <p:nvSpPr>
          <p:cNvPr id="3" name="Text Placeholder 2">
            <a:extLst>
              <a:ext uri="{FF2B5EF4-FFF2-40B4-BE49-F238E27FC236}">
                <a16:creationId xmlns:a16="http://schemas.microsoft.com/office/drawing/2014/main" id="{5D21A125-A45F-7E73-D64D-FF9DC3B73530}"/>
              </a:ext>
            </a:extLst>
          </p:cNvPr>
          <p:cNvSpPr>
            <a:spLocks noGrp="1"/>
          </p:cNvSpPr>
          <p:nvPr>
            <p:ph type="body" sz="quarter" idx="10"/>
          </p:nvPr>
        </p:nvSpPr>
        <p:spPr/>
        <p:txBody>
          <a:bodyPr/>
          <a:lstStyle/>
          <a:p>
            <a:r>
              <a:rPr lang="en-US" dirty="0"/>
              <a:t>Essentials of Web Development</a:t>
            </a:r>
          </a:p>
        </p:txBody>
      </p:sp>
      <p:sp>
        <p:nvSpPr>
          <p:cNvPr id="4" name="Title 3">
            <a:extLst>
              <a:ext uri="{FF2B5EF4-FFF2-40B4-BE49-F238E27FC236}">
                <a16:creationId xmlns:a16="http://schemas.microsoft.com/office/drawing/2014/main" id="{530C1C72-731C-F62E-FA7E-1C9DA208F33E}"/>
              </a:ext>
            </a:extLst>
          </p:cNvPr>
          <p:cNvSpPr>
            <a:spLocks noGrp="1"/>
          </p:cNvSpPr>
          <p:nvPr>
            <p:ph type="title"/>
          </p:nvPr>
        </p:nvSpPr>
        <p:spPr/>
        <p:txBody>
          <a:bodyPr>
            <a:normAutofit fontScale="90000"/>
          </a:bodyPr>
          <a:lstStyle/>
          <a:p>
            <a:r>
              <a:rPr lang="en-US" dirty="0"/>
              <a:t>CUSTOM FONTS</a:t>
            </a:r>
            <a:br>
              <a:rPr lang="en-US" dirty="0"/>
            </a:br>
            <a:r>
              <a:rPr lang="en-US" dirty="0"/>
              <a:t>&amp; DOMAIN MANAGEMENT</a:t>
            </a:r>
          </a:p>
        </p:txBody>
      </p:sp>
    </p:spTree>
    <p:extLst>
      <p:ext uri="{BB962C8B-B14F-4D97-AF65-F5344CB8AC3E}">
        <p14:creationId xmlns:p14="http://schemas.microsoft.com/office/powerpoint/2010/main" val="1187122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Fonts</a:t>
            </a:r>
          </a:p>
        </p:txBody>
      </p:sp>
      <p:sp>
        <p:nvSpPr>
          <p:cNvPr id="3" name="Content Placeholder 2"/>
          <p:cNvSpPr>
            <a:spLocks noGrp="1"/>
          </p:cNvSpPr>
          <p:nvPr>
            <p:ph idx="1"/>
          </p:nvPr>
        </p:nvSpPr>
        <p:spPr>
          <a:xfrm>
            <a:off x="838200" y="1690688"/>
            <a:ext cx="10515600" cy="4351338"/>
          </a:xfrm>
        </p:spPr>
        <p:txBody>
          <a:bodyPr/>
          <a:lstStyle/>
          <a:p>
            <a:pPr marL="0" indent="0">
              <a:buNone/>
            </a:pPr>
            <a:r>
              <a:rPr lang="en-US" dirty="0"/>
              <a:t>By now, hopefully, we all appreciate the fact that web browsers’ customary default font, Times New Roman, is pretty boring</a:t>
            </a:r>
          </a:p>
          <a:p>
            <a:pPr marL="0" indent="0">
              <a:buNone/>
            </a:pPr>
            <a:r>
              <a:rPr lang="en-US" sz="2800" dirty="0"/>
              <a:t>We’ve seen how to change that font family usin</a:t>
            </a:r>
            <a:r>
              <a:rPr lang="en-US" dirty="0"/>
              <a:t>g CSS</a:t>
            </a:r>
          </a:p>
          <a:p>
            <a:pPr marL="0" indent="0">
              <a:buNone/>
            </a:pPr>
            <a:r>
              <a:rPr lang="en-US" sz="2800" dirty="0"/>
              <a:t>But we’re still pretty limited in our selection</a:t>
            </a:r>
          </a:p>
        </p:txBody>
      </p:sp>
      <p:sp>
        <p:nvSpPr>
          <p:cNvPr id="4" name="TextBox 3">
            <a:extLst>
              <a:ext uri="{FF2B5EF4-FFF2-40B4-BE49-F238E27FC236}">
                <a16:creationId xmlns:a16="http://schemas.microsoft.com/office/drawing/2014/main" id="{3D346274-DEE6-42C3-B4AA-2FF336AF6916}"/>
              </a:ext>
            </a:extLst>
          </p:cNvPr>
          <p:cNvSpPr txBox="1"/>
          <p:nvPr/>
        </p:nvSpPr>
        <p:spPr>
          <a:xfrm>
            <a:off x="1996440" y="4409440"/>
            <a:ext cx="8199120" cy="1200329"/>
          </a:xfrm>
          <a:prstGeom prst="rect">
            <a:avLst/>
          </a:prstGeom>
          <a:noFill/>
        </p:spPr>
        <p:txBody>
          <a:bodyPr wrap="square" rtlCol="0">
            <a:spAutoFit/>
          </a:bodyPr>
          <a:lstStyle/>
          <a:p>
            <a:pPr algn="ctr"/>
            <a:r>
              <a:rPr lang="en-US" sz="7200" dirty="0">
                <a:latin typeface="Times New Roman" panose="02020603050405020304" pitchFamily="18" charset="0"/>
                <a:cs typeface="Times New Roman" panose="02020603050405020304" pitchFamily="18" charset="0"/>
              </a:rPr>
              <a:t>TNR</a:t>
            </a:r>
            <a:r>
              <a:rPr lang="en-US" sz="7200" dirty="0"/>
              <a:t> / </a:t>
            </a:r>
            <a:r>
              <a:rPr lang="en-US" sz="7200" dirty="0">
                <a:latin typeface="Arial" panose="020B0604020202020204" pitchFamily="34" charset="0"/>
                <a:cs typeface="Arial" panose="020B0604020202020204" pitchFamily="34" charset="0"/>
              </a:rPr>
              <a:t>Arial</a:t>
            </a:r>
          </a:p>
        </p:txBody>
      </p:sp>
    </p:spTree>
    <p:extLst>
      <p:ext uri="{BB962C8B-B14F-4D97-AF65-F5344CB8AC3E}">
        <p14:creationId xmlns:p14="http://schemas.microsoft.com/office/powerpoint/2010/main" val="3162569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Fonts</a:t>
            </a:r>
          </a:p>
        </p:txBody>
      </p:sp>
      <p:sp>
        <p:nvSpPr>
          <p:cNvPr id="3" name="Content Placeholder 2"/>
          <p:cNvSpPr>
            <a:spLocks noGrp="1"/>
          </p:cNvSpPr>
          <p:nvPr>
            <p:ph idx="1"/>
          </p:nvPr>
        </p:nvSpPr>
        <p:spPr>
          <a:xfrm>
            <a:off x="838200" y="1690688"/>
            <a:ext cx="10515600" cy="4351338"/>
          </a:xfrm>
        </p:spPr>
        <p:txBody>
          <a:bodyPr>
            <a:normAutofit fontScale="92500" lnSpcReduction="20000"/>
          </a:bodyPr>
          <a:lstStyle/>
          <a:p>
            <a:pPr marL="0" indent="0">
              <a:buNone/>
            </a:pPr>
            <a:r>
              <a:rPr lang="en-US" dirty="0"/>
              <a:t>One catch to the font-family property</a:t>
            </a:r>
          </a:p>
          <a:p>
            <a:pPr marL="457200" lvl="1" indent="0">
              <a:buNone/>
            </a:pPr>
            <a:r>
              <a:rPr lang="en-US" dirty="0"/>
              <a:t>The display font must be present on the client machine to work</a:t>
            </a:r>
          </a:p>
          <a:p>
            <a:pPr marL="457200" lvl="1" indent="0">
              <a:buNone/>
            </a:pPr>
            <a:r>
              <a:rPr lang="en-US" dirty="0"/>
              <a:t>This is why we’ve been specifying a ‘fallback’ font when we use the font-family property - e.g.,</a:t>
            </a:r>
          </a:p>
          <a:p>
            <a:pPr marL="457200" lvl="1" indent="0">
              <a:buNone/>
            </a:pPr>
            <a:endParaRPr lang="en-US" dirty="0"/>
          </a:p>
          <a:p>
            <a:pPr marL="1312863" lvl="1" indent="0">
              <a:buNone/>
            </a:pPr>
            <a:r>
              <a:rPr lang="en-US" sz="2800" dirty="0">
                <a:solidFill>
                  <a:srgbClr val="0070C0"/>
                </a:solidFill>
              </a:rPr>
              <a:t>font-family:</a:t>
            </a:r>
            <a:r>
              <a:rPr lang="en-US" sz="2800" dirty="0"/>
              <a:t> Arial, Helvetica, </a:t>
            </a:r>
            <a:r>
              <a:rPr lang="en-US" sz="2800" dirty="0">
                <a:solidFill>
                  <a:srgbClr val="FF0000"/>
                </a:solidFill>
              </a:rPr>
              <a:t>sans-serif</a:t>
            </a:r>
          </a:p>
          <a:p>
            <a:pPr marL="1312863" lvl="1" indent="0">
              <a:buNone/>
            </a:pPr>
            <a:endParaRPr lang="en-US" sz="2800" dirty="0">
              <a:solidFill>
                <a:srgbClr val="FF0000"/>
              </a:solidFill>
            </a:endParaRPr>
          </a:p>
          <a:p>
            <a:pPr marL="0" lvl="1" indent="0">
              <a:buNone/>
            </a:pPr>
            <a:r>
              <a:rPr lang="en-US" sz="2800" dirty="0"/>
              <a:t>If Arial and Helvetica aren’t installed on the client’s computer (i.e., Mac &amp; Linux), the browser will pick the first sans-serif font it finds that is</a:t>
            </a:r>
          </a:p>
        </p:txBody>
      </p:sp>
    </p:spTree>
    <p:extLst>
      <p:ext uri="{BB962C8B-B14F-4D97-AF65-F5344CB8AC3E}">
        <p14:creationId xmlns:p14="http://schemas.microsoft.com/office/powerpoint/2010/main" val="341575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Fonts</a:t>
            </a:r>
          </a:p>
        </p:txBody>
      </p:sp>
      <p:sp>
        <p:nvSpPr>
          <p:cNvPr id="3" name="Content Placeholder 2"/>
          <p:cNvSpPr>
            <a:spLocks noGrp="1"/>
          </p:cNvSpPr>
          <p:nvPr>
            <p:ph idx="1"/>
          </p:nvPr>
        </p:nvSpPr>
        <p:spPr>
          <a:xfrm>
            <a:off x="838200" y="1704446"/>
            <a:ext cx="10515600" cy="4351338"/>
          </a:xfrm>
        </p:spPr>
        <p:txBody>
          <a:bodyPr/>
          <a:lstStyle/>
          <a:p>
            <a:pPr marL="0" indent="0">
              <a:spcAft>
                <a:spcPts val="1200"/>
              </a:spcAft>
              <a:buNone/>
            </a:pPr>
            <a:r>
              <a:rPr lang="en-US" dirty="0"/>
              <a:t>There are a couple of ways to change this, however</a:t>
            </a:r>
          </a:p>
          <a:p>
            <a:pPr marL="0" indent="0">
              <a:spcAft>
                <a:spcPts val="1200"/>
              </a:spcAft>
              <a:buNone/>
            </a:pPr>
            <a:r>
              <a:rPr lang="en-US" sz="2800" dirty="0"/>
              <a:t>CSS3 includes functionality to ‘serve up’ a custom font from the server, but, being CSS3 and not fully adopted yet, we can’t count on it working for all browsers</a:t>
            </a:r>
          </a:p>
          <a:p>
            <a:pPr marL="0" indent="0">
              <a:spcAft>
                <a:spcPts val="1200"/>
              </a:spcAft>
              <a:buNone/>
            </a:pPr>
            <a:r>
              <a:rPr lang="en-US" dirty="0">
                <a:hlinkClick r:id="rId2"/>
              </a:rPr>
              <a:t>Google Fonts</a:t>
            </a:r>
            <a:r>
              <a:rPr lang="en-US" dirty="0"/>
              <a:t> is another option</a:t>
            </a:r>
          </a:p>
          <a:p>
            <a:pPr marL="0" indent="0">
              <a:spcAft>
                <a:spcPts val="1200"/>
              </a:spcAft>
              <a:buNone/>
            </a:pPr>
            <a:endParaRPr lang="en-US" sz="2400" i="1" dirty="0">
              <a:solidFill>
                <a:srgbClr val="FF0000"/>
              </a:solidFill>
            </a:endParaRPr>
          </a:p>
          <a:p>
            <a:pPr marL="0" indent="0">
              <a:spcAft>
                <a:spcPts val="1200"/>
              </a:spcAft>
              <a:buNone/>
            </a:pPr>
            <a:r>
              <a:rPr lang="en-US" sz="2400" i="1" dirty="0">
                <a:solidFill>
                  <a:srgbClr val="FF0000"/>
                </a:solidFill>
              </a:rPr>
              <a:t>* If using the ‘custom font’ option, </a:t>
            </a:r>
            <a:r>
              <a:rPr lang="en-US" sz="2400" i="1" u="sng" dirty="0">
                <a:solidFill>
                  <a:srgbClr val="FF0000"/>
                </a:solidFill>
              </a:rPr>
              <a:t>make sure</a:t>
            </a:r>
            <a:r>
              <a:rPr lang="en-US" sz="2400" i="1" dirty="0">
                <a:solidFill>
                  <a:srgbClr val="FF0000"/>
                </a:solidFill>
              </a:rPr>
              <a:t> it’s a (copyright) free font!</a:t>
            </a:r>
          </a:p>
        </p:txBody>
      </p:sp>
    </p:spTree>
    <p:extLst>
      <p:ext uri="{BB962C8B-B14F-4D97-AF65-F5344CB8AC3E}">
        <p14:creationId xmlns:p14="http://schemas.microsoft.com/office/powerpoint/2010/main" val="1018237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6"/>
            <a:ext cx="10515601" cy="768350"/>
          </a:xfrm>
        </p:spPr>
        <p:txBody>
          <a:bodyPr/>
          <a:lstStyle/>
          <a:p>
            <a:r>
              <a:rPr lang="en-US" dirty="0"/>
              <a:t>Google Fonts</a:t>
            </a:r>
          </a:p>
        </p:txBody>
      </p:sp>
      <p:sp>
        <p:nvSpPr>
          <p:cNvPr id="3" name="Content Placeholder 2"/>
          <p:cNvSpPr>
            <a:spLocks noGrp="1"/>
          </p:cNvSpPr>
          <p:nvPr>
            <p:ph idx="1"/>
          </p:nvPr>
        </p:nvSpPr>
        <p:spPr>
          <a:xfrm>
            <a:off x="838199" y="1704446"/>
            <a:ext cx="10854267" cy="4351338"/>
          </a:xfrm>
        </p:spPr>
        <p:txBody>
          <a:bodyPr/>
          <a:lstStyle/>
          <a:p>
            <a:pPr marL="0" indent="0">
              <a:buNone/>
            </a:pPr>
            <a:r>
              <a:rPr lang="en-US" sz="3200" i="1" dirty="0">
                <a:solidFill>
                  <a:srgbClr val="FF0000"/>
                </a:solidFill>
              </a:rPr>
              <a:t>Five steps</a:t>
            </a:r>
            <a:r>
              <a:rPr lang="en-US" sz="3200" dirty="0"/>
              <a:t>:</a:t>
            </a:r>
          </a:p>
          <a:p>
            <a:pPr marL="914400" indent="-514350">
              <a:spcAft>
                <a:spcPts val="600"/>
              </a:spcAft>
              <a:buFont typeface="+mj-lt"/>
              <a:buAutoNum type="arabicPeriod"/>
            </a:pPr>
            <a:r>
              <a:rPr lang="en-US" dirty="0"/>
              <a:t>Navigate to </a:t>
            </a:r>
            <a:r>
              <a:rPr lang="en-US" sz="2800" dirty="0"/>
              <a:t>Google Fonts - </a:t>
            </a:r>
            <a:r>
              <a:rPr lang="en-US" sz="2800" dirty="0">
                <a:hlinkClick r:id="rId2"/>
              </a:rPr>
              <a:t>https://www.google.com/fonts</a:t>
            </a:r>
            <a:endParaRPr lang="en-US" sz="2800" dirty="0"/>
          </a:p>
          <a:p>
            <a:pPr marL="914400" indent="-514350">
              <a:spcAft>
                <a:spcPts val="600"/>
              </a:spcAft>
              <a:buFont typeface="+mj-lt"/>
              <a:buAutoNum type="arabicPeriod"/>
            </a:pPr>
            <a:r>
              <a:rPr lang="en-US" dirty="0"/>
              <a:t>Select the font(s) you want to use</a:t>
            </a:r>
            <a:endParaRPr lang="en-US" sz="2800" dirty="0"/>
          </a:p>
          <a:p>
            <a:pPr marL="914400" indent="-514350">
              <a:spcAft>
                <a:spcPts val="600"/>
              </a:spcAft>
              <a:buFont typeface="+mj-lt"/>
              <a:buAutoNum type="arabicPeriod"/>
            </a:pPr>
            <a:r>
              <a:rPr lang="en-US" dirty="0"/>
              <a:t>Click on ‘Use’</a:t>
            </a:r>
          </a:p>
          <a:p>
            <a:pPr marL="914400" indent="-514350">
              <a:spcAft>
                <a:spcPts val="600"/>
              </a:spcAft>
              <a:buFont typeface="+mj-lt"/>
              <a:buAutoNum type="arabicPeriod"/>
            </a:pPr>
            <a:r>
              <a:rPr lang="en-US" sz="2800" dirty="0"/>
              <a:t>Copy the link into your HTML document’s head element</a:t>
            </a:r>
          </a:p>
          <a:p>
            <a:pPr marL="914400" indent="-514350">
              <a:buFont typeface="+mj-lt"/>
              <a:buAutoNum type="arabicPeriod"/>
            </a:pPr>
            <a:r>
              <a:rPr lang="en-US" dirty="0"/>
              <a:t>Add the font name’s value to the font-family property in your CSS</a:t>
            </a:r>
            <a:endParaRPr lang="en-US" sz="2800" dirty="0"/>
          </a:p>
        </p:txBody>
      </p:sp>
    </p:spTree>
    <p:extLst>
      <p:ext uri="{BB962C8B-B14F-4D97-AF65-F5344CB8AC3E}">
        <p14:creationId xmlns:p14="http://schemas.microsoft.com/office/powerpoint/2010/main" val="466679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523D63-DF59-45BC-B73C-6B35BAF33D5A}"/>
              </a:ext>
            </a:extLst>
          </p:cNvPr>
          <p:cNvPicPr>
            <a:picLocks noChangeAspect="1"/>
          </p:cNvPicPr>
          <p:nvPr/>
        </p:nvPicPr>
        <p:blipFill>
          <a:blip r:embed="rId2"/>
          <a:stretch>
            <a:fillRect/>
          </a:stretch>
        </p:blipFill>
        <p:spPr>
          <a:xfrm>
            <a:off x="1794669" y="0"/>
            <a:ext cx="8602661" cy="6858000"/>
          </a:xfrm>
          <a:prstGeom prst="rect">
            <a:avLst/>
          </a:prstGeom>
        </p:spPr>
      </p:pic>
      <p:sp>
        <p:nvSpPr>
          <p:cNvPr id="10" name="Rectangle 9"/>
          <p:cNvSpPr/>
          <p:nvPr/>
        </p:nvSpPr>
        <p:spPr>
          <a:xfrm>
            <a:off x="1827714" y="839761"/>
            <a:ext cx="1056513" cy="13211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5BAB409-BAFB-41C0-8888-B2029FFCA020}"/>
              </a:ext>
            </a:extLst>
          </p:cNvPr>
          <p:cNvPicPr>
            <a:picLocks noChangeAspect="1"/>
          </p:cNvPicPr>
          <p:nvPr/>
        </p:nvPicPr>
        <p:blipFill>
          <a:blip r:embed="rId3"/>
          <a:stretch>
            <a:fillRect/>
          </a:stretch>
        </p:blipFill>
        <p:spPr>
          <a:xfrm>
            <a:off x="4561134" y="1587389"/>
            <a:ext cx="2967426" cy="3683222"/>
          </a:xfrm>
          <a:prstGeom prst="rect">
            <a:avLst/>
          </a:prstGeom>
        </p:spPr>
      </p:pic>
      <p:cxnSp>
        <p:nvCxnSpPr>
          <p:cNvPr id="8" name="Straight Arrow Connector 7">
            <a:extLst>
              <a:ext uri="{FF2B5EF4-FFF2-40B4-BE49-F238E27FC236}">
                <a16:creationId xmlns:a16="http://schemas.microsoft.com/office/drawing/2014/main" id="{3C17FD7C-5A4B-4696-835F-F0552E0C3153}"/>
              </a:ext>
            </a:extLst>
          </p:cNvPr>
          <p:cNvCxnSpPr/>
          <p:nvPr/>
        </p:nvCxnSpPr>
        <p:spPr>
          <a:xfrm>
            <a:off x="2917272" y="1813560"/>
            <a:ext cx="1593768" cy="10058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224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36022D-818D-4B1B-926A-9FD63DBB07C2}"/>
              </a:ext>
            </a:extLst>
          </p:cNvPr>
          <p:cNvPicPr>
            <a:picLocks noChangeAspect="1"/>
          </p:cNvPicPr>
          <p:nvPr/>
        </p:nvPicPr>
        <p:blipFill>
          <a:blip r:embed="rId2"/>
          <a:stretch>
            <a:fillRect/>
          </a:stretch>
        </p:blipFill>
        <p:spPr>
          <a:xfrm>
            <a:off x="1033493" y="711735"/>
            <a:ext cx="10125014" cy="4101376"/>
          </a:xfrm>
          <a:prstGeom prst="rect">
            <a:avLst/>
          </a:prstGeom>
        </p:spPr>
      </p:pic>
      <p:sp>
        <p:nvSpPr>
          <p:cNvPr id="10" name="Rectangle 9"/>
          <p:cNvSpPr/>
          <p:nvPr/>
        </p:nvSpPr>
        <p:spPr>
          <a:xfrm>
            <a:off x="8619749" y="1167307"/>
            <a:ext cx="2471332" cy="36458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3114568-0BDA-44DD-9347-8ABC9C4A42CB}"/>
              </a:ext>
            </a:extLst>
          </p:cNvPr>
          <p:cNvSpPr txBox="1"/>
          <p:nvPr/>
        </p:nvSpPr>
        <p:spPr>
          <a:xfrm>
            <a:off x="2941320" y="5237480"/>
            <a:ext cx="6527800" cy="461665"/>
          </a:xfrm>
          <a:prstGeom prst="rect">
            <a:avLst/>
          </a:prstGeom>
          <a:noFill/>
        </p:spPr>
        <p:txBody>
          <a:bodyPr wrap="square" rtlCol="0">
            <a:spAutoFit/>
          </a:bodyPr>
          <a:lstStyle/>
          <a:p>
            <a:pPr algn="ctr"/>
            <a:r>
              <a:rPr lang="en-US" sz="2400" dirty="0">
                <a:solidFill>
                  <a:srgbClr val="FF0000"/>
                </a:solidFill>
                <a:latin typeface="Abadi Extra Light" panose="020B0204020104020204" pitchFamily="34" charset="0"/>
              </a:rPr>
              <a:t>Pick a font. Any font</a:t>
            </a:r>
          </a:p>
        </p:txBody>
      </p:sp>
    </p:spTree>
    <p:extLst>
      <p:ext uri="{BB962C8B-B14F-4D97-AF65-F5344CB8AC3E}">
        <p14:creationId xmlns:p14="http://schemas.microsoft.com/office/powerpoint/2010/main" val="4901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2C7A8E-9BC8-4DAA-8709-6B8CB15F1C2F}"/>
              </a:ext>
            </a:extLst>
          </p:cNvPr>
          <p:cNvPicPr>
            <a:picLocks noChangeAspect="1"/>
          </p:cNvPicPr>
          <p:nvPr/>
        </p:nvPicPr>
        <p:blipFill>
          <a:blip r:embed="rId2"/>
          <a:stretch>
            <a:fillRect/>
          </a:stretch>
        </p:blipFill>
        <p:spPr>
          <a:xfrm>
            <a:off x="622584" y="192947"/>
            <a:ext cx="7182736" cy="6472105"/>
          </a:xfrm>
          <a:prstGeom prst="rect">
            <a:avLst/>
          </a:prstGeom>
        </p:spPr>
      </p:pic>
      <p:cxnSp>
        <p:nvCxnSpPr>
          <p:cNvPr id="6" name="Straight Arrow Connector 5"/>
          <p:cNvCxnSpPr>
            <a:cxnSpLocks/>
          </p:cNvCxnSpPr>
          <p:nvPr/>
        </p:nvCxnSpPr>
        <p:spPr>
          <a:xfrm flipH="1">
            <a:off x="7581392" y="2215904"/>
            <a:ext cx="931966" cy="164798"/>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DCE5693-BFA7-4B60-B20D-D75A390D4D9A}"/>
              </a:ext>
            </a:extLst>
          </p:cNvPr>
          <p:cNvCxnSpPr>
            <a:cxnSpLocks/>
          </p:cNvCxnSpPr>
          <p:nvPr/>
        </p:nvCxnSpPr>
        <p:spPr>
          <a:xfrm flipH="1">
            <a:off x="7581392" y="2891517"/>
            <a:ext cx="931966" cy="164798"/>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F59CEB8-37F5-45BD-9D53-320714E7F7B1}"/>
              </a:ext>
            </a:extLst>
          </p:cNvPr>
          <p:cNvCxnSpPr>
            <a:cxnSpLocks/>
          </p:cNvCxnSpPr>
          <p:nvPr/>
        </p:nvCxnSpPr>
        <p:spPr>
          <a:xfrm flipH="1">
            <a:off x="7586282" y="4862122"/>
            <a:ext cx="931966" cy="164798"/>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CDDE805-4F42-4B7E-8BCD-1103BF03D5C4}"/>
              </a:ext>
            </a:extLst>
          </p:cNvPr>
          <p:cNvSpPr txBox="1"/>
          <p:nvPr/>
        </p:nvSpPr>
        <p:spPr>
          <a:xfrm>
            <a:off x="8870170" y="562332"/>
            <a:ext cx="2757870" cy="1200329"/>
          </a:xfrm>
          <a:prstGeom prst="rect">
            <a:avLst/>
          </a:prstGeom>
          <a:noFill/>
        </p:spPr>
        <p:txBody>
          <a:bodyPr wrap="square" rtlCol="0">
            <a:spAutoFit/>
          </a:bodyPr>
          <a:lstStyle/>
          <a:p>
            <a:r>
              <a:rPr lang="en-US" sz="2400" dirty="0">
                <a:solidFill>
                  <a:srgbClr val="FF0000"/>
                </a:solidFill>
              </a:rPr>
              <a:t>It is best to pick one or two from light, regular, and heavy </a:t>
            </a:r>
          </a:p>
        </p:txBody>
      </p:sp>
      <p:sp>
        <p:nvSpPr>
          <p:cNvPr id="12" name="TextBox 11">
            <a:extLst>
              <a:ext uri="{FF2B5EF4-FFF2-40B4-BE49-F238E27FC236}">
                <a16:creationId xmlns:a16="http://schemas.microsoft.com/office/drawing/2014/main" id="{018AB8E0-C322-4FD8-AE7C-B328531B0194}"/>
              </a:ext>
            </a:extLst>
          </p:cNvPr>
          <p:cNvSpPr txBox="1"/>
          <p:nvPr/>
        </p:nvSpPr>
        <p:spPr>
          <a:xfrm>
            <a:off x="8949223" y="3267228"/>
            <a:ext cx="2757870" cy="1569660"/>
          </a:xfrm>
          <a:prstGeom prst="rect">
            <a:avLst/>
          </a:prstGeom>
          <a:noFill/>
        </p:spPr>
        <p:txBody>
          <a:bodyPr wrap="square" rtlCol="0">
            <a:spAutoFit/>
          </a:bodyPr>
          <a:lstStyle/>
          <a:p>
            <a:r>
              <a:rPr lang="en-US" sz="2400" dirty="0">
                <a:solidFill>
                  <a:srgbClr val="FF0000"/>
                </a:solidFill>
              </a:rPr>
              <a:t>Too many options can have a negative effect on page download time</a:t>
            </a:r>
          </a:p>
        </p:txBody>
      </p:sp>
      <p:cxnSp>
        <p:nvCxnSpPr>
          <p:cNvPr id="13" name="Straight Arrow Connector 12">
            <a:extLst>
              <a:ext uri="{FF2B5EF4-FFF2-40B4-BE49-F238E27FC236}">
                <a16:creationId xmlns:a16="http://schemas.microsoft.com/office/drawing/2014/main" id="{F4305708-FC81-4380-9C69-F674E68D756F}"/>
              </a:ext>
            </a:extLst>
          </p:cNvPr>
          <p:cNvCxnSpPr>
            <a:cxnSpLocks/>
          </p:cNvCxnSpPr>
          <p:nvPr/>
        </p:nvCxnSpPr>
        <p:spPr>
          <a:xfrm flipH="1">
            <a:off x="7581392" y="6124516"/>
            <a:ext cx="931966" cy="164798"/>
          </a:xfrm>
          <a:prstGeom prst="straightConnector1">
            <a:avLst/>
          </a:prstGeom>
          <a:ln w="762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52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6C73E5-3457-4FD3-B903-5793A1449D20}"/>
              </a:ext>
            </a:extLst>
          </p:cNvPr>
          <p:cNvPicPr>
            <a:picLocks noChangeAspect="1"/>
          </p:cNvPicPr>
          <p:nvPr/>
        </p:nvPicPr>
        <p:blipFill>
          <a:blip r:embed="rId2"/>
          <a:stretch>
            <a:fillRect/>
          </a:stretch>
        </p:blipFill>
        <p:spPr>
          <a:xfrm>
            <a:off x="4058550" y="644226"/>
            <a:ext cx="4193179" cy="4872806"/>
          </a:xfrm>
          <a:prstGeom prst="rect">
            <a:avLst/>
          </a:prstGeom>
          <a:effectLst>
            <a:outerShdw blurRad="50800" dist="38100" dir="2700000" algn="tl" rotWithShape="0">
              <a:prstClr val="black">
                <a:alpha val="40000"/>
              </a:prstClr>
            </a:outerShdw>
          </a:effectLst>
        </p:spPr>
      </p:pic>
      <p:sp>
        <p:nvSpPr>
          <p:cNvPr id="14" name="Rectangle 13"/>
          <p:cNvSpPr/>
          <p:nvPr/>
        </p:nvSpPr>
        <p:spPr>
          <a:xfrm>
            <a:off x="4269310" y="2736579"/>
            <a:ext cx="3760481" cy="23585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6EC0E76-4CF9-4470-A2B6-6574466F2A74}"/>
              </a:ext>
            </a:extLst>
          </p:cNvPr>
          <p:cNvSpPr txBox="1"/>
          <p:nvPr/>
        </p:nvSpPr>
        <p:spPr>
          <a:xfrm>
            <a:off x="8462489" y="2736579"/>
            <a:ext cx="3553842" cy="830997"/>
          </a:xfrm>
          <a:prstGeom prst="rect">
            <a:avLst/>
          </a:prstGeom>
          <a:noFill/>
        </p:spPr>
        <p:txBody>
          <a:bodyPr wrap="square" rtlCol="0">
            <a:spAutoFit/>
          </a:bodyPr>
          <a:lstStyle/>
          <a:p>
            <a:r>
              <a:rPr lang="en-US" sz="2400" dirty="0">
                <a:solidFill>
                  <a:srgbClr val="FF0000"/>
                </a:solidFill>
              </a:rPr>
              <a:t>Copy/past into the &lt;head&gt; element of your document</a:t>
            </a:r>
          </a:p>
        </p:txBody>
      </p:sp>
      <p:sp>
        <p:nvSpPr>
          <p:cNvPr id="9" name="Down Arrow 3">
            <a:extLst>
              <a:ext uri="{FF2B5EF4-FFF2-40B4-BE49-F238E27FC236}">
                <a16:creationId xmlns:a16="http://schemas.microsoft.com/office/drawing/2014/main" id="{D23AF51A-4C6B-47BC-ABD0-51450B70C5B3}"/>
              </a:ext>
            </a:extLst>
          </p:cNvPr>
          <p:cNvSpPr/>
          <p:nvPr/>
        </p:nvSpPr>
        <p:spPr>
          <a:xfrm>
            <a:off x="5895710" y="5331298"/>
            <a:ext cx="400579" cy="105833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98301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900"/>
                            </p:stCondLst>
                            <p:childTnLst>
                              <p:par>
                                <p:cTn id="9" presetID="22" presetClass="entr" presetSubtype="1" fill="hold" grpId="0" nodeType="after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EA1C84-A72B-4610-A855-7C9076DAE152}"/>
              </a:ext>
            </a:extLst>
          </p:cNvPr>
          <p:cNvPicPr>
            <a:picLocks noChangeAspect="1"/>
          </p:cNvPicPr>
          <p:nvPr/>
        </p:nvPicPr>
        <p:blipFill>
          <a:blip r:embed="rId2"/>
          <a:stretch>
            <a:fillRect/>
          </a:stretch>
        </p:blipFill>
        <p:spPr>
          <a:xfrm>
            <a:off x="3844064" y="2473237"/>
            <a:ext cx="4630155" cy="1765245"/>
          </a:xfrm>
          <a:prstGeom prst="rect">
            <a:avLst/>
          </a:prstGeom>
          <a:effectLst>
            <a:outerShdw blurRad="50800" dist="38100" dir="2700000" algn="tl" rotWithShape="0">
              <a:prstClr val="black">
                <a:alpha val="40000"/>
              </a:prstClr>
            </a:outerShdw>
          </a:effectLst>
        </p:spPr>
      </p:pic>
      <p:sp>
        <p:nvSpPr>
          <p:cNvPr id="14" name="Rectangle 13"/>
          <p:cNvSpPr/>
          <p:nvPr/>
        </p:nvSpPr>
        <p:spPr>
          <a:xfrm>
            <a:off x="4028246" y="3294984"/>
            <a:ext cx="4219549" cy="5809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own Arrow 3"/>
          <p:cNvSpPr/>
          <p:nvPr/>
        </p:nvSpPr>
        <p:spPr>
          <a:xfrm>
            <a:off x="5895710" y="4653459"/>
            <a:ext cx="400579" cy="105833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48CF9D4-CD2D-41A0-8AB1-4D6A381B6EA7}"/>
              </a:ext>
            </a:extLst>
          </p:cNvPr>
          <p:cNvSpPr/>
          <p:nvPr/>
        </p:nvSpPr>
        <p:spPr>
          <a:xfrm>
            <a:off x="2046032" y="995693"/>
            <a:ext cx="7298265" cy="533400"/>
          </a:xfrm>
          <a:prstGeom prst="rect">
            <a:avLst/>
          </a:prstGeom>
          <a:solidFill>
            <a:srgbClr val="FF00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IF THE FONT’S NAME HAS SPACES IN IT, BE SURE TO ENCLOSE IT IN QUOTES, E.G., ‘Times New Roman’</a:t>
            </a:r>
          </a:p>
        </p:txBody>
      </p:sp>
      <p:sp>
        <p:nvSpPr>
          <p:cNvPr id="10" name="TextBox 9">
            <a:extLst>
              <a:ext uri="{FF2B5EF4-FFF2-40B4-BE49-F238E27FC236}">
                <a16:creationId xmlns:a16="http://schemas.microsoft.com/office/drawing/2014/main" id="{AE8AAAED-2029-4CBA-9C60-A2915BA9CD35}"/>
              </a:ext>
            </a:extLst>
          </p:cNvPr>
          <p:cNvSpPr txBox="1"/>
          <p:nvPr/>
        </p:nvSpPr>
        <p:spPr>
          <a:xfrm>
            <a:off x="8462489" y="2736579"/>
            <a:ext cx="3553842" cy="830997"/>
          </a:xfrm>
          <a:prstGeom prst="rect">
            <a:avLst/>
          </a:prstGeom>
          <a:noFill/>
        </p:spPr>
        <p:txBody>
          <a:bodyPr wrap="square" rtlCol="0">
            <a:spAutoFit/>
          </a:bodyPr>
          <a:lstStyle/>
          <a:p>
            <a:r>
              <a:rPr lang="en-US" sz="2400" dirty="0">
                <a:solidFill>
                  <a:srgbClr val="FF0000"/>
                </a:solidFill>
              </a:rPr>
              <a:t>Copy/past into the &lt;head&gt; element of your document</a:t>
            </a:r>
          </a:p>
        </p:txBody>
      </p:sp>
    </p:spTree>
    <p:extLst>
      <p:ext uri="{BB962C8B-B14F-4D97-AF65-F5344CB8AC3E}">
        <p14:creationId xmlns:p14="http://schemas.microsoft.com/office/powerpoint/2010/main" val="3822754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par>
                          <p:cTn id="8" fill="hold">
                            <p:stCondLst>
                              <p:cond delay="500"/>
                            </p:stCondLst>
                            <p:childTnLst>
                              <p:par>
                                <p:cTn id="9" presetID="22" presetClass="entr" presetSubtype="1" fill="hold" grpId="0" nodeType="after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p:stCondLst>
                              <p:cond delay="1500"/>
                            </p:stCondLst>
                            <p:childTnLst>
                              <p:par>
                                <p:cTn id="13" presetID="10" presetClass="entr" presetSubtype="0" fill="hold" grpId="0" nodeType="afterEffect">
                                  <p:stCondLst>
                                    <p:cond delay="6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778559" cy="753627"/>
          </a:xfrm>
          <a:prstGeom prst="rect">
            <a:avLst/>
          </a:prstGeom>
          <a:solidFill>
            <a:srgbClr val="00008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BEFORE</a:t>
            </a:r>
            <a:endParaRPr lang="en-US" b="1" dirty="0"/>
          </a:p>
        </p:txBody>
      </p:sp>
      <p:pic>
        <p:nvPicPr>
          <p:cNvPr id="6" name="Picture 5">
            <a:extLst>
              <a:ext uri="{FF2B5EF4-FFF2-40B4-BE49-F238E27FC236}">
                <a16:creationId xmlns:a16="http://schemas.microsoft.com/office/drawing/2014/main" id="{83157C99-5950-4F38-A6DF-E94FD42CA1DB}"/>
              </a:ext>
            </a:extLst>
          </p:cNvPr>
          <p:cNvPicPr>
            <a:picLocks noChangeAspect="1"/>
          </p:cNvPicPr>
          <p:nvPr/>
        </p:nvPicPr>
        <p:blipFill>
          <a:blip r:embed="rId2"/>
          <a:stretch>
            <a:fillRect/>
          </a:stretch>
        </p:blipFill>
        <p:spPr>
          <a:xfrm>
            <a:off x="2189518" y="419700"/>
            <a:ext cx="7812963" cy="54864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20547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778559" cy="753627"/>
          </a:xfrm>
          <a:prstGeom prst="rect">
            <a:avLst/>
          </a:prstGeom>
          <a:solidFill>
            <a:srgbClr val="00008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AFTER</a:t>
            </a:r>
            <a:endParaRPr lang="en-US" b="1" dirty="0"/>
          </a:p>
        </p:txBody>
      </p:sp>
      <p:pic>
        <p:nvPicPr>
          <p:cNvPr id="7" name="Picture 6">
            <a:extLst>
              <a:ext uri="{FF2B5EF4-FFF2-40B4-BE49-F238E27FC236}">
                <a16:creationId xmlns:a16="http://schemas.microsoft.com/office/drawing/2014/main" id="{E1531034-9B21-43C3-A8DC-61E3CBC48867}"/>
              </a:ext>
            </a:extLst>
          </p:cNvPr>
          <p:cNvPicPr>
            <a:picLocks noChangeAspect="1"/>
          </p:cNvPicPr>
          <p:nvPr/>
        </p:nvPicPr>
        <p:blipFill>
          <a:blip r:embed="rId2"/>
          <a:stretch>
            <a:fillRect/>
          </a:stretch>
        </p:blipFill>
        <p:spPr>
          <a:xfrm>
            <a:off x="2321028" y="344965"/>
            <a:ext cx="7669955" cy="557361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09891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solidFill>
                  <a:srgbClr val="FF0000"/>
                </a:solidFill>
              </a:rPr>
              <a:t>A note of caution</a:t>
            </a:r>
          </a:p>
        </p:txBody>
      </p:sp>
      <p:sp>
        <p:nvSpPr>
          <p:cNvPr id="3" name="Content Placeholder 2"/>
          <p:cNvSpPr>
            <a:spLocks noGrp="1"/>
          </p:cNvSpPr>
          <p:nvPr>
            <p:ph idx="1"/>
          </p:nvPr>
        </p:nvSpPr>
        <p:spPr>
          <a:xfrm>
            <a:off x="838200" y="1690688"/>
            <a:ext cx="10515600" cy="4351338"/>
          </a:xfrm>
        </p:spPr>
        <p:txBody>
          <a:bodyPr/>
          <a:lstStyle/>
          <a:p>
            <a:pPr marL="0" indent="0">
              <a:spcAft>
                <a:spcPts val="1800"/>
              </a:spcAft>
              <a:buNone/>
            </a:pPr>
            <a:r>
              <a:rPr lang="en-US" dirty="0"/>
              <a:t>You should use external fonts like this sparingly as they introduce performance overhead</a:t>
            </a:r>
          </a:p>
          <a:p>
            <a:pPr marL="0" indent="0">
              <a:spcAft>
                <a:spcPts val="1800"/>
              </a:spcAft>
              <a:buNone/>
            </a:pPr>
            <a:r>
              <a:rPr lang="en-US" dirty="0"/>
              <a:t>The browser has to pull the font information from an external source </a:t>
            </a:r>
          </a:p>
          <a:p>
            <a:pPr marL="0" indent="0">
              <a:buNone/>
            </a:pPr>
            <a:r>
              <a:rPr lang="en-US" dirty="0"/>
              <a:t>On a high-traffic site, this could become a noticeable issue</a:t>
            </a:r>
          </a:p>
        </p:txBody>
      </p:sp>
    </p:spTree>
    <p:extLst>
      <p:ext uri="{BB962C8B-B14F-4D97-AF65-F5344CB8AC3E}">
        <p14:creationId xmlns:p14="http://schemas.microsoft.com/office/powerpoint/2010/main" val="3411547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a:bodyPr>
          <a:lstStyle/>
          <a:p>
            <a:pPr marL="0" indent="0">
              <a:buNone/>
            </a:pPr>
            <a:r>
              <a:rPr lang="en-US" sz="2400" dirty="0"/>
              <a:t>Your domain name is the core component of your online presence -- the address of a piece of online real estate that belongs only to you or your business</a:t>
            </a:r>
          </a:p>
          <a:p>
            <a:pPr marL="0" indent="0">
              <a:buNone/>
            </a:pPr>
            <a:r>
              <a:rPr lang="en-US" sz="2400" dirty="0"/>
              <a:t>Choosing the right domain name and registering it are essential first steps for securing your company’s online home, but they’re not the only ones</a:t>
            </a:r>
          </a:p>
          <a:p>
            <a:pPr marL="0" indent="0">
              <a:buNone/>
            </a:pPr>
            <a:r>
              <a:rPr lang="en-US" sz="2400" dirty="0"/>
              <a:t>To stay updated and secure, a domain needs ongoing management, whether it’s a single domain owned by a new entrepreneur or part of a large portfolio of domains owned by a large corporation</a:t>
            </a:r>
          </a:p>
        </p:txBody>
      </p:sp>
    </p:spTree>
    <p:extLst>
      <p:ext uri="{BB962C8B-B14F-4D97-AF65-F5344CB8AC3E}">
        <p14:creationId xmlns:p14="http://schemas.microsoft.com/office/powerpoint/2010/main" val="304222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a:bodyPr>
          <a:lstStyle/>
          <a:p>
            <a:pPr marL="0" indent="0">
              <a:buNone/>
            </a:pPr>
            <a:r>
              <a:rPr lang="en-US" sz="2400" dirty="0"/>
              <a:t>Domain management, or domain name management, refers to the ongoing tasks of keeping a personal or corporate domain (or domains) stable, secure, and able to support related websites</a:t>
            </a:r>
          </a:p>
          <a:p>
            <a:pPr marL="0" indent="0">
              <a:buNone/>
            </a:pPr>
            <a:r>
              <a:rPr lang="en-US" sz="2400" dirty="0"/>
              <a:t>The domain name not only establishes its owner’s presence on the Internet, it also serves as a portal to a business or personal website designed to serve that owner’s unique needs</a:t>
            </a:r>
          </a:p>
          <a:p>
            <a:pPr marL="0" indent="0">
              <a:buNone/>
            </a:pPr>
            <a:r>
              <a:rPr lang="en-US" sz="2400" dirty="0"/>
              <a:t>Site owners may be tempted to focus all their attention on setting up and maintaining the website itself, but managing the domain is a key factor in keeping the website live and accessible</a:t>
            </a:r>
          </a:p>
        </p:txBody>
      </p:sp>
    </p:spTree>
    <p:extLst>
      <p:ext uri="{BB962C8B-B14F-4D97-AF65-F5344CB8AC3E}">
        <p14:creationId xmlns:p14="http://schemas.microsoft.com/office/powerpoint/2010/main" val="1303143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AB4DFE05-0989-C539-D645-D5216EF59EDA}"/>
              </a:ext>
            </a:extLst>
          </p:cNvPr>
          <p:cNvSpPr/>
          <p:nvPr/>
        </p:nvSpPr>
        <p:spPr>
          <a:xfrm>
            <a:off x="1821099" y="4584377"/>
            <a:ext cx="2079681" cy="2079681"/>
          </a:xfrm>
          <a:custGeom>
            <a:avLst/>
            <a:gdLst>
              <a:gd name="csX0" fmla="*/ 2079681 w 2079681"/>
              <a:gd name="csY0" fmla="*/ 1039841 h 2079681"/>
              <a:gd name="csX1" fmla="*/ 1039841 w 2079681"/>
              <a:gd name="csY1" fmla="*/ 2079681 h 2079681"/>
              <a:gd name="csX2" fmla="*/ 0 w 2079681"/>
              <a:gd name="csY2" fmla="*/ 1039841 h 2079681"/>
              <a:gd name="csX3" fmla="*/ 1039841 w 2079681"/>
              <a:gd name="csY3" fmla="*/ 0 h 2079681"/>
              <a:gd name="csX4" fmla="*/ 2079681 w 2079681"/>
              <a:gd name="csY4" fmla="*/ 1039841 h 2079681"/>
            </a:gdLst>
            <a:ahLst/>
            <a:cxnLst>
              <a:cxn ang="0">
                <a:pos x="csX0" y="csY0"/>
              </a:cxn>
              <a:cxn ang="0">
                <a:pos x="csX1" y="csY1"/>
              </a:cxn>
              <a:cxn ang="0">
                <a:pos x="csX2" y="csY2"/>
              </a:cxn>
              <a:cxn ang="0">
                <a:pos x="csX3" y="csY3"/>
              </a:cxn>
              <a:cxn ang="0">
                <a:pos x="csX4" y="csY4"/>
              </a:cxn>
            </a:cxnLst>
            <a:rect l="l" t="t" r="r" b="b"/>
            <a:pathLst>
              <a:path w="2079681" h="2079681">
                <a:moveTo>
                  <a:pt x="2079681" y="1039841"/>
                </a:moveTo>
                <a:cubicBezTo>
                  <a:pt x="2079681" y="1614129"/>
                  <a:pt x="1614129" y="2079681"/>
                  <a:pt x="1039841" y="2079681"/>
                </a:cubicBezTo>
                <a:cubicBezTo>
                  <a:pt x="465553" y="2079681"/>
                  <a:pt x="0" y="1614129"/>
                  <a:pt x="0" y="1039841"/>
                </a:cubicBezTo>
                <a:cubicBezTo>
                  <a:pt x="0" y="465553"/>
                  <a:pt x="465553" y="0"/>
                  <a:pt x="1039841" y="0"/>
                </a:cubicBezTo>
                <a:cubicBezTo>
                  <a:pt x="1614129" y="0"/>
                  <a:pt x="2079681" y="465553"/>
                  <a:pt x="2079681" y="1039841"/>
                </a:cubicBezTo>
                <a:close/>
              </a:path>
            </a:pathLst>
          </a:custGeom>
          <a:solidFill>
            <a:srgbClr val="F4F4F4">
              <a:alpha val="60000"/>
            </a:srgbClr>
          </a:solidFill>
          <a:ln w="11542" cap="flat">
            <a:noFill/>
            <a:prstDash val="solid"/>
            <a:miter/>
          </a:ln>
        </p:spPr>
        <p:txBody>
          <a:bodyPr/>
          <a:lstStyle/>
          <a:p>
            <a:endParaRPr lang="en-US"/>
          </a:p>
        </p:txBody>
      </p:sp>
      <p:sp>
        <p:nvSpPr>
          <p:cNvPr id="25" name="Freeform: Shape 24">
            <a:extLst>
              <a:ext uri="{FF2B5EF4-FFF2-40B4-BE49-F238E27FC236}">
                <a16:creationId xmlns:a16="http://schemas.microsoft.com/office/drawing/2014/main" id="{77C9CC66-B2E0-4F44-B16D-F10AECBD7BDE}"/>
              </a:ext>
            </a:extLst>
          </p:cNvPr>
          <p:cNvSpPr/>
          <p:nvPr/>
        </p:nvSpPr>
        <p:spPr>
          <a:xfrm>
            <a:off x="2225481" y="4988760"/>
            <a:ext cx="1270916" cy="1270916"/>
          </a:xfrm>
          <a:custGeom>
            <a:avLst/>
            <a:gdLst>
              <a:gd name="csX0" fmla="*/ 1270916 w 1270916"/>
              <a:gd name="csY0" fmla="*/ 635458 h 1270916"/>
              <a:gd name="csX1" fmla="*/ 635458 w 1270916"/>
              <a:gd name="csY1" fmla="*/ 1270916 h 1270916"/>
              <a:gd name="csX2" fmla="*/ 0 w 1270916"/>
              <a:gd name="csY2" fmla="*/ 635458 h 1270916"/>
              <a:gd name="csX3" fmla="*/ 635458 w 1270916"/>
              <a:gd name="csY3" fmla="*/ 0 h 1270916"/>
              <a:gd name="csX4" fmla="*/ 1270916 w 1270916"/>
              <a:gd name="csY4" fmla="*/ 635458 h 1270916"/>
            </a:gdLst>
            <a:ahLst/>
            <a:cxnLst>
              <a:cxn ang="0">
                <a:pos x="csX0" y="csY0"/>
              </a:cxn>
              <a:cxn ang="0">
                <a:pos x="csX1" y="csY1"/>
              </a:cxn>
              <a:cxn ang="0">
                <a:pos x="csX2" y="csY2"/>
              </a:cxn>
              <a:cxn ang="0">
                <a:pos x="csX3" y="csY3"/>
              </a:cxn>
              <a:cxn ang="0">
                <a:pos x="csX4" y="csY4"/>
              </a:cxn>
            </a:cxnLst>
            <a:rect l="l" t="t" r="r" b="b"/>
            <a:pathLst>
              <a:path w="1270916" h="1270916">
                <a:moveTo>
                  <a:pt x="1270916" y="635458"/>
                </a:moveTo>
                <a:cubicBezTo>
                  <a:pt x="1270916" y="986412"/>
                  <a:pt x="986412" y="1270916"/>
                  <a:pt x="635458" y="1270916"/>
                </a:cubicBezTo>
                <a:cubicBezTo>
                  <a:pt x="284504" y="1270916"/>
                  <a:pt x="0" y="986412"/>
                  <a:pt x="0" y="635458"/>
                </a:cubicBezTo>
                <a:cubicBezTo>
                  <a:pt x="0" y="284504"/>
                  <a:pt x="284504" y="0"/>
                  <a:pt x="635458" y="0"/>
                </a:cubicBezTo>
                <a:cubicBezTo>
                  <a:pt x="986412" y="0"/>
                  <a:pt x="1270916" y="284504"/>
                  <a:pt x="1270916" y="635458"/>
                </a:cubicBezTo>
                <a:close/>
              </a:path>
            </a:pathLst>
          </a:custGeom>
          <a:solidFill>
            <a:srgbClr val="EDEEF5">
              <a:alpha val="50000"/>
            </a:srgbClr>
          </a:solidFill>
          <a:ln w="11542" cap="flat">
            <a:noFill/>
            <a:prstDash val="solid"/>
            <a:miter/>
          </a:ln>
        </p:spPr>
        <p:txBody>
          <a:bodyPr/>
          <a:lstStyle/>
          <a:p>
            <a:endParaRPr lang="en-US"/>
          </a:p>
        </p:txBody>
      </p:sp>
      <p:sp>
        <p:nvSpPr>
          <p:cNvPr id="27" name="TextBox 26">
            <a:extLst>
              <a:ext uri="{FF2B5EF4-FFF2-40B4-BE49-F238E27FC236}">
                <a16:creationId xmlns:a16="http://schemas.microsoft.com/office/drawing/2014/main" id="{F6C62620-AB85-9C27-D360-31B72E8A4C63}"/>
              </a:ext>
            </a:extLst>
          </p:cNvPr>
          <p:cNvSpPr txBox="1"/>
          <p:nvPr/>
        </p:nvSpPr>
        <p:spPr>
          <a:xfrm>
            <a:off x="551443" y="2483486"/>
            <a:ext cx="2247365" cy="1200329"/>
          </a:xfrm>
          <a:prstGeom prst="rect">
            <a:avLst/>
          </a:prstGeom>
          <a:noFill/>
        </p:spPr>
        <p:txBody>
          <a:bodyPr wrap="square" rtlCol="0">
            <a:spAutoFit/>
          </a:bodyPr>
          <a:lstStyle/>
          <a:p>
            <a:pPr algn="l"/>
            <a:r>
              <a:rPr lang="en-US" sz="2400" spc="0" baseline="0" dirty="0">
                <a:ln/>
                <a:solidFill>
                  <a:srgbClr val="3E5760"/>
                </a:solidFill>
                <a:latin typeface="Segoe UI"/>
                <a:cs typeface="Segoe UI"/>
                <a:sym typeface="Segoe UI"/>
                <a:rtl val="0"/>
              </a:rPr>
              <a:t>From registration to a live website</a:t>
            </a:r>
          </a:p>
        </p:txBody>
      </p:sp>
      <p:sp>
        <p:nvSpPr>
          <p:cNvPr id="28" name="Freeform: Shape 27">
            <a:extLst>
              <a:ext uri="{FF2B5EF4-FFF2-40B4-BE49-F238E27FC236}">
                <a16:creationId xmlns:a16="http://schemas.microsoft.com/office/drawing/2014/main" id="{0C4FE8CB-0218-1A94-D9CF-CBF677F6D51E}"/>
              </a:ext>
            </a:extLst>
          </p:cNvPr>
          <p:cNvSpPr/>
          <p:nvPr/>
        </p:nvSpPr>
        <p:spPr>
          <a:xfrm>
            <a:off x="2514326" y="1118242"/>
            <a:ext cx="1386454" cy="808764"/>
          </a:xfrm>
          <a:custGeom>
            <a:avLst/>
            <a:gdLst>
              <a:gd name="csX0" fmla="*/ 1294024 w 1386454"/>
              <a:gd name="csY0" fmla="*/ 0 h 808764"/>
              <a:gd name="csX1" fmla="*/ 1386454 w 1386454"/>
              <a:gd name="csY1" fmla="*/ 0 h 808764"/>
              <a:gd name="csX2" fmla="*/ 1386454 w 1386454"/>
              <a:gd name="csY2" fmla="*/ 808765 h 808764"/>
              <a:gd name="csX3" fmla="*/ 1294024 w 1386454"/>
              <a:gd name="csY3" fmla="*/ 808765 h 808764"/>
              <a:gd name="csX4" fmla="*/ 92430 w 1386454"/>
              <a:gd name="csY4" fmla="*/ 808765 h 808764"/>
              <a:gd name="csX5" fmla="*/ 0 w 1386454"/>
              <a:gd name="csY5" fmla="*/ 808765 h 808764"/>
              <a:gd name="csX6" fmla="*/ 0 w 1386454"/>
              <a:gd name="csY6" fmla="*/ 0 h 808764"/>
              <a:gd name="csX7" fmla="*/ 92430 w 1386454"/>
              <a:gd name="csY7" fmla="*/ 0 h 8087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86454" h="808764">
                <a:moveTo>
                  <a:pt x="1294024" y="0"/>
                </a:moveTo>
                <a:cubicBezTo>
                  <a:pt x="1345072" y="0"/>
                  <a:pt x="1386454" y="0"/>
                  <a:pt x="1386454" y="0"/>
                </a:cubicBezTo>
                <a:lnTo>
                  <a:pt x="1386454" y="808765"/>
                </a:lnTo>
                <a:cubicBezTo>
                  <a:pt x="1386454" y="808765"/>
                  <a:pt x="1345072" y="808765"/>
                  <a:pt x="1294024" y="808765"/>
                </a:cubicBezTo>
                <a:lnTo>
                  <a:pt x="92430" y="808765"/>
                </a:lnTo>
                <a:cubicBezTo>
                  <a:pt x="41382" y="808765"/>
                  <a:pt x="0" y="808765"/>
                  <a:pt x="0" y="808765"/>
                </a:cubicBezTo>
                <a:lnTo>
                  <a:pt x="0" y="0"/>
                </a:lnTo>
                <a:cubicBezTo>
                  <a:pt x="0" y="0"/>
                  <a:pt x="41382" y="0"/>
                  <a:pt x="92430" y="0"/>
                </a:cubicBezTo>
                <a:close/>
              </a:path>
            </a:pathLst>
          </a:custGeom>
          <a:solidFill>
            <a:srgbClr val="FFFFFF"/>
          </a:solidFill>
          <a:ln w="23084" cap="flat">
            <a:solidFill>
              <a:srgbClr val="EDEEF5"/>
            </a:solidFill>
            <a:prstDash val="solid"/>
            <a:miter/>
          </a:ln>
        </p:spPr>
        <p:txBody>
          <a:bodyPr/>
          <a:lstStyle/>
          <a:p>
            <a:endParaRPr lang="en-US"/>
          </a:p>
        </p:txBody>
      </p:sp>
      <p:sp>
        <p:nvSpPr>
          <p:cNvPr id="29" name="Freeform: Shape 28">
            <a:extLst>
              <a:ext uri="{FF2B5EF4-FFF2-40B4-BE49-F238E27FC236}">
                <a16:creationId xmlns:a16="http://schemas.microsoft.com/office/drawing/2014/main" id="{30E907F4-B4CD-1D16-DE59-CF5EAAF3ADA5}"/>
              </a:ext>
            </a:extLst>
          </p:cNvPr>
          <p:cNvSpPr/>
          <p:nvPr/>
        </p:nvSpPr>
        <p:spPr>
          <a:xfrm>
            <a:off x="2514326" y="1118242"/>
            <a:ext cx="92430" cy="808764"/>
          </a:xfrm>
          <a:custGeom>
            <a:avLst/>
            <a:gdLst>
              <a:gd name="csX0" fmla="*/ 46215 w 92430"/>
              <a:gd name="csY0" fmla="*/ 0 h 808764"/>
              <a:gd name="csX1" fmla="*/ 92430 w 92430"/>
              <a:gd name="csY1" fmla="*/ 0 h 808764"/>
              <a:gd name="csX2" fmla="*/ 92430 w 92430"/>
              <a:gd name="csY2" fmla="*/ 808765 h 808764"/>
              <a:gd name="csX3" fmla="*/ 46215 w 92430"/>
              <a:gd name="csY3" fmla="*/ 808765 h 808764"/>
              <a:gd name="csX4" fmla="*/ 46215 w 92430"/>
              <a:gd name="csY4" fmla="*/ 808765 h 808764"/>
              <a:gd name="csX5" fmla="*/ 0 w 92430"/>
              <a:gd name="csY5" fmla="*/ 808765 h 808764"/>
              <a:gd name="csX6" fmla="*/ 0 w 92430"/>
              <a:gd name="csY6" fmla="*/ 0 h 808764"/>
              <a:gd name="csX7" fmla="*/ 46215 w 92430"/>
              <a:gd name="csY7" fmla="*/ 0 h 8087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2430" h="808764">
                <a:moveTo>
                  <a:pt x="46215" y="0"/>
                </a:moveTo>
                <a:cubicBezTo>
                  <a:pt x="71739" y="0"/>
                  <a:pt x="92430" y="0"/>
                  <a:pt x="92430" y="0"/>
                </a:cubicBezTo>
                <a:lnTo>
                  <a:pt x="92430" y="808765"/>
                </a:lnTo>
                <a:cubicBezTo>
                  <a:pt x="92430" y="808765"/>
                  <a:pt x="71739" y="808765"/>
                  <a:pt x="46215" y="808765"/>
                </a:cubicBezTo>
                <a:lnTo>
                  <a:pt x="46215" y="808765"/>
                </a:lnTo>
                <a:cubicBezTo>
                  <a:pt x="20691" y="808765"/>
                  <a:pt x="0" y="808765"/>
                  <a:pt x="0" y="808765"/>
                </a:cubicBezTo>
                <a:lnTo>
                  <a:pt x="0" y="0"/>
                </a:lnTo>
                <a:cubicBezTo>
                  <a:pt x="0" y="0"/>
                  <a:pt x="20691" y="0"/>
                  <a:pt x="46215" y="0"/>
                </a:cubicBezTo>
                <a:close/>
              </a:path>
            </a:pathLst>
          </a:custGeom>
          <a:solidFill>
            <a:srgbClr val="444F9C"/>
          </a:solidFill>
          <a:ln w="11542" cap="flat">
            <a:noFill/>
            <a:prstDash val="solid"/>
            <a:miter/>
          </a:ln>
        </p:spPr>
        <p:txBody>
          <a:bodyPr/>
          <a:lstStyle/>
          <a:p>
            <a:endParaRPr lang="en-US"/>
          </a:p>
        </p:txBody>
      </p:sp>
      <p:sp>
        <p:nvSpPr>
          <p:cNvPr id="30" name="TextBox 29">
            <a:extLst>
              <a:ext uri="{FF2B5EF4-FFF2-40B4-BE49-F238E27FC236}">
                <a16:creationId xmlns:a16="http://schemas.microsoft.com/office/drawing/2014/main" id="{044C4731-5D27-4C7B-75BE-DC51323D85EB}"/>
              </a:ext>
            </a:extLst>
          </p:cNvPr>
          <p:cNvSpPr txBox="1"/>
          <p:nvPr/>
        </p:nvSpPr>
        <p:spPr>
          <a:xfrm>
            <a:off x="3035231" y="1232120"/>
            <a:ext cx="483289" cy="321951"/>
          </a:xfrm>
          <a:prstGeom prst="rect">
            <a:avLst/>
          </a:prstGeom>
          <a:noFill/>
        </p:spPr>
        <p:txBody>
          <a:bodyPr wrap="none" rtlCol="0">
            <a:spAutoFit/>
          </a:bodyPr>
          <a:lstStyle/>
          <a:p>
            <a:pPr algn="l"/>
            <a:r>
              <a:rPr lang="en-US" sz="1125" b="1" spc="0" baseline="0">
                <a:ln/>
                <a:solidFill>
                  <a:srgbClr val="444F9C"/>
                </a:solidFill>
                <a:latin typeface="Segoe UI"/>
                <a:cs typeface="Segoe UI"/>
                <a:sym typeface="Segoe UI"/>
                <a:rtl val="0"/>
              </a:rPr>
              <a:t>You</a:t>
            </a:r>
          </a:p>
        </p:txBody>
      </p:sp>
      <p:sp>
        <p:nvSpPr>
          <p:cNvPr id="31" name="TextBox 30">
            <a:extLst>
              <a:ext uri="{FF2B5EF4-FFF2-40B4-BE49-F238E27FC236}">
                <a16:creationId xmlns:a16="http://schemas.microsoft.com/office/drawing/2014/main" id="{D0E995F8-6907-850C-6AF5-1A2219FD4697}"/>
              </a:ext>
            </a:extLst>
          </p:cNvPr>
          <p:cNvSpPr txBox="1"/>
          <p:nvPr/>
        </p:nvSpPr>
        <p:spPr>
          <a:xfrm>
            <a:off x="2698462" y="1465024"/>
            <a:ext cx="1156827" cy="291216"/>
          </a:xfrm>
          <a:prstGeom prst="rect">
            <a:avLst/>
          </a:prstGeom>
          <a:noFill/>
        </p:spPr>
        <p:txBody>
          <a:bodyPr wrap="none" rtlCol="0">
            <a:spAutoFit/>
          </a:bodyPr>
          <a:lstStyle/>
          <a:p>
            <a:pPr algn="l"/>
            <a:r>
              <a:rPr lang="en-US" sz="975" spc="0" baseline="0">
                <a:ln/>
                <a:solidFill>
                  <a:srgbClr val="3E5760"/>
                </a:solidFill>
                <a:latin typeface="Segoe UI"/>
                <a:cs typeface="Segoe UI"/>
                <a:sym typeface="Segoe UI"/>
                <a:rtl val="0"/>
              </a:rPr>
              <a:t>Domain owner</a:t>
            </a:r>
          </a:p>
        </p:txBody>
      </p:sp>
      <p:sp>
        <p:nvSpPr>
          <p:cNvPr id="32" name="Freeform: Shape 31">
            <a:extLst>
              <a:ext uri="{FF2B5EF4-FFF2-40B4-BE49-F238E27FC236}">
                <a16:creationId xmlns:a16="http://schemas.microsoft.com/office/drawing/2014/main" id="{FABD8E95-6E25-4E0D-4E7F-BA2C82406DAE}"/>
              </a:ext>
            </a:extLst>
          </p:cNvPr>
          <p:cNvSpPr/>
          <p:nvPr/>
        </p:nvSpPr>
        <p:spPr>
          <a:xfrm>
            <a:off x="3912334" y="1522625"/>
            <a:ext cx="566135" cy="11553"/>
          </a:xfrm>
          <a:custGeom>
            <a:avLst/>
            <a:gdLst>
              <a:gd name="csX0" fmla="*/ 0 w 566135"/>
              <a:gd name="csY0" fmla="*/ 0 h 11553"/>
              <a:gd name="csX1" fmla="*/ 566136 w 566135"/>
              <a:gd name="csY1" fmla="*/ 0 h 11553"/>
            </a:gdLst>
            <a:ahLst/>
            <a:cxnLst>
              <a:cxn ang="0">
                <a:pos x="csX0" y="csY0"/>
              </a:cxn>
              <a:cxn ang="0">
                <a:pos x="csX1" y="csY1"/>
              </a:cxn>
            </a:cxnLst>
            <a:rect l="l" t="t" r="r" b="b"/>
            <a:pathLst>
              <a:path w="566135" h="11553">
                <a:moveTo>
                  <a:pt x="0" y="0"/>
                </a:moveTo>
                <a:lnTo>
                  <a:pt x="566136" y="0"/>
                </a:lnTo>
              </a:path>
            </a:pathLst>
          </a:custGeom>
          <a:ln w="16159" cap="flat">
            <a:solidFill>
              <a:srgbClr val="444F9C"/>
            </a:solidFill>
            <a:prstDash val="solid"/>
            <a:miter/>
          </a:ln>
        </p:spPr>
        <p:txBody>
          <a:bodyPr/>
          <a:lstStyle/>
          <a:p>
            <a:endParaRPr lang="en-US"/>
          </a:p>
        </p:txBody>
      </p:sp>
      <p:sp>
        <p:nvSpPr>
          <p:cNvPr id="33" name="Freeform: Shape 32">
            <a:extLst>
              <a:ext uri="{FF2B5EF4-FFF2-40B4-BE49-F238E27FC236}">
                <a16:creationId xmlns:a16="http://schemas.microsoft.com/office/drawing/2014/main" id="{ACEBC9FF-3F9E-DFA1-CEF6-A4B69C1794D4}"/>
              </a:ext>
            </a:extLst>
          </p:cNvPr>
          <p:cNvSpPr/>
          <p:nvPr/>
        </p:nvSpPr>
        <p:spPr>
          <a:xfrm>
            <a:off x="3981657" y="1349318"/>
            <a:ext cx="439043" cy="207968"/>
          </a:xfrm>
          <a:custGeom>
            <a:avLst/>
            <a:gdLst>
              <a:gd name="csX0" fmla="*/ 404383 w 439043"/>
              <a:gd name="csY0" fmla="*/ 0 h 207968"/>
              <a:gd name="csX1" fmla="*/ 439044 w 439043"/>
              <a:gd name="csY1" fmla="*/ 0 h 207968"/>
              <a:gd name="csX2" fmla="*/ 439044 w 439043"/>
              <a:gd name="csY2" fmla="*/ 207968 h 207968"/>
              <a:gd name="csX3" fmla="*/ 404383 w 439043"/>
              <a:gd name="csY3" fmla="*/ 207968 h 207968"/>
              <a:gd name="csX4" fmla="*/ 34661 w 439043"/>
              <a:gd name="csY4" fmla="*/ 207968 h 207968"/>
              <a:gd name="csX5" fmla="*/ 0 w 439043"/>
              <a:gd name="csY5" fmla="*/ 207968 h 207968"/>
              <a:gd name="csX6" fmla="*/ 0 w 439043"/>
              <a:gd name="csY6" fmla="*/ 0 h 207968"/>
              <a:gd name="csX7" fmla="*/ 34661 w 439043"/>
              <a:gd name="csY7" fmla="*/ 0 h 207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39043" h="207968">
                <a:moveTo>
                  <a:pt x="404383" y="0"/>
                </a:moveTo>
                <a:cubicBezTo>
                  <a:pt x="423526" y="0"/>
                  <a:pt x="439044" y="0"/>
                  <a:pt x="439044" y="0"/>
                </a:cubicBezTo>
                <a:lnTo>
                  <a:pt x="439044" y="207968"/>
                </a:lnTo>
                <a:cubicBezTo>
                  <a:pt x="439044" y="207968"/>
                  <a:pt x="423526" y="207968"/>
                  <a:pt x="404383" y="207968"/>
                </a:cubicBezTo>
                <a:lnTo>
                  <a:pt x="34661" y="207968"/>
                </a:lnTo>
                <a:cubicBezTo>
                  <a:pt x="15518" y="207968"/>
                  <a:pt x="0" y="207968"/>
                  <a:pt x="0" y="207968"/>
                </a:cubicBezTo>
                <a:lnTo>
                  <a:pt x="0" y="0"/>
                </a:lnTo>
                <a:cubicBezTo>
                  <a:pt x="0" y="0"/>
                  <a:pt x="15518" y="0"/>
                  <a:pt x="34661" y="0"/>
                </a:cubicBezTo>
                <a:close/>
              </a:path>
            </a:pathLst>
          </a:custGeom>
          <a:solidFill>
            <a:srgbClr val="FFFFFF"/>
          </a:solidFill>
          <a:ln w="11542" cap="flat">
            <a:noFill/>
            <a:prstDash val="solid"/>
            <a:miter/>
          </a:ln>
        </p:spPr>
        <p:txBody>
          <a:bodyPr/>
          <a:lstStyle/>
          <a:p>
            <a:endParaRPr lang="en-US"/>
          </a:p>
        </p:txBody>
      </p:sp>
      <p:sp>
        <p:nvSpPr>
          <p:cNvPr id="34" name="TextBox 33">
            <a:extLst>
              <a:ext uri="{FF2B5EF4-FFF2-40B4-BE49-F238E27FC236}">
                <a16:creationId xmlns:a16="http://schemas.microsoft.com/office/drawing/2014/main" id="{F9C6B10E-96FA-B4E7-B336-1B5F7D9C794A}"/>
              </a:ext>
            </a:extLst>
          </p:cNvPr>
          <p:cNvSpPr txBox="1"/>
          <p:nvPr/>
        </p:nvSpPr>
        <p:spPr>
          <a:xfrm>
            <a:off x="3796574" y="1303497"/>
            <a:ext cx="736548" cy="276999"/>
          </a:xfrm>
          <a:prstGeom prst="rect">
            <a:avLst/>
          </a:prstGeom>
          <a:noFill/>
        </p:spPr>
        <p:txBody>
          <a:bodyPr wrap="none" rtlCol="0">
            <a:spAutoFit/>
          </a:bodyPr>
          <a:lstStyle/>
          <a:p>
            <a:pPr algn="l"/>
            <a:r>
              <a:rPr lang="en-US" sz="1200" b="1" spc="0" baseline="0" dirty="0">
                <a:ln/>
                <a:solidFill>
                  <a:srgbClr val="AE0064"/>
                </a:solidFill>
                <a:latin typeface="Segoe UI"/>
                <a:cs typeface="Segoe UI"/>
                <a:sym typeface="Segoe UI"/>
                <a:rtl val="0"/>
              </a:rPr>
              <a:t>register</a:t>
            </a:r>
          </a:p>
        </p:txBody>
      </p:sp>
      <p:sp>
        <p:nvSpPr>
          <p:cNvPr id="35" name="Freeform: Shape 34">
            <a:extLst>
              <a:ext uri="{FF2B5EF4-FFF2-40B4-BE49-F238E27FC236}">
                <a16:creationId xmlns:a16="http://schemas.microsoft.com/office/drawing/2014/main" id="{901C4254-34EB-C819-36A2-7DCA9DEC9A37}"/>
              </a:ext>
            </a:extLst>
          </p:cNvPr>
          <p:cNvSpPr/>
          <p:nvPr/>
        </p:nvSpPr>
        <p:spPr>
          <a:xfrm>
            <a:off x="4478470" y="1118242"/>
            <a:ext cx="1617529" cy="808764"/>
          </a:xfrm>
          <a:custGeom>
            <a:avLst/>
            <a:gdLst>
              <a:gd name="csX0" fmla="*/ 1525100 w 1617529"/>
              <a:gd name="csY0" fmla="*/ 0 h 808764"/>
              <a:gd name="csX1" fmla="*/ 1617530 w 1617529"/>
              <a:gd name="csY1" fmla="*/ 0 h 808764"/>
              <a:gd name="csX2" fmla="*/ 1617530 w 1617529"/>
              <a:gd name="csY2" fmla="*/ 808765 h 808764"/>
              <a:gd name="csX3" fmla="*/ 1525100 w 1617529"/>
              <a:gd name="csY3" fmla="*/ 808765 h 808764"/>
              <a:gd name="csX4" fmla="*/ 92430 w 1617529"/>
              <a:gd name="csY4" fmla="*/ 808765 h 808764"/>
              <a:gd name="csX5" fmla="*/ 0 w 1617529"/>
              <a:gd name="csY5" fmla="*/ 808765 h 808764"/>
              <a:gd name="csX6" fmla="*/ 0 w 1617529"/>
              <a:gd name="csY6" fmla="*/ 0 h 808764"/>
              <a:gd name="csX7" fmla="*/ 92430 w 1617529"/>
              <a:gd name="csY7" fmla="*/ 0 h 8087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617529" h="808764">
                <a:moveTo>
                  <a:pt x="1525100" y="0"/>
                </a:moveTo>
                <a:cubicBezTo>
                  <a:pt x="1576148" y="0"/>
                  <a:pt x="1617530" y="0"/>
                  <a:pt x="1617530" y="0"/>
                </a:cubicBezTo>
                <a:lnTo>
                  <a:pt x="1617530" y="808765"/>
                </a:lnTo>
                <a:cubicBezTo>
                  <a:pt x="1617530" y="808765"/>
                  <a:pt x="1576148" y="808765"/>
                  <a:pt x="1525100" y="808765"/>
                </a:cubicBezTo>
                <a:lnTo>
                  <a:pt x="92430" y="808765"/>
                </a:lnTo>
                <a:cubicBezTo>
                  <a:pt x="41382" y="808765"/>
                  <a:pt x="0" y="808765"/>
                  <a:pt x="0" y="808765"/>
                </a:cubicBezTo>
                <a:lnTo>
                  <a:pt x="0" y="0"/>
                </a:lnTo>
                <a:cubicBezTo>
                  <a:pt x="0" y="0"/>
                  <a:pt x="41382" y="0"/>
                  <a:pt x="92430" y="0"/>
                </a:cubicBezTo>
                <a:close/>
              </a:path>
            </a:pathLst>
          </a:custGeom>
          <a:solidFill>
            <a:srgbClr val="FFFFFF"/>
          </a:solidFill>
          <a:ln w="23084" cap="flat">
            <a:solidFill>
              <a:srgbClr val="EDEEF5"/>
            </a:solidFill>
            <a:prstDash val="solid"/>
            <a:miter/>
          </a:ln>
        </p:spPr>
        <p:txBody>
          <a:bodyPr/>
          <a:lstStyle/>
          <a:p>
            <a:endParaRPr lang="en-US"/>
          </a:p>
        </p:txBody>
      </p:sp>
      <p:sp>
        <p:nvSpPr>
          <p:cNvPr id="36" name="Freeform: Shape 35">
            <a:extLst>
              <a:ext uri="{FF2B5EF4-FFF2-40B4-BE49-F238E27FC236}">
                <a16:creationId xmlns:a16="http://schemas.microsoft.com/office/drawing/2014/main" id="{565AD508-B360-878D-0F94-73B5CDDAADE1}"/>
              </a:ext>
            </a:extLst>
          </p:cNvPr>
          <p:cNvSpPr/>
          <p:nvPr/>
        </p:nvSpPr>
        <p:spPr>
          <a:xfrm>
            <a:off x="4478470" y="1118242"/>
            <a:ext cx="92430" cy="808764"/>
          </a:xfrm>
          <a:custGeom>
            <a:avLst/>
            <a:gdLst>
              <a:gd name="csX0" fmla="*/ 46215 w 92430"/>
              <a:gd name="csY0" fmla="*/ 0 h 808764"/>
              <a:gd name="csX1" fmla="*/ 92430 w 92430"/>
              <a:gd name="csY1" fmla="*/ 0 h 808764"/>
              <a:gd name="csX2" fmla="*/ 92430 w 92430"/>
              <a:gd name="csY2" fmla="*/ 808765 h 808764"/>
              <a:gd name="csX3" fmla="*/ 46215 w 92430"/>
              <a:gd name="csY3" fmla="*/ 808765 h 808764"/>
              <a:gd name="csX4" fmla="*/ 46215 w 92430"/>
              <a:gd name="csY4" fmla="*/ 808765 h 808764"/>
              <a:gd name="csX5" fmla="*/ 0 w 92430"/>
              <a:gd name="csY5" fmla="*/ 808765 h 808764"/>
              <a:gd name="csX6" fmla="*/ 0 w 92430"/>
              <a:gd name="csY6" fmla="*/ 0 h 808764"/>
              <a:gd name="csX7" fmla="*/ 46215 w 92430"/>
              <a:gd name="csY7" fmla="*/ 0 h 8087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2430" h="808764">
                <a:moveTo>
                  <a:pt x="46215" y="0"/>
                </a:moveTo>
                <a:cubicBezTo>
                  <a:pt x="71739" y="0"/>
                  <a:pt x="92430" y="0"/>
                  <a:pt x="92430" y="0"/>
                </a:cubicBezTo>
                <a:lnTo>
                  <a:pt x="92430" y="808765"/>
                </a:lnTo>
                <a:cubicBezTo>
                  <a:pt x="92430" y="808765"/>
                  <a:pt x="71739" y="808765"/>
                  <a:pt x="46215" y="808765"/>
                </a:cubicBezTo>
                <a:lnTo>
                  <a:pt x="46215" y="808765"/>
                </a:lnTo>
                <a:cubicBezTo>
                  <a:pt x="20691" y="808765"/>
                  <a:pt x="0" y="808765"/>
                  <a:pt x="0" y="808765"/>
                </a:cubicBezTo>
                <a:lnTo>
                  <a:pt x="0" y="0"/>
                </a:lnTo>
                <a:cubicBezTo>
                  <a:pt x="0" y="0"/>
                  <a:pt x="20691" y="0"/>
                  <a:pt x="46215" y="0"/>
                </a:cubicBezTo>
                <a:close/>
              </a:path>
            </a:pathLst>
          </a:custGeom>
          <a:solidFill>
            <a:srgbClr val="762DBF"/>
          </a:solidFill>
          <a:ln w="11542" cap="flat">
            <a:noFill/>
            <a:prstDash val="solid"/>
            <a:miter/>
          </a:ln>
        </p:spPr>
        <p:txBody>
          <a:bodyPr/>
          <a:lstStyle/>
          <a:p>
            <a:endParaRPr lang="en-US"/>
          </a:p>
        </p:txBody>
      </p:sp>
      <p:sp>
        <p:nvSpPr>
          <p:cNvPr id="37" name="TextBox 36">
            <a:extLst>
              <a:ext uri="{FF2B5EF4-FFF2-40B4-BE49-F238E27FC236}">
                <a16:creationId xmlns:a16="http://schemas.microsoft.com/office/drawing/2014/main" id="{43C00914-D5D6-15A3-E93B-81259DEA8D4D}"/>
              </a:ext>
            </a:extLst>
          </p:cNvPr>
          <p:cNvSpPr txBox="1"/>
          <p:nvPr/>
        </p:nvSpPr>
        <p:spPr>
          <a:xfrm>
            <a:off x="4851895" y="1197459"/>
            <a:ext cx="916895" cy="321951"/>
          </a:xfrm>
          <a:prstGeom prst="rect">
            <a:avLst/>
          </a:prstGeom>
          <a:noFill/>
        </p:spPr>
        <p:txBody>
          <a:bodyPr wrap="none" rtlCol="0">
            <a:spAutoFit/>
          </a:bodyPr>
          <a:lstStyle/>
          <a:p>
            <a:pPr algn="l"/>
            <a:r>
              <a:rPr lang="en-US" sz="1125" b="1" spc="0" baseline="0">
                <a:ln/>
                <a:solidFill>
                  <a:srgbClr val="444F9C"/>
                </a:solidFill>
                <a:latin typeface="Segoe UI"/>
                <a:cs typeface="Segoe UI"/>
                <a:sym typeface="Segoe UI"/>
                <a:rtl val="0"/>
              </a:rPr>
              <a:t>Registrar</a:t>
            </a:r>
          </a:p>
        </p:txBody>
      </p:sp>
      <p:sp>
        <p:nvSpPr>
          <p:cNvPr id="38" name="TextBox 37">
            <a:extLst>
              <a:ext uri="{FF2B5EF4-FFF2-40B4-BE49-F238E27FC236}">
                <a16:creationId xmlns:a16="http://schemas.microsoft.com/office/drawing/2014/main" id="{3450ADCB-497B-C4E2-8A51-581B3B66340F}"/>
              </a:ext>
            </a:extLst>
          </p:cNvPr>
          <p:cNvSpPr txBox="1"/>
          <p:nvPr/>
        </p:nvSpPr>
        <p:spPr>
          <a:xfrm>
            <a:off x="4473700" y="1430362"/>
            <a:ext cx="1673284" cy="291216"/>
          </a:xfrm>
          <a:prstGeom prst="rect">
            <a:avLst/>
          </a:prstGeom>
          <a:noFill/>
        </p:spPr>
        <p:txBody>
          <a:bodyPr wrap="none" rtlCol="0">
            <a:spAutoFit/>
          </a:bodyPr>
          <a:lstStyle/>
          <a:p>
            <a:pPr algn="l"/>
            <a:r>
              <a:rPr lang="en-US" sz="975" spc="0" baseline="0">
                <a:ln/>
                <a:solidFill>
                  <a:srgbClr val="3E5760"/>
                </a:solidFill>
                <a:latin typeface="Segoe UI"/>
                <a:cs typeface="Segoe UI"/>
                <a:sym typeface="Segoe UI"/>
                <a:rtl val="0"/>
              </a:rPr>
              <a:t>GoDaddy, Namecheap</a:t>
            </a:r>
          </a:p>
        </p:txBody>
      </p:sp>
      <p:sp>
        <p:nvSpPr>
          <p:cNvPr id="39" name="TextBox 38">
            <a:extLst>
              <a:ext uri="{FF2B5EF4-FFF2-40B4-BE49-F238E27FC236}">
                <a16:creationId xmlns:a16="http://schemas.microsoft.com/office/drawing/2014/main" id="{7110B0A1-5FD1-F7B8-64FE-8A5FF4E10C03}"/>
              </a:ext>
            </a:extLst>
          </p:cNvPr>
          <p:cNvSpPr txBox="1"/>
          <p:nvPr/>
        </p:nvSpPr>
        <p:spPr>
          <a:xfrm>
            <a:off x="4725658" y="1615223"/>
            <a:ext cx="1169369" cy="291216"/>
          </a:xfrm>
          <a:prstGeom prst="rect">
            <a:avLst/>
          </a:prstGeom>
          <a:noFill/>
        </p:spPr>
        <p:txBody>
          <a:bodyPr wrap="none" rtlCol="0">
            <a:spAutoFit/>
          </a:bodyPr>
          <a:lstStyle/>
          <a:p>
            <a:pPr algn="l"/>
            <a:r>
              <a:rPr lang="en-US" sz="975" spc="0" baseline="0">
                <a:ln/>
                <a:solidFill>
                  <a:srgbClr val="3E5760"/>
                </a:solidFill>
                <a:latin typeface="Segoe UI"/>
                <a:cs typeface="Segoe UI"/>
                <a:sym typeface="Segoe UI"/>
                <a:rtl val="0"/>
              </a:rPr>
              <a:t>Cloudflare, etc.</a:t>
            </a:r>
          </a:p>
        </p:txBody>
      </p:sp>
      <p:sp>
        <p:nvSpPr>
          <p:cNvPr id="40" name="Freeform: Shape 39">
            <a:extLst>
              <a:ext uri="{FF2B5EF4-FFF2-40B4-BE49-F238E27FC236}">
                <a16:creationId xmlns:a16="http://schemas.microsoft.com/office/drawing/2014/main" id="{7943CABF-13CB-F976-3D23-162FD8FDBBB3}"/>
              </a:ext>
            </a:extLst>
          </p:cNvPr>
          <p:cNvSpPr/>
          <p:nvPr/>
        </p:nvSpPr>
        <p:spPr>
          <a:xfrm>
            <a:off x="6107553" y="1522625"/>
            <a:ext cx="566135" cy="11553"/>
          </a:xfrm>
          <a:custGeom>
            <a:avLst/>
            <a:gdLst>
              <a:gd name="csX0" fmla="*/ 0 w 566135"/>
              <a:gd name="csY0" fmla="*/ 0 h 11553"/>
              <a:gd name="csX1" fmla="*/ 566136 w 566135"/>
              <a:gd name="csY1" fmla="*/ 0 h 11553"/>
            </a:gdLst>
            <a:ahLst/>
            <a:cxnLst>
              <a:cxn ang="0">
                <a:pos x="csX0" y="csY0"/>
              </a:cxn>
              <a:cxn ang="0">
                <a:pos x="csX1" y="csY1"/>
              </a:cxn>
            </a:cxnLst>
            <a:rect l="l" t="t" r="r" b="b"/>
            <a:pathLst>
              <a:path w="566135" h="11553">
                <a:moveTo>
                  <a:pt x="0" y="0"/>
                </a:moveTo>
                <a:lnTo>
                  <a:pt x="566136" y="0"/>
                </a:lnTo>
              </a:path>
            </a:pathLst>
          </a:custGeom>
          <a:ln w="16159" cap="flat">
            <a:solidFill>
              <a:srgbClr val="444F9C"/>
            </a:solidFill>
            <a:prstDash val="solid"/>
            <a:miter/>
          </a:ln>
        </p:spPr>
        <p:txBody>
          <a:bodyPr/>
          <a:lstStyle/>
          <a:p>
            <a:endParaRPr lang="en-US"/>
          </a:p>
        </p:txBody>
      </p:sp>
      <p:sp>
        <p:nvSpPr>
          <p:cNvPr id="41" name="Freeform: Shape 40">
            <a:extLst>
              <a:ext uri="{FF2B5EF4-FFF2-40B4-BE49-F238E27FC236}">
                <a16:creationId xmlns:a16="http://schemas.microsoft.com/office/drawing/2014/main" id="{D790F376-FF4D-4107-285B-B29D81D8589C}"/>
              </a:ext>
            </a:extLst>
          </p:cNvPr>
          <p:cNvSpPr/>
          <p:nvPr/>
        </p:nvSpPr>
        <p:spPr>
          <a:xfrm>
            <a:off x="6130661" y="1349318"/>
            <a:ext cx="508366" cy="207968"/>
          </a:xfrm>
          <a:custGeom>
            <a:avLst/>
            <a:gdLst>
              <a:gd name="csX0" fmla="*/ 473705 w 508366"/>
              <a:gd name="csY0" fmla="*/ 0 h 207968"/>
              <a:gd name="csX1" fmla="*/ 508367 w 508366"/>
              <a:gd name="csY1" fmla="*/ 0 h 207968"/>
              <a:gd name="csX2" fmla="*/ 508367 w 508366"/>
              <a:gd name="csY2" fmla="*/ 207968 h 207968"/>
              <a:gd name="csX3" fmla="*/ 473705 w 508366"/>
              <a:gd name="csY3" fmla="*/ 207968 h 207968"/>
              <a:gd name="csX4" fmla="*/ 34661 w 508366"/>
              <a:gd name="csY4" fmla="*/ 207968 h 207968"/>
              <a:gd name="csX5" fmla="*/ 0 w 508366"/>
              <a:gd name="csY5" fmla="*/ 207968 h 207968"/>
              <a:gd name="csX6" fmla="*/ 0 w 508366"/>
              <a:gd name="csY6" fmla="*/ 0 h 207968"/>
              <a:gd name="csX7" fmla="*/ 34661 w 508366"/>
              <a:gd name="csY7" fmla="*/ 0 h 207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8366" h="207968">
                <a:moveTo>
                  <a:pt x="473705" y="0"/>
                </a:moveTo>
                <a:cubicBezTo>
                  <a:pt x="492848" y="0"/>
                  <a:pt x="508367" y="0"/>
                  <a:pt x="508367" y="0"/>
                </a:cubicBezTo>
                <a:lnTo>
                  <a:pt x="508367" y="207968"/>
                </a:lnTo>
                <a:cubicBezTo>
                  <a:pt x="508367" y="207968"/>
                  <a:pt x="492848" y="207968"/>
                  <a:pt x="473705" y="207968"/>
                </a:cubicBezTo>
                <a:lnTo>
                  <a:pt x="34661" y="207968"/>
                </a:lnTo>
                <a:cubicBezTo>
                  <a:pt x="15518" y="207968"/>
                  <a:pt x="0" y="207968"/>
                  <a:pt x="0" y="207968"/>
                </a:cubicBezTo>
                <a:lnTo>
                  <a:pt x="0" y="0"/>
                </a:lnTo>
                <a:cubicBezTo>
                  <a:pt x="0" y="0"/>
                  <a:pt x="15518" y="0"/>
                  <a:pt x="34661" y="0"/>
                </a:cubicBezTo>
                <a:close/>
              </a:path>
            </a:pathLst>
          </a:custGeom>
          <a:solidFill>
            <a:srgbClr val="FFFFFF"/>
          </a:solidFill>
          <a:ln w="11542" cap="flat">
            <a:noFill/>
            <a:prstDash val="solid"/>
            <a:miter/>
          </a:ln>
        </p:spPr>
        <p:txBody>
          <a:bodyPr/>
          <a:lstStyle/>
          <a:p>
            <a:endParaRPr lang="en-US"/>
          </a:p>
        </p:txBody>
      </p:sp>
      <p:sp>
        <p:nvSpPr>
          <p:cNvPr id="42" name="TextBox 41">
            <a:extLst>
              <a:ext uri="{FF2B5EF4-FFF2-40B4-BE49-F238E27FC236}">
                <a16:creationId xmlns:a16="http://schemas.microsoft.com/office/drawing/2014/main" id="{E3649271-9781-4D53-128F-FED7C0C524A5}"/>
              </a:ext>
            </a:extLst>
          </p:cNvPr>
          <p:cNvSpPr txBox="1"/>
          <p:nvPr/>
        </p:nvSpPr>
        <p:spPr>
          <a:xfrm>
            <a:off x="5878127" y="1314091"/>
            <a:ext cx="886781" cy="261610"/>
          </a:xfrm>
          <a:prstGeom prst="rect">
            <a:avLst/>
          </a:prstGeom>
          <a:noFill/>
        </p:spPr>
        <p:txBody>
          <a:bodyPr wrap="none" rtlCol="0">
            <a:spAutoFit/>
          </a:bodyPr>
          <a:lstStyle/>
          <a:p>
            <a:pPr algn="l"/>
            <a:r>
              <a:rPr lang="en-US" sz="1100" b="1" spc="0" baseline="0" dirty="0">
                <a:ln/>
                <a:solidFill>
                  <a:srgbClr val="AE0064"/>
                </a:solidFill>
                <a:latin typeface="Segoe UI"/>
                <a:cs typeface="Segoe UI"/>
                <a:sym typeface="Segoe UI"/>
                <a:rtl val="0"/>
              </a:rPr>
              <a:t>submits to</a:t>
            </a:r>
          </a:p>
        </p:txBody>
      </p:sp>
      <p:sp>
        <p:nvSpPr>
          <p:cNvPr id="43" name="Freeform: Shape 42">
            <a:extLst>
              <a:ext uri="{FF2B5EF4-FFF2-40B4-BE49-F238E27FC236}">
                <a16:creationId xmlns:a16="http://schemas.microsoft.com/office/drawing/2014/main" id="{B6BAB978-96A3-0081-D327-BBEDC4502C4F}"/>
              </a:ext>
            </a:extLst>
          </p:cNvPr>
          <p:cNvSpPr/>
          <p:nvPr/>
        </p:nvSpPr>
        <p:spPr>
          <a:xfrm>
            <a:off x="6673689" y="1118242"/>
            <a:ext cx="1733067" cy="808764"/>
          </a:xfrm>
          <a:custGeom>
            <a:avLst/>
            <a:gdLst>
              <a:gd name="csX0" fmla="*/ 1640638 w 1733067"/>
              <a:gd name="csY0" fmla="*/ 0 h 808764"/>
              <a:gd name="csX1" fmla="*/ 1733068 w 1733067"/>
              <a:gd name="csY1" fmla="*/ 0 h 808764"/>
              <a:gd name="csX2" fmla="*/ 1733068 w 1733067"/>
              <a:gd name="csY2" fmla="*/ 808765 h 808764"/>
              <a:gd name="csX3" fmla="*/ 1640638 w 1733067"/>
              <a:gd name="csY3" fmla="*/ 808765 h 808764"/>
              <a:gd name="csX4" fmla="*/ 92430 w 1733067"/>
              <a:gd name="csY4" fmla="*/ 808765 h 808764"/>
              <a:gd name="csX5" fmla="*/ 0 w 1733067"/>
              <a:gd name="csY5" fmla="*/ 808765 h 808764"/>
              <a:gd name="csX6" fmla="*/ 0 w 1733067"/>
              <a:gd name="csY6" fmla="*/ 0 h 808764"/>
              <a:gd name="csX7" fmla="*/ 92430 w 1733067"/>
              <a:gd name="csY7" fmla="*/ 0 h 8087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733067" h="808764">
                <a:moveTo>
                  <a:pt x="1640638" y="0"/>
                </a:moveTo>
                <a:cubicBezTo>
                  <a:pt x="1691685" y="0"/>
                  <a:pt x="1733068" y="0"/>
                  <a:pt x="1733068" y="0"/>
                </a:cubicBezTo>
                <a:lnTo>
                  <a:pt x="1733068" y="808765"/>
                </a:lnTo>
                <a:cubicBezTo>
                  <a:pt x="1733068" y="808765"/>
                  <a:pt x="1691685" y="808765"/>
                  <a:pt x="1640638" y="808765"/>
                </a:cubicBezTo>
                <a:lnTo>
                  <a:pt x="92430" y="808765"/>
                </a:lnTo>
                <a:cubicBezTo>
                  <a:pt x="41382" y="808765"/>
                  <a:pt x="0" y="808765"/>
                  <a:pt x="0" y="808765"/>
                </a:cubicBezTo>
                <a:lnTo>
                  <a:pt x="0" y="0"/>
                </a:lnTo>
                <a:cubicBezTo>
                  <a:pt x="0" y="0"/>
                  <a:pt x="41382" y="0"/>
                  <a:pt x="92430" y="0"/>
                </a:cubicBezTo>
                <a:close/>
              </a:path>
            </a:pathLst>
          </a:custGeom>
          <a:solidFill>
            <a:srgbClr val="FFFFFF"/>
          </a:solidFill>
          <a:ln w="23084" cap="flat">
            <a:solidFill>
              <a:srgbClr val="EDEEF5"/>
            </a:solidFill>
            <a:prstDash val="solid"/>
            <a:miter/>
          </a:ln>
        </p:spPr>
        <p:txBody>
          <a:bodyPr/>
          <a:lstStyle/>
          <a:p>
            <a:endParaRPr lang="en-US"/>
          </a:p>
        </p:txBody>
      </p:sp>
      <p:sp>
        <p:nvSpPr>
          <p:cNvPr id="44" name="Freeform: Shape 43">
            <a:extLst>
              <a:ext uri="{FF2B5EF4-FFF2-40B4-BE49-F238E27FC236}">
                <a16:creationId xmlns:a16="http://schemas.microsoft.com/office/drawing/2014/main" id="{B06DE049-5A49-69A0-61C4-9FC0BFB7EC6E}"/>
              </a:ext>
            </a:extLst>
          </p:cNvPr>
          <p:cNvSpPr/>
          <p:nvPr/>
        </p:nvSpPr>
        <p:spPr>
          <a:xfrm>
            <a:off x="6673689" y="1118242"/>
            <a:ext cx="92430" cy="808764"/>
          </a:xfrm>
          <a:custGeom>
            <a:avLst/>
            <a:gdLst>
              <a:gd name="csX0" fmla="*/ 46215 w 92430"/>
              <a:gd name="csY0" fmla="*/ 0 h 808764"/>
              <a:gd name="csX1" fmla="*/ 92430 w 92430"/>
              <a:gd name="csY1" fmla="*/ 0 h 808764"/>
              <a:gd name="csX2" fmla="*/ 92430 w 92430"/>
              <a:gd name="csY2" fmla="*/ 808765 h 808764"/>
              <a:gd name="csX3" fmla="*/ 46215 w 92430"/>
              <a:gd name="csY3" fmla="*/ 808765 h 808764"/>
              <a:gd name="csX4" fmla="*/ 46215 w 92430"/>
              <a:gd name="csY4" fmla="*/ 808765 h 808764"/>
              <a:gd name="csX5" fmla="*/ 0 w 92430"/>
              <a:gd name="csY5" fmla="*/ 808765 h 808764"/>
              <a:gd name="csX6" fmla="*/ 0 w 92430"/>
              <a:gd name="csY6" fmla="*/ 0 h 808764"/>
              <a:gd name="csX7" fmla="*/ 46215 w 92430"/>
              <a:gd name="csY7" fmla="*/ 0 h 8087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2430" h="808764">
                <a:moveTo>
                  <a:pt x="46215" y="0"/>
                </a:moveTo>
                <a:cubicBezTo>
                  <a:pt x="71739" y="0"/>
                  <a:pt x="92430" y="0"/>
                  <a:pt x="92430" y="0"/>
                </a:cubicBezTo>
                <a:lnTo>
                  <a:pt x="92430" y="808765"/>
                </a:lnTo>
                <a:cubicBezTo>
                  <a:pt x="92430" y="808765"/>
                  <a:pt x="71739" y="808765"/>
                  <a:pt x="46215" y="808765"/>
                </a:cubicBezTo>
                <a:lnTo>
                  <a:pt x="46215" y="808765"/>
                </a:lnTo>
                <a:cubicBezTo>
                  <a:pt x="20691" y="808765"/>
                  <a:pt x="0" y="808765"/>
                  <a:pt x="0" y="808765"/>
                </a:cubicBezTo>
                <a:lnTo>
                  <a:pt x="0" y="0"/>
                </a:lnTo>
                <a:cubicBezTo>
                  <a:pt x="0" y="0"/>
                  <a:pt x="20691" y="0"/>
                  <a:pt x="46215" y="0"/>
                </a:cubicBezTo>
                <a:close/>
              </a:path>
            </a:pathLst>
          </a:custGeom>
          <a:solidFill>
            <a:srgbClr val="4E42DA"/>
          </a:solidFill>
          <a:ln w="11542" cap="flat">
            <a:noFill/>
            <a:prstDash val="solid"/>
            <a:miter/>
          </a:ln>
        </p:spPr>
        <p:txBody>
          <a:bodyPr/>
          <a:lstStyle/>
          <a:p>
            <a:endParaRPr lang="en-US"/>
          </a:p>
        </p:txBody>
      </p:sp>
      <p:sp>
        <p:nvSpPr>
          <p:cNvPr id="45" name="TextBox 44">
            <a:extLst>
              <a:ext uri="{FF2B5EF4-FFF2-40B4-BE49-F238E27FC236}">
                <a16:creationId xmlns:a16="http://schemas.microsoft.com/office/drawing/2014/main" id="{34FE5F88-AFC4-E0BD-8887-0BEFAED0BA77}"/>
              </a:ext>
            </a:extLst>
          </p:cNvPr>
          <p:cNvSpPr txBox="1"/>
          <p:nvPr/>
        </p:nvSpPr>
        <p:spPr>
          <a:xfrm>
            <a:off x="6953028" y="1197459"/>
            <a:ext cx="1220605" cy="321951"/>
          </a:xfrm>
          <a:prstGeom prst="rect">
            <a:avLst/>
          </a:prstGeom>
          <a:noFill/>
        </p:spPr>
        <p:txBody>
          <a:bodyPr wrap="none" rtlCol="0">
            <a:spAutoFit/>
          </a:bodyPr>
          <a:lstStyle/>
          <a:p>
            <a:pPr algn="l"/>
            <a:r>
              <a:rPr lang="en-US" sz="1125" b="1" spc="0" baseline="0">
                <a:ln/>
                <a:solidFill>
                  <a:srgbClr val="444F9C"/>
                </a:solidFill>
                <a:latin typeface="Segoe UI"/>
                <a:cs typeface="Segoe UI"/>
                <a:sym typeface="Segoe UI"/>
                <a:rtl val="0"/>
              </a:rPr>
              <a:t>TLD Registry</a:t>
            </a:r>
          </a:p>
        </p:txBody>
      </p:sp>
      <p:sp>
        <p:nvSpPr>
          <p:cNvPr id="46" name="TextBox 45">
            <a:extLst>
              <a:ext uri="{FF2B5EF4-FFF2-40B4-BE49-F238E27FC236}">
                <a16:creationId xmlns:a16="http://schemas.microsoft.com/office/drawing/2014/main" id="{F5486348-169D-CE23-21D2-6E348D6C63C4}"/>
              </a:ext>
            </a:extLst>
          </p:cNvPr>
          <p:cNvSpPr txBox="1"/>
          <p:nvPr/>
        </p:nvSpPr>
        <p:spPr>
          <a:xfrm>
            <a:off x="6774212" y="1430362"/>
            <a:ext cx="1578236" cy="291216"/>
          </a:xfrm>
          <a:prstGeom prst="rect">
            <a:avLst/>
          </a:prstGeom>
          <a:noFill/>
        </p:spPr>
        <p:txBody>
          <a:bodyPr wrap="none" rtlCol="0">
            <a:spAutoFit/>
          </a:bodyPr>
          <a:lstStyle/>
          <a:p>
            <a:pPr algn="l"/>
            <a:r>
              <a:rPr lang="en-US" sz="975" spc="0" baseline="0">
                <a:ln/>
                <a:solidFill>
                  <a:srgbClr val="3E5760"/>
                </a:solidFill>
                <a:latin typeface="Segoe UI"/>
                <a:cs typeface="Segoe UI"/>
                <a:sym typeface="Segoe UI"/>
                <a:rtl val="0"/>
              </a:rPr>
              <a:t>Verisign (.com), IANA</a:t>
            </a:r>
          </a:p>
        </p:txBody>
      </p:sp>
      <p:sp>
        <p:nvSpPr>
          <p:cNvPr id="47" name="TextBox 46">
            <a:extLst>
              <a:ext uri="{FF2B5EF4-FFF2-40B4-BE49-F238E27FC236}">
                <a16:creationId xmlns:a16="http://schemas.microsoft.com/office/drawing/2014/main" id="{A12B11B2-CAF6-4B9F-F7BE-8B64B8EB7782}"/>
              </a:ext>
            </a:extLst>
          </p:cNvPr>
          <p:cNvSpPr txBox="1"/>
          <p:nvPr/>
        </p:nvSpPr>
        <p:spPr>
          <a:xfrm>
            <a:off x="6790273" y="1615223"/>
            <a:ext cx="1546113" cy="291216"/>
          </a:xfrm>
          <a:prstGeom prst="rect">
            <a:avLst/>
          </a:prstGeom>
          <a:noFill/>
        </p:spPr>
        <p:txBody>
          <a:bodyPr wrap="none" rtlCol="0">
            <a:spAutoFit/>
          </a:bodyPr>
          <a:lstStyle/>
          <a:p>
            <a:pPr algn="l"/>
            <a:r>
              <a:rPr lang="en-US" sz="975" spc="0" baseline="0">
                <a:ln/>
                <a:solidFill>
                  <a:srgbClr val="3E5760"/>
                </a:solidFill>
                <a:latin typeface="Segoe UI"/>
                <a:cs typeface="Segoe UI"/>
                <a:sym typeface="Segoe UI"/>
                <a:rtl val="0"/>
              </a:rPr>
              <a:t>authoritative for TLD</a:t>
            </a:r>
          </a:p>
        </p:txBody>
      </p:sp>
      <p:sp>
        <p:nvSpPr>
          <p:cNvPr id="48" name="Freeform: Shape 47">
            <a:extLst>
              <a:ext uri="{FF2B5EF4-FFF2-40B4-BE49-F238E27FC236}">
                <a16:creationId xmlns:a16="http://schemas.microsoft.com/office/drawing/2014/main" id="{7B5FF8F2-589B-7221-18B9-5528E6A6B20E}"/>
              </a:ext>
            </a:extLst>
          </p:cNvPr>
          <p:cNvSpPr/>
          <p:nvPr/>
        </p:nvSpPr>
        <p:spPr>
          <a:xfrm>
            <a:off x="8637832" y="1118242"/>
            <a:ext cx="1247808" cy="808764"/>
          </a:xfrm>
          <a:custGeom>
            <a:avLst/>
            <a:gdLst>
              <a:gd name="csX0" fmla="*/ 1155379 w 1247808"/>
              <a:gd name="csY0" fmla="*/ 0 h 808764"/>
              <a:gd name="csX1" fmla="*/ 1247809 w 1247808"/>
              <a:gd name="csY1" fmla="*/ 0 h 808764"/>
              <a:gd name="csX2" fmla="*/ 1247809 w 1247808"/>
              <a:gd name="csY2" fmla="*/ 808765 h 808764"/>
              <a:gd name="csX3" fmla="*/ 1155379 w 1247808"/>
              <a:gd name="csY3" fmla="*/ 808765 h 808764"/>
              <a:gd name="csX4" fmla="*/ 92430 w 1247808"/>
              <a:gd name="csY4" fmla="*/ 808765 h 808764"/>
              <a:gd name="csX5" fmla="*/ 0 w 1247808"/>
              <a:gd name="csY5" fmla="*/ 808765 h 808764"/>
              <a:gd name="csX6" fmla="*/ 0 w 1247808"/>
              <a:gd name="csY6" fmla="*/ 0 h 808764"/>
              <a:gd name="csX7" fmla="*/ 92430 w 1247808"/>
              <a:gd name="csY7" fmla="*/ 0 h 8087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47808" h="808764">
                <a:moveTo>
                  <a:pt x="1155379" y="0"/>
                </a:moveTo>
                <a:cubicBezTo>
                  <a:pt x="1206426" y="0"/>
                  <a:pt x="1247809" y="0"/>
                  <a:pt x="1247809" y="0"/>
                </a:cubicBezTo>
                <a:lnTo>
                  <a:pt x="1247809" y="808765"/>
                </a:lnTo>
                <a:cubicBezTo>
                  <a:pt x="1247809" y="808765"/>
                  <a:pt x="1206426" y="808765"/>
                  <a:pt x="1155379" y="808765"/>
                </a:cubicBezTo>
                <a:lnTo>
                  <a:pt x="92430" y="808765"/>
                </a:lnTo>
                <a:cubicBezTo>
                  <a:pt x="41382" y="808765"/>
                  <a:pt x="0" y="808765"/>
                  <a:pt x="0" y="808765"/>
                </a:cubicBezTo>
                <a:lnTo>
                  <a:pt x="0" y="0"/>
                </a:lnTo>
                <a:cubicBezTo>
                  <a:pt x="0" y="0"/>
                  <a:pt x="41382" y="0"/>
                  <a:pt x="92430" y="0"/>
                </a:cubicBezTo>
                <a:close/>
              </a:path>
            </a:pathLst>
          </a:custGeom>
          <a:solidFill>
            <a:srgbClr val="FEF8DD"/>
          </a:solidFill>
          <a:ln w="23084" cap="flat">
            <a:solidFill>
              <a:srgbClr val="FDE379"/>
            </a:solidFill>
            <a:prstDash val="solid"/>
            <a:miter/>
          </a:ln>
        </p:spPr>
        <p:txBody>
          <a:bodyPr/>
          <a:lstStyle/>
          <a:p>
            <a:endParaRPr lang="en-US"/>
          </a:p>
        </p:txBody>
      </p:sp>
      <p:sp>
        <p:nvSpPr>
          <p:cNvPr id="49" name="TextBox 48">
            <a:extLst>
              <a:ext uri="{FF2B5EF4-FFF2-40B4-BE49-F238E27FC236}">
                <a16:creationId xmlns:a16="http://schemas.microsoft.com/office/drawing/2014/main" id="{05E0FB85-E3B8-C236-9C2B-F5A74A8F404A}"/>
              </a:ext>
            </a:extLst>
          </p:cNvPr>
          <p:cNvSpPr txBox="1"/>
          <p:nvPr/>
        </p:nvSpPr>
        <p:spPr>
          <a:xfrm>
            <a:off x="8890916" y="1243674"/>
            <a:ext cx="741642" cy="321951"/>
          </a:xfrm>
          <a:prstGeom prst="rect">
            <a:avLst/>
          </a:prstGeom>
          <a:noFill/>
        </p:spPr>
        <p:txBody>
          <a:bodyPr wrap="none" rtlCol="0">
            <a:spAutoFit/>
          </a:bodyPr>
          <a:lstStyle/>
          <a:p>
            <a:pPr algn="l"/>
            <a:r>
              <a:rPr lang="en-US" sz="1125" b="1" spc="0" baseline="0">
                <a:ln/>
                <a:solidFill>
                  <a:srgbClr val="444F9C"/>
                </a:solidFill>
                <a:latin typeface="Segoe UI"/>
                <a:cs typeface="Segoe UI"/>
                <a:sym typeface="Segoe UI"/>
                <a:rtl val="0"/>
              </a:rPr>
              <a:t>ICANN</a:t>
            </a:r>
          </a:p>
        </p:txBody>
      </p:sp>
      <p:sp>
        <p:nvSpPr>
          <p:cNvPr id="50" name="TextBox 49">
            <a:extLst>
              <a:ext uri="{FF2B5EF4-FFF2-40B4-BE49-F238E27FC236}">
                <a16:creationId xmlns:a16="http://schemas.microsoft.com/office/drawing/2014/main" id="{C07A1EBD-E970-1776-D709-9A58BEA2268E}"/>
              </a:ext>
            </a:extLst>
          </p:cNvPr>
          <p:cNvSpPr txBox="1"/>
          <p:nvPr/>
        </p:nvSpPr>
        <p:spPr>
          <a:xfrm>
            <a:off x="8627878" y="1476577"/>
            <a:ext cx="1267717" cy="291216"/>
          </a:xfrm>
          <a:prstGeom prst="rect">
            <a:avLst/>
          </a:prstGeom>
          <a:noFill/>
        </p:spPr>
        <p:txBody>
          <a:bodyPr wrap="none" rtlCol="0">
            <a:spAutoFit/>
          </a:bodyPr>
          <a:lstStyle/>
          <a:p>
            <a:pPr algn="l"/>
            <a:r>
              <a:rPr lang="en-US" sz="975" spc="0" baseline="0">
                <a:ln/>
                <a:solidFill>
                  <a:srgbClr val="3E5760"/>
                </a:solidFill>
                <a:latin typeface="Segoe UI"/>
                <a:cs typeface="Segoe UI"/>
                <a:sym typeface="Segoe UI"/>
                <a:rtl val="0"/>
              </a:rPr>
              <a:t>Global oversight</a:t>
            </a:r>
          </a:p>
        </p:txBody>
      </p:sp>
      <p:sp>
        <p:nvSpPr>
          <p:cNvPr id="51" name="TextBox 50">
            <a:extLst>
              <a:ext uri="{FF2B5EF4-FFF2-40B4-BE49-F238E27FC236}">
                <a16:creationId xmlns:a16="http://schemas.microsoft.com/office/drawing/2014/main" id="{4BBB4113-4BCB-4C31-9C8B-1717FABE0185}"/>
              </a:ext>
            </a:extLst>
          </p:cNvPr>
          <p:cNvSpPr txBox="1"/>
          <p:nvPr/>
        </p:nvSpPr>
        <p:spPr>
          <a:xfrm>
            <a:off x="8715400" y="1673906"/>
            <a:ext cx="1092672" cy="275849"/>
          </a:xfrm>
          <a:prstGeom prst="rect">
            <a:avLst/>
          </a:prstGeom>
          <a:noFill/>
        </p:spPr>
        <p:txBody>
          <a:bodyPr wrap="none" rtlCol="0">
            <a:spAutoFit/>
          </a:bodyPr>
          <a:lstStyle/>
          <a:p>
            <a:pPr algn="l"/>
            <a:r>
              <a:rPr lang="en-US" sz="900" spc="0" baseline="0">
                <a:ln/>
                <a:solidFill>
                  <a:srgbClr val="3E5760"/>
                </a:solidFill>
                <a:latin typeface="Segoe UI"/>
                <a:cs typeface="Segoe UI"/>
                <a:sym typeface="Segoe UI"/>
                <a:rtl val="0"/>
              </a:rPr>
              <a:t>of namespaces</a:t>
            </a:r>
          </a:p>
        </p:txBody>
      </p:sp>
      <p:sp>
        <p:nvSpPr>
          <p:cNvPr id="52" name="TextBox 51">
            <a:extLst>
              <a:ext uri="{FF2B5EF4-FFF2-40B4-BE49-F238E27FC236}">
                <a16:creationId xmlns:a16="http://schemas.microsoft.com/office/drawing/2014/main" id="{3F68D53B-E11E-999F-35E6-3D8CB5E50B08}"/>
              </a:ext>
            </a:extLst>
          </p:cNvPr>
          <p:cNvSpPr txBox="1"/>
          <p:nvPr/>
        </p:nvSpPr>
        <p:spPr>
          <a:xfrm>
            <a:off x="5949092" y="2026938"/>
            <a:ext cx="5152564" cy="292388"/>
          </a:xfrm>
          <a:prstGeom prst="rect">
            <a:avLst/>
          </a:prstGeom>
          <a:noFill/>
        </p:spPr>
        <p:txBody>
          <a:bodyPr wrap="none" rtlCol="0">
            <a:spAutoFit/>
          </a:bodyPr>
          <a:lstStyle/>
          <a:p>
            <a:pPr algn="l"/>
            <a:r>
              <a:rPr lang="en-US" sz="1300" b="1" i="1" spc="0" baseline="0" dirty="0">
                <a:ln/>
                <a:solidFill>
                  <a:schemeClr val="accent4"/>
                </a:solidFill>
                <a:latin typeface="Segoe UI"/>
                <a:cs typeface="Segoe UI"/>
                <a:sym typeface="Segoe UI"/>
                <a:rtl val="0"/>
              </a:rPr>
              <a:t>You point your domain to nameservers, which hold DNS records</a:t>
            </a:r>
          </a:p>
        </p:txBody>
      </p:sp>
      <p:sp>
        <p:nvSpPr>
          <p:cNvPr id="53" name="Freeform: Shape 52">
            <a:extLst>
              <a:ext uri="{FF2B5EF4-FFF2-40B4-BE49-F238E27FC236}">
                <a16:creationId xmlns:a16="http://schemas.microsoft.com/office/drawing/2014/main" id="{D364BF2C-E932-4076-C600-1E5539001A1F}"/>
              </a:ext>
            </a:extLst>
          </p:cNvPr>
          <p:cNvSpPr/>
          <p:nvPr/>
        </p:nvSpPr>
        <p:spPr>
          <a:xfrm>
            <a:off x="3554167" y="2504696"/>
            <a:ext cx="2079681" cy="924302"/>
          </a:xfrm>
          <a:custGeom>
            <a:avLst/>
            <a:gdLst>
              <a:gd name="csX0" fmla="*/ 1987251 w 2079681"/>
              <a:gd name="csY0" fmla="*/ 0 h 924302"/>
              <a:gd name="csX1" fmla="*/ 2079681 w 2079681"/>
              <a:gd name="csY1" fmla="*/ 0 h 924302"/>
              <a:gd name="csX2" fmla="*/ 2079681 w 2079681"/>
              <a:gd name="csY2" fmla="*/ 924303 h 924302"/>
              <a:gd name="csX3" fmla="*/ 1987251 w 2079681"/>
              <a:gd name="csY3" fmla="*/ 924303 h 924302"/>
              <a:gd name="csX4" fmla="*/ 92430 w 2079681"/>
              <a:gd name="csY4" fmla="*/ 924303 h 924302"/>
              <a:gd name="csX5" fmla="*/ 0 w 2079681"/>
              <a:gd name="csY5" fmla="*/ 924303 h 924302"/>
              <a:gd name="csX6" fmla="*/ 0 w 2079681"/>
              <a:gd name="csY6" fmla="*/ 0 h 924302"/>
              <a:gd name="csX7" fmla="*/ 92430 w 2079681"/>
              <a:gd name="csY7" fmla="*/ 0 h 9243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79681" h="924302">
                <a:moveTo>
                  <a:pt x="1987251" y="0"/>
                </a:moveTo>
                <a:cubicBezTo>
                  <a:pt x="2038299" y="0"/>
                  <a:pt x="2079681" y="0"/>
                  <a:pt x="2079681" y="0"/>
                </a:cubicBezTo>
                <a:lnTo>
                  <a:pt x="2079681" y="924303"/>
                </a:lnTo>
                <a:cubicBezTo>
                  <a:pt x="2079681" y="924303"/>
                  <a:pt x="2038299" y="924303"/>
                  <a:pt x="1987251" y="924303"/>
                </a:cubicBezTo>
                <a:lnTo>
                  <a:pt x="92430" y="924303"/>
                </a:lnTo>
                <a:cubicBezTo>
                  <a:pt x="41382" y="924303"/>
                  <a:pt x="0" y="924303"/>
                  <a:pt x="0" y="924303"/>
                </a:cubicBezTo>
                <a:lnTo>
                  <a:pt x="0" y="0"/>
                </a:lnTo>
                <a:cubicBezTo>
                  <a:pt x="0" y="0"/>
                  <a:pt x="41382" y="0"/>
                  <a:pt x="92430" y="0"/>
                </a:cubicBezTo>
                <a:close/>
              </a:path>
            </a:pathLst>
          </a:custGeom>
          <a:solidFill>
            <a:srgbClr val="FFFFFF"/>
          </a:solidFill>
          <a:ln w="23084" cap="flat">
            <a:solidFill>
              <a:srgbClr val="444F9C"/>
            </a:solidFill>
            <a:prstDash val="solid"/>
            <a:miter/>
          </a:ln>
        </p:spPr>
        <p:txBody>
          <a:bodyPr/>
          <a:lstStyle/>
          <a:p>
            <a:endParaRPr lang="en-US"/>
          </a:p>
        </p:txBody>
      </p:sp>
      <p:sp>
        <p:nvSpPr>
          <p:cNvPr id="54" name="Freeform: Shape 53">
            <a:extLst>
              <a:ext uri="{FF2B5EF4-FFF2-40B4-BE49-F238E27FC236}">
                <a16:creationId xmlns:a16="http://schemas.microsoft.com/office/drawing/2014/main" id="{F56E8EA9-9C23-441D-EE3E-6C039D9478D3}"/>
              </a:ext>
            </a:extLst>
          </p:cNvPr>
          <p:cNvSpPr/>
          <p:nvPr/>
        </p:nvSpPr>
        <p:spPr>
          <a:xfrm>
            <a:off x="3554167" y="2504696"/>
            <a:ext cx="92430" cy="924302"/>
          </a:xfrm>
          <a:custGeom>
            <a:avLst/>
            <a:gdLst>
              <a:gd name="csX0" fmla="*/ 46215 w 92430"/>
              <a:gd name="csY0" fmla="*/ 0 h 924302"/>
              <a:gd name="csX1" fmla="*/ 92430 w 92430"/>
              <a:gd name="csY1" fmla="*/ 0 h 924302"/>
              <a:gd name="csX2" fmla="*/ 92430 w 92430"/>
              <a:gd name="csY2" fmla="*/ 924303 h 924302"/>
              <a:gd name="csX3" fmla="*/ 46215 w 92430"/>
              <a:gd name="csY3" fmla="*/ 924303 h 924302"/>
              <a:gd name="csX4" fmla="*/ 46215 w 92430"/>
              <a:gd name="csY4" fmla="*/ 924303 h 924302"/>
              <a:gd name="csX5" fmla="*/ 0 w 92430"/>
              <a:gd name="csY5" fmla="*/ 924303 h 924302"/>
              <a:gd name="csX6" fmla="*/ 0 w 92430"/>
              <a:gd name="csY6" fmla="*/ 0 h 924302"/>
              <a:gd name="csX7" fmla="*/ 46215 w 92430"/>
              <a:gd name="csY7" fmla="*/ 0 h 9243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2430" h="924302">
                <a:moveTo>
                  <a:pt x="46215" y="0"/>
                </a:moveTo>
                <a:cubicBezTo>
                  <a:pt x="71739" y="0"/>
                  <a:pt x="92430" y="0"/>
                  <a:pt x="92430" y="0"/>
                </a:cubicBezTo>
                <a:lnTo>
                  <a:pt x="92430" y="924303"/>
                </a:lnTo>
                <a:cubicBezTo>
                  <a:pt x="92430" y="924303"/>
                  <a:pt x="71739" y="924303"/>
                  <a:pt x="46215" y="924303"/>
                </a:cubicBezTo>
                <a:lnTo>
                  <a:pt x="46215" y="924303"/>
                </a:lnTo>
                <a:cubicBezTo>
                  <a:pt x="20691" y="924303"/>
                  <a:pt x="0" y="924303"/>
                  <a:pt x="0" y="924303"/>
                </a:cubicBezTo>
                <a:lnTo>
                  <a:pt x="0" y="0"/>
                </a:lnTo>
                <a:cubicBezTo>
                  <a:pt x="0" y="0"/>
                  <a:pt x="20691" y="0"/>
                  <a:pt x="46215" y="0"/>
                </a:cubicBezTo>
                <a:close/>
              </a:path>
            </a:pathLst>
          </a:custGeom>
          <a:solidFill>
            <a:srgbClr val="444F9C"/>
          </a:solidFill>
          <a:ln w="11542" cap="flat">
            <a:noFill/>
            <a:prstDash val="solid"/>
            <a:miter/>
          </a:ln>
        </p:spPr>
        <p:txBody>
          <a:bodyPr/>
          <a:lstStyle/>
          <a:p>
            <a:endParaRPr lang="en-US"/>
          </a:p>
        </p:txBody>
      </p:sp>
      <p:sp>
        <p:nvSpPr>
          <p:cNvPr id="55" name="TextBox 54">
            <a:extLst>
              <a:ext uri="{FF2B5EF4-FFF2-40B4-BE49-F238E27FC236}">
                <a16:creationId xmlns:a16="http://schemas.microsoft.com/office/drawing/2014/main" id="{DF608C42-0827-E266-B2E6-2007D23B9AC9}"/>
              </a:ext>
            </a:extLst>
          </p:cNvPr>
          <p:cNvSpPr txBox="1"/>
          <p:nvPr/>
        </p:nvSpPr>
        <p:spPr>
          <a:xfrm>
            <a:off x="3777486" y="2583913"/>
            <a:ext cx="1679258" cy="321951"/>
          </a:xfrm>
          <a:prstGeom prst="rect">
            <a:avLst/>
          </a:prstGeom>
          <a:noFill/>
        </p:spPr>
        <p:txBody>
          <a:bodyPr wrap="none" rtlCol="0">
            <a:spAutoFit/>
          </a:bodyPr>
          <a:lstStyle/>
          <a:p>
            <a:pPr algn="l"/>
            <a:r>
              <a:rPr lang="en-US" sz="1125" b="1" spc="0" baseline="0" dirty="0">
                <a:ln/>
                <a:solidFill>
                  <a:srgbClr val="444F9C"/>
                </a:solidFill>
                <a:latin typeface="Segoe UI"/>
                <a:cs typeface="Segoe UI"/>
                <a:sym typeface="Segoe UI"/>
                <a:rtl val="0"/>
              </a:rPr>
              <a:t>Authoritative DNS</a:t>
            </a:r>
          </a:p>
        </p:txBody>
      </p:sp>
      <p:sp>
        <p:nvSpPr>
          <p:cNvPr id="56" name="TextBox 55">
            <a:extLst>
              <a:ext uri="{FF2B5EF4-FFF2-40B4-BE49-F238E27FC236}">
                <a16:creationId xmlns:a16="http://schemas.microsoft.com/office/drawing/2014/main" id="{81ED46F8-33F7-01DC-EDCC-F5284DE0B220}"/>
              </a:ext>
            </a:extLst>
          </p:cNvPr>
          <p:cNvSpPr txBox="1"/>
          <p:nvPr/>
        </p:nvSpPr>
        <p:spPr>
          <a:xfrm>
            <a:off x="4128725" y="2816816"/>
            <a:ext cx="976779" cy="291216"/>
          </a:xfrm>
          <a:prstGeom prst="rect">
            <a:avLst/>
          </a:prstGeom>
          <a:noFill/>
        </p:spPr>
        <p:txBody>
          <a:bodyPr wrap="none" rtlCol="0">
            <a:spAutoFit/>
          </a:bodyPr>
          <a:lstStyle/>
          <a:p>
            <a:pPr algn="l"/>
            <a:r>
              <a:rPr lang="en-US" sz="975" spc="0" baseline="0">
                <a:ln/>
                <a:solidFill>
                  <a:srgbClr val="3E5760"/>
                </a:solidFill>
                <a:latin typeface="Segoe UI"/>
                <a:cs typeface="Segoe UI"/>
                <a:sym typeface="Segoe UI"/>
                <a:rtl val="0"/>
              </a:rPr>
              <a:t>Nameserver</a:t>
            </a:r>
          </a:p>
        </p:txBody>
      </p:sp>
      <p:sp>
        <p:nvSpPr>
          <p:cNvPr id="57" name="TextBox 56">
            <a:extLst>
              <a:ext uri="{FF2B5EF4-FFF2-40B4-BE49-F238E27FC236}">
                <a16:creationId xmlns:a16="http://schemas.microsoft.com/office/drawing/2014/main" id="{D625F860-A30B-D569-EF37-DA6CDC99AF2D}"/>
              </a:ext>
            </a:extLst>
          </p:cNvPr>
          <p:cNvSpPr txBox="1"/>
          <p:nvPr/>
        </p:nvSpPr>
        <p:spPr>
          <a:xfrm>
            <a:off x="3877129" y="3037252"/>
            <a:ext cx="1479972" cy="275849"/>
          </a:xfrm>
          <a:prstGeom prst="rect">
            <a:avLst/>
          </a:prstGeom>
          <a:noFill/>
        </p:spPr>
        <p:txBody>
          <a:bodyPr wrap="none" rtlCol="0">
            <a:spAutoFit/>
          </a:bodyPr>
          <a:lstStyle/>
          <a:p>
            <a:pPr algn="l"/>
            <a:r>
              <a:rPr lang="en-US" sz="900" spc="0" baseline="0" dirty="0">
                <a:ln/>
                <a:solidFill>
                  <a:srgbClr val="3A3A3A"/>
                </a:solidFill>
                <a:latin typeface="Segoe UI"/>
                <a:cs typeface="Segoe UI"/>
                <a:sym typeface="Segoe UI"/>
                <a:rtl val="0"/>
              </a:rPr>
              <a:t>Holds A, CNAME, MX</a:t>
            </a:r>
          </a:p>
        </p:txBody>
      </p:sp>
      <p:sp>
        <p:nvSpPr>
          <p:cNvPr id="58" name="TextBox 57">
            <a:extLst>
              <a:ext uri="{FF2B5EF4-FFF2-40B4-BE49-F238E27FC236}">
                <a16:creationId xmlns:a16="http://schemas.microsoft.com/office/drawing/2014/main" id="{8E9D50C3-7076-00B5-B945-C4141E3084D5}"/>
              </a:ext>
            </a:extLst>
          </p:cNvPr>
          <p:cNvSpPr txBox="1"/>
          <p:nvPr/>
        </p:nvSpPr>
        <p:spPr>
          <a:xfrm>
            <a:off x="3651390" y="3199005"/>
            <a:ext cx="1931450" cy="275849"/>
          </a:xfrm>
          <a:prstGeom prst="rect">
            <a:avLst/>
          </a:prstGeom>
          <a:noFill/>
        </p:spPr>
        <p:txBody>
          <a:bodyPr wrap="none" rtlCol="0">
            <a:spAutoFit/>
          </a:bodyPr>
          <a:lstStyle/>
          <a:p>
            <a:pPr algn="l"/>
            <a:r>
              <a:rPr lang="en-US" sz="900" spc="0" baseline="0">
                <a:ln/>
                <a:solidFill>
                  <a:srgbClr val="3A3A3A"/>
                </a:solidFill>
                <a:latin typeface="Segoe UI"/>
                <a:cs typeface="Segoe UI"/>
                <a:sym typeface="Segoe UI"/>
                <a:rtl val="0"/>
              </a:rPr>
              <a:t>TXT records for your domain</a:t>
            </a:r>
          </a:p>
        </p:txBody>
      </p:sp>
      <p:sp>
        <p:nvSpPr>
          <p:cNvPr id="59" name="Freeform: Shape 58">
            <a:extLst>
              <a:ext uri="{FF2B5EF4-FFF2-40B4-BE49-F238E27FC236}">
                <a16:creationId xmlns:a16="http://schemas.microsoft.com/office/drawing/2014/main" id="{11725880-578A-2B01-8201-567FFD24721B}"/>
              </a:ext>
            </a:extLst>
          </p:cNvPr>
          <p:cNvSpPr/>
          <p:nvPr/>
        </p:nvSpPr>
        <p:spPr>
          <a:xfrm>
            <a:off x="4473367" y="1938359"/>
            <a:ext cx="261565" cy="554581"/>
          </a:xfrm>
          <a:custGeom>
            <a:avLst/>
            <a:gdLst>
              <a:gd name="csX0" fmla="*/ 670120 w 670119"/>
              <a:gd name="csY0" fmla="*/ 0 h 554581"/>
              <a:gd name="csX1" fmla="*/ 670120 w 670119"/>
              <a:gd name="csY1" fmla="*/ 219522 h 554581"/>
              <a:gd name="csX2" fmla="*/ 0 w 670119"/>
              <a:gd name="csY2" fmla="*/ 219522 h 554581"/>
              <a:gd name="csX3" fmla="*/ 0 w 670119"/>
              <a:gd name="csY3" fmla="*/ 554582 h 554581"/>
            </a:gdLst>
            <a:ahLst/>
            <a:cxnLst>
              <a:cxn ang="0">
                <a:pos x="csX0" y="csY0"/>
              </a:cxn>
              <a:cxn ang="0">
                <a:pos x="csX1" y="csY1"/>
              </a:cxn>
              <a:cxn ang="0">
                <a:pos x="csX2" y="csY2"/>
              </a:cxn>
              <a:cxn ang="0">
                <a:pos x="csX3" y="csY3"/>
              </a:cxn>
            </a:cxnLst>
            <a:rect l="l" t="t" r="r" b="b"/>
            <a:pathLst>
              <a:path w="670119" h="554581">
                <a:moveTo>
                  <a:pt x="670120" y="0"/>
                </a:moveTo>
                <a:lnTo>
                  <a:pt x="670120" y="219522"/>
                </a:lnTo>
                <a:lnTo>
                  <a:pt x="0" y="219522"/>
                </a:lnTo>
                <a:lnTo>
                  <a:pt x="0" y="554582"/>
                </a:lnTo>
              </a:path>
            </a:pathLst>
          </a:custGeom>
          <a:noFill/>
          <a:ln w="16159" cap="flat">
            <a:solidFill>
              <a:srgbClr val="444F9C"/>
            </a:solidFill>
            <a:custDash>
              <a:ds d="375000" sp="225000"/>
            </a:custDash>
            <a:miter/>
          </a:ln>
        </p:spPr>
        <p:txBody>
          <a:bodyPr/>
          <a:lstStyle/>
          <a:p>
            <a:endParaRPr lang="en-US"/>
          </a:p>
        </p:txBody>
      </p:sp>
      <p:sp>
        <p:nvSpPr>
          <p:cNvPr id="60" name="Freeform: Shape 59">
            <a:extLst>
              <a:ext uri="{FF2B5EF4-FFF2-40B4-BE49-F238E27FC236}">
                <a16:creationId xmlns:a16="http://schemas.microsoft.com/office/drawing/2014/main" id="{936A01C5-6B80-90E4-F53F-6A761E205384}"/>
              </a:ext>
            </a:extLst>
          </p:cNvPr>
          <p:cNvSpPr/>
          <p:nvPr/>
        </p:nvSpPr>
        <p:spPr>
          <a:xfrm>
            <a:off x="4778868" y="2054099"/>
            <a:ext cx="785657" cy="207968"/>
          </a:xfrm>
          <a:custGeom>
            <a:avLst/>
            <a:gdLst>
              <a:gd name="csX0" fmla="*/ 750996 w 785657"/>
              <a:gd name="csY0" fmla="*/ 0 h 207968"/>
              <a:gd name="csX1" fmla="*/ 785657 w 785657"/>
              <a:gd name="csY1" fmla="*/ 0 h 207968"/>
              <a:gd name="csX2" fmla="*/ 785657 w 785657"/>
              <a:gd name="csY2" fmla="*/ 207968 h 207968"/>
              <a:gd name="csX3" fmla="*/ 750996 w 785657"/>
              <a:gd name="csY3" fmla="*/ 207968 h 207968"/>
              <a:gd name="csX4" fmla="*/ 34661 w 785657"/>
              <a:gd name="csY4" fmla="*/ 207968 h 207968"/>
              <a:gd name="csX5" fmla="*/ 0 w 785657"/>
              <a:gd name="csY5" fmla="*/ 207968 h 207968"/>
              <a:gd name="csX6" fmla="*/ 0 w 785657"/>
              <a:gd name="csY6" fmla="*/ 0 h 207968"/>
              <a:gd name="csX7" fmla="*/ 34661 w 785657"/>
              <a:gd name="csY7" fmla="*/ 0 h 207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85657" h="207968">
                <a:moveTo>
                  <a:pt x="750996" y="0"/>
                </a:moveTo>
                <a:cubicBezTo>
                  <a:pt x="770139" y="0"/>
                  <a:pt x="785657" y="0"/>
                  <a:pt x="785657" y="0"/>
                </a:cubicBezTo>
                <a:lnTo>
                  <a:pt x="785657" y="207968"/>
                </a:lnTo>
                <a:cubicBezTo>
                  <a:pt x="785657" y="207968"/>
                  <a:pt x="770139" y="207968"/>
                  <a:pt x="750996" y="207968"/>
                </a:cubicBezTo>
                <a:lnTo>
                  <a:pt x="34661" y="207968"/>
                </a:lnTo>
                <a:cubicBezTo>
                  <a:pt x="15518" y="207968"/>
                  <a:pt x="0" y="207968"/>
                  <a:pt x="0" y="207968"/>
                </a:cubicBezTo>
                <a:lnTo>
                  <a:pt x="0" y="0"/>
                </a:lnTo>
                <a:cubicBezTo>
                  <a:pt x="0" y="0"/>
                  <a:pt x="15518" y="0"/>
                  <a:pt x="34661" y="0"/>
                </a:cubicBezTo>
                <a:close/>
              </a:path>
            </a:pathLst>
          </a:custGeom>
          <a:solidFill>
            <a:srgbClr val="FFFFFF"/>
          </a:solidFill>
          <a:ln w="11542" cap="flat">
            <a:noFill/>
            <a:prstDash val="solid"/>
            <a:miter/>
          </a:ln>
        </p:spPr>
        <p:txBody>
          <a:bodyPr/>
          <a:lstStyle/>
          <a:p>
            <a:endParaRPr lang="en-US"/>
          </a:p>
        </p:txBody>
      </p:sp>
      <p:sp>
        <p:nvSpPr>
          <p:cNvPr id="61" name="TextBox 60">
            <a:extLst>
              <a:ext uri="{FF2B5EF4-FFF2-40B4-BE49-F238E27FC236}">
                <a16:creationId xmlns:a16="http://schemas.microsoft.com/office/drawing/2014/main" id="{45090981-7E88-0076-F6BB-88F1C63E8F67}"/>
              </a:ext>
            </a:extLst>
          </p:cNvPr>
          <p:cNvSpPr txBox="1"/>
          <p:nvPr/>
        </p:nvSpPr>
        <p:spPr>
          <a:xfrm>
            <a:off x="4683476" y="2008321"/>
            <a:ext cx="1280992" cy="276999"/>
          </a:xfrm>
          <a:prstGeom prst="rect">
            <a:avLst/>
          </a:prstGeom>
          <a:noFill/>
        </p:spPr>
        <p:txBody>
          <a:bodyPr wrap="none" rtlCol="0">
            <a:spAutoFit/>
          </a:bodyPr>
          <a:lstStyle/>
          <a:p>
            <a:pPr algn="l"/>
            <a:r>
              <a:rPr lang="en-US" sz="1200" spc="0" baseline="0" dirty="0">
                <a:ln/>
                <a:solidFill>
                  <a:srgbClr val="3E5760"/>
                </a:solidFill>
                <a:latin typeface="Segoe UI"/>
                <a:cs typeface="Segoe UI"/>
                <a:sym typeface="Segoe UI"/>
                <a:rtl val="0"/>
              </a:rPr>
              <a:t>set nameservers</a:t>
            </a:r>
          </a:p>
        </p:txBody>
      </p:sp>
      <p:sp>
        <p:nvSpPr>
          <p:cNvPr id="62" name="Freeform: Shape 61">
            <a:extLst>
              <a:ext uri="{FF2B5EF4-FFF2-40B4-BE49-F238E27FC236}">
                <a16:creationId xmlns:a16="http://schemas.microsoft.com/office/drawing/2014/main" id="{95228AAE-066C-49BE-E31C-64AA9BD86D80}"/>
              </a:ext>
            </a:extLst>
          </p:cNvPr>
          <p:cNvSpPr/>
          <p:nvPr/>
        </p:nvSpPr>
        <p:spPr>
          <a:xfrm>
            <a:off x="6558151" y="2504696"/>
            <a:ext cx="1964143" cy="924302"/>
          </a:xfrm>
          <a:custGeom>
            <a:avLst/>
            <a:gdLst>
              <a:gd name="csX0" fmla="*/ 1871713 w 1964143"/>
              <a:gd name="csY0" fmla="*/ 0 h 924302"/>
              <a:gd name="csX1" fmla="*/ 1964144 w 1964143"/>
              <a:gd name="csY1" fmla="*/ 0 h 924302"/>
              <a:gd name="csX2" fmla="*/ 1964144 w 1964143"/>
              <a:gd name="csY2" fmla="*/ 924303 h 924302"/>
              <a:gd name="csX3" fmla="*/ 1871713 w 1964143"/>
              <a:gd name="csY3" fmla="*/ 924303 h 924302"/>
              <a:gd name="csX4" fmla="*/ 92430 w 1964143"/>
              <a:gd name="csY4" fmla="*/ 924303 h 924302"/>
              <a:gd name="csX5" fmla="*/ 0 w 1964143"/>
              <a:gd name="csY5" fmla="*/ 924303 h 924302"/>
              <a:gd name="csX6" fmla="*/ 0 w 1964143"/>
              <a:gd name="csY6" fmla="*/ 0 h 924302"/>
              <a:gd name="csX7" fmla="*/ 92430 w 1964143"/>
              <a:gd name="csY7" fmla="*/ 0 h 9243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964143" h="924302">
                <a:moveTo>
                  <a:pt x="1871713" y="0"/>
                </a:moveTo>
                <a:cubicBezTo>
                  <a:pt x="1922761" y="0"/>
                  <a:pt x="1964144" y="0"/>
                  <a:pt x="1964144" y="0"/>
                </a:cubicBezTo>
                <a:lnTo>
                  <a:pt x="1964144" y="924303"/>
                </a:lnTo>
                <a:cubicBezTo>
                  <a:pt x="1964144" y="924303"/>
                  <a:pt x="1922761" y="924303"/>
                  <a:pt x="1871713" y="924303"/>
                </a:cubicBezTo>
                <a:lnTo>
                  <a:pt x="92430" y="924303"/>
                </a:lnTo>
                <a:cubicBezTo>
                  <a:pt x="41382" y="924303"/>
                  <a:pt x="0" y="924303"/>
                  <a:pt x="0" y="924303"/>
                </a:cubicBezTo>
                <a:lnTo>
                  <a:pt x="0" y="0"/>
                </a:lnTo>
                <a:cubicBezTo>
                  <a:pt x="0" y="0"/>
                  <a:pt x="41382" y="0"/>
                  <a:pt x="92430" y="0"/>
                </a:cubicBezTo>
                <a:close/>
              </a:path>
            </a:pathLst>
          </a:custGeom>
          <a:solidFill>
            <a:srgbClr val="FFFFFF"/>
          </a:solidFill>
          <a:ln w="23084" cap="flat">
            <a:solidFill>
              <a:srgbClr val="EDEEF5"/>
            </a:solidFill>
            <a:prstDash val="solid"/>
            <a:miter/>
          </a:ln>
        </p:spPr>
        <p:txBody>
          <a:bodyPr/>
          <a:lstStyle/>
          <a:p>
            <a:endParaRPr lang="en-US"/>
          </a:p>
        </p:txBody>
      </p:sp>
      <p:sp>
        <p:nvSpPr>
          <p:cNvPr id="63" name="Freeform: Shape 62">
            <a:extLst>
              <a:ext uri="{FF2B5EF4-FFF2-40B4-BE49-F238E27FC236}">
                <a16:creationId xmlns:a16="http://schemas.microsoft.com/office/drawing/2014/main" id="{14E525E1-5082-EF59-66B3-A1166FECBEFE}"/>
              </a:ext>
            </a:extLst>
          </p:cNvPr>
          <p:cNvSpPr/>
          <p:nvPr/>
        </p:nvSpPr>
        <p:spPr>
          <a:xfrm>
            <a:off x="6558151" y="2504696"/>
            <a:ext cx="92430" cy="924302"/>
          </a:xfrm>
          <a:custGeom>
            <a:avLst/>
            <a:gdLst>
              <a:gd name="csX0" fmla="*/ 46215 w 92430"/>
              <a:gd name="csY0" fmla="*/ 0 h 924302"/>
              <a:gd name="csX1" fmla="*/ 92430 w 92430"/>
              <a:gd name="csY1" fmla="*/ 0 h 924302"/>
              <a:gd name="csX2" fmla="*/ 92430 w 92430"/>
              <a:gd name="csY2" fmla="*/ 924303 h 924302"/>
              <a:gd name="csX3" fmla="*/ 46215 w 92430"/>
              <a:gd name="csY3" fmla="*/ 924303 h 924302"/>
              <a:gd name="csX4" fmla="*/ 46215 w 92430"/>
              <a:gd name="csY4" fmla="*/ 924303 h 924302"/>
              <a:gd name="csX5" fmla="*/ 0 w 92430"/>
              <a:gd name="csY5" fmla="*/ 924303 h 924302"/>
              <a:gd name="csX6" fmla="*/ 0 w 92430"/>
              <a:gd name="csY6" fmla="*/ 0 h 924302"/>
              <a:gd name="csX7" fmla="*/ 46215 w 92430"/>
              <a:gd name="csY7" fmla="*/ 0 h 9243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2430" h="924302">
                <a:moveTo>
                  <a:pt x="46215" y="0"/>
                </a:moveTo>
                <a:cubicBezTo>
                  <a:pt x="71739" y="0"/>
                  <a:pt x="92430" y="0"/>
                  <a:pt x="92430" y="0"/>
                </a:cubicBezTo>
                <a:lnTo>
                  <a:pt x="92430" y="924303"/>
                </a:lnTo>
                <a:cubicBezTo>
                  <a:pt x="92430" y="924303"/>
                  <a:pt x="71739" y="924303"/>
                  <a:pt x="46215" y="924303"/>
                </a:cubicBezTo>
                <a:lnTo>
                  <a:pt x="46215" y="924303"/>
                </a:lnTo>
                <a:cubicBezTo>
                  <a:pt x="20691" y="924303"/>
                  <a:pt x="0" y="924303"/>
                  <a:pt x="0" y="924303"/>
                </a:cubicBezTo>
                <a:lnTo>
                  <a:pt x="0" y="0"/>
                </a:lnTo>
                <a:cubicBezTo>
                  <a:pt x="0" y="0"/>
                  <a:pt x="20691" y="0"/>
                  <a:pt x="46215" y="0"/>
                </a:cubicBezTo>
                <a:close/>
              </a:path>
            </a:pathLst>
          </a:custGeom>
          <a:solidFill>
            <a:srgbClr val="2D5EBF"/>
          </a:solidFill>
          <a:ln w="11542" cap="flat">
            <a:noFill/>
            <a:prstDash val="solid"/>
            <a:miter/>
          </a:ln>
        </p:spPr>
        <p:txBody>
          <a:bodyPr/>
          <a:lstStyle/>
          <a:p>
            <a:endParaRPr lang="en-US"/>
          </a:p>
        </p:txBody>
      </p:sp>
      <p:sp>
        <p:nvSpPr>
          <p:cNvPr id="64" name="TextBox 63">
            <a:extLst>
              <a:ext uri="{FF2B5EF4-FFF2-40B4-BE49-F238E27FC236}">
                <a16:creationId xmlns:a16="http://schemas.microsoft.com/office/drawing/2014/main" id="{7558F147-53C4-5BA9-55FF-318240E6AFD5}"/>
              </a:ext>
            </a:extLst>
          </p:cNvPr>
          <p:cNvSpPr txBox="1"/>
          <p:nvPr/>
        </p:nvSpPr>
        <p:spPr>
          <a:xfrm>
            <a:off x="7103402" y="2583913"/>
            <a:ext cx="919856" cy="321951"/>
          </a:xfrm>
          <a:prstGeom prst="rect">
            <a:avLst/>
          </a:prstGeom>
          <a:noFill/>
        </p:spPr>
        <p:txBody>
          <a:bodyPr wrap="none" rtlCol="0">
            <a:spAutoFit/>
          </a:bodyPr>
          <a:lstStyle/>
          <a:p>
            <a:pPr algn="l"/>
            <a:r>
              <a:rPr lang="en-US" sz="1125" b="1" spc="0" baseline="0">
                <a:ln/>
                <a:solidFill>
                  <a:srgbClr val="444F9C"/>
                </a:solidFill>
                <a:latin typeface="Segoe UI"/>
                <a:cs typeface="Segoe UI"/>
                <a:sym typeface="Segoe UI"/>
                <a:rtl val="0"/>
              </a:rPr>
              <a:t>A Record</a:t>
            </a:r>
          </a:p>
        </p:txBody>
      </p:sp>
      <p:sp>
        <p:nvSpPr>
          <p:cNvPr id="65" name="TextBox 64">
            <a:extLst>
              <a:ext uri="{FF2B5EF4-FFF2-40B4-BE49-F238E27FC236}">
                <a16:creationId xmlns:a16="http://schemas.microsoft.com/office/drawing/2014/main" id="{EFF04B73-BED3-7D8A-DF10-4203A2ACF74D}"/>
              </a:ext>
            </a:extLst>
          </p:cNvPr>
          <p:cNvSpPr txBox="1"/>
          <p:nvPr/>
        </p:nvSpPr>
        <p:spPr>
          <a:xfrm>
            <a:off x="6938295" y="2841650"/>
            <a:ext cx="1250070" cy="280836"/>
          </a:xfrm>
          <a:prstGeom prst="rect">
            <a:avLst/>
          </a:prstGeom>
          <a:noFill/>
        </p:spPr>
        <p:txBody>
          <a:bodyPr wrap="none" rtlCol="0">
            <a:spAutoFit/>
          </a:bodyPr>
          <a:lstStyle/>
          <a:p>
            <a:pPr algn="l"/>
            <a:r>
              <a:rPr lang="en-US" sz="1050" spc="0" baseline="0">
                <a:ln/>
                <a:solidFill>
                  <a:srgbClr val="3A3A3A"/>
                </a:solidFill>
                <a:latin typeface="Consolas"/>
                <a:sym typeface="Consolas"/>
                <a:rtl val="0"/>
              </a:rPr>
              <a:t>mysite.com →</a:t>
            </a:r>
          </a:p>
        </p:txBody>
      </p:sp>
      <p:sp>
        <p:nvSpPr>
          <p:cNvPr id="66" name="TextBox 65">
            <a:extLst>
              <a:ext uri="{FF2B5EF4-FFF2-40B4-BE49-F238E27FC236}">
                <a16:creationId xmlns:a16="http://schemas.microsoft.com/office/drawing/2014/main" id="{087CC335-28CB-3F89-0FD1-ED12C314BBBC}"/>
              </a:ext>
            </a:extLst>
          </p:cNvPr>
          <p:cNvSpPr txBox="1"/>
          <p:nvPr/>
        </p:nvSpPr>
        <p:spPr>
          <a:xfrm>
            <a:off x="6938295" y="3049618"/>
            <a:ext cx="1250070" cy="280836"/>
          </a:xfrm>
          <a:prstGeom prst="rect">
            <a:avLst/>
          </a:prstGeom>
          <a:noFill/>
        </p:spPr>
        <p:txBody>
          <a:bodyPr wrap="none" rtlCol="0">
            <a:spAutoFit/>
          </a:bodyPr>
          <a:lstStyle/>
          <a:p>
            <a:pPr algn="l"/>
            <a:r>
              <a:rPr lang="en-US" sz="1050" spc="0" baseline="0">
                <a:ln/>
                <a:solidFill>
                  <a:srgbClr val="2D5EBF"/>
                </a:solidFill>
                <a:latin typeface="Consolas"/>
                <a:sym typeface="Consolas"/>
                <a:rtl val="0"/>
              </a:rPr>
              <a:t>203.0.113.42</a:t>
            </a:r>
          </a:p>
        </p:txBody>
      </p:sp>
      <p:sp>
        <p:nvSpPr>
          <p:cNvPr id="67" name="Freeform: Shape 66">
            <a:extLst>
              <a:ext uri="{FF2B5EF4-FFF2-40B4-BE49-F238E27FC236}">
                <a16:creationId xmlns:a16="http://schemas.microsoft.com/office/drawing/2014/main" id="{776BBB86-3E08-3CBE-9202-8E7FD65729D7}"/>
              </a:ext>
            </a:extLst>
          </p:cNvPr>
          <p:cNvSpPr/>
          <p:nvPr/>
        </p:nvSpPr>
        <p:spPr>
          <a:xfrm>
            <a:off x="5645402" y="2966848"/>
            <a:ext cx="901195" cy="11553"/>
          </a:xfrm>
          <a:custGeom>
            <a:avLst/>
            <a:gdLst>
              <a:gd name="csX0" fmla="*/ 0 w 901195"/>
              <a:gd name="csY0" fmla="*/ 0 h 11553"/>
              <a:gd name="csX1" fmla="*/ 901195 w 901195"/>
              <a:gd name="csY1" fmla="*/ 0 h 11553"/>
            </a:gdLst>
            <a:ahLst/>
            <a:cxnLst>
              <a:cxn ang="0">
                <a:pos x="csX0" y="csY0"/>
              </a:cxn>
              <a:cxn ang="0">
                <a:pos x="csX1" y="csY1"/>
              </a:cxn>
            </a:cxnLst>
            <a:rect l="l" t="t" r="r" b="b"/>
            <a:pathLst>
              <a:path w="901195" h="11553">
                <a:moveTo>
                  <a:pt x="0" y="0"/>
                </a:moveTo>
                <a:lnTo>
                  <a:pt x="901195" y="0"/>
                </a:lnTo>
              </a:path>
            </a:pathLst>
          </a:custGeom>
          <a:ln w="16159" cap="flat">
            <a:solidFill>
              <a:srgbClr val="444F9C"/>
            </a:solidFill>
            <a:prstDash val="solid"/>
            <a:miter/>
          </a:ln>
        </p:spPr>
        <p:txBody>
          <a:bodyPr/>
          <a:lstStyle/>
          <a:p>
            <a:endParaRPr lang="en-US"/>
          </a:p>
        </p:txBody>
      </p:sp>
      <p:sp>
        <p:nvSpPr>
          <p:cNvPr id="68" name="Freeform: Shape 67">
            <a:extLst>
              <a:ext uri="{FF2B5EF4-FFF2-40B4-BE49-F238E27FC236}">
                <a16:creationId xmlns:a16="http://schemas.microsoft.com/office/drawing/2014/main" id="{DEE1BFE9-F442-6324-5864-7FCCE7AE7BAB}"/>
              </a:ext>
            </a:extLst>
          </p:cNvPr>
          <p:cNvSpPr/>
          <p:nvPr/>
        </p:nvSpPr>
        <p:spPr>
          <a:xfrm>
            <a:off x="5691617" y="2816648"/>
            <a:ext cx="808764" cy="207968"/>
          </a:xfrm>
          <a:custGeom>
            <a:avLst/>
            <a:gdLst>
              <a:gd name="csX0" fmla="*/ 774104 w 808764"/>
              <a:gd name="csY0" fmla="*/ 0 h 207968"/>
              <a:gd name="csX1" fmla="*/ 808765 w 808764"/>
              <a:gd name="csY1" fmla="*/ 0 h 207968"/>
              <a:gd name="csX2" fmla="*/ 808765 w 808764"/>
              <a:gd name="csY2" fmla="*/ 207968 h 207968"/>
              <a:gd name="csX3" fmla="*/ 774104 w 808764"/>
              <a:gd name="csY3" fmla="*/ 207968 h 207968"/>
              <a:gd name="csX4" fmla="*/ 34661 w 808764"/>
              <a:gd name="csY4" fmla="*/ 207968 h 207968"/>
              <a:gd name="csX5" fmla="*/ 0 w 808764"/>
              <a:gd name="csY5" fmla="*/ 207968 h 207968"/>
              <a:gd name="csX6" fmla="*/ 0 w 808764"/>
              <a:gd name="csY6" fmla="*/ 0 h 207968"/>
              <a:gd name="csX7" fmla="*/ 34661 w 808764"/>
              <a:gd name="csY7" fmla="*/ 0 h 207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08764" h="207968">
                <a:moveTo>
                  <a:pt x="774104" y="0"/>
                </a:moveTo>
                <a:cubicBezTo>
                  <a:pt x="793247" y="0"/>
                  <a:pt x="808765" y="0"/>
                  <a:pt x="808765" y="0"/>
                </a:cubicBezTo>
                <a:lnTo>
                  <a:pt x="808765" y="207968"/>
                </a:lnTo>
                <a:cubicBezTo>
                  <a:pt x="808765" y="207968"/>
                  <a:pt x="793247" y="207968"/>
                  <a:pt x="774104" y="207968"/>
                </a:cubicBezTo>
                <a:lnTo>
                  <a:pt x="34661" y="207968"/>
                </a:lnTo>
                <a:cubicBezTo>
                  <a:pt x="15518" y="207968"/>
                  <a:pt x="0" y="207968"/>
                  <a:pt x="0" y="207968"/>
                </a:cubicBezTo>
                <a:lnTo>
                  <a:pt x="0" y="0"/>
                </a:lnTo>
                <a:cubicBezTo>
                  <a:pt x="0" y="0"/>
                  <a:pt x="15518" y="0"/>
                  <a:pt x="34661" y="0"/>
                </a:cubicBezTo>
                <a:close/>
              </a:path>
            </a:pathLst>
          </a:custGeom>
          <a:solidFill>
            <a:srgbClr val="FFFFFF"/>
          </a:solidFill>
          <a:ln w="11542" cap="flat">
            <a:noFill/>
            <a:prstDash val="solid"/>
            <a:miter/>
          </a:ln>
        </p:spPr>
        <p:txBody>
          <a:bodyPr/>
          <a:lstStyle/>
          <a:p>
            <a:endParaRPr lang="en-US"/>
          </a:p>
        </p:txBody>
      </p:sp>
      <p:sp>
        <p:nvSpPr>
          <p:cNvPr id="69" name="TextBox 68">
            <a:extLst>
              <a:ext uri="{FF2B5EF4-FFF2-40B4-BE49-F238E27FC236}">
                <a16:creationId xmlns:a16="http://schemas.microsoft.com/office/drawing/2014/main" id="{CEECEBB5-C723-76DE-13F9-0EA653BD0142}"/>
              </a:ext>
            </a:extLst>
          </p:cNvPr>
          <p:cNvSpPr txBox="1"/>
          <p:nvPr/>
        </p:nvSpPr>
        <p:spPr>
          <a:xfrm>
            <a:off x="5635809" y="2759961"/>
            <a:ext cx="1000595" cy="276999"/>
          </a:xfrm>
          <a:prstGeom prst="rect">
            <a:avLst/>
          </a:prstGeom>
          <a:noFill/>
        </p:spPr>
        <p:txBody>
          <a:bodyPr wrap="none" rtlCol="0">
            <a:spAutoFit/>
          </a:bodyPr>
          <a:lstStyle/>
          <a:p>
            <a:pPr algn="l"/>
            <a:r>
              <a:rPr lang="en-US" sz="1200" spc="0" baseline="0" dirty="0">
                <a:ln/>
                <a:solidFill>
                  <a:srgbClr val="3E5760"/>
                </a:solidFill>
                <a:latin typeface="Segoe UI"/>
                <a:cs typeface="Segoe UI"/>
                <a:sym typeface="Segoe UI"/>
                <a:rtl val="0"/>
              </a:rPr>
              <a:t>DNS lookup</a:t>
            </a:r>
          </a:p>
        </p:txBody>
      </p:sp>
      <p:sp>
        <p:nvSpPr>
          <p:cNvPr id="70" name="TextBox 69">
            <a:extLst>
              <a:ext uri="{FF2B5EF4-FFF2-40B4-BE49-F238E27FC236}">
                <a16:creationId xmlns:a16="http://schemas.microsoft.com/office/drawing/2014/main" id="{78EF8F6C-DC96-5DF4-715A-2D404B80A94A}"/>
              </a:ext>
            </a:extLst>
          </p:cNvPr>
          <p:cNvSpPr txBox="1"/>
          <p:nvPr/>
        </p:nvSpPr>
        <p:spPr>
          <a:xfrm>
            <a:off x="5183394" y="3654459"/>
            <a:ext cx="5885009" cy="292388"/>
          </a:xfrm>
          <a:prstGeom prst="rect">
            <a:avLst/>
          </a:prstGeom>
          <a:noFill/>
        </p:spPr>
        <p:txBody>
          <a:bodyPr wrap="none" rtlCol="0">
            <a:spAutoFit/>
          </a:bodyPr>
          <a:lstStyle/>
          <a:p>
            <a:pPr algn="l"/>
            <a:r>
              <a:rPr lang="en-US" sz="1300" b="1" i="1" spc="0" baseline="0" dirty="0">
                <a:ln/>
                <a:solidFill>
                  <a:schemeClr val="accent4"/>
                </a:solidFill>
                <a:latin typeface="Segoe UI"/>
                <a:cs typeface="Segoe UI"/>
                <a:sym typeface="Segoe UI"/>
                <a:rtl val="0"/>
              </a:rPr>
              <a:t>Your server listens on that IP — web software maps domain → files + TLS</a:t>
            </a:r>
          </a:p>
        </p:txBody>
      </p:sp>
      <p:sp>
        <p:nvSpPr>
          <p:cNvPr id="71" name="Freeform: Shape 70">
            <a:extLst>
              <a:ext uri="{FF2B5EF4-FFF2-40B4-BE49-F238E27FC236}">
                <a16:creationId xmlns:a16="http://schemas.microsoft.com/office/drawing/2014/main" id="{2B11EDF4-CD99-4C2A-BE7C-6FA66A356CBF}"/>
              </a:ext>
            </a:extLst>
          </p:cNvPr>
          <p:cNvSpPr/>
          <p:nvPr/>
        </p:nvSpPr>
        <p:spPr>
          <a:xfrm>
            <a:off x="3092015" y="3983581"/>
            <a:ext cx="2426294" cy="1039840"/>
          </a:xfrm>
          <a:custGeom>
            <a:avLst/>
            <a:gdLst>
              <a:gd name="csX0" fmla="*/ 2333865 w 2426294"/>
              <a:gd name="csY0" fmla="*/ 0 h 1039840"/>
              <a:gd name="csX1" fmla="*/ 2426295 w 2426294"/>
              <a:gd name="csY1" fmla="*/ 0 h 1039840"/>
              <a:gd name="csX2" fmla="*/ 2426295 w 2426294"/>
              <a:gd name="csY2" fmla="*/ 1039841 h 1039840"/>
              <a:gd name="csX3" fmla="*/ 2333865 w 2426294"/>
              <a:gd name="csY3" fmla="*/ 1039841 h 1039840"/>
              <a:gd name="csX4" fmla="*/ 92430 w 2426294"/>
              <a:gd name="csY4" fmla="*/ 1039841 h 1039840"/>
              <a:gd name="csX5" fmla="*/ 0 w 2426294"/>
              <a:gd name="csY5" fmla="*/ 1039841 h 1039840"/>
              <a:gd name="csX6" fmla="*/ 0 w 2426294"/>
              <a:gd name="csY6" fmla="*/ 0 h 1039840"/>
              <a:gd name="csX7" fmla="*/ 92430 w 2426294"/>
              <a:gd name="csY7" fmla="*/ 0 h 10398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26294" h="1039840">
                <a:moveTo>
                  <a:pt x="2333865" y="0"/>
                </a:moveTo>
                <a:cubicBezTo>
                  <a:pt x="2384913" y="0"/>
                  <a:pt x="2426295" y="0"/>
                  <a:pt x="2426295" y="0"/>
                </a:cubicBezTo>
                <a:lnTo>
                  <a:pt x="2426295" y="1039841"/>
                </a:lnTo>
                <a:cubicBezTo>
                  <a:pt x="2426295" y="1039841"/>
                  <a:pt x="2384913" y="1039841"/>
                  <a:pt x="2333865" y="1039841"/>
                </a:cubicBezTo>
                <a:lnTo>
                  <a:pt x="92430" y="1039841"/>
                </a:lnTo>
                <a:cubicBezTo>
                  <a:pt x="41382" y="1039841"/>
                  <a:pt x="0" y="1039841"/>
                  <a:pt x="0" y="1039841"/>
                </a:cubicBezTo>
                <a:lnTo>
                  <a:pt x="0" y="0"/>
                </a:lnTo>
                <a:cubicBezTo>
                  <a:pt x="0" y="0"/>
                  <a:pt x="41382" y="0"/>
                  <a:pt x="92430" y="0"/>
                </a:cubicBezTo>
                <a:close/>
              </a:path>
            </a:pathLst>
          </a:custGeom>
          <a:solidFill>
            <a:srgbClr val="FFFFFF"/>
          </a:solidFill>
          <a:ln w="23084" cap="flat">
            <a:solidFill>
              <a:srgbClr val="EDEEF5"/>
            </a:solidFill>
            <a:prstDash val="solid"/>
            <a:miter/>
          </a:ln>
        </p:spPr>
        <p:txBody>
          <a:bodyPr/>
          <a:lstStyle/>
          <a:p>
            <a:endParaRPr lang="en-US"/>
          </a:p>
        </p:txBody>
      </p:sp>
      <p:sp>
        <p:nvSpPr>
          <p:cNvPr id="72" name="Freeform: Shape 71">
            <a:extLst>
              <a:ext uri="{FF2B5EF4-FFF2-40B4-BE49-F238E27FC236}">
                <a16:creationId xmlns:a16="http://schemas.microsoft.com/office/drawing/2014/main" id="{9D35A856-B6EC-14ED-135D-D87A44DFF6ED}"/>
              </a:ext>
            </a:extLst>
          </p:cNvPr>
          <p:cNvSpPr/>
          <p:nvPr/>
        </p:nvSpPr>
        <p:spPr>
          <a:xfrm>
            <a:off x="3092015" y="3983581"/>
            <a:ext cx="92430" cy="1039840"/>
          </a:xfrm>
          <a:custGeom>
            <a:avLst/>
            <a:gdLst>
              <a:gd name="csX0" fmla="*/ 46215 w 92430"/>
              <a:gd name="csY0" fmla="*/ 0 h 1039840"/>
              <a:gd name="csX1" fmla="*/ 92430 w 92430"/>
              <a:gd name="csY1" fmla="*/ 0 h 1039840"/>
              <a:gd name="csX2" fmla="*/ 92430 w 92430"/>
              <a:gd name="csY2" fmla="*/ 1039841 h 1039840"/>
              <a:gd name="csX3" fmla="*/ 46215 w 92430"/>
              <a:gd name="csY3" fmla="*/ 1039841 h 1039840"/>
              <a:gd name="csX4" fmla="*/ 46215 w 92430"/>
              <a:gd name="csY4" fmla="*/ 1039841 h 1039840"/>
              <a:gd name="csX5" fmla="*/ 0 w 92430"/>
              <a:gd name="csY5" fmla="*/ 1039841 h 1039840"/>
              <a:gd name="csX6" fmla="*/ 0 w 92430"/>
              <a:gd name="csY6" fmla="*/ 0 h 1039840"/>
              <a:gd name="csX7" fmla="*/ 46215 w 92430"/>
              <a:gd name="csY7" fmla="*/ 0 h 10398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2430" h="1039840">
                <a:moveTo>
                  <a:pt x="46215" y="0"/>
                </a:moveTo>
                <a:cubicBezTo>
                  <a:pt x="71739" y="0"/>
                  <a:pt x="92430" y="0"/>
                  <a:pt x="92430" y="0"/>
                </a:cubicBezTo>
                <a:lnTo>
                  <a:pt x="92430" y="1039841"/>
                </a:lnTo>
                <a:cubicBezTo>
                  <a:pt x="92430" y="1039841"/>
                  <a:pt x="71739" y="1039841"/>
                  <a:pt x="46215" y="1039841"/>
                </a:cubicBezTo>
                <a:lnTo>
                  <a:pt x="46215" y="1039841"/>
                </a:lnTo>
                <a:cubicBezTo>
                  <a:pt x="20691" y="1039841"/>
                  <a:pt x="0" y="1039841"/>
                  <a:pt x="0" y="1039841"/>
                </a:cubicBezTo>
                <a:lnTo>
                  <a:pt x="0" y="0"/>
                </a:lnTo>
                <a:cubicBezTo>
                  <a:pt x="0" y="0"/>
                  <a:pt x="20691" y="0"/>
                  <a:pt x="46215" y="0"/>
                </a:cubicBezTo>
                <a:close/>
              </a:path>
            </a:pathLst>
          </a:custGeom>
          <a:solidFill>
            <a:srgbClr val="AE0064"/>
          </a:solidFill>
          <a:ln w="11542" cap="flat">
            <a:noFill/>
            <a:prstDash val="solid"/>
            <a:miter/>
          </a:ln>
        </p:spPr>
        <p:txBody>
          <a:bodyPr/>
          <a:lstStyle/>
          <a:p>
            <a:endParaRPr lang="en-US"/>
          </a:p>
        </p:txBody>
      </p:sp>
      <p:sp>
        <p:nvSpPr>
          <p:cNvPr id="73" name="TextBox 72">
            <a:extLst>
              <a:ext uri="{FF2B5EF4-FFF2-40B4-BE49-F238E27FC236}">
                <a16:creationId xmlns:a16="http://schemas.microsoft.com/office/drawing/2014/main" id="{6AAB4309-4F1A-928B-E351-D483E2C13621}"/>
              </a:ext>
            </a:extLst>
          </p:cNvPr>
          <p:cNvSpPr txBox="1"/>
          <p:nvPr/>
        </p:nvSpPr>
        <p:spPr>
          <a:xfrm>
            <a:off x="3777119" y="4039690"/>
            <a:ext cx="1102302" cy="321951"/>
          </a:xfrm>
          <a:prstGeom prst="rect">
            <a:avLst/>
          </a:prstGeom>
          <a:noFill/>
        </p:spPr>
        <p:txBody>
          <a:bodyPr wrap="none" rtlCol="0">
            <a:spAutoFit/>
          </a:bodyPr>
          <a:lstStyle/>
          <a:p>
            <a:pPr algn="l"/>
            <a:r>
              <a:rPr lang="en-US" sz="1125" b="1" spc="0" baseline="0">
                <a:ln/>
                <a:solidFill>
                  <a:srgbClr val="444F9C"/>
                </a:solidFill>
                <a:latin typeface="Segoe UI"/>
                <a:cs typeface="Segoe UI"/>
                <a:sym typeface="Segoe UI"/>
                <a:rtl val="0"/>
              </a:rPr>
              <a:t>Web server</a:t>
            </a:r>
          </a:p>
        </p:txBody>
      </p:sp>
      <p:sp>
        <p:nvSpPr>
          <p:cNvPr id="74" name="TextBox 73">
            <a:extLst>
              <a:ext uri="{FF2B5EF4-FFF2-40B4-BE49-F238E27FC236}">
                <a16:creationId xmlns:a16="http://schemas.microsoft.com/office/drawing/2014/main" id="{73C131A0-D9E6-0E0D-2E8C-EF250FDF57D1}"/>
              </a:ext>
            </a:extLst>
          </p:cNvPr>
          <p:cNvSpPr txBox="1"/>
          <p:nvPr/>
        </p:nvSpPr>
        <p:spPr>
          <a:xfrm>
            <a:off x="3682751" y="4272593"/>
            <a:ext cx="1291039" cy="291216"/>
          </a:xfrm>
          <a:prstGeom prst="rect">
            <a:avLst/>
          </a:prstGeom>
          <a:noFill/>
        </p:spPr>
        <p:txBody>
          <a:bodyPr wrap="none" rtlCol="0">
            <a:spAutoFit/>
          </a:bodyPr>
          <a:lstStyle/>
          <a:p>
            <a:pPr algn="l"/>
            <a:r>
              <a:rPr lang="en-US" sz="975" spc="0" baseline="0">
                <a:ln/>
                <a:solidFill>
                  <a:srgbClr val="3E5760"/>
                </a:solidFill>
                <a:latin typeface="Segoe UI"/>
                <a:cs typeface="Segoe UI"/>
                <a:sym typeface="Segoe UI"/>
                <a:rtl val="0"/>
              </a:rPr>
              <a:t>Apache or Nginx</a:t>
            </a:r>
          </a:p>
        </p:txBody>
      </p:sp>
      <p:sp>
        <p:nvSpPr>
          <p:cNvPr id="75" name="TextBox 74">
            <a:extLst>
              <a:ext uri="{FF2B5EF4-FFF2-40B4-BE49-F238E27FC236}">
                <a16:creationId xmlns:a16="http://schemas.microsoft.com/office/drawing/2014/main" id="{8EA9C7C3-4F67-108C-898E-8D952A7B056C}"/>
              </a:ext>
            </a:extLst>
          </p:cNvPr>
          <p:cNvSpPr txBox="1"/>
          <p:nvPr/>
        </p:nvSpPr>
        <p:spPr>
          <a:xfrm>
            <a:off x="3439740" y="4480561"/>
            <a:ext cx="1777059" cy="291216"/>
          </a:xfrm>
          <a:prstGeom prst="rect">
            <a:avLst/>
          </a:prstGeom>
          <a:noFill/>
        </p:spPr>
        <p:txBody>
          <a:bodyPr wrap="none" rtlCol="0">
            <a:spAutoFit/>
          </a:bodyPr>
          <a:lstStyle/>
          <a:p>
            <a:pPr algn="l"/>
            <a:r>
              <a:rPr lang="en-US" sz="975" spc="0" baseline="0">
                <a:ln/>
                <a:solidFill>
                  <a:srgbClr val="3A3A3A"/>
                </a:solidFill>
                <a:latin typeface="Segoe UI"/>
                <a:cs typeface="Segoe UI"/>
                <a:sym typeface="Segoe UI"/>
                <a:rtl val="0"/>
              </a:rPr>
              <a:t>VirtualHost config maps</a:t>
            </a:r>
          </a:p>
        </p:txBody>
      </p:sp>
      <p:sp>
        <p:nvSpPr>
          <p:cNvPr id="76" name="TextBox 75">
            <a:extLst>
              <a:ext uri="{FF2B5EF4-FFF2-40B4-BE49-F238E27FC236}">
                <a16:creationId xmlns:a16="http://schemas.microsoft.com/office/drawing/2014/main" id="{15DFDEF2-E78A-9C2E-CC87-74A7A9968F53}"/>
              </a:ext>
            </a:extLst>
          </p:cNvPr>
          <p:cNvSpPr txBox="1"/>
          <p:nvPr/>
        </p:nvSpPr>
        <p:spPr>
          <a:xfrm>
            <a:off x="3473147" y="4665422"/>
            <a:ext cx="1710247" cy="291216"/>
          </a:xfrm>
          <a:prstGeom prst="rect">
            <a:avLst/>
          </a:prstGeom>
          <a:noFill/>
        </p:spPr>
        <p:txBody>
          <a:bodyPr wrap="none" rtlCol="0">
            <a:spAutoFit/>
          </a:bodyPr>
          <a:lstStyle/>
          <a:p>
            <a:pPr algn="l"/>
            <a:r>
              <a:rPr lang="en-US" sz="975" spc="0" baseline="0">
                <a:ln/>
                <a:solidFill>
                  <a:srgbClr val="3A3A3A"/>
                </a:solidFill>
                <a:latin typeface="Segoe UI"/>
                <a:cs typeface="Segoe UI"/>
                <a:sym typeface="Segoe UI"/>
                <a:rtl val="0"/>
              </a:rPr>
              <a:t>domain → /var/www/…</a:t>
            </a:r>
          </a:p>
        </p:txBody>
      </p:sp>
      <p:sp>
        <p:nvSpPr>
          <p:cNvPr id="77" name="Freeform: Shape 76">
            <a:extLst>
              <a:ext uri="{FF2B5EF4-FFF2-40B4-BE49-F238E27FC236}">
                <a16:creationId xmlns:a16="http://schemas.microsoft.com/office/drawing/2014/main" id="{F15D0B1E-79F5-EDEF-F201-28E7F98A9B00}"/>
              </a:ext>
            </a:extLst>
          </p:cNvPr>
          <p:cNvSpPr/>
          <p:nvPr/>
        </p:nvSpPr>
        <p:spPr>
          <a:xfrm>
            <a:off x="5864924" y="3983581"/>
            <a:ext cx="2195219" cy="1039840"/>
          </a:xfrm>
          <a:custGeom>
            <a:avLst/>
            <a:gdLst>
              <a:gd name="csX0" fmla="*/ 2102789 w 2195219"/>
              <a:gd name="csY0" fmla="*/ 0 h 1039840"/>
              <a:gd name="csX1" fmla="*/ 2195219 w 2195219"/>
              <a:gd name="csY1" fmla="*/ 0 h 1039840"/>
              <a:gd name="csX2" fmla="*/ 2195219 w 2195219"/>
              <a:gd name="csY2" fmla="*/ 1039841 h 1039840"/>
              <a:gd name="csX3" fmla="*/ 2102789 w 2195219"/>
              <a:gd name="csY3" fmla="*/ 1039841 h 1039840"/>
              <a:gd name="csX4" fmla="*/ 92430 w 2195219"/>
              <a:gd name="csY4" fmla="*/ 1039841 h 1039840"/>
              <a:gd name="csX5" fmla="*/ 0 w 2195219"/>
              <a:gd name="csY5" fmla="*/ 1039841 h 1039840"/>
              <a:gd name="csX6" fmla="*/ 0 w 2195219"/>
              <a:gd name="csY6" fmla="*/ 0 h 1039840"/>
              <a:gd name="csX7" fmla="*/ 92430 w 2195219"/>
              <a:gd name="csY7" fmla="*/ 0 h 10398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95219" h="1039840">
                <a:moveTo>
                  <a:pt x="2102789" y="0"/>
                </a:moveTo>
                <a:cubicBezTo>
                  <a:pt x="2153837" y="0"/>
                  <a:pt x="2195219" y="0"/>
                  <a:pt x="2195219" y="0"/>
                </a:cubicBezTo>
                <a:lnTo>
                  <a:pt x="2195219" y="1039841"/>
                </a:lnTo>
                <a:cubicBezTo>
                  <a:pt x="2195219" y="1039841"/>
                  <a:pt x="2153837" y="1039841"/>
                  <a:pt x="2102789" y="1039841"/>
                </a:cubicBezTo>
                <a:lnTo>
                  <a:pt x="92430" y="1039841"/>
                </a:lnTo>
                <a:cubicBezTo>
                  <a:pt x="41382" y="1039841"/>
                  <a:pt x="0" y="1039841"/>
                  <a:pt x="0" y="1039841"/>
                </a:cubicBezTo>
                <a:lnTo>
                  <a:pt x="0" y="0"/>
                </a:lnTo>
                <a:cubicBezTo>
                  <a:pt x="0" y="0"/>
                  <a:pt x="41382" y="0"/>
                  <a:pt x="92430" y="0"/>
                </a:cubicBezTo>
                <a:close/>
              </a:path>
            </a:pathLst>
          </a:custGeom>
          <a:solidFill>
            <a:srgbClr val="FFFFFF"/>
          </a:solidFill>
          <a:ln w="23084" cap="flat">
            <a:solidFill>
              <a:srgbClr val="EDEEF5"/>
            </a:solidFill>
            <a:prstDash val="solid"/>
            <a:miter/>
          </a:ln>
        </p:spPr>
        <p:txBody>
          <a:bodyPr/>
          <a:lstStyle/>
          <a:p>
            <a:endParaRPr lang="en-US"/>
          </a:p>
        </p:txBody>
      </p:sp>
      <p:sp>
        <p:nvSpPr>
          <p:cNvPr id="78" name="Freeform: Shape 77">
            <a:extLst>
              <a:ext uri="{FF2B5EF4-FFF2-40B4-BE49-F238E27FC236}">
                <a16:creationId xmlns:a16="http://schemas.microsoft.com/office/drawing/2014/main" id="{8DFC5E2E-80F0-1A83-8F59-0ABDBE8442CD}"/>
              </a:ext>
            </a:extLst>
          </p:cNvPr>
          <p:cNvSpPr/>
          <p:nvPr/>
        </p:nvSpPr>
        <p:spPr>
          <a:xfrm>
            <a:off x="5864924" y="3983581"/>
            <a:ext cx="92430" cy="1039840"/>
          </a:xfrm>
          <a:custGeom>
            <a:avLst/>
            <a:gdLst>
              <a:gd name="csX0" fmla="*/ 46215 w 92430"/>
              <a:gd name="csY0" fmla="*/ 0 h 1039840"/>
              <a:gd name="csX1" fmla="*/ 92430 w 92430"/>
              <a:gd name="csY1" fmla="*/ 0 h 1039840"/>
              <a:gd name="csX2" fmla="*/ 92430 w 92430"/>
              <a:gd name="csY2" fmla="*/ 1039841 h 1039840"/>
              <a:gd name="csX3" fmla="*/ 46215 w 92430"/>
              <a:gd name="csY3" fmla="*/ 1039841 h 1039840"/>
              <a:gd name="csX4" fmla="*/ 46215 w 92430"/>
              <a:gd name="csY4" fmla="*/ 1039841 h 1039840"/>
              <a:gd name="csX5" fmla="*/ 0 w 92430"/>
              <a:gd name="csY5" fmla="*/ 1039841 h 1039840"/>
              <a:gd name="csX6" fmla="*/ 0 w 92430"/>
              <a:gd name="csY6" fmla="*/ 0 h 1039840"/>
              <a:gd name="csX7" fmla="*/ 46215 w 92430"/>
              <a:gd name="csY7" fmla="*/ 0 h 10398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2430" h="1039840">
                <a:moveTo>
                  <a:pt x="46215" y="0"/>
                </a:moveTo>
                <a:cubicBezTo>
                  <a:pt x="71739" y="0"/>
                  <a:pt x="92430" y="0"/>
                  <a:pt x="92430" y="0"/>
                </a:cubicBezTo>
                <a:lnTo>
                  <a:pt x="92430" y="1039841"/>
                </a:lnTo>
                <a:cubicBezTo>
                  <a:pt x="92430" y="1039841"/>
                  <a:pt x="71739" y="1039841"/>
                  <a:pt x="46215" y="1039841"/>
                </a:cubicBezTo>
                <a:lnTo>
                  <a:pt x="46215" y="1039841"/>
                </a:lnTo>
                <a:cubicBezTo>
                  <a:pt x="20691" y="1039841"/>
                  <a:pt x="0" y="1039841"/>
                  <a:pt x="0" y="1039841"/>
                </a:cubicBezTo>
                <a:lnTo>
                  <a:pt x="0" y="0"/>
                </a:lnTo>
                <a:cubicBezTo>
                  <a:pt x="0" y="0"/>
                  <a:pt x="20691" y="0"/>
                  <a:pt x="46215" y="0"/>
                </a:cubicBezTo>
                <a:close/>
              </a:path>
            </a:pathLst>
          </a:custGeom>
          <a:solidFill>
            <a:srgbClr val="4E42DA"/>
          </a:solidFill>
          <a:ln w="11542" cap="flat">
            <a:noFill/>
            <a:prstDash val="solid"/>
            <a:miter/>
          </a:ln>
        </p:spPr>
        <p:txBody>
          <a:bodyPr/>
          <a:lstStyle/>
          <a:p>
            <a:endParaRPr lang="en-US"/>
          </a:p>
        </p:txBody>
      </p:sp>
      <p:sp>
        <p:nvSpPr>
          <p:cNvPr id="79" name="TextBox 78">
            <a:extLst>
              <a:ext uri="{FF2B5EF4-FFF2-40B4-BE49-F238E27FC236}">
                <a16:creationId xmlns:a16="http://schemas.microsoft.com/office/drawing/2014/main" id="{F3EF4A0E-CF7A-CF0A-B3CD-3C129009596B}"/>
              </a:ext>
            </a:extLst>
          </p:cNvPr>
          <p:cNvSpPr txBox="1"/>
          <p:nvPr/>
        </p:nvSpPr>
        <p:spPr>
          <a:xfrm>
            <a:off x="6304044" y="4039690"/>
            <a:ext cx="1363193" cy="321951"/>
          </a:xfrm>
          <a:prstGeom prst="rect">
            <a:avLst/>
          </a:prstGeom>
          <a:noFill/>
        </p:spPr>
        <p:txBody>
          <a:bodyPr wrap="none" rtlCol="0">
            <a:spAutoFit/>
          </a:bodyPr>
          <a:lstStyle/>
          <a:p>
            <a:pPr algn="l"/>
            <a:r>
              <a:rPr lang="en-US" sz="1125" b="1" spc="0" baseline="0">
                <a:ln/>
                <a:solidFill>
                  <a:srgbClr val="444F9C"/>
                </a:solidFill>
                <a:latin typeface="Segoe UI"/>
                <a:cs typeface="Segoe UI"/>
                <a:sym typeface="Segoe UI"/>
                <a:rtl val="0"/>
              </a:rPr>
              <a:t>TLS Certificate</a:t>
            </a:r>
          </a:p>
        </p:txBody>
      </p:sp>
      <p:sp>
        <p:nvSpPr>
          <p:cNvPr id="80" name="TextBox 79">
            <a:extLst>
              <a:ext uri="{FF2B5EF4-FFF2-40B4-BE49-F238E27FC236}">
                <a16:creationId xmlns:a16="http://schemas.microsoft.com/office/drawing/2014/main" id="{94E39128-C071-9884-09A9-C94CF45A3768}"/>
              </a:ext>
            </a:extLst>
          </p:cNvPr>
          <p:cNvSpPr txBox="1"/>
          <p:nvPr/>
        </p:nvSpPr>
        <p:spPr>
          <a:xfrm>
            <a:off x="6311849" y="4272593"/>
            <a:ext cx="1347583" cy="291216"/>
          </a:xfrm>
          <a:prstGeom prst="rect">
            <a:avLst/>
          </a:prstGeom>
          <a:noFill/>
        </p:spPr>
        <p:txBody>
          <a:bodyPr wrap="none" rtlCol="0">
            <a:spAutoFit/>
          </a:bodyPr>
          <a:lstStyle/>
          <a:p>
            <a:pPr algn="l"/>
            <a:r>
              <a:rPr lang="en-US" sz="975" spc="0" baseline="0">
                <a:ln/>
                <a:solidFill>
                  <a:srgbClr val="3E5760"/>
                </a:solidFill>
                <a:latin typeface="Segoe UI"/>
                <a:cs typeface="Segoe UI"/>
                <a:sym typeface="Segoe UI"/>
                <a:rtl val="0"/>
              </a:rPr>
              <a:t>Let's Encrypt / CA</a:t>
            </a:r>
          </a:p>
        </p:txBody>
      </p:sp>
      <p:sp>
        <p:nvSpPr>
          <p:cNvPr id="81" name="TextBox 80">
            <a:extLst>
              <a:ext uri="{FF2B5EF4-FFF2-40B4-BE49-F238E27FC236}">
                <a16:creationId xmlns:a16="http://schemas.microsoft.com/office/drawing/2014/main" id="{25028EBE-A69C-BED7-D976-6C65188CC616}"/>
              </a:ext>
            </a:extLst>
          </p:cNvPr>
          <p:cNvSpPr txBox="1"/>
          <p:nvPr/>
        </p:nvSpPr>
        <p:spPr>
          <a:xfrm>
            <a:off x="6116839" y="4480561"/>
            <a:ext cx="1737603" cy="291216"/>
          </a:xfrm>
          <a:prstGeom prst="rect">
            <a:avLst/>
          </a:prstGeom>
          <a:noFill/>
        </p:spPr>
        <p:txBody>
          <a:bodyPr wrap="none" rtlCol="0">
            <a:spAutoFit/>
          </a:bodyPr>
          <a:lstStyle/>
          <a:p>
            <a:pPr algn="l"/>
            <a:r>
              <a:rPr lang="en-US" sz="975" spc="0" baseline="0">
                <a:ln/>
                <a:solidFill>
                  <a:srgbClr val="3A3A3A"/>
                </a:solidFill>
                <a:latin typeface="Segoe UI"/>
                <a:cs typeface="Segoe UI"/>
                <a:sym typeface="Segoe UI"/>
                <a:rtl val="0"/>
              </a:rPr>
              <a:t>Issued to domain name</a:t>
            </a:r>
          </a:p>
        </p:txBody>
      </p:sp>
      <p:sp>
        <p:nvSpPr>
          <p:cNvPr id="82" name="TextBox 81">
            <a:extLst>
              <a:ext uri="{FF2B5EF4-FFF2-40B4-BE49-F238E27FC236}">
                <a16:creationId xmlns:a16="http://schemas.microsoft.com/office/drawing/2014/main" id="{6E122B92-DE95-FFFD-CCD8-4447E03A6D80}"/>
              </a:ext>
            </a:extLst>
          </p:cNvPr>
          <p:cNvSpPr txBox="1"/>
          <p:nvPr/>
        </p:nvSpPr>
        <p:spPr>
          <a:xfrm>
            <a:off x="6058388" y="4665422"/>
            <a:ext cx="1854506" cy="291216"/>
          </a:xfrm>
          <a:prstGeom prst="rect">
            <a:avLst/>
          </a:prstGeom>
          <a:noFill/>
        </p:spPr>
        <p:txBody>
          <a:bodyPr wrap="none" rtlCol="0">
            <a:spAutoFit/>
          </a:bodyPr>
          <a:lstStyle/>
          <a:p>
            <a:pPr algn="l"/>
            <a:r>
              <a:rPr lang="en-US" sz="975" spc="0" baseline="0" dirty="0">
                <a:ln/>
                <a:solidFill>
                  <a:srgbClr val="3A3A3A"/>
                </a:solidFill>
                <a:latin typeface="Segoe UI"/>
                <a:cs typeface="Segoe UI"/>
                <a:sym typeface="Segoe UI"/>
                <a:rtl val="0"/>
              </a:rPr>
              <a:t>Enables HTTPS (port 443)</a:t>
            </a:r>
          </a:p>
        </p:txBody>
      </p:sp>
      <p:sp>
        <p:nvSpPr>
          <p:cNvPr id="83" name="Freeform: Shape 82">
            <a:extLst>
              <a:ext uri="{FF2B5EF4-FFF2-40B4-BE49-F238E27FC236}">
                <a16:creationId xmlns:a16="http://schemas.microsoft.com/office/drawing/2014/main" id="{F87D0181-A5A4-FEEF-4CB4-DED7BAD28C52}"/>
              </a:ext>
            </a:extLst>
          </p:cNvPr>
          <p:cNvSpPr/>
          <p:nvPr/>
        </p:nvSpPr>
        <p:spPr>
          <a:xfrm>
            <a:off x="4305163" y="3440553"/>
            <a:ext cx="3235059" cy="531474"/>
          </a:xfrm>
          <a:custGeom>
            <a:avLst/>
            <a:gdLst>
              <a:gd name="csX0" fmla="*/ 3235060 w 3235059"/>
              <a:gd name="csY0" fmla="*/ 0 h 531474"/>
              <a:gd name="csX1" fmla="*/ 3235060 w 3235059"/>
              <a:gd name="csY1" fmla="*/ 219522 h 531474"/>
              <a:gd name="csX2" fmla="*/ 0 w 3235059"/>
              <a:gd name="csY2" fmla="*/ 219522 h 531474"/>
              <a:gd name="csX3" fmla="*/ 0 w 3235059"/>
              <a:gd name="csY3" fmla="*/ 531474 h 531474"/>
            </a:gdLst>
            <a:ahLst/>
            <a:cxnLst>
              <a:cxn ang="0">
                <a:pos x="csX0" y="csY0"/>
              </a:cxn>
              <a:cxn ang="0">
                <a:pos x="csX1" y="csY1"/>
              </a:cxn>
              <a:cxn ang="0">
                <a:pos x="csX2" y="csY2"/>
              </a:cxn>
              <a:cxn ang="0">
                <a:pos x="csX3" y="csY3"/>
              </a:cxn>
            </a:cxnLst>
            <a:rect l="l" t="t" r="r" b="b"/>
            <a:pathLst>
              <a:path w="3235059" h="531474">
                <a:moveTo>
                  <a:pt x="3235060" y="0"/>
                </a:moveTo>
                <a:lnTo>
                  <a:pt x="3235060" y="219522"/>
                </a:lnTo>
                <a:lnTo>
                  <a:pt x="0" y="219522"/>
                </a:lnTo>
                <a:lnTo>
                  <a:pt x="0" y="531474"/>
                </a:lnTo>
              </a:path>
            </a:pathLst>
          </a:custGeom>
          <a:noFill/>
          <a:ln w="16159" cap="flat">
            <a:solidFill>
              <a:srgbClr val="2D5EBF"/>
            </a:solidFill>
            <a:prstDash val="solid"/>
            <a:miter/>
          </a:ln>
        </p:spPr>
        <p:txBody>
          <a:bodyPr/>
          <a:lstStyle/>
          <a:p>
            <a:endParaRPr lang="en-US"/>
          </a:p>
        </p:txBody>
      </p:sp>
      <p:sp>
        <p:nvSpPr>
          <p:cNvPr id="84" name="Freeform: Shape 83">
            <a:extLst>
              <a:ext uri="{FF2B5EF4-FFF2-40B4-BE49-F238E27FC236}">
                <a16:creationId xmlns:a16="http://schemas.microsoft.com/office/drawing/2014/main" id="{6AD7769B-7EB8-2EAB-43C8-860D11B0E88F}"/>
              </a:ext>
            </a:extLst>
          </p:cNvPr>
          <p:cNvSpPr/>
          <p:nvPr/>
        </p:nvSpPr>
        <p:spPr>
          <a:xfrm>
            <a:off x="5518310" y="3544537"/>
            <a:ext cx="1016733" cy="207968"/>
          </a:xfrm>
          <a:custGeom>
            <a:avLst/>
            <a:gdLst>
              <a:gd name="csX0" fmla="*/ 982072 w 1016733"/>
              <a:gd name="csY0" fmla="*/ 0 h 207968"/>
              <a:gd name="csX1" fmla="*/ 1016733 w 1016733"/>
              <a:gd name="csY1" fmla="*/ 0 h 207968"/>
              <a:gd name="csX2" fmla="*/ 1016733 w 1016733"/>
              <a:gd name="csY2" fmla="*/ 207968 h 207968"/>
              <a:gd name="csX3" fmla="*/ 982072 w 1016733"/>
              <a:gd name="csY3" fmla="*/ 207968 h 207968"/>
              <a:gd name="csX4" fmla="*/ 34661 w 1016733"/>
              <a:gd name="csY4" fmla="*/ 207968 h 207968"/>
              <a:gd name="csX5" fmla="*/ 0 w 1016733"/>
              <a:gd name="csY5" fmla="*/ 207968 h 207968"/>
              <a:gd name="csX6" fmla="*/ 0 w 1016733"/>
              <a:gd name="csY6" fmla="*/ 0 h 207968"/>
              <a:gd name="csX7" fmla="*/ 34661 w 1016733"/>
              <a:gd name="csY7" fmla="*/ 0 h 207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16733" h="207968">
                <a:moveTo>
                  <a:pt x="982072" y="0"/>
                </a:moveTo>
                <a:cubicBezTo>
                  <a:pt x="1001215" y="0"/>
                  <a:pt x="1016733" y="0"/>
                  <a:pt x="1016733" y="0"/>
                </a:cubicBezTo>
                <a:lnTo>
                  <a:pt x="1016733" y="207968"/>
                </a:lnTo>
                <a:cubicBezTo>
                  <a:pt x="1016733" y="207968"/>
                  <a:pt x="1001215" y="207968"/>
                  <a:pt x="982072" y="207968"/>
                </a:cubicBezTo>
                <a:lnTo>
                  <a:pt x="34661" y="207968"/>
                </a:lnTo>
                <a:cubicBezTo>
                  <a:pt x="15518" y="207968"/>
                  <a:pt x="0" y="207968"/>
                  <a:pt x="0" y="207968"/>
                </a:cubicBezTo>
                <a:lnTo>
                  <a:pt x="0" y="0"/>
                </a:lnTo>
                <a:cubicBezTo>
                  <a:pt x="0" y="0"/>
                  <a:pt x="15518" y="0"/>
                  <a:pt x="34661" y="0"/>
                </a:cubicBezTo>
                <a:close/>
              </a:path>
            </a:pathLst>
          </a:custGeom>
          <a:solidFill>
            <a:srgbClr val="FFFFFF"/>
          </a:solidFill>
          <a:ln w="11542" cap="flat">
            <a:noFill/>
            <a:prstDash val="solid"/>
            <a:miter/>
          </a:ln>
        </p:spPr>
        <p:txBody>
          <a:bodyPr/>
          <a:lstStyle/>
          <a:p>
            <a:endParaRPr lang="en-US"/>
          </a:p>
        </p:txBody>
      </p:sp>
      <p:sp>
        <p:nvSpPr>
          <p:cNvPr id="85" name="TextBox 84">
            <a:extLst>
              <a:ext uri="{FF2B5EF4-FFF2-40B4-BE49-F238E27FC236}">
                <a16:creationId xmlns:a16="http://schemas.microsoft.com/office/drawing/2014/main" id="{175A3956-6C4F-8160-A292-9F6F780F0C9B}"/>
              </a:ext>
            </a:extLst>
          </p:cNvPr>
          <p:cNvSpPr txBox="1"/>
          <p:nvPr/>
        </p:nvSpPr>
        <p:spPr>
          <a:xfrm>
            <a:off x="5403754" y="3445800"/>
            <a:ext cx="1301831" cy="276999"/>
          </a:xfrm>
          <a:prstGeom prst="rect">
            <a:avLst/>
          </a:prstGeom>
          <a:noFill/>
        </p:spPr>
        <p:txBody>
          <a:bodyPr wrap="none" rtlCol="0">
            <a:spAutoFit/>
          </a:bodyPr>
          <a:lstStyle/>
          <a:p>
            <a:pPr algn="l"/>
            <a:r>
              <a:rPr lang="en-US" sz="1200" spc="0" baseline="0" dirty="0">
                <a:ln/>
                <a:solidFill>
                  <a:srgbClr val="3E5760"/>
                </a:solidFill>
                <a:latin typeface="Segoe UI"/>
                <a:cs typeface="Segoe UI"/>
                <a:sym typeface="Segoe UI"/>
                <a:rtl val="0"/>
              </a:rPr>
              <a:t>TCP to IP:80/443</a:t>
            </a:r>
          </a:p>
        </p:txBody>
      </p:sp>
      <p:sp>
        <p:nvSpPr>
          <p:cNvPr id="86" name="Freeform: Shape 85">
            <a:extLst>
              <a:ext uri="{FF2B5EF4-FFF2-40B4-BE49-F238E27FC236}">
                <a16:creationId xmlns:a16="http://schemas.microsoft.com/office/drawing/2014/main" id="{A358573D-86EC-47A8-3DBD-4E930F25AAD6}"/>
              </a:ext>
            </a:extLst>
          </p:cNvPr>
          <p:cNvSpPr/>
          <p:nvPr/>
        </p:nvSpPr>
        <p:spPr>
          <a:xfrm>
            <a:off x="4478470" y="5393142"/>
            <a:ext cx="3235059" cy="693227"/>
          </a:xfrm>
          <a:custGeom>
            <a:avLst/>
            <a:gdLst>
              <a:gd name="csX0" fmla="*/ 3142630 w 3235059"/>
              <a:gd name="csY0" fmla="*/ 0 h 693227"/>
              <a:gd name="csX1" fmla="*/ 3235060 w 3235059"/>
              <a:gd name="csY1" fmla="*/ 0 h 693227"/>
              <a:gd name="csX2" fmla="*/ 3235060 w 3235059"/>
              <a:gd name="csY2" fmla="*/ 693227 h 693227"/>
              <a:gd name="csX3" fmla="*/ 3142630 w 3235059"/>
              <a:gd name="csY3" fmla="*/ 693227 h 693227"/>
              <a:gd name="csX4" fmla="*/ 92430 w 3235059"/>
              <a:gd name="csY4" fmla="*/ 693227 h 693227"/>
              <a:gd name="csX5" fmla="*/ 0 w 3235059"/>
              <a:gd name="csY5" fmla="*/ 693227 h 693227"/>
              <a:gd name="csX6" fmla="*/ 0 w 3235059"/>
              <a:gd name="csY6" fmla="*/ 0 h 693227"/>
              <a:gd name="csX7" fmla="*/ 92430 w 3235059"/>
              <a:gd name="csY7" fmla="*/ 0 h 6932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35059" h="693227">
                <a:moveTo>
                  <a:pt x="3142630" y="0"/>
                </a:moveTo>
                <a:cubicBezTo>
                  <a:pt x="3193678" y="0"/>
                  <a:pt x="3235060" y="0"/>
                  <a:pt x="3235060" y="0"/>
                </a:cubicBezTo>
                <a:lnTo>
                  <a:pt x="3235060" y="693227"/>
                </a:lnTo>
                <a:cubicBezTo>
                  <a:pt x="3235060" y="693227"/>
                  <a:pt x="3193678" y="693227"/>
                  <a:pt x="3142630" y="693227"/>
                </a:cubicBezTo>
                <a:lnTo>
                  <a:pt x="92430" y="693227"/>
                </a:lnTo>
                <a:cubicBezTo>
                  <a:pt x="41382" y="693227"/>
                  <a:pt x="0" y="693227"/>
                  <a:pt x="0" y="693227"/>
                </a:cubicBezTo>
                <a:lnTo>
                  <a:pt x="0" y="0"/>
                </a:lnTo>
                <a:cubicBezTo>
                  <a:pt x="0" y="0"/>
                  <a:pt x="41382" y="0"/>
                  <a:pt x="92430" y="0"/>
                </a:cubicBezTo>
                <a:close/>
              </a:path>
            </a:pathLst>
          </a:custGeom>
          <a:solidFill>
            <a:srgbClr val="FFFFFF"/>
          </a:solidFill>
          <a:ln w="23084" cap="flat">
            <a:solidFill>
              <a:srgbClr val="444F9C"/>
            </a:solidFill>
            <a:prstDash val="solid"/>
            <a:miter/>
          </a:ln>
        </p:spPr>
        <p:txBody>
          <a:bodyPr/>
          <a:lstStyle/>
          <a:p>
            <a:endParaRPr lang="en-US"/>
          </a:p>
        </p:txBody>
      </p:sp>
      <p:sp>
        <p:nvSpPr>
          <p:cNvPr id="87" name="Freeform: Shape 86">
            <a:extLst>
              <a:ext uri="{FF2B5EF4-FFF2-40B4-BE49-F238E27FC236}">
                <a16:creationId xmlns:a16="http://schemas.microsoft.com/office/drawing/2014/main" id="{9E40790D-3030-1196-1932-D49AD9B4555F}"/>
              </a:ext>
            </a:extLst>
          </p:cNvPr>
          <p:cNvSpPr/>
          <p:nvPr/>
        </p:nvSpPr>
        <p:spPr>
          <a:xfrm>
            <a:off x="4478470" y="5393142"/>
            <a:ext cx="92430" cy="693227"/>
          </a:xfrm>
          <a:custGeom>
            <a:avLst/>
            <a:gdLst>
              <a:gd name="csX0" fmla="*/ 46215 w 92430"/>
              <a:gd name="csY0" fmla="*/ 0 h 693227"/>
              <a:gd name="csX1" fmla="*/ 92430 w 92430"/>
              <a:gd name="csY1" fmla="*/ 0 h 693227"/>
              <a:gd name="csX2" fmla="*/ 92430 w 92430"/>
              <a:gd name="csY2" fmla="*/ 693227 h 693227"/>
              <a:gd name="csX3" fmla="*/ 46215 w 92430"/>
              <a:gd name="csY3" fmla="*/ 693227 h 693227"/>
              <a:gd name="csX4" fmla="*/ 46215 w 92430"/>
              <a:gd name="csY4" fmla="*/ 693227 h 693227"/>
              <a:gd name="csX5" fmla="*/ 0 w 92430"/>
              <a:gd name="csY5" fmla="*/ 693227 h 693227"/>
              <a:gd name="csX6" fmla="*/ 0 w 92430"/>
              <a:gd name="csY6" fmla="*/ 0 h 693227"/>
              <a:gd name="csX7" fmla="*/ 46215 w 92430"/>
              <a:gd name="csY7" fmla="*/ 0 h 6932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2430" h="693227">
                <a:moveTo>
                  <a:pt x="46215" y="0"/>
                </a:moveTo>
                <a:cubicBezTo>
                  <a:pt x="71739" y="0"/>
                  <a:pt x="92430" y="0"/>
                  <a:pt x="92430" y="0"/>
                </a:cubicBezTo>
                <a:lnTo>
                  <a:pt x="92430" y="693227"/>
                </a:lnTo>
                <a:cubicBezTo>
                  <a:pt x="92430" y="693227"/>
                  <a:pt x="71739" y="693227"/>
                  <a:pt x="46215" y="693227"/>
                </a:cubicBezTo>
                <a:lnTo>
                  <a:pt x="46215" y="693227"/>
                </a:lnTo>
                <a:cubicBezTo>
                  <a:pt x="20691" y="693227"/>
                  <a:pt x="0" y="693227"/>
                  <a:pt x="0" y="693227"/>
                </a:cubicBezTo>
                <a:lnTo>
                  <a:pt x="0" y="0"/>
                </a:lnTo>
                <a:cubicBezTo>
                  <a:pt x="0" y="0"/>
                  <a:pt x="20691" y="0"/>
                  <a:pt x="46215" y="0"/>
                </a:cubicBezTo>
                <a:close/>
              </a:path>
            </a:pathLst>
          </a:custGeom>
          <a:solidFill>
            <a:srgbClr val="444F9C"/>
          </a:solidFill>
          <a:ln w="11542" cap="flat">
            <a:noFill/>
            <a:prstDash val="solid"/>
            <a:miter/>
          </a:ln>
        </p:spPr>
        <p:txBody>
          <a:bodyPr/>
          <a:lstStyle/>
          <a:p>
            <a:endParaRPr lang="en-US"/>
          </a:p>
        </p:txBody>
      </p:sp>
      <p:sp>
        <p:nvSpPr>
          <p:cNvPr id="88" name="TextBox 87">
            <a:extLst>
              <a:ext uri="{FF2B5EF4-FFF2-40B4-BE49-F238E27FC236}">
                <a16:creationId xmlns:a16="http://schemas.microsoft.com/office/drawing/2014/main" id="{42798E32-7B6A-5288-00D9-E816DCEBFCBB}"/>
              </a:ext>
            </a:extLst>
          </p:cNvPr>
          <p:cNvSpPr txBox="1"/>
          <p:nvPr/>
        </p:nvSpPr>
        <p:spPr>
          <a:xfrm>
            <a:off x="5674329" y="5459891"/>
            <a:ext cx="889556" cy="337318"/>
          </a:xfrm>
          <a:prstGeom prst="rect">
            <a:avLst/>
          </a:prstGeom>
          <a:noFill/>
        </p:spPr>
        <p:txBody>
          <a:bodyPr wrap="none" rtlCol="0">
            <a:spAutoFit/>
          </a:bodyPr>
          <a:lstStyle/>
          <a:p>
            <a:pPr algn="l"/>
            <a:r>
              <a:rPr lang="en-US" sz="1200" b="1" spc="0" baseline="0">
                <a:ln/>
                <a:solidFill>
                  <a:srgbClr val="444F9C"/>
                </a:solidFill>
                <a:latin typeface="Segoe UI"/>
                <a:cs typeface="Segoe UI"/>
                <a:sym typeface="Segoe UI"/>
                <a:rtl val="0"/>
              </a:rPr>
              <a:t>Browser</a:t>
            </a:r>
          </a:p>
        </p:txBody>
      </p:sp>
      <p:sp>
        <p:nvSpPr>
          <p:cNvPr id="89" name="TextBox 88">
            <a:extLst>
              <a:ext uri="{FF2B5EF4-FFF2-40B4-BE49-F238E27FC236}">
                <a16:creationId xmlns:a16="http://schemas.microsoft.com/office/drawing/2014/main" id="{55882755-B507-F783-F23E-FF68D8F68E0E}"/>
              </a:ext>
            </a:extLst>
          </p:cNvPr>
          <p:cNvSpPr txBox="1"/>
          <p:nvPr/>
        </p:nvSpPr>
        <p:spPr>
          <a:xfrm>
            <a:off x="4622635" y="5715902"/>
            <a:ext cx="2992943" cy="306584"/>
          </a:xfrm>
          <a:prstGeom prst="rect">
            <a:avLst/>
          </a:prstGeom>
          <a:noFill/>
        </p:spPr>
        <p:txBody>
          <a:bodyPr wrap="none" rtlCol="0">
            <a:spAutoFit/>
          </a:bodyPr>
          <a:lstStyle/>
          <a:p>
            <a:pPr algn="l"/>
            <a:r>
              <a:rPr lang="en-US" sz="1050" spc="0" baseline="0">
                <a:ln/>
                <a:solidFill>
                  <a:srgbClr val="3A3A3A"/>
                </a:solidFill>
                <a:latin typeface="Segoe UI"/>
                <a:cs typeface="Segoe UI"/>
                <a:sym typeface="Segoe UI"/>
                <a:rtl val="0"/>
              </a:rPr>
              <a:t>Renders the page at https://mysite.com</a:t>
            </a:r>
          </a:p>
        </p:txBody>
      </p:sp>
      <p:sp>
        <p:nvSpPr>
          <p:cNvPr id="90" name="Freeform: Shape 89">
            <a:extLst>
              <a:ext uri="{FF2B5EF4-FFF2-40B4-BE49-F238E27FC236}">
                <a16:creationId xmlns:a16="http://schemas.microsoft.com/office/drawing/2014/main" id="{8CC15791-C3F9-ABF3-5079-BB093B994B12}"/>
              </a:ext>
            </a:extLst>
          </p:cNvPr>
          <p:cNvSpPr/>
          <p:nvPr/>
        </p:nvSpPr>
        <p:spPr>
          <a:xfrm>
            <a:off x="4305163" y="5034975"/>
            <a:ext cx="1790836" cy="346613"/>
          </a:xfrm>
          <a:custGeom>
            <a:avLst/>
            <a:gdLst>
              <a:gd name="csX0" fmla="*/ 0 w 1790836"/>
              <a:gd name="csY0" fmla="*/ 0 h 346613"/>
              <a:gd name="csX1" fmla="*/ 0 w 1790836"/>
              <a:gd name="csY1" fmla="*/ 242629 h 346613"/>
              <a:gd name="csX2" fmla="*/ 1790837 w 1790836"/>
              <a:gd name="csY2" fmla="*/ 242629 h 346613"/>
              <a:gd name="csX3" fmla="*/ 1790837 w 1790836"/>
              <a:gd name="csY3" fmla="*/ 346614 h 346613"/>
            </a:gdLst>
            <a:ahLst/>
            <a:cxnLst>
              <a:cxn ang="0">
                <a:pos x="csX0" y="csY0"/>
              </a:cxn>
              <a:cxn ang="0">
                <a:pos x="csX1" y="csY1"/>
              </a:cxn>
              <a:cxn ang="0">
                <a:pos x="csX2" y="csY2"/>
              </a:cxn>
              <a:cxn ang="0">
                <a:pos x="csX3" y="csY3"/>
              </a:cxn>
            </a:cxnLst>
            <a:rect l="l" t="t" r="r" b="b"/>
            <a:pathLst>
              <a:path w="1790836" h="346613">
                <a:moveTo>
                  <a:pt x="0" y="0"/>
                </a:moveTo>
                <a:lnTo>
                  <a:pt x="0" y="242629"/>
                </a:lnTo>
                <a:lnTo>
                  <a:pt x="1790837" y="242629"/>
                </a:lnTo>
                <a:lnTo>
                  <a:pt x="1790837" y="346614"/>
                </a:lnTo>
              </a:path>
            </a:pathLst>
          </a:custGeom>
          <a:noFill/>
          <a:ln w="16159" cap="flat">
            <a:solidFill>
              <a:srgbClr val="444F9C"/>
            </a:solidFill>
            <a:prstDash val="solid"/>
            <a:miter/>
          </a:ln>
        </p:spPr>
        <p:txBody>
          <a:bodyPr/>
          <a:lstStyle/>
          <a:p>
            <a:endParaRPr lang="en-US"/>
          </a:p>
        </p:txBody>
      </p:sp>
      <p:sp>
        <p:nvSpPr>
          <p:cNvPr id="91" name="Freeform: Shape 90">
            <a:extLst>
              <a:ext uri="{FF2B5EF4-FFF2-40B4-BE49-F238E27FC236}">
                <a16:creationId xmlns:a16="http://schemas.microsoft.com/office/drawing/2014/main" id="{BFF2F608-8130-D1B4-A933-798E9D0AC2FB}"/>
              </a:ext>
            </a:extLst>
          </p:cNvPr>
          <p:cNvSpPr/>
          <p:nvPr/>
        </p:nvSpPr>
        <p:spPr>
          <a:xfrm>
            <a:off x="4940621" y="5162067"/>
            <a:ext cx="1039840" cy="207968"/>
          </a:xfrm>
          <a:custGeom>
            <a:avLst/>
            <a:gdLst>
              <a:gd name="csX0" fmla="*/ 1005179 w 1039840"/>
              <a:gd name="csY0" fmla="*/ 0 h 207968"/>
              <a:gd name="csX1" fmla="*/ 1039841 w 1039840"/>
              <a:gd name="csY1" fmla="*/ 0 h 207968"/>
              <a:gd name="csX2" fmla="*/ 1039841 w 1039840"/>
              <a:gd name="csY2" fmla="*/ 207968 h 207968"/>
              <a:gd name="csX3" fmla="*/ 1005179 w 1039840"/>
              <a:gd name="csY3" fmla="*/ 207968 h 207968"/>
              <a:gd name="csX4" fmla="*/ 34661 w 1039840"/>
              <a:gd name="csY4" fmla="*/ 207968 h 207968"/>
              <a:gd name="csX5" fmla="*/ 0 w 1039840"/>
              <a:gd name="csY5" fmla="*/ 207968 h 207968"/>
              <a:gd name="csX6" fmla="*/ 0 w 1039840"/>
              <a:gd name="csY6" fmla="*/ 0 h 207968"/>
              <a:gd name="csX7" fmla="*/ 34661 w 1039840"/>
              <a:gd name="csY7" fmla="*/ 0 h 207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39840" h="207968">
                <a:moveTo>
                  <a:pt x="1005179" y="0"/>
                </a:moveTo>
                <a:cubicBezTo>
                  <a:pt x="1024322" y="0"/>
                  <a:pt x="1039841" y="0"/>
                  <a:pt x="1039841" y="0"/>
                </a:cubicBezTo>
                <a:lnTo>
                  <a:pt x="1039841" y="207968"/>
                </a:lnTo>
                <a:cubicBezTo>
                  <a:pt x="1039841" y="207968"/>
                  <a:pt x="1024322" y="207968"/>
                  <a:pt x="1005179" y="207968"/>
                </a:cubicBezTo>
                <a:lnTo>
                  <a:pt x="34661" y="207968"/>
                </a:lnTo>
                <a:cubicBezTo>
                  <a:pt x="15518" y="207968"/>
                  <a:pt x="0" y="207968"/>
                  <a:pt x="0" y="207968"/>
                </a:cubicBezTo>
                <a:lnTo>
                  <a:pt x="0" y="0"/>
                </a:lnTo>
                <a:cubicBezTo>
                  <a:pt x="0" y="0"/>
                  <a:pt x="15518" y="0"/>
                  <a:pt x="34661" y="0"/>
                </a:cubicBezTo>
                <a:close/>
              </a:path>
            </a:pathLst>
          </a:custGeom>
          <a:solidFill>
            <a:srgbClr val="FFFFFF"/>
          </a:solidFill>
          <a:ln w="11542" cap="flat">
            <a:noFill/>
            <a:prstDash val="solid"/>
            <a:miter/>
          </a:ln>
        </p:spPr>
        <p:txBody>
          <a:bodyPr/>
          <a:lstStyle/>
          <a:p>
            <a:endParaRPr lang="en-US"/>
          </a:p>
        </p:txBody>
      </p:sp>
      <p:sp>
        <p:nvSpPr>
          <p:cNvPr id="92" name="TextBox 91">
            <a:extLst>
              <a:ext uri="{FF2B5EF4-FFF2-40B4-BE49-F238E27FC236}">
                <a16:creationId xmlns:a16="http://schemas.microsoft.com/office/drawing/2014/main" id="{D4843D89-6BA2-DDC0-B644-FF0489C8F939}"/>
              </a:ext>
            </a:extLst>
          </p:cNvPr>
          <p:cNvSpPr txBox="1"/>
          <p:nvPr/>
        </p:nvSpPr>
        <p:spPr>
          <a:xfrm>
            <a:off x="4827309" y="5052260"/>
            <a:ext cx="1199367" cy="276999"/>
          </a:xfrm>
          <a:prstGeom prst="rect">
            <a:avLst/>
          </a:prstGeom>
          <a:noFill/>
        </p:spPr>
        <p:txBody>
          <a:bodyPr wrap="none" rtlCol="0">
            <a:spAutoFit/>
          </a:bodyPr>
          <a:lstStyle/>
          <a:p>
            <a:pPr algn="l"/>
            <a:r>
              <a:rPr lang="en-US" sz="1200" b="1" spc="0" baseline="0" dirty="0">
                <a:ln/>
                <a:solidFill>
                  <a:srgbClr val="AE0064"/>
                </a:solidFill>
                <a:latin typeface="Segoe UI"/>
                <a:cs typeface="Segoe UI"/>
                <a:sym typeface="Segoe UI"/>
                <a:rtl val="0"/>
              </a:rPr>
              <a:t>HTML / assets</a:t>
            </a:r>
          </a:p>
        </p:txBody>
      </p:sp>
      <p:sp>
        <p:nvSpPr>
          <p:cNvPr id="93" name="Freeform: Shape 92">
            <a:extLst>
              <a:ext uri="{FF2B5EF4-FFF2-40B4-BE49-F238E27FC236}">
                <a16:creationId xmlns:a16="http://schemas.microsoft.com/office/drawing/2014/main" id="{426B94AF-1C92-A72C-94DA-5349602645CA}"/>
              </a:ext>
            </a:extLst>
          </p:cNvPr>
          <p:cNvSpPr/>
          <p:nvPr/>
        </p:nvSpPr>
        <p:spPr>
          <a:xfrm>
            <a:off x="6962533" y="5034975"/>
            <a:ext cx="11553" cy="242629"/>
          </a:xfrm>
          <a:custGeom>
            <a:avLst/>
            <a:gdLst>
              <a:gd name="csX0" fmla="*/ 0 w 11553"/>
              <a:gd name="csY0" fmla="*/ 0 h 242629"/>
              <a:gd name="csX1" fmla="*/ 0 w 11553"/>
              <a:gd name="csY1" fmla="*/ 242629 h 242629"/>
            </a:gdLst>
            <a:ahLst/>
            <a:cxnLst>
              <a:cxn ang="0">
                <a:pos x="csX0" y="csY0"/>
              </a:cxn>
              <a:cxn ang="0">
                <a:pos x="csX1" y="csY1"/>
              </a:cxn>
            </a:cxnLst>
            <a:rect l="l" t="t" r="r" b="b"/>
            <a:pathLst>
              <a:path w="11553" h="242629">
                <a:moveTo>
                  <a:pt x="0" y="0"/>
                </a:moveTo>
                <a:lnTo>
                  <a:pt x="0" y="242629"/>
                </a:lnTo>
              </a:path>
            </a:pathLst>
          </a:custGeom>
          <a:noFill/>
          <a:ln w="16159" cap="flat">
            <a:solidFill>
              <a:srgbClr val="4E42DA"/>
            </a:solidFill>
            <a:custDash>
              <a:ds d="375000" sp="225000"/>
            </a:custDash>
            <a:miter/>
          </a:ln>
        </p:spPr>
        <p:txBody>
          <a:bodyPr/>
          <a:lstStyle/>
          <a:p>
            <a:endParaRPr lang="en-US"/>
          </a:p>
        </p:txBody>
      </p:sp>
      <p:sp>
        <p:nvSpPr>
          <p:cNvPr id="94" name="Freeform: Shape 93">
            <a:extLst>
              <a:ext uri="{FF2B5EF4-FFF2-40B4-BE49-F238E27FC236}">
                <a16:creationId xmlns:a16="http://schemas.microsoft.com/office/drawing/2014/main" id="{E975A440-A073-3EB3-3517-097D277625B0}"/>
              </a:ext>
            </a:extLst>
          </p:cNvPr>
          <p:cNvSpPr/>
          <p:nvPr/>
        </p:nvSpPr>
        <p:spPr>
          <a:xfrm>
            <a:off x="7020302" y="5115852"/>
            <a:ext cx="1039840" cy="207968"/>
          </a:xfrm>
          <a:custGeom>
            <a:avLst/>
            <a:gdLst>
              <a:gd name="csX0" fmla="*/ 1005179 w 1039840"/>
              <a:gd name="csY0" fmla="*/ 0 h 207968"/>
              <a:gd name="csX1" fmla="*/ 1039841 w 1039840"/>
              <a:gd name="csY1" fmla="*/ 0 h 207968"/>
              <a:gd name="csX2" fmla="*/ 1039841 w 1039840"/>
              <a:gd name="csY2" fmla="*/ 207968 h 207968"/>
              <a:gd name="csX3" fmla="*/ 1005179 w 1039840"/>
              <a:gd name="csY3" fmla="*/ 207968 h 207968"/>
              <a:gd name="csX4" fmla="*/ 34661 w 1039840"/>
              <a:gd name="csY4" fmla="*/ 207968 h 207968"/>
              <a:gd name="csX5" fmla="*/ 0 w 1039840"/>
              <a:gd name="csY5" fmla="*/ 207968 h 207968"/>
              <a:gd name="csX6" fmla="*/ 0 w 1039840"/>
              <a:gd name="csY6" fmla="*/ 0 h 207968"/>
              <a:gd name="csX7" fmla="*/ 34661 w 1039840"/>
              <a:gd name="csY7" fmla="*/ 0 h 2079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39840" h="207968">
                <a:moveTo>
                  <a:pt x="1005179" y="0"/>
                </a:moveTo>
                <a:cubicBezTo>
                  <a:pt x="1024322" y="0"/>
                  <a:pt x="1039841" y="0"/>
                  <a:pt x="1039841" y="0"/>
                </a:cubicBezTo>
                <a:lnTo>
                  <a:pt x="1039841" y="207968"/>
                </a:lnTo>
                <a:cubicBezTo>
                  <a:pt x="1039841" y="207968"/>
                  <a:pt x="1024322" y="207968"/>
                  <a:pt x="1005179" y="207968"/>
                </a:cubicBezTo>
                <a:lnTo>
                  <a:pt x="34661" y="207968"/>
                </a:lnTo>
                <a:cubicBezTo>
                  <a:pt x="15518" y="207968"/>
                  <a:pt x="0" y="207968"/>
                  <a:pt x="0" y="207968"/>
                </a:cubicBezTo>
                <a:lnTo>
                  <a:pt x="0" y="0"/>
                </a:lnTo>
                <a:cubicBezTo>
                  <a:pt x="0" y="0"/>
                  <a:pt x="15518" y="0"/>
                  <a:pt x="34661" y="0"/>
                </a:cubicBezTo>
                <a:close/>
              </a:path>
            </a:pathLst>
          </a:custGeom>
          <a:solidFill>
            <a:srgbClr val="FFFFFF"/>
          </a:solidFill>
          <a:ln w="11542" cap="flat">
            <a:noFill/>
            <a:prstDash val="solid"/>
            <a:miter/>
          </a:ln>
        </p:spPr>
        <p:txBody>
          <a:bodyPr/>
          <a:lstStyle/>
          <a:p>
            <a:endParaRPr lang="en-US"/>
          </a:p>
        </p:txBody>
      </p:sp>
      <p:sp>
        <p:nvSpPr>
          <p:cNvPr id="95" name="TextBox 94">
            <a:extLst>
              <a:ext uri="{FF2B5EF4-FFF2-40B4-BE49-F238E27FC236}">
                <a16:creationId xmlns:a16="http://schemas.microsoft.com/office/drawing/2014/main" id="{4149B8B8-D71C-1E8F-077E-E682CCC75B1F}"/>
              </a:ext>
            </a:extLst>
          </p:cNvPr>
          <p:cNvSpPr txBox="1"/>
          <p:nvPr/>
        </p:nvSpPr>
        <p:spPr>
          <a:xfrm>
            <a:off x="7142314" y="5059164"/>
            <a:ext cx="867673" cy="276999"/>
          </a:xfrm>
          <a:prstGeom prst="rect">
            <a:avLst/>
          </a:prstGeom>
          <a:noFill/>
        </p:spPr>
        <p:txBody>
          <a:bodyPr wrap="none" rtlCol="0">
            <a:spAutoFit/>
          </a:bodyPr>
          <a:lstStyle/>
          <a:p>
            <a:pPr algn="l"/>
            <a:r>
              <a:rPr lang="en-US" sz="1200" spc="0" baseline="0" dirty="0">
                <a:ln/>
                <a:solidFill>
                  <a:srgbClr val="4E42DA"/>
                </a:solidFill>
                <a:latin typeface="Segoe UI"/>
                <a:cs typeface="Segoe UI"/>
                <a:sym typeface="Segoe UI"/>
                <a:rtl val="0"/>
              </a:rPr>
              <a:t>encrypted</a:t>
            </a:r>
          </a:p>
        </p:txBody>
      </p:sp>
      <p:sp>
        <p:nvSpPr>
          <p:cNvPr id="97" name="TextBox 96">
            <a:extLst>
              <a:ext uri="{FF2B5EF4-FFF2-40B4-BE49-F238E27FC236}">
                <a16:creationId xmlns:a16="http://schemas.microsoft.com/office/drawing/2014/main" id="{D3FE3AAD-7811-36C2-344C-8731851F2CC3}"/>
              </a:ext>
            </a:extLst>
          </p:cNvPr>
          <p:cNvSpPr txBox="1"/>
          <p:nvPr/>
        </p:nvSpPr>
        <p:spPr>
          <a:xfrm>
            <a:off x="2201370" y="368811"/>
            <a:ext cx="6864956" cy="492443"/>
          </a:xfrm>
          <a:prstGeom prst="rect">
            <a:avLst/>
          </a:prstGeom>
          <a:noFill/>
        </p:spPr>
        <p:txBody>
          <a:bodyPr wrap="none" rtlCol="0">
            <a:spAutoFit/>
          </a:bodyPr>
          <a:lstStyle/>
          <a:p>
            <a:pPr algn="l"/>
            <a:r>
              <a:rPr lang="en-US" sz="2600" b="1" spc="0" baseline="0" dirty="0">
                <a:ln/>
                <a:solidFill>
                  <a:srgbClr val="444F9C"/>
                </a:solidFill>
                <a:latin typeface="Segoe UI"/>
                <a:cs typeface="Segoe UI"/>
                <a:sym typeface="Segoe UI"/>
                <a:rtl val="0"/>
              </a:rPr>
              <a:t>How a domain name reaches your browser</a:t>
            </a:r>
          </a:p>
        </p:txBody>
      </p:sp>
    </p:spTree>
    <p:extLst>
      <p:ext uri="{BB962C8B-B14F-4D97-AF65-F5344CB8AC3E}">
        <p14:creationId xmlns:p14="http://schemas.microsoft.com/office/powerpoint/2010/main" val="2167996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a:bodyPr>
          <a:lstStyle/>
          <a:p>
            <a:pPr marL="0" indent="0">
              <a:buNone/>
            </a:pPr>
            <a:r>
              <a:rPr lang="en-US" sz="2400" dirty="0"/>
              <a:t>Securing a domain requires only a few steps</a:t>
            </a:r>
          </a:p>
          <a:p>
            <a:pPr marL="0" indent="0">
              <a:buNone/>
            </a:pPr>
            <a:r>
              <a:rPr lang="en-US" sz="2400" dirty="0"/>
              <a:t>Finding the right domain name can take some time and thought, plus the help of online tools to perform a domain name search and check availability, but once a name has been picked, all that’s needed is to register it either with an independent registrar or a web hosting company for a term of one or multiple years</a:t>
            </a:r>
          </a:p>
          <a:p>
            <a:pPr marL="0" indent="0">
              <a:buNone/>
            </a:pPr>
            <a:r>
              <a:rPr lang="en-US" sz="2400" dirty="0"/>
              <a:t>Once registered, the name is assigned to a host’s primary and secondary nameservers, which point the domain to a website</a:t>
            </a:r>
          </a:p>
        </p:txBody>
      </p:sp>
    </p:spTree>
    <p:extLst>
      <p:ext uri="{BB962C8B-B14F-4D97-AF65-F5344CB8AC3E}">
        <p14:creationId xmlns:p14="http://schemas.microsoft.com/office/powerpoint/2010/main" val="3055098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lnSpcReduction="10000"/>
          </a:bodyPr>
          <a:lstStyle/>
          <a:p>
            <a:pPr marL="0" indent="0">
              <a:buNone/>
            </a:pPr>
            <a:r>
              <a:rPr lang="en-US" sz="2400" dirty="0"/>
              <a:t>Individual users and small businesses might find that a single domain name is all that’s needed to establish an online presence and develop a brand</a:t>
            </a:r>
          </a:p>
          <a:p>
            <a:pPr marL="0" indent="0">
              <a:buNone/>
            </a:pPr>
            <a:r>
              <a:rPr lang="en-US" sz="2400" dirty="0"/>
              <a:t>Larger corporations and those with a number of different business interests may need multiple domains</a:t>
            </a:r>
          </a:p>
          <a:p>
            <a:pPr marL="0" indent="0">
              <a:buNone/>
            </a:pPr>
            <a:r>
              <a:rPr lang="en-US" sz="2400" dirty="0"/>
              <a:t>Many registrars recommend buying as many related domain names as possible to keep them from being used by competitors and to capture all possible variants that might be typed in during a search—including misspellings</a:t>
            </a:r>
          </a:p>
          <a:p>
            <a:pPr marL="0" indent="0">
              <a:buNone/>
            </a:pPr>
            <a:r>
              <a:rPr lang="en-US" sz="2400" dirty="0"/>
              <a:t>That can result in a large portfolio of domain names, some of which may never be used</a:t>
            </a:r>
          </a:p>
          <a:p>
            <a:pPr marL="0" indent="0">
              <a:buNone/>
            </a:pPr>
            <a:r>
              <a:rPr lang="en-US" sz="2400" dirty="0"/>
              <a:t>Whether a user buys one domain or many, though, ongoing management keeps them updated and working to support the websites they serve</a:t>
            </a:r>
          </a:p>
        </p:txBody>
      </p:sp>
    </p:spTree>
    <p:extLst>
      <p:ext uri="{BB962C8B-B14F-4D97-AF65-F5344CB8AC3E}">
        <p14:creationId xmlns:p14="http://schemas.microsoft.com/office/powerpoint/2010/main" val="1692188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 - How it Works</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a:bodyPr>
          <a:lstStyle/>
          <a:p>
            <a:pPr marL="0" indent="0">
              <a:buNone/>
            </a:pPr>
            <a:r>
              <a:rPr lang="en-US" sz="2400" dirty="0"/>
              <a:t>Domain management can take various forms, depending on a domain owner’s individual goals and needs</a:t>
            </a:r>
          </a:p>
          <a:p>
            <a:pPr marL="0" indent="0">
              <a:buNone/>
            </a:pPr>
            <a:r>
              <a:rPr lang="en-US" sz="2400" dirty="0"/>
              <a:t>In general, a domain owner needs to be able to perform essential tasks such as renewing or terminating domain name registration, determining nameservers and hosting providers, and making changes to domain names if needed</a:t>
            </a:r>
          </a:p>
        </p:txBody>
      </p:sp>
    </p:spTree>
    <p:extLst>
      <p:ext uri="{BB962C8B-B14F-4D97-AF65-F5344CB8AC3E}">
        <p14:creationId xmlns:p14="http://schemas.microsoft.com/office/powerpoint/2010/main" val="2930306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 - How it Works</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a:bodyPr>
          <a:lstStyle/>
          <a:p>
            <a:pPr marL="0" indent="0">
              <a:buNone/>
            </a:pPr>
            <a:r>
              <a:rPr lang="en-US" sz="2400" dirty="0"/>
              <a:t>Because a domain establishes its owner’s online identity, managing that domain can also include checking for similar names that might be harmful to a brand’s reputation or authority, or tracking analytics to see how it performs in searches</a:t>
            </a:r>
          </a:p>
          <a:p>
            <a:pPr marL="0" indent="0">
              <a:buNone/>
            </a:pPr>
            <a:r>
              <a:rPr lang="en-US" sz="2400" dirty="0"/>
              <a:t>Another key part of domain management involves security—validating IP addresses associated with the domain and checking for suspicious access to the domain</a:t>
            </a:r>
          </a:p>
        </p:txBody>
      </p:sp>
    </p:spTree>
    <p:extLst>
      <p:ext uri="{BB962C8B-B14F-4D97-AF65-F5344CB8AC3E}">
        <p14:creationId xmlns:p14="http://schemas.microsoft.com/office/powerpoint/2010/main" val="400181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 - Tools &amp; Options</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a:bodyPr>
          <a:lstStyle/>
          <a:p>
            <a:pPr marL="0" indent="0">
              <a:buNone/>
            </a:pPr>
            <a:r>
              <a:rPr lang="en-US" sz="2400" dirty="0"/>
              <a:t>Essential domain management tools are available either through the registrar, or they can be integrated into the control panel provided by a web hosting service</a:t>
            </a:r>
          </a:p>
          <a:p>
            <a:pPr marL="0" indent="0">
              <a:buNone/>
            </a:pPr>
            <a:r>
              <a:rPr lang="en-US" sz="2400" dirty="0"/>
              <a:t>These tools offer a graphical, non-technical way to manage settings related to maintaining all the domains on a user’s account</a:t>
            </a:r>
          </a:p>
          <a:p>
            <a:pPr marL="0" indent="0">
              <a:buNone/>
            </a:pPr>
            <a:r>
              <a:rPr lang="en-US" sz="2400" dirty="0"/>
              <a:t>These DIY management tools allow users to handle key tasks such as renewing or terminating domain registrations, validating IP addresses, and configuring nameservers</a:t>
            </a:r>
          </a:p>
          <a:p>
            <a:pPr marL="0" indent="0">
              <a:buNone/>
            </a:pPr>
            <a:endParaRPr lang="en-US" sz="2400" dirty="0"/>
          </a:p>
        </p:txBody>
      </p:sp>
    </p:spTree>
    <p:extLst>
      <p:ext uri="{BB962C8B-B14F-4D97-AF65-F5344CB8AC3E}">
        <p14:creationId xmlns:p14="http://schemas.microsoft.com/office/powerpoint/2010/main" val="4245820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 - Tools &amp; Options</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a:bodyPr>
          <a:lstStyle/>
          <a:p>
            <a:pPr marL="0" indent="0">
              <a:buNone/>
            </a:pPr>
            <a:r>
              <a:rPr lang="en-US" sz="2400" dirty="0"/>
              <a:t>A variety of paid and free domain management tools online can also handle essential tasks such as registering and renewing domains, managing multi-domain portfolios, and tracking domain performance</a:t>
            </a:r>
          </a:p>
          <a:p>
            <a:pPr marL="0" indent="0">
              <a:buNone/>
            </a:pPr>
            <a:r>
              <a:rPr lang="en-US" sz="2400" dirty="0"/>
              <a:t>Some may also include domain name generators and other tools for managing multiple registrars and nameservers, and for keeping domains secure</a:t>
            </a:r>
          </a:p>
        </p:txBody>
      </p:sp>
    </p:spTree>
    <p:extLst>
      <p:ext uri="{BB962C8B-B14F-4D97-AF65-F5344CB8AC3E}">
        <p14:creationId xmlns:p14="http://schemas.microsoft.com/office/powerpoint/2010/main" val="2094296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 - Tools &amp; Options</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a:bodyPr>
          <a:lstStyle/>
          <a:p>
            <a:pPr marL="0" indent="0">
              <a:buNone/>
            </a:pPr>
            <a:r>
              <a:rPr lang="en-US" sz="2400" dirty="0"/>
              <a:t>Available through the cloud or downloadable to a user’s own desktop, these tools allow users to control all aspects of domain management on their own</a:t>
            </a:r>
          </a:p>
          <a:p>
            <a:pPr marL="0" indent="0">
              <a:buNone/>
            </a:pPr>
            <a:r>
              <a:rPr lang="en-US" sz="2400" dirty="0"/>
              <a:t>Domain management can also be outsourced—this is an appealing option for users with multiple domains or corporations with a large domain portfolio</a:t>
            </a:r>
          </a:p>
        </p:txBody>
      </p:sp>
    </p:spTree>
    <p:extLst>
      <p:ext uri="{BB962C8B-B14F-4D97-AF65-F5344CB8AC3E}">
        <p14:creationId xmlns:p14="http://schemas.microsoft.com/office/powerpoint/2010/main" val="183175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 - Services</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a:bodyPr>
          <a:lstStyle/>
          <a:p>
            <a:pPr marL="0" indent="0">
              <a:buNone/>
            </a:pPr>
            <a:r>
              <a:rPr lang="en-US" sz="2400" dirty="0"/>
              <a:t>Because businesses of all sizes often buy multiple related domain names with different extensions, they can end up with a large portfolio of domains, some of which may lie dormant for long periods of time or never be used at all</a:t>
            </a:r>
          </a:p>
          <a:p>
            <a:pPr marL="0" indent="0">
              <a:buNone/>
            </a:pPr>
            <a:r>
              <a:rPr lang="en-US" sz="2400" dirty="0"/>
              <a:t>Others may be associated with different nameservers or with hosting accounts that have varying terms of renewal</a:t>
            </a:r>
          </a:p>
          <a:p>
            <a:pPr marL="0" indent="0">
              <a:buNone/>
            </a:pPr>
            <a:r>
              <a:rPr lang="en-US" sz="2400" dirty="0"/>
              <a:t>To manage a large and diverse collection of domains, corporate users may turn to domain management services, which offer a variety of service plans for tracking and maintaining all the active and inactive domains in the portfolio</a:t>
            </a:r>
          </a:p>
        </p:txBody>
      </p:sp>
    </p:spTree>
    <p:extLst>
      <p:ext uri="{BB962C8B-B14F-4D97-AF65-F5344CB8AC3E}">
        <p14:creationId xmlns:p14="http://schemas.microsoft.com/office/powerpoint/2010/main" val="888475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167D-C4D4-461E-9730-92409BDB7018}"/>
              </a:ext>
            </a:extLst>
          </p:cNvPr>
          <p:cNvSpPr>
            <a:spLocks noGrp="1"/>
          </p:cNvSpPr>
          <p:nvPr>
            <p:ph type="title"/>
          </p:nvPr>
        </p:nvSpPr>
        <p:spPr/>
        <p:txBody>
          <a:bodyPr/>
          <a:lstStyle/>
          <a:p>
            <a:r>
              <a:rPr lang="en-US" dirty="0"/>
              <a:t>Domain Management - Services</a:t>
            </a:r>
          </a:p>
        </p:txBody>
      </p:sp>
      <p:sp>
        <p:nvSpPr>
          <p:cNvPr id="3" name="Content Placeholder 2">
            <a:extLst>
              <a:ext uri="{FF2B5EF4-FFF2-40B4-BE49-F238E27FC236}">
                <a16:creationId xmlns:a16="http://schemas.microsoft.com/office/drawing/2014/main" id="{839D6172-F10A-4C7D-A22E-B101F1A9DCE9}"/>
              </a:ext>
            </a:extLst>
          </p:cNvPr>
          <p:cNvSpPr>
            <a:spLocks noGrp="1"/>
          </p:cNvSpPr>
          <p:nvPr>
            <p:ph idx="1"/>
          </p:nvPr>
        </p:nvSpPr>
        <p:spPr/>
        <p:txBody>
          <a:bodyPr>
            <a:normAutofit/>
          </a:bodyPr>
          <a:lstStyle/>
          <a:p>
            <a:pPr marL="0" indent="0">
              <a:buNone/>
            </a:pPr>
            <a:r>
              <a:rPr lang="en-US" sz="2400" dirty="0"/>
              <a:t>Domain management services use their own suite of domain management tools to handle domain registrations and renewals, review the portfolio and delete unused and unneeded domains, and maintain domain security</a:t>
            </a:r>
          </a:p>
          <a:p>
            <a:pPr marL="0" indent="0">
              <a:buNone/>
            </a:pPr>
            <a:r>
              <a:rPr lang="en-US" sz="2400" dirty="0"/>
              <a:t>With sophisticated analytics for tracking unauthorized uses, site performance, and other key metrics, these services can work with clients to address issues and make changes to existing domains or the portfolio as a whole</a:t>
            </a:r>
          </a:p>
          <a:p>
            <a:pPr marL="0" indent="0">
              <a:buNone/>
            </a:pPr>
            <a:r>
              <a:rPr lang="en-US" sz="2400" dirty="0"/>
              <a:t>While domain management services are widely used by larger businesses, they can also be a useful solution for busy domain owners running small- or medium-sized – businesses, or even individuals who don’t want to manage domains themselves</a:t>
            </a:r>
          </a:p>
        </p:txBody>
      </p:sp>
    </p:spTree>
    <p:extLst>
      <p:ext uri="{BB962C8B-B14F-4D97-AF65-F5344CB8AC3E}">
        <p14:creationId xmlns:p14="http://schemas.microsoft.com/office/powerpoint/2010/main" val="285263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4" name="Freeform: Shape 1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7" name="Freeform: Shape 1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itle 3">
            <a:extLst>
              <a:ext uri="{FF2B5EF4-FFF2-40B4-BE49-F238E27FC236}">
                <a16:creationId xmlns:a16="http://schemas.microsoft.com/office/drawing/2014/main" id="{C8C44B57-0459-4638-8017-AF2401994AD4}"/>
              </a:ext>
            </a:extLst>
          </p:cNvPr>
          <p:cNvSpPr>
            <a:spLocks noGrp="1"/>
          </p:cNvSpPr>
          <p:nvPr>
            <p:ph type="title"/>
          </p:nvPr>
        </p:nvSpPr>
        <p:spPr>
          <a:xfrm>
            <a:off x="3502731" y="1542402"/>
            <a:ext cx="5186842" cy="2387918"/>
          </a:xfrm>
        </p:spPr>
        <p:txBody>
          <a:bodyPr vert="horz" lIns="91440" tIns="45720" rIns="91440" bIns="45720" rtlCol="0" anchor="b">
            <a:normAutofit/>
          </a:bodyPr>
          <a:lstStyle/>
          <a:p>
            <a:pPr algn="ctr"/>
            <a:r>
              <a:rPr lang="en-US" sz="5200" kern="1200">
                <a:latin typeface="+mj-lt"/>
                <a:ea typeface="+mj-ea"/>
                <a:cs typeface="+mj-cs"/>
              </a:rPr>
              <a:t>Purchasing Your Own Domain</a:t>
            </a:r>
          </a:p>
        </p:txBody>
      </p:sp>
      <p:grpSp>
        <p:nvGrpSpPr>
          <p:cNvPr id="25" name="Group 2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6" name="Freeform: Shape 25">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9" name="Freeform: Shape 2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2" name="Freeform: Shape 3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5" name="Freeform: Shape 34">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8" name="Group 7">
            <a:extLst>
              <a:ext uri="{FF2B5EF4-FFF2-40B4-BE49-F238E27FC236}">
                <a16:creationId xmlns:a16="http://schemas.microsoft.com/office/drawing/2014/main" id="{512AFAEE-0ADE-95FA-F339-FC6A1BF5570E}"/>
              </a:ext>
            </a:extLst>
          </p:cNvPr>
          <p:cNvGrpSpPr/>
          <p:nvPr/>
        </p:nvGrpSpPr>
        <p:grpSpPr>
          <a:xfrm>
            <a:off x="8931690" y="324884"/>
            <a:ext cx="1852100" cy="1852100"/>
            <a:chOff x="8931690" y="324884"/>
            <a:chExt cx="1852100" cy="1852100"/>
          </a:xfrm>
        </p:grpSpPr>
        <p:pic>
          <p:nvPicPr>
            <p:cNvPr id="2" name="Graphic 1" descr="Cloud with solid fill">
              <a:extLst>
                <a:ext uri="{FF2B5EF4-FFF2-40B4-BE49-F238E27FC236}">
                  <a16:creationId xmlns:a16="http://schemas.microsoft.com/office/drawing/2014/main" id="{531B3C51-AECB-F9F4-ACAC-C8169E1051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31690" y="324884"/>
              <a:ext cx="1852100" cy="1852100"/>
            </a:xfrm>
            <a:prstGeom prst="rect">
              <a:avLst/>
            </a:prstGeom>
          </p:spPr>
        </p:pic>
        <p:pic>
          <p:nvPicPr>
            <p:cNvPr id="7" name="Graphic 6" descr="Syncing cloud outline">
              <a:extLst>
                <a:ext uri="{FF2B5EF4-FFF2-40B4-BE49-F238E27FC236}">
                  <a16:creationId xmlns:a16="http://schemas.microsoft.com/office/drawing/2014/main" id="{88930130-3489-B851-B004-90822DF734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8437" y="382018"/>
              <a:ext cx="1737831" cy="1737831"/>
            </a:xfrm>
            <a:prstGeom prst="rect">
              <a:avLst/>
            </a:prstGeom>
          </p:spPr>
        </p:pic>
      </p:grpSp>
      <p:grpSp>
        <p:nvGrpSpPr>
          <p:cNvPr id="11" name="Group 10">
            <a:extLst>
              <a:ext uri="{FF2B5EF4-FFF2-40B4-BE49-F238E27FC236}">
                <a16:creationId xmlns:a16="http://schemas.microsoft.com/office/drawing/2014/main" id="{8B09590D-546C-A637-193F-AA70C83174D9}"/>
              </a:ext>
            </a:extLst>
          </p:cNvPr>
          <p:cNvGrpSpPr/>
          <p:nvPr/>
        </p:nvGrpSpPr>
        <p:grpSpPr>
          <a:xfrm>
            <a:off x="1455729" y="2719275"/>
            <a:ext cx="1919177" cy="1919177"/>
            <a:chOff x="1455729" y="2719275"/>
            <a:chExt cx="1919177" cy="1919177"/>
          </a:xfrm>
        </p:grpSpPr>
        <p:sp>
          <p:nvSpPr>
            <p:cNvPr id="15" name="Oval 14">
              <a:extLst>
                <a:ext uri="{FF2B5EF4-FFF2-40B4-BE49-F238E27FC236}">
                  <a16:creationId xmlns:a16="http://schemas.microsoft.com/office/drawing/2014/main" id="{764059C9-8700-D0C8-D91C-F738763AC393}"/>
                </a:ext>
              </a:extLst>
            </p:cNvPr>
            <p:cNvSpPr/>
            <p:nvPr/>
          </p:nvSpPr>
          <p:spPr>
            <a:xfrm>
              <a:off x="1510920" y="3120653"/>
              <a:ext cx="1749098" cy="121743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Internet with solid fill">
              <a:extLst>
                <a:ext uri="{FF2B5EF4-FFF2-40B4-BE49-F238E27FC236}">
                  <a16:creationId xmlns:a16="http://schemas.microsoft.com/office/drawing/2014/main" id="{5265C6CA-1956-53E4-24C7-D6363B47CCC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455729" y="2719275"/>
              <a:ext cx="1919177" cy="1919177"/>
            </a:xfrm>
            <a:prstGeom prst="rect">
              <a:avLst/>
            </a:prstGeom>
          </p:spPr>
        </p:pic>
      </p:grpSp>
    </p:spTree>
    <p:extLst>
      <p:ext uri="{BB962C8B-B14F-4D97-AF65-F5344CB8AC3E}">
        <p14:creationId xmlns:p14="http://schemas.microsoft.com/office/powerpoint/2010/main" val="2150841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256032"/>
            <a:ext cx="10506456" cy="1014984"/>
          </a:xfrm>
        </p:spPr>
        <p:txBody>
          <a:bodyPr vert="horz" lIns="91440" tIns="45720" rIns="91440" bIns="45720" rtlCol="0" anchor="b">
            <a:normAutofit/>
          </a:bodyPr>
          <a:lstStyle/>
          <a:p>
            <a:r>
              <a:rPr lang="en-US" sz="4400" kern="1200" dirty="0">
                <a:latin typeface="+mj-lt"/>
                <a:ea typeface="+mj-ea"/>
                <a:cs typeface="+mj-cs"/>
              </a:rPr>
              <a:t>Your Own Domain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5BE7DF0C-6A9F-5DFE-4263-D6FADB8F0A1B}"/>
              </a:ext>
            </a:extLst>
          </p:cNvPr>
          <p:cNvGraphicFramePr>
            <a:graphicFrameLocks noGrp="1"/>
          </p:cNvGraphicFramePr>
          <p:nvPr>
            <p:ph idx="1"/>
            <p:extLst>
              <p:ext uri="{D42A27DB-BD31-4B8C-83A1-F6EECF244321}">
                <p14:modId xmlns:p14="http://schemas.microsoft.com/office/powerpoint/2010/main" val="1060757020"/>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332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1179226" y="1280679"/>
            <a:ext cx="9833548" cy="1325563"/>
          </a:xfrm>
        </p:spPr>
        <p:txBody>
          <a:bodyPr vert="horz" lIns="91440" tIns="45720" rIns="91440" bIns="45720" rtlCol="0" anchor="b">
            <a:normAutofit/>
          </a:bodyPr>
          <a:lstStyle/>
          <a:p>
            <a:pPr algn="ctr"/>
            <a:r>
              <a:rPr lang="en-US" kern="1200" dirty="0">
                <a:latin typeface="+mj-lt"/>
                <a:ea typeface="+mj-ea"/>
                <a:cs typeface="+mj-cs"/>
              </a:rPr>
              <a:t>Your Own Domain</a:t>
            </a:r>
          </a:p>
        </p:txBody>
      </p:sp>
      <p:grpSp>
        <p:nvGrpSpPr>
          <p:cNvPr id="31" name="Group 30">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32" name="Freeform: Shape 31">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p:cNvSpPr>
            <a:spLocks noGrp="1"/>
          </p:cNvSpPr>
          <p:nvPr>
            <p:ph idx="1"/>
          </p:nvPr>
        </p:nvSpPr>
        <p:spPr>
          <a:xfrm>
            <a:off x="2625748" y="2890979"/>
            <a:ext cx="6940504" cy="2693976"/>
          </a:xfrm>
        </p:spPr>
        <p:txBody>
          <a:bodyPr vert="horz" lIns="91440" tIns="45720" rIns="91440" bIns="45720" rtlCol="0">
            <a:normAutofit/>
          </a:bodyPr>
          <a:lstStyle/>
          <a:p>
            <a:pPr marL="0" indent="0">
              <a:buNone/>
            </a:pPr>
            <a:r>
              <a:rPr lang="en-US" sz="2800" dirty="0">
                <a:solidFill>
                  <a:schemeClr val="tx2">
                    <a:lumMod val="50000"/>
                  </a:schemeClr>
                </a:solidFill>
                <a:latin typeface="+mn-lt"/>
              </a:rPr>
              <a:t>The following slides use illustrations from GoDaddy, but it is not, by far, the only company out there that will (for a fee) register an available domain name for its customers</a:t>
            </a:r>
          </a:p>
        </p:txBody>
      </p:sp>
      <p:grpSp>
        <p:nvGrpSpPr>
          <p:cNvPr id="37" name="Group 36">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38" name="Freeform: Shape 37">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71299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76" t="-1" b="433"/>
          <a:stretch/>
        </p:blipFill>
        <p:spPr>
          <a:xfrm>
            <a:off x="2895727" y="199035"/>
            <a:ext cx="5417820" cy="5044243"/>
          </a:xfrm>
          <a:prstGeom prst="rect">
            <a:avLst/>
          </a:prstGeom>
          <a:ln>
            <a:solidFill>
              <a:srgbClr val="0070C0"/>
            </a:solidFill>
          </a:ln>
        </p:spPr>
      </p:pic>
      <p:sp>
        <p:nvSpPr>
          <p:cNvPr id="3" name="TextBox 2">
            <a:extLst>
              <a:ext uri="{FF2B5EF4-FFF2-40B4-BE49-F238E27FC236}">
                <a16:creationId xmlns:a16="http://schemas.microsoft.com/office/drawing/2014/main" id="{7ED65108-3617-4571-A4CF-5AD5D559B631}"/>
              </a:ext>
            </a:extLst>
          </p:cNvPr>
          <p:cNvSpPr txBox="1"/>
          <p:nvPr/>
        </p:nvSpPr>
        <p:spPr>
          <a:xfrm>
            <a:off x="2895727" y="5427506"/>
            <a:ext cx="8486875" cy="461665"/>
          </a:xfrm>
          <a:prstGeom prst="rect">
            <a:avLst/>
          </a:prstGeom>
          <a:noFill/>
        </p:spPr>
        <p:txBody>
          <a:bodyPr wrap="square" rtlCol="0">
            <a:spAutoFit/>
          </a:bodyPr>
          <a:lstStyle/>
          <a:p>
            <a:r>
              <a:rPr lang="en-US" sz="2400" dirty="0">
                <a:latin typeface="Abadi Extra Light" panose="020B0204020104020204" pitchFamily="34" charset="0"/>
              </a:rPr>
              <a:t>These screen shots are a little dated, but the links are still the same</a:t>
            </a:r>
          </a:p>
        </p:txBody>
      </p:sp>
    </p:spTree>
    <p:extLst>
      <p:ext uri="{BB962C8B-B14F-4D97-AF65-F5344CB8AC3E}">
        <p14:creationId xmlns:p14="http://schemas.microsoft.com/office/powerpoint/2010/main" val="1184998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56578" t="-1" r="-1" b="59028"/>
          <a:stretch/>
        </p:blipFill>
        <p:spPr>
          <a:xfrm>
            <a:off x="3403600" y="374649"/>
            <a:ext cx="5168900" cy="4564237"/>
          </a:xfrm>
          <a:prstGeom prst="rect">
            <a:avLst/>
          </a:prstGeom>
          <a:ln>
            <a:solidFill>
              <a:srgbClr val="0070C0"/>
            </a:solidFill>
          </a:ln>
        </p:spPr>
      </p:pic>
      <p:sp>
        <p:nvSpPr>
          <p:cNvPr id="3" name="Rectangle 2"/>
          <p:cNvSpPr/>
          <p:nvPr/>
        </p:nvSpPr>
        <p:spPr>
          <a:xfrm>
            <a:off x="5880100" y="1765300"/>
            <a:ext cx="1422400" cy="406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14D809E-3F85-4198-8C9A-F408A5B4A4BF}"/>
              </a:ext>
            </a:extLst>
          </p:cNvPr>
          <p:cNvSpPr txBox="1"/>
          <p:nvPr/>
        </p:nvSpPr>
        <p:spPr>
          <a:xfrm>
            <a:off x="3586844" y="5427506"/>
            <a:ext cx="8486875" cy="461665"/>
          </a:xfrm>
          <a:prstGeom prst="rect">
            <a:avLst/>
          </a:prstGeom>
          <a:noFill/>
        </p:spPr>
        <p:txBody>
          <a:bodyPr wrap="square" rtlCol="0">
            <a:spAutoFit/>
          </a:bodyPr>
          <a:lstStyle/>
          <a:p>
            <a:r>
              <a:rPr lang="en-US" sz="2400" dirty="0">
                <a:latin typeface="Abadi Extra Light" panose="020B0204020104020204" pitchFamily="34" charset="0"/>
              </a:rPr>
              <a:t>These screen shots are a little dated, but the links are still the same</a:t>
            </a:r>
          </a:p>
        </p:txBody>
      </p:sp>
    </p:spTree>
    <p:extLst>
      <p:ext uri="{BB962C8B-B14F-4D97-AF65-F5344CB8AC3E}">
        <p14:creationId xmlns:p14="http://schemas.microsoft.com/office/powerpoint/2010/main" val="1641930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940050" y="409574"/>
            <a:ext cx="6528476" cy="3933825"/>
          </a:xfrm>
          <a:prstGeom prst="rect">
            <a:avLst/>
          </a:prstGeom>
          <a:ln>
            <a:solidFill>
              <a:srgbClr val="0070C0"/>
            </a:solidFill>
          </a:ln>
        </p:spPr>
      </p:pic>
      <p:sp>
        <p:nvSpPr>
          <p:cNvPr id="3" name="Rectangle 2"/>
          <p:cNvSpPr/>
          <p:nvPr/>
        </p:nvSpPr>
        <p:spPr>
          <a:xfrm>
            <a:off x="4648538" y="3327400"/>
            <a:ext cx="3111500" cy="685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261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41065" y="178526"/>
            <a:ext cx="5309870" cy="5081839"/>
          </a:xfrm>
          <a:prstGeom prst="rect">
            <a:avLst/>
          </a:prstGeom>
          <a:ln>
            <a:solidFill>
              <a:srgbClr val="0070C0"/>
            </a:solidFill>
          </a:ln>
        </p:spPr>
      </p:pic>
    </p:spTree>
    <p:extLst>
      <p:ext uri="{BB962C8B-B14F-4D97-AF65-F5344CB8AC3E}">
        <p14:creationId xmlns:p14="http://schemas.microsoft.com/office/powerpoint/2010/main" val="1079283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5901" y="188459"/>
            <a:ext cx="10608455" cy="3991656"/>
          </a:xfrm>
          <a:prstGeom prst="rect">
            <a:avLst/>
          </a:prstGeom>
          <a:ln>
            <a:solidFill>
              <a:srgbClr val="0070C0"/>
            </a:solidFill>
          </a:ln>
        </p:spPr>
      </p:pic>
      <p:sp>
        <p:nvSpPr>
          <p:cNvPr id="3" name="Rectangle 2"/>
          <p:cNvSpPr/>
          <p:nvPr/>
        </p:nvSpPr>
        <p:spPr>
          <a:xfrm>
            <a:off x="3701143" y="968829"/>
            <a:ext cx="1088571" cy="4136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3820887" y="2427515"/>
            <a:ext cx="1240970"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352801" y="687502"/>
            <a:ext cx="468086" cy="413657"/>
          </a:xfrm>
          <a:prstGeom prst="rect">
            <a:avLst/>
          </a:prstGeom>
          <a:solidFill>
            <a:srgbClr val="FF00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a:solidFill>
                    <a:schemeClr val="bg1"/>
                  </a:solidFill>
                </a:ln>
              </a:rPr>
              <a:t>1</a:t>
            </a:r>
          </a:p>
        </p:txBody>
      </p:sp>
      <p:sp>
        <p:nvSpPr>
          <p:cNvPr id="7" name="Rectangle 6"/>
          <p:cNvSpPr/>
          <p:nvPr/>
        </p:nvSpPr>
        <p:spPr>
          <a:xfrm>
            <a:off x="3363687" y="2024744"/>
            <a:ext cx="468086" cy="413657"/>
          </a:xfrm>
          <a:prstGeom prst="rect">
            <a:avLst/>
          </a:prstGeom>
          <a:solidFill>
            <a:srgbClr val="FF00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a:solidFill>
                    <a:schemeClr val="bg1"/>
                  </a:solidFill>
                </a:ln>
              </a:rPr>
              <a:t>2</a:t>
            </a:r>
          </a:p>
        </p:txBody>
      </p:sp>
      <p:sp>
        <p:nvSpPr>
          <p:cNvPr id="6" name="TextBox 5">
            <a:extLst>
              <a:ext uri="{FF2B5EF4-FFF2-40B4-BE49-F238E27FC236}">
                <a16:creationId xmlns:a16="http://schemas.microsoft.com/office/drawing/2014/main" id="{4D46AD76-FC73-452B-B3EB-5BF7AC71FCD2}"/>
              </a:ext>
            </a:extLst>
          </p:cNvPr>
          <p:cNvSpPr txBox="1"/>
          <p:nvPr/>
        </p:nvSpPr>
        <p:spPr>
          <a:xfrm>
            <a:off x="3586844" y="5427506"/>
            <a:ext cx="8486875" cy="461665"/>
          </a:xfrm>
          <a:prstGeom prst="rect">
            <a:avLst/>
          </a:prstGeom>
          <a:noFill/>
        </p:spPr>
        <p:txBody>
          <a:bodyPr wrap="square" rtlCol="0">
            <a:spAutoFit/>
          </a:bodyPr>
          <a:lstStyle/>
          <a:p>
            <a:r>
              <a:rPr lang="en-US" sz="2400" dirty="0">
                <a:latin typeface="Abadi Extra Light" panose="020B0204020104020204" pitchFamily="34" charset="0"/>
              </a:rPr>
              <a:t>These screen shots are a little dated, but the links are still the same</a:t>
            </a:r>
          </a:p>
        </p:txBody>
      </p:sp>
    </p:spTree>
    <p:extLst>
      <p:ext uri="{BB962C8B-B14F-4D97-AF65-F5344CB8AC3E}">
        <p14:creationId xmlns:p14="http://schemas.microsoft.com/office/powerpoint/2010/main" val="372347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64714" y="85980"/>
            <a:ext cx="6462571" cy="4970604"/>
          </a:xfrm>
          <a:prstGeom prst="rect">
            <a:avLst/>
          </a:prstGeom>
          <a:ln>
            <a:solidFill>
              <a:srgbClr val="0070C0"/>
            </a:solidFill>
          </a:ln>
        </p:spPr>
      </p:pic>
      <p:sp>
        <p:nvSpPr>
          <p:cNvPr id="3" name="Rectangle 2"/>
          <p:cNvSpPr/>
          <p:nvPr/>
        </p:nvSpPr>
        <p:spPr>
          <a:xfrm>
            <a:off x="3436149" y="3668648"/>
            <a:ext cx="5848878" cy="10534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7125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63860" y="145647"/>
            <a:ext cx="7064280" cy="4861523"/>
          </a:xfrm>
          <a:prstGeom prst="rect">
            <a:avLst/>
          </a:prstGeom>
          <a:ln>
            <a:solidFill>
              <a:srgbClr val="0070C0"/>
            </a:solidFill>
          </a:ln>
        </p:spPr>
      </p:pic>
      <p:sp>
        <p:nvSpPr>
          <p:cNvPr id="3" name="Rectangle 2"/>
          <p:cNvSpPr/>
          <p:nvPr/>
        </p:nvSpPr>
        <p:spPr>
          <a:xfrm>
            <a:off x="8376476" y="2978222"/>
            <a:ext cx="903514" cy="19395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3236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17297" y="306842"/>
            <a:ext cx="7607442" cy="3372530"/>
          </a:xfrm>
          <a:prstGeom prst="rect">
            <a:avLst/>
          </a:prstGeom>
          <a:ln>
            <a:solidFill>
              <a:srgbClr val="0070C0"/>
            </a:solidFill>
          </a:ln>
        </p:spPr>
      </p:pic>
    </p:spTree>
    <p:extLst>
      <p:ext uri="{BB962C8B-B14F-4D97-AF65-F5344CB8AC3E}">
        <p14:creationId xmlns:p14="http://schemas.microsoft.com/office/powerpoint/2010/main" val="1227409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b="35685"/>
          <a:stretch/>
        </p:blipFill>
        <p:spPr>
          <a:xfrm>
            <a:off x="412168" y="249455"/>
            <a:ext cx="6278192" cy="4783682"/>
          </a:xfrm>
          <a:prstGeom prst="rect">
            <a:avLst/>
          </a:prstGeom>
          <a:ln>
            <a:noFill/>
          </a:ln>
          <a:effectLst>
            <a:outerShdw blurRad="50800" dist="38100" dir="2700000" algn="tl" rotWithShape="0">
              <a:prstClr val="black">
                <a:alpha val="40000"/>
              </a:prstClr>
            </a:outerShdw>
          </a:effectLst>
        </p:spPr>
      </p:pic>
      <p:sp>
        <p:nvSpPr>
          <p:cNvPr id="4" name="TextBox 3">
            <a:extLst>
              <a:ext uri="{FF2B5EF4-FFF2-40B4-BE49-F238E27FC236}">
                <a16:creationId xmlns:a16="http://schemas.microsoft.com/office/drawing/2014/main" id="{D0598162-700A-4B03-9A5A-4A713122DBE5}"/>
              </a:ext>
            </a:extLst>
          </p:cNvPr>
          <p:cNvSpPr txBox="1"/>
          <p:nvPr/>
        </p:nvSpPr>
        <p:spPr>
          <a:xfrm>
            <a:off x="6964907" y="550459"/>
            <a:ext cx="4549253" cy="2677656"/>
          </a:xfrm>
          <a:prstGeom prst="rect">
            <a:avLst/>
          </a:prstGeom>
          <a:noFill/>
        </p:spPr>
        <p:txBody>
          <a:bodyPr wrap="square" rtlCol="0">
            <a:spAutoFit/>
          </a:bodyPr>
          <a:lstStyle/>
          <a:p>
            <a:r>
              <a:rPr lang="en-US" sz="2400" dirty="0">
                <a:latin typeface="Abadi Extra Light" panose="020B0204020104020204" pitchFamily="34" charset="0"/>
              </a:rPr>
              <a:t>It’s a good idea to invest a little additional money into obscuring your personal information through a third party</a:t>
            </a:r>
          </a:p>
          <a:p>
            <a:endParaRPr lang="en-US" sz="2400" dirty="0">
              <a:latin typeface="Abadi Extra Light" panose="020B0204020104020204" pitchFamily="34" charset="0"/>
            </a:endParaRPr>
          </a:p>
          <a:p>
            <a:r>
              <a:rPr lang="en-US" sz="2400" dirty="0">
                <a:latin typeface="Abadi Extra Light" panose="020B0204020104020204" pitchFamily="34" charset="0"/>
              </a:rPr>
              <a:t>Otherwise, your PII will be visible to anyone on the Internet!</a:t>
            </a:r>
          </a:p>
        </p:txBody>
      </p:sp>
      <p:cxnSp>
        <p:nvCxnSpPr>
          <p:cNvPr id="6" name="Straight Arrow Connector 5">
            <a:extLst>
              <a:ext uri="{FF2B5EF4-FFF2-40B4-BE49-F238E27FC236}">
                <a16:creationId xmlns:a16="http://schemas.microsoft.com/office/drawing/2014/main" id="{2F864413-146B-4CBA-B77A-CC15692599C5}"/>
              </a:ext>
            </a:extLst>
          </p:cNvPr>
          <p:cNvCxnSpPr/>
          <p:nvPr/>
        </p:nvCxnSpPr>
        <p:spPr>
          <a:xfrm flipH="1">
            <a:off x="4988560" y="2270760"/>
            <a:ext cx="2047240" cy="13970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628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9F6564-7BA1-480B-94C7-09E1B516B2B9}"/>
              </a:ext>
            </a:extLst>
          </p:cNvPr>
          <p:cNvPicPr>
            <a:picLocks noChangeAspect="1"/>
          </p:cNvPicPr>
          <p:nvPr/>
        </p:nvPicPr>
        <p:blipFill>
          <a:blip r:embed="rId2"/>
          <a:stretch>
            <a:fillRect/>
          </a:stretch>
        </p:blipFill>
        <p:spPr>
          <a:xfrm>
            <a:off x="171958" y="147062"/>
            <a:ext cx="6467488" cy="5268218"/>
          </a:xfrm>
          <a:prstGeom prst="rect">
            <a:avLst/>
          </a:prstGeom>
        </p:spPr>
      </p:pic>
      <p:sp>
        <p:nvSpPr>
          <p:cNvPr id="6" name="TextBox 5">
            <a:extLst>
              <a:ext uri="{FF2B5EF4-FFF2-40B4-BE49-F238E27FC236}">
                <a16:creationId xmlns:a16="http://schemas.microsoft.com/office/drawing/2014/main" id="{11173F10-319C-486E-8E58-A65C3E0CCB79}"/>
              </a:ext>
            </a:extLst>
          </p:cNvPr>
          <p:cNvSpPr txBox="1"/>
          <p:nvPr/>
        </p:nvSpPr>
        <p:spPr>
          <a:xfrm>
            <a:off x="6964907" y="550459"/>
            <a:ext cx="4549253" cy="2677656"/>
          </a:xfrm>
          <a:prstGeom prst="rect">
            <a:avLst/>
          </a:prstGeom>
          <a:noFill/>
        </p:spPr>
        <p:txBody>
          <a:bodyPr wrap="square" rtlCol="0">
            <a:spAutoFit/>
          </a:bodyPr>
          <a:lstStyle/>
          <a:p>
            <a:r>
              <a:rPr lang="en-US" sz="2400" dirty="0">
                <a:latin typeface="Abadi Extra Light" panose="020B0204020104020204" pitchFamily="34" charset="0"/>
              </a:rPr>
              <a:t>It’s a good idea to invest a little additional money into obscuring your personal information through a third party</a:t>
            </a:r>
          </a:p>
          <a:p>
            <a:endParaRPr lang="en-US" sz="2400" dirty="0">
              <a:latin typeface="Abadi Extra Light" panose="020B0204020104020204" pitchFamily="34" charset="0"/>
            </a:endParaRPr>
          </a:p>
          <a:p>
            <a:r>
              <a:rPr lang="en-US" sz="2400" dirty="0">
                <a:latin typeface="Abadi Extra Light" panose="020B0204020104020204" pitchFamily="34" charset="0"/>
              </a:rPr>
              <a:t>Otherwise, your PII will be visible to anyone on the Internet!</a:t>
            </a:r>
          </a:p>
        </p:txBody>
      </p:sp>
    </p:spTree>
    <p:extLst>
      <p:ext uri="{BB962C8B-B14F-4D97-AF65-F5344CB8AC3E}">
        <p14:creationId xmlns:p14="http://schemas.microsoft.com/office/powerpoint/2010/main" val="93309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1575"/>
          <a:stretch/>
        </p:blipFill>
        <p:spPr>
          <a:xfrm>
            <a:off x="105629" y="209266"/>
            <a:ext cx="6115731" cy="4787464"/>
          </a:xfrm>
          <a:prstGeom prst="rect">
            <a:avLst/>
          </a:prstGeom>
          <a:ln>
            <a:noFill/>
          </a:ln>
          <a:effectLst>
            <a:outerShdw blurRad="50800" dist="38100" dir="2700000" algn="tl" rotWithShape="0">
              <a:prstClr val="black">
                <a:alpha val="40000"/>
              </a:prstClr>
            </a:outerShdw>
          </a:effectLst>
        </p:spPr>
      </p:pic>
      <p:sp>
        <p:nvSpPr>
          <p:cNvPr id="3" name="Rectangle 2"/>
          <p:cNvSpPr/>
          <p:nvPr/>
        </p:nvSpPr>
        <p:spPr>
          <a:xfrm>
            <a:off x="4101928" y="4060416"/>
            <a:ext cx="1817914" cy="67491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E73B3F-CA67-40F2-8B72-66BF425033A9}"/>
              </a:ext>
            </a:extLst>
          </p:cNvPr>
          <p:cNvSpPr txBox="1"/>
          <p:nvPr/>
        </p:nvSpPr>
        <p:spPr>
          <a:xfrm>
            <a:off x="6360160" y="209266"/>
            <a:ext cx="5663518" cy="3416320"/>
          </a:xfrm>
          <a:prstGeom prst="rect">
            <a:avLst/>
          </a:prstGeom>
          <a:noFill/>
        </p:spPr>
        <p:txBody>
          <a:bodyPr wrap="square" rtlCol="0">
            <a:spAutoFit/>
          </a:bodyPr>
          <a:lstStyle/>
          <a:p>
            <a:r>
              <a:rPr lang="en-US" sz="2400" dirty="0">
                <a:latin typeface="Abadi Extra Light" panose="020B0204020104020204" pitchFamily="34" charset="0"/>
              </a:rPr>
              <a:t>SSL Certificates secure your site</a:t>
            </a:r>
          </a:p>
          <a:p>
            <a:endParaRPr lang="en-US" sz="2400" dirty="0">
              <a:latin typeface="Abadi Extra Light" panose="020B0204020104020204" pitchFamily="34" charset="0"/>
            </a:endParaRPr>
          </a:p>
          <a:p>
            <a:r>
              <a:rPr lang="en-US" sz="2400" dirty="0">
                <a:latin typeface="Abadi Extra Light" panose="020B0204020104020204" pitchFamily="34" charset="0"/>
              </a:rPr>
              <a:t>Providers like GoDaddy will add them for a fee</a:t>
            </a:r>
          </a:p>
          <a:p>
            <a:endParaRPr lang="en-US" sz="2400" dirty="0">
              <a:latin typeface="Abadi Extra Light" panose="020B0204020104020204" pitchFamily="34" charset="0"/>
            </a:endParaRPr>
          </a:p>
          <a:p>
            <a:r>
              <a:rPr lang="en-US" sz="2400" dirty="0">
                <a:latin typeface="Abadi Extra Light" panose="020B0204020104020204" pitchFamily="34" charset="0"/>
              </a:rPr>
              <a:t>A system administrator can add them for free (</a:t>
            </a:r>
            <a:r>
              <a:rPr lang="en-US" sz="2400" dirty="0">
                <a:latin typeface="Abadi Extra Light" panose="020B0204020104020204" pitchFamily="34" charset="0"/>
                <a:hlinkClick r:id="rId3"/>
              </a:rPr>
              <a:t>LetsEncrypt.org</a:t>
            </a:r>
            <a:r>
              <a:rPr lang="en-US" sz="2400" dirty="0">
                <a:latin typeface="Abadi Extra Light" panose="020B0204020104020204" pitchFamily="34" charset="0"/>
              </a:rPr>
              <a:t>)</a:t>
            </a:r>
          </a:p>
          <a:p>
            <a:endParaRPr lang="en-US" sz="2400" dirty="0">
              <a:latin typeface="Abadi Extra Light" panose="020B0204020104020204" pitchFamily="34" charset="0"/>
            </a:endParaRPr>
          </a:p>
          <a:p>
            <a:r>
              <a:rPr lang="en-US" sz="2400" dirty="0">
                <a:latin typeface="Abadi Extra Light" panose="020B0204020104020204" pitchFamily="34" charset="0"/>
              </a:rPr>
              <a:t>Just about everybody is locking their sites, these days, thanks to LetsEncrypt</a:t>
            </a:r>
          </a:p>
        </p:txBody>
      </p:sp>
    </p:spTree>
    <p:extLst>
      <p:ext uri="{BB962C8B-B14F-4D97-AF65-F5344CB8AC3E}">
        <p14:creationId xmlns:p14="http://schemas.microsoft.com/office/powerpoint/2010/main" val="678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40404" y="330200"/>
            <a:ext cx="7324725" cy="4800600"/>
          </a:xfrm>
          <a:prstGeom prst="rect">
            <a:avLst/>
          </a:prstGeom>
          <a:ln>
            <a:noFill/>
          </a:ln>
          <a:effectLst>
            <a:outerShdw blurRad="50800" dist="38100" dir="2700000" algn="tl" rotWithShape="0">
              <a:prstClr val="black">
                <a:alpha val="40000"/>
              </a:prstClr>
            </a:outerShdw>
          </a:effectLst>
        </p:spPr>
      </p:pic>
      <p:sp>
        <p:nvSpPr>
          <p:cNvPr id="3" name="Rectangle 2"/>
          <p:cNvSpPr/>
          <p:nvPr/>
        </p:nvSpPr>
        <p:spPr>
          <a:xfrm>
            <a:off x="7531100" y="4457701"/>
            <a:ext cx="1934029" cy="584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660901" y="2057400"/>
            <a:ext cx="1803400" cy="812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603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CBCB02B1-1B82-403C-B7D2-E2CED1882F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CCDE13A7-6382-4A67-BEBE-4FF1F37C7F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E9978FC9-2E40-4257-8D97-FAB20CA4B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740ABB98-77BA-4C40-8121-34D196E58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41AA752E-66C1-4835-8A3C-556475159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E9555AB-2295-4939-AEC9-B2CBFCB4C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97499201-5A2C-48B3-9B02-5519B8829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D3FC2AE7-C60C-4C48-BCAE-410BB6C3D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40EA1593-6BC9-441E-8F3C-46DD50F81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27BE9B08-3EF4-43D5-86D2-D1664F6E54E8}"/>
              </a:ext>
            </a:extLst>
          </p:cNvPr>
          <p:cNvSpPr>
            <a:spLocks noGrp="1"/>
          </p:cNvSpPr>
          <p:nvPr>
            <p:ph type="title"/>
          </p:nvPr>
        </p:nvSpPr>
        <p:spPr>
          <a:xfrm>
            <a:off x="3371787" y="1741337"/>
            <a:ext cx="5448730" cy="2387918"/>
          </a:xfrm>
        </p:spPr>
        <p:txBody>
          <a:bodyPr vert="horz" lIns="91440" tIns="45720" rIns="91440" bIns="45720" rtlCol="0" anchor="b">
            <a:normAutofit/>
          </a:bodyPr>
          <a:lstStyle/>
          <a:p>
            <a:pPr algn="ctr"/>
            <a:r>
              <a:rPr lang="en-US" sz="5200" kern="1200">
                <a:latin typeface="+mj-lt"/>
                <a:ea typeface="+mj-ea"/>
                <a:cs typeface="+mj-cs"/>
              </a:rPr>
              <a:t>Managing Your Domain</a:t>
            </a:r>
          </a:p>
        </p:txBody>
      </p:sp>
      <p:sp>
        <p:nvSpPr>
          <p:cNvPr id="3" name="Text Placeholder 2">
            <a:extLst>
              <a:ext uri="{FF2B5EF4-FFF2-40B4-BE49-F238E27FC236}">
                <a16:creationId xmlns:a16="http://schemas.microsoft.com/office/drawing/2014/main" id="{C37EE5B9-0BE2-4EB2-8583-4C50A9ED7585}"/>
              </a:ext>
            </a:extLst>
          </p:cNvPr>
          <p:cNvSpPr>
            <a:spLocks noGrp="1"/>
          </p:cNvSpPr>
          <p:nvPr>
            <p:ph type="body" idx="1"/>
          </p:nvPr>
        </p:nvSpPr>
        <p:spPr>
          <a:xfrm>
            <a:off x="3371161" y="4200522"/>
            <a:ext cx="5449982" cy="682079"/>
          </a:xfrm>
        </p:spPr>
        <p:txBody>
          <a:bodyPr vert="horz" lIns="91440" tIns="45720" rIns="91440" bIns="45720" rtlCol="0">
            <a:normAutofit/>
          </a:bodyPr>
          <a:lstStyle/>
          <a:p>
            <a:pPr algn="ctr"/>
            <a:r>
              <a:rPr lang="en-US" kern="1200">
                <a:solidFill>
                  <a:schemeClr val="tx2"/>
                </a:solidFill>
                <a:latin typeface="+mn-lt"/>
                <a:ea typeface="+mn-ea"/>
                <a:cs typeface="+mn-cs"/>
              </a:rPr>
              <a:t>(On GoDaddy)</a:t>
            </a:r>
          </a:p>
        </p:txBody>
      </p:sp>
      <p:grpSp>
        <p:nvGrpSpPr>
          <p:cNvPr id="23" name="Group 22">
            <a:extLst>
              <a:ext uri="{FF2B5EF4-FFF2-40B4-BE49-F238E27FC236}">
                <a16:creationId xmlns:a16="http://schemas.microsoft.com/office/drawing/2014/main" id="{17147D5D-F01F-4164-BD81-D10DC6F23E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142" y="2854"/>
            <a:ext cx="2783421" cy="2406445"/>
            <a:chOff x="-305" y="-4155"/>
            <a:chExt cx="2514948" cy="2174333"/>
          </a:xfrm>
        </p:grpSpPr>
        <p:sp>
          <p:nvSpPr>
            <p:cNvPr id="24" name="Freeform: Shape 23">
              <a:extLst>
                <a:ext uri="{FF2B5EF4-FFF2-40B4-BE49-F238E27FC236}">
                  <a16:creationId xmlns:a16="http://schemas.microsoft.com/office/drawing/2014/main" id="{F24C7412-3E2D-4708-8DC3-425A457A1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71483A6A-CB0B-4469-B09D-C9451F9B0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9A935E9D-EB55-46F3-BCCB-9CB918E87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8EDC5655-C7D7-4936-91EA-E188A96DC6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6D0E248E-80AB-4B35-BA8D-F940FCB443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417253" y="4456669"/>
            <a:ext cx="2783421" cy="2406445"/>
            <a:chOff x="-305" y="-4155"/>
            <a:chExt cx="2514948" cy="2174333"/>
          </a:xfrm>
        </p:grpSpPr>
        <p:sp>
          <p:nvSpPr>
            <p:cNvPr id="30" name="Freeform: Shape 29">
              <a:extLst>
                <a:ext uri="{FF2B5EF4-FFF2-40B4-BE49-F238E27FC236}">
                  <a16:creationId xmlns:a16="http://schemas.microsoft.com/office/drawing/2014/main" id="{F9E91B0A-66E8-4298-BAC6-004DBE491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0A629C66-36BD-487E-B1CD-ED026D7789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6BC2D2C-3D7D-4224-81BC-22C094C9FB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53BDF903-22C5-4312-8776-C2ABC3EDC0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68512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796DE3-4869-4982-A0D7-E38C9120376C}"/>
              </a:ext>
            </a:extLst>
          </p:cNvPr>
          <p:cNvPicPr>
            <a:picLocks noChangeAspect="1"/>
          </p:cNvPicPr>
          <p:nvPr/>
        </p:nvPicPr>
        <p:blipFill>
          <a:blip r:embed="rId2"/>
          <a:stretch>
            <a:fillRect/>
          </a:stretch>
        </p:blipFill>
        <p:spPr>
          <a:xfrm>
            <a:off x="4189889" y="483392"/>
            <a:ext cx="3812221" cy="4778853"/>
          </a:xfrm>
          <a:prstGeom prst="rect">
            <a:avLst/>
          </a:prstGeom>
          <a:effectLst>
            <a:outerShdw blurRad="50800" dist="38100" dir="2700000" algn="tl" rotWithShape="0">
              <a:prstClr val="black">
                <a:alpha val="40000"/>
              </a:prstClr>
            </a:outerShdw>
          </a:effectLst>
        </p:spPr>
      </p:pic>
      <p:sp>
        <p:nvSpPr>
          <p:cNvPr id="4" name="Rectangle 3"/>
          <p:cNvSpPr/>
          <p:nvPr/>
        </p:nvSpPr>
        <p:spPr>
          <a:xfrm>
            <a:off x="4289946" y="2704495"/>
            <a:ext cx="1419367" cy="3366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726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772F56-A381-4D3F-9A4B-D9525985D182}"/>
              </a:ext>
            </a:extLst>
          </p:cNvPr>
          <p:cNvPicPr>
            <a:picLocks noChangeAspect="1"/>
          </p:cNvPicPr>
          <p:nvPr/>
        </p:nvPicPr>
        <p:blipFill>
          <a:blip r:embed="rId2"/>
          <a:stretch>
            <a:fillRect/>
          </a:stretch>
        </p:blipFill>
        <p:spPr>
          <a:xfrm>
            <a:off x="1473294" y="584230"/>
            <a:ext cx="9245412" cy="3623830"/>
          </a:xfrm>
          <a:prstGeom prst="rect">
            <a:avLst/>
          </a:prstGeom>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3FAE0156-93BB-4F24-8258-3B2B3020D4D5}"/>
              </a:ext>
            </a:extLst>
          </p:cNvPr>
          <p:cNvSpPr/>
          <p:nvPr/>
        </p:nvSpPr>
        <p:spPr>
          <a:xfrm>
            <a:off x="1601337" y="3491516"/>
            <a:ext cx="1605887" cy="5209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568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15802C5-022B-46BD-97E6-0A9B2CA13481}"/>
              </a:ext>
            </a:extLst>
          </p:cNvPr>
          <p:cNvPicPr>
            <a:picLocks noChangeAspect="1"/>
          </p:cNvPicPr>
          <p:nvPr/>
        </p:nvPicPr>
        <p:blipFill>
          <a:blip r:embed="rId2"/>
          <a:stretch>
            <a:fillRect/>
          </a:stretch>
        </p:blipFill>
        <p:spPr>
          <a:xfrm>
            <a:off x="2255647" y="737926"/>
            <a:ext cx="3805894" cy="2581007"/>
          </a:xfrm>
          <a:prstGeom prst="rect">
            <a:avLst/>
          </a:prstGeom>
          <a:effectLst>
            <a:outerShdw blurRad="50800" dist="38100" dir="2700000" algn="tl" rotWithShape="0">
              <a:prstClr val="black">
                <a:alpha val="40000"/>
              </a:prstClr>
            </a:outerShdw>
          </a:effectLst>
        </p:spPr>
      </p:pic>
      <p:sp>
        <p:nvSpPr>
          <p:cNvPr id="3" name="Rectangle 2"/>
          <p:cNvSpPr/>
          <p:nvPr/>
        </p:nvSpPr>
        <p:spPr>
          <a:xfrm>
            <a:off x="2403016" y="1985158"/>
            <a:ext cx="1764676" cy="10990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8C3EBCC-C79C-4EDF-85FD-21668BD11AE8}"/>
              </a:ext>
            </a:extLst>
          </p:cNvPr>
          <p:cNvSpPr txBox="1"/>
          <p:nvPr/>
        </p:nvSpPr>
        <p:spPr>
          <a:xfrm>
            <a:off x="6710148" y="805217"/>
            <a:ext cx="4740322" cy="4893647"/>
          </a:xfrm>
          <a:prstGeom prst="rect">
            <a:avLst/>
          </a:prstGeom>
          <a:noFill/>
        </p:spPr>
        <p:txBody>
          <a:bodyPr wrap="square" rtlCol="0">
            <a:spAutoFit/>
          </a:bodyPr>
          <a:lstStyle/>
          <a:p>
            <a:r>
              <a:rPr lang="en-US" sz="2400" dirty="0">
                <a:latin typeface="Abadi Extra Light" panose="020B0204020104020204" pitchFamily="34" charset="0"/>
              </a:rPr>
              <a:t>Here, we’re using a third party (DigitalOcean) as home to the actual servers that host the site</a:t>
            </a:r>
            <a:br>
              <a:rPr lang="en-US" sz="2400" dirty="0">
                <a:latin typeface="Abadi Extra Light" panose="020B0204020104020204" pitchFamily="34" charset="0"/>
              </a:rPr>
            </a:br>
            <a:br>
              <a:rPr lang="en-US" sz="2400" dirty="0">
                <a:latin typeface="Abadi Extra Light" panose="020B0204020104020204" pitchFamily="34" charset="0"/>
              </a:rPr>
            </a:br>
            <a:r>
              <a:rPr lang="en-US" sz="2400" dirty="0">
                <a:latin typeface="Abadi Extra Light" panose="020B0204020104020204" pitchFamily="34" charset="0"/>
              </a:rPr>
              <a:t>So, GoDaddy provides the domain name-to-IP address mapping, but ‘points’ to DigitalOcean’s nameservers</a:t>
            </a:r>
            <a:br>
              <a:rPr lang="en-US" sz="2400" dirty="0">
                <a:latin typeface="Abadi Extra Light" panose="020B0204020104020204" pitchFamily="34" charset="0"/>
              </a:rPr>
            </a:br>
            <a:br>
              <a:rPr lang="en-US" sz="2400" dirty="0">
                <a:latin typeface="Abadi Extra Light" panose="020B0204020104020204" pitchFamily="34" charset="0"/>
              </a:rPr>
            </a:br>
            <a:r>
              <a:rPr lang="en-US" sz="2400" dirty="0">
                <a:latin typeface="Abadi Extra Light" panose="020B0204020104020204" pitchFamily="34" charset="0"/>
              </a:rPr>
              <a:t>When someone looks up ‘csci1210.com,’ GoDaddy redirects the search to DigitalOcean, which resolves the IP address - </a:t>
            </a:r>
            <a:br>
              <a:rPr lang="en-US" sz="2400" dirty="0">
                <a:latin typeface="Abadi Extra Light" panose="020B0204020104020204" pitchFamily="34" charset="0"/>
              </a:rPr>
            </a:br>
            <a:r>
              <a:rPr lang="en-US" sz="2400" dirty="0">
                <a:latin typeface="Abadi Extra Light" panose="020B0204020104020204" pitchFamily="34" charset="0"/>
              </a:rPr>
              <a:t>192.34.56.101</a:t>
            </a:r>
          </a:p>
        </p:txBody>
      </p:sp>
    </p:spTree>
    <p:extLst>
      <p:ext uri="{BB962C8B-B14F-4D97-AF65-F5344CB8AC3E}">
        <p14:creationId xmlns:p14="http://schemas.microsoft.com/office/powerpoint/2010/main" val="4015579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C3EBCC-C79C-4EDF-85FD-21668BD11AE8}"/>
              </a:ext>
            </a:extLst>
          </p:cNvPr>
          <p:cNvSpPr txBox="1"/>
          <p:nvPr/>
        </p:nvSpPr>
        <p:spPr>
          <a:xfrm>
            <a:off x="1567105" y="1267497"/>
            <a:ext cx="9057790" cy="3046988"/>
          </a:xfrm>
          <a:prstGeom prst="rect">
            <a:avLst/>
          </a:prstGeom>
          <a:noFill/>
        </p:spPr>
        <p:txBody>
          <a:bodyPr wrap="square" rtlCol="0">
            <a:spAutoFit/>
          </a:bodyPr>
          <a:lstStyle/>
          <a:p>
            <a:r>
              <a:rPr lang="en-US" sz="2400" dirty="0">
                <a:latin typeface="Abadi Extra Light" panose="020B0204020104020204" pitchFamily="34" charset="0"/>
              </a:rPr>
              <a:t>Services like GoDaddy are perfectly willing and able to provide a complete website solution, including design, deployment, SEO (Search Engine Optimization), and marketing</a:t>
            </a:r>
          </a:p>
          <a:p>
            <a:endParaRPr lang="en-US" sz="2400" dirty="0">
              <a:latin typeface="Abadi Extra Light" panose="020B0204020104020204" pitchFamily="34" charset="0"/>
            </a:endParaRPr>
          </a:p>
          <a:p>
            <a:r>
              <a:rPr lang="en-US" sz="2400" dirty="0">
                <a:latin typeface="Abadi Extra Light" panose="020B0204020104020204" pitchFamily="34" charset="0"/>
              </a:rPr>
              <a:t>For </a:t>
            </a:r>
            <a:r>
              <a:rPr lang="en-US" sz="2400" b="1" dirty="0">
                <a:latin typeface="Abadi Extra Light" panose="020B0204020104020204" pitchFamily="34" charset="0"/>
              </a:rPr>
              <a:t>$$</a:t>
            </a:r>
          </a:p>
          <a:p>
            <a:endParaRPr lang="en-US" sz="2400" dirty="0">
              <a:latin typeface="Abadi Extra Light" panose="020B0204020104020204" pitchFamily="34" charset="0"/>
            </a:endParaRPr>
          </a:p>
          <a:p>
            <a:r>
              <a:rPr lang="en-US" sz="2400" dirty="0">
                <a:latin typeface="Abadi Extra Light" panose="020B0204020104020204" pitchFamily="34" charset="0"/>
              </a:rPr>
              <a:t>We prefer to do a lot of the above work ourselves and just use GoDaddy for my domain name (e.g., csci1210.com) registration only</a:t>
            </a:r>
          </a:p>
        </p:txBody>
      </p:sp>
    </p:spTree>
    <p:extLst>
      <p:ext uri="{BB962C8B-B14F-4D97-AF65-F5344CB8AC3E}">
        <p14:creationId xmlns:p14="http://schemas.microsoft.com/office/powerpoint/2010/main" val="1527169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CBCB02B1-1B82-403C-B7D2-E2CED1882F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CCDE13A7-6382-4A67-BEBE-4FF1F37C7F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E9978FC9-2E40-4257-8D97-FAB20CA4B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740ABB98-77BA-4C40-8121-34D196E58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41AA752E-66C1-4835-8A3C-556475159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E9555AB-2295-4939-AEC9-B2CBFCB4C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97499201-5A2C-48B3-9B02-5519B8829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D3FC2AE7-C60C-4C48-BCAE-410BB6C3D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40EA1593-6BC9-441E-8F3C-46DD50F81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2B5716C-55F1-452D-B45A-482E76AF96B9}"/>
              </a:ext>
            </a:extLst>
          </p:cNvPr>
          <p:cNvSpPr>
            <a:spLocks noGrp="1"/>
          </p:cNvSpPr>
          <p:nvPr>
            <p:ph type="title"/>
          </p:nvPr>
        </p:nvSpPr>
        <p:spPr>
          <a:xfrm>
            <a:off x="3371787" y="1741337"/>
            <a:ext cx="5448730" cy="2387918"/>
          </a:xfrm>
        </p:spPr>
        <p:txBody>
          <a:bodyPr vert="horz" lIns="91440" tIns="45720" rIns="91440" bIns="45720" rtlCol="0" anchor="b">
            <a:normAutofit/>
          </a:bodyPr>
          <a:lstStyle/>
          <a:p>
            <a:pPr algn="ctr"/>
            <a:r>
              <a:rPr lang="en-US" sz="5200" kern="1200">
                <a:latin typeface="+mj-lt"/>
                <a:ea typeface="+mj-ea"/>
                <a:cs typeface="+mj-cs"/>
              </a:rPr>
              <a:t>Web Development</a:t>
            </a:r>
          </a:p>
        </p:txBody>
      </p:sp>
      <p:sp>
        <p:nvSpPr>
          <p:cNvPr id="3" name="Text Placeholder 2">
            <a:extLst>
              <a:ext uri="{FF2B5EF4-FFF2-40B4-BE49-F238E27FC236}">
                <a16:creationId xmlns:a16="http://schemas.microsoft.com/office/drawing/2014/main" id="{52FE460A-B9FB-46E1-9841-DADD0490AAE8}"/>
              </a:ext>
            </a:extLst>
          </p:cNvPr>
          <p:cNvSpPr>
            <a:spLocks noGrp="1"/>
          </p:cNvSpPr>
          <p:nvPr>
            <p:ph type="body" idx="1"/>
          </p:nvPr>
        </p:nvSpPr>
        <p:spPr>
          <a:xfrm>
            <a:off x="3371161" y="4200522"/>
            <a:ext cx="5449982" cy="682079"/>
          </a:xfrm>
        </p:spPr>
        <p:txBody>
          <a:bodyPr vert="horz" lIns="91440" tIns="45720" rIns="91440" bIns="45720" rtlCol="0">
            <a:normAutofit/>
          </a:bodyPr>
          <a:lstStyle/>
          <a:p>
            <a:pPr algn="ctr"/>
            <a:r>
              <a:rPr lang="en-US" kern="1200">
                <a:solidFill>
                  <a:schemeClr val="tx2"/>
                </a:solidFill>
                <a:latin typeface="+mn-lt"/>
                <a:ea typeface="+mn-ea"/>
                <a:cs typeface="+mn-cs"/>
              </a:rPr>
              <a:t>Important to Remember</a:t>
            </a:r>
          </a:p>
        </p:txBody>
      </p:sp>
      <p:grpSp>
        <p:nvGrpSpPr>
          <p:cNvPr id="23" name="Group 22">
            <a:extLst>
              <a:ext uri="{FF2B5EF4-FFF2-40B4-BE49-F238E27FC236}">
                <a16:creationId xmlns:a16="http://schemas.microsoft.com/office/drawing/2014/main" id="{17147D5D-F01F-4164-BD81-D10DC6F23E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142" y="2854"/>
            <a:ext cx="2783421" cy="2406445"/>
            <a:chOff x="-305" y="-4155"/>
            <a:chExt cx="2514948" cy="2174333"/>
          </a:xfrm>
        </p:grpSpPr>
        <p:sp>
          <p:nvSpPr>
            <p:cNvPr id="24" name="Freeform: Shape 23">
              <a:extLst>
                <a:ext uri="{FF2B5EF4-FFF2-40B4-BE49-F238E27FC236}">
                  <a16:creationId xmlns:a16="http://schemas.microsoft.com/office/drawing/2014/main" id="{F24C7412-3E2D-4708-8DC3-425A457A10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71483A6A-CB0B-4469-B09D-C9451F9B0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9A935E9D-EB55-46F3-BCCB-9CB918E87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8EDC5655-C7D7-4936-91EA-E188A96DC6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6D0E248E-80AB-4B35-BA8D-F940FCB443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417253" y="4456669"/>
            <a:ext cx="2783421" cy="2406445"/>
            <a:chOff x="-305" y="-4155"/>
            <a:chExt cx="2514948" cy="2174333"/>
          </a:xfrm>
        </p:grpSpPr>
        <p:sp>
          <p:nvSpPr>
            <p:cNvPr id="30" name="Freeform: Shape 29">
              <a:extLst>
                <a:ext uri="{FF2B5EF4-FFF2-40B4-BE49-F238E27FC236}">
                  <a16:creationId xmlns:a16="http://schemas.microsoft.com/office/drawing/2014/main" id="{F9E91B0A-66E8-4298-BAC6-004DBE491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0A629C66-36BD-487E-B1CD-ED026D7789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6BC2D2C-3D7D-4224-81BC-22C094C9FB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53BDF903-22C5-4312-8776-C2ABC3EDC0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66569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D828-86AE-432B-A1C9-906654B8EB23}"/>
              </a:ext>
            </a:extLst>
          </p:cNvPr>
          <p:cNvSpPr>
            <a:spLocks noGrp="1"/>
          </p:cNvSpPr>
          <p:nvPr>
            <p:ph type="title"/>
          </p:nvPr>
        </p:nvSpPr>
        <p:spPr/>
        <p:txBody>
          <a:bodyPr/>
          <a:lstStyle/>
          <a:p>
            <a:r>
              <a:rPr lang="en-US" dirty="0"/>
              <a:t>Web Development</a:t>
            </a:r>
          </a:p>
        </p:txBody>
      </p:sp>
      <p:sp>
        <p:nvSpPr>
          <p:cNvPr id="3" name="Content Placeholder 2">
            <a:extLst>
              <a:ext uri="{FF2B5EF4-FFF2-40B4-BE49-F238E27FC236}">
                <a16:creationId xmlns:a16="http://schemas.microsoft.com/office/drawing/2014/main" id="{975CB04F-66F2-48CC-9BF7-E55E15060B5F}"/>
              </a:ext>
            </a:extLst>
          </p:cNvPr>
          <p:cNvSpPr>
            <a:spLocks noGrp="1"/>
          </p:cNvSpPr>
          <p:nvPr>
            <p:ph idx="1"/>
          </p:nvPr>
        </p:nvSpPr>
        <p:spPr/>
        <p:txBody>
          <a:bodyPr/>
          <a:lstStyle/>
          <a:p>
            <a:pPr marL="0" indent="0">
              <a:buNone/>
            </a:pPr>
            <a:r>
              <a:rPr lang="en-US" dirty="0"/>
              <a:t>We’re spending a lot of our time this semester exploring the basics of web development</a:t>
            </a:r>
          </a:p>
          <a:p>
            <a:pPr marL="0" indent="0">
              <a:buNone/>
            </a:pPr>
            <a:r>
              <a:rPr lang="en-US" dirty="0"/>
              <a:t>As such, we’re doing a lot of ‘one-off’ labs to illustrate and practice different concepts (e.g., elements, structure, styling, etc.)</a:t>
            </a:r>
          </a:p>
          <a:p>
            <a:pPr marL="0" indent="0">
              <a:buNone/>
            </a:pPr>
            <a:endParaRPr lang="en-US" dirty="0"/>
          </a:p>
        </p:txBody>
      </p:sp>
    </p:spTree>
    <p:extLst>
      <p:ext uri="{BB962C8B-B14F-4D97-AF65-F5344CB8AC3E}">
        <p14:creationId xmlns:p14="http://schemas.microsoft.com/office/powerpoint/2010/main" val="3091790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D828-86AE-432B-A1C9-906654B8EB23}"/>
              </a:ext>
            </a:extLst>
          </p:cNvPr>
          <p:cNvSpPr>
            <a:spLocks noGrp="1"/>
          </p:cNvSpPr>
          <p:nvPr>
            <p:ph type="title"/>
          </p:nvPr>
        </p:nvSpPr>
        <p:spPr/>
        <p:txBody>
          <a:bodyPr/>
          <a:lstStyle/>
          <a:p>
            <a:r>
              <a:rPr lang="en-US" dirty="0"/>
              <a:t>Web Development</a:t>
            </a:r>
          </a:p>
        </p:txBody>
      </p:sp>
      <p:sp>
        <p:nvSpPr>
          <p:cNvPr id="3" name="Content Placeholder 2">
            <a:extLst>
              <a:ext uri="{FF2B5EF4-FFF2-40B4-BE49-F238E27FC236}">
                <a16:creationId xmlns:a16="http://schemas.microsoft.com/office/drawing/2014/main" id="{975CB04F-66F2-48CC-9BF7-E55E15060B5F}"/>
              </a:ext>
            </a:extLst>
          </p:cNvPr>
          <p:cNvSpPr>
            <a:spLocks noGrp="1"/>
          </p:cNvSpPr>
          <p:nvPr>
            <p:ph idx="1"/>
          </p:nvPr>
        </p:nvSpPr>
        <p:spPr/>
        <p:txBody>
          <a:bodyPr/>
          <a:lstStyle/>
          <a:p>
            <a:pPr marL="0" indent="0">
              <a:buNone/>
            </a:pPr>
            <a:r>
              <a:rPr lang="en-US" dirty="0"/>
              <a:t>Beyond our class, however, it is important to remember that an effective, enterprise website includes a lot more</a:t>
            </a:r>
          </a:p>
          <a:p>
            <a:pPr marL="0" indent="0">
              <a:buNone/>
            </a:pPr>
            <a:r>
              <a:rPr lang="en-US" dirty="0"/>
              <a:t>A web site can make (or break!) an organization</a:t>
            </a:r>
          </a:p>
          <a:p>
            <a:pPr marL="0" indent="0">
              <a:buNone/>
            </a:pPr>
            <a:r>
              <a:rPr lang="en-US" dirty="0"/>
              <a:t>Creating an effective website requires a lot of different talents and skills</a:t>
            </a:r>
          </a:p>
          <a:p>
            <a:pPr marL="0" indent="0">
              <a:buNone/>
            </a:pPr>
            <a:r>
              <a:rPr lang="en-US" dirty="0"/>
              <a:t>Not just Programming</a:t>
            </a:r>
          </a:p>
          <a:p>
            <a:pPr marL="0" indent="0">
              <a:buNone/>
            </a:pPr>
            <a:endParaRPr lang="en-US" dirty="0"/>
          </a:p>
        </p:txBody>
      </p:sp>
    </p:spTree>
    <p:extLst>
      <p:ext uri="{BB962C8B-B14F-4D97-AF65-F5344CB8AC3E}">
        <p14:creationId xmlns:p14="http://schemas.microsoft.com/office/powerpoint/2010/main" val="1157400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D828-86AE-432B-A1C9-906654B8EB23}"/>
              </a:ext>
            </a:extLst>
          </p:cNvPr>
          <p:cNvSpPr>
            <a:spLocks noGrp="1"/>
          </p:cNvSpPr>
          <p:nvPr>
            <p:ph type="title"/>
          </p:nvPr>
        </p:nvSpPr>
        <p:spPr/>
        <p:txBody>
          <a:bodyPr/>
          <a:lstStyle/>
          <a:p>
            <a:r>
              <a:rPr lang="en-US" dirty="0"/>
              <a:t>Web Development</a:t>
            </a:r>
          </a:p>
        </p:txBody>
      </p:sp>
      <p:graphicFrame>
        <p:nvGraphicFramePr>
          <p:cNvPr id="5" name="Content Placeholder 2">
            <a:extLst>
              <a:ext uri="{FF2B5EF4-FFF2-40B4-BE49-F238E27FC236}">
                <a16:creationId xmlns:a16="http://schemas.microsoft.com/office/drawing/2014/main" id="{F6028983-7A78-E169-5982-1C3BB760ACA7}"/>
              </a:ext>
            </a:extLst>
          </p:cNvPr>
          <p:cNvGraphicFramePr>
            <a:graphicFrameLocks noGrp="1"/>
          </p:cNvGraphicFramePr>
          <p:nvPr>
            <p:ph idx="1"/>
            <p:extLst>
              <p:ext uri="{D42A27DB-BD31-4B8C-83A1-F6EECF244321}">
                <p14:modId xmlns:p14="http://schemas.microsoft.com/office/powerpoint/2010/main" val="841777379"/>
              </p:ext>
            </p:extLst>
          </p:nvPr>
        </p:nvGraphicFramePr>
        <p:xfrm>
          <a:off x="1397000" y="1384300"/>
          <a:ext cx="9956800" cy="4792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777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D828-86AE-432B-A1C9-906654B8EB23}"/>
              </a:ext>
            </a:extLst>
          </p:cNvPr>
          <p:cNvSpPr>
            <a:spLocks noGrp="1"/>
          </p:cNvSpPr>
          <p:nvPr>
            <p:ph type="title"/>
          </p:nvPr>
        </p:nvSpPr>
        <p:spPr/>
        <p:txBody>
          <a:bodyPr/>
          <a:lstStyle/>
          <a:p>
            <a:r>
              <a:rPr lang="en-US" dirty="0"/>
              <a:t>Web Development</a:t>
            </a:r>
          </a:p>
        </p:txBody>
      </p:sp>
      <p:sp>
        <p:nvSpPr>
          <p:cNvPr id="3" name="Content Placeholder 2">
            <a:extLst>
              <a:ext uri="{FF2B5EF4-FFF2-40B4-BE49-F238E27FC236}">
                <a16:creationId xmlns:a16="http://schemas.microsoft.com/office/drawing/2014/main" id="{975CB04F-66F2-48CC-9BF7-E55E15060B5F}"/>
              </a:ext>
            </a:extLst>
          </p:cNvPr>
          <p:cNvSpPr>
            <a:spLocks noGrp="1"/>
          </p:cNvSpPr>
          <p:nvPr>
            <p:ph idx="1"/>
          </p:nvPr>
        </p:nvSpPr>
        <p:spPr/>
        <p:txBody>
          <a:bodyPr>
            <a:normAutofit lnSpcReduction="10000"/>
          </a:bodyPr>
          <a:lstStyle/>
          <a:p>
            <a:pPr marL="0" indent="0">
              <a:buNone/>
            </a:pPr>
            <a:r>
              <a:rPr lang="en-US" dirty="0"/>
              <a:t>An effective web site is the result of a lot of different considerations, from</a:t>
            </a:r>
          </a:p>
          <a:p>
            <a:pPr marL="0" indent="0">
              <a:buNone/>
            </a:pPr>
            <a:r>
              <a:rPr lang="en-US" sz="2400" dirty="0"/>
              <a:t>	Concept,</a:t>
            </a:r>
            <a:br>
              <a:rPr lang="en-US" sz="2400" dirty="0"/>
            </a:br>
            <a:r>
              <a:rPr lang="en-US" sz="2400" dirty="0"/>
              <a:t>	Requirements gathering,</a:t>
            </a:r>
            <a:br>
              <a:rPr lang="en-US" sz="2400" dirty="0"/>
            </a:br>
            <a:r>
              <a:rPr lang="en-US" sz="2400" dirty="0"/>
              <a:t>	Design,</a:t>
            </a:r>
            <a:br>
              <a:rPr lang="en-US" sz="2400" dirty="0"/>
            </a:br>
            <a:r>
              <a:rPr lang="en-US" sz="2400" dirty="0"/>
              <a:t>	Media,</a:t>
            </a:r>
            <a:br>
              <a:rPr lang="en-US" sz="2400" dirty="0"/>
            </a:br>
            <a:r>
              <a:rPr lang="en-US" sz="2400" dirty="0"/>
              <a:t>	Coding,</a:t>
            </a:r>
            <a:br>
              <a:rPr lang="en-US" sz="2400" dirty="0"/>
            </a:br>
            <a:r>
              <a:rPr lang="en-US" sz="2400" dirty="0"/>
              <a:t>	Testing,</a:t>
            </a:r>
            <a:br>
              <a:rPr lang="en-US" sz="2400" dirty="0"/>
            </a:br>
            <a:r>
              <a:rPr lang="en-US" sz="2400" dirty="0"/>
              <a:t>	Marketing,</a:t>
            </a:r>
            <a:br>
              <a:rPr lang="en-US" sz="2400" dirty="0"/>
            </a:br>
            <a:r>
              <a:rPr lang="en-US" sz="2400" dirty="0"/>
              <a:t>	Re-Design, all the way to</a:t>
            </a:r>
            <a:br>
              <a:rPr lang="en-US" sz="2400" dirty="0"/>
            </a:br>
            <a:r>
              <a:rPr lang="en-US" sz="2400" dirty="0"/>
              <a:t>	Maintenance, </a:t>
            </a:r>
            <a:br>
              <a:rPr lang="en-US" sz="2400" dirty="0"/>
            </a:br>
            <a:r>
              <a:rPr lang="en-US" sz="2400" dirty="0"/>
              <a:t>	…and more</a:t>
            </a:r>
          </a:p>
          <a:p>
            <a:pPr marL="0" indent="0">
              <a:buNone/>
            </a:pPr>
            <a:endParaRPr lang="en-US" sz="2400" dirty="0"/>
          </a:p>
        </p:txBody>
      </p:sp>
    </p:spTree>
    <p:extLst>
      <p:ext uri="{BB962C8B-B14F-4D97-AF65-F5344CB8AC3E}">
        <p14:creationId xmlns:p14="http://schemas.microsoft.com/office/powerpoint/2010/main" val="323811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D828-86AE-432B-A1C9-906654B8EB23}"/>
              </a:ext>
            </a:extLst>
          </p:cNvPr>
          <p:cNvSpPr>
            <a:spLocks noGrp="1"/>
          </p:cNvSpPr>
          <p:nvPr>
            <p:ph type="title"/>
          </p:nvPr>
        </p:nvSpPr>
        <p:spPr/>
        <p:txBody>
          <a:bodyPr/>
          <a:lstStyle/>
          <a:p>
            <a:r>
              <a:rPr lang="en-US" dirty="0"/>
              <a:t>Web Development</a:t>
            </a:r>
          </a:p>
        </p:txBody>
      </p:sp>
      <p:sp>
        <p:nvSpPr>
          <p:cNvPr id="3" name="Content Placeholder 2">
            <a:extLst>
              <a:ext uri="{FF2B5EF4-FFF2-40B4-BE49-F238E27FC236}">
                <a16:creationId xmlns:a16="http://schemas.microsoft.com/office/drawing/2014/main" id="{975CB04F-66F2-48CC-9BF7-E55E15060B5F}"/>
              </a:ext>
            </a:extLst>
          </p:cNvPr>
          <p:cNvSpPr>
            <a:spLocks noGrp="1"/>
          </p:cNvSpPr>
          <p:nvPr>
            <p:ph idx="1"/>
          </p:nvPr>
        </p:nvSpPr>
        <p:spPr/>
        <p:txBody>
          <a:bodyPr>
            <a:normAutofit fontScale="92500" lnSpcReduction="20000"/>
          </a:bodyPr>
          <a:lstStyle/>
          <a:p>
            <a:pPr marL="0" indent="0">
              <a:buNone/>
            </a:pPr>
            <a:r>
              <a:rPr lang="en-US" dirty="0"/>
              <a:t>The Department of Computing presents other classes that continue with the basics we’re learning here, both directly and indirectly:</a:t>
            </a:r>
          </a:p>
          <a:p>
            <a:pPr marL="0" indent="0">
              <a:buNone/>
            </a:pPr>
            <a:endParaRPr lang="en-US" dirty="0"/>
          </a:p>
          <a:p>
            <a:pPr marL="457200" lvl="1" indent="0">
              <a:buNone/>
            </a:pPr>
            <a:r>
              <a:rPr lang="en-US" dirty="0"/>
              <a:t>CSCI 1720 - Intermediate Web</a:t>
            </a:r>
            <a:br>
              <a:rPr lang="en-US" dirty="0"/>
            </a:br>
            <a:r>
              <a:rPr lang="en-US" dirty="0"/>
              <a:t>CSCI 2910 - Server Side</a:t>
            </a:r>
            <a:br>
              <a:rPr lang="en-US" dirty="0"/>
            </a:br>
            <a:r>
              <a:rPr lang="en-US" dirty="0"/>
              <a:t>CSCI 3110 - Advanced Web</a:t>
            </a:r>
            <a:br>
              <a:rPr lang="en-US" dirty="0"/>
            </a:br>
            <a:endParaRPr lang="en-US" dirty="0"/>
          </a:p>
          <a:p>
            <a:pPr marL="457200" lvl="1" indent="0">
              <a:buNone/>
            </a:pPr>
            <a:r>
              <a:rPr lang="en-US" dirty="0"/>
              <a:t>CSCI 4250 - Software Engineering I</a:t>
            </a:r>
            <a:br>
              <a:rPr lang="en-US" dirty="0"/>
            </a:br>
            <a:r>
              <a:rPr lang="en-US" dirty="0"/>
              <a:t>CSCI 4350 - Software Engineering II</a:t>
            </a:r>
            <a:br>
              <a:rPr lang="en-US" dirty="0"/>
            </a:br>
            <a:r>
              <a:rPr lang="en-US" dirty="0"/>
              <a:t>CSCI 4417 - Introduction to System Administration</a:t>
            </a:r>
            <a:br>
              <a:rPr lang="en-US" dirty="0"/>
            </a:br>
            <a:r>
              <a:rPr lang="en-US" dirty="0"/>
              <a:t>CSCI 4927 - Human Computer Interaction</a:t>
            </a:r>
            <a:endParaRPr lang="en-US" sz="2000" dirty="0"/>
          </a:p>
          <a:p>
            <a:pPr marL="0" indent="0">
              <a:buNone/>
            </a:pPr>
            <a:endParaRPr lang="en-US" sz="2400" dirty="0"/>
          </a:p>
        </p:txBody>
      </p:sp>
    </p:spTree>
    <p:extLst>
      <p:ext uri="{BB962C8B-B14F-4D97-AF65-F5344CB8AC3E}">
        <p14:creationId xmlns:p14="http://schemas.microsoft.com/office/powerpoint/2010/main" val="1181160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D828-86AE-432B-A1C9-906654B8EB23}"/>
              </a:ext>
            </a:extLst>
          </p:cNvPr>
          <p:cNvSpPr>
            <a:spLocks noGrp="1"/>
          </p:cNvSpPr>
          <p:nvPr>
            <p:ph type="title"/>
          </p:nvPr>
        </p:nvSpPr>
        <p:spPr/>
        <p:txBody>
          <a:bodyPr/>
          <a:lstStyle/>
          <a:p>
            <a:r>
              <a:rPr lang="en-US" dirty="0"/>
              <a:t>Conclusion</a:t>
            </a:r>
          </a:p>
        </p:txBody>
      </p:sp>
      <p:graphicFrame>
        <p:nvGraphicFramePr>
          <p:cNvPr id="6" name="Content Placeholder 2">
            <a:extLst>
              <a:ext uri="{FF2B5EF4-FFF2-40B4-BE49-F238E27FC236}">
                <a16:creationId xmlns:a16="http://schemas.microsoft.com/office/drawing/2014/main" id="{FBA579A2-E8D1-D08D-547F-854D8341B62F}"/>
              </a:ext>
            </a:extLst>
          </p:cNvPr>
          <p:cNvGraphicFramePr>
            <a:graphicFrameLocks noGrp="1"/>
          </p:cNvGraphicFramePr>
          <p:nvPr>
            <p:ph idx="1"/>
            <p:extLst>
              <p:ext uri="{D42A27DB-BD31-4B8C-83A1-F6EECF244321}">
                <p14:modId xmlns:p14="http://schemas.microsoft.com/office/powerpoint/2010/main" val="3639645476"/>
              </p:ext>
            </p:extLst>
          </p:nvPr>
        </p:nvGraphicFramePr>
        <p:xfrm>
          <a:off x="1397000" y="1384300"/>
          <a:ext cx="9956800" cy="4792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05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768"/>
            <a:ext cx="10515600" cy="701675"/>
          </a:xfrm>
        </p:spPr>
        <p:txBody>
          <a:bodyPr/>
          <a:lstStyle/>
          <a:p>
            <a:r>
              <a:rPr lang="en-US" dirty="0"/>
              <a:t>Copyrights</a:t>
            </a:r>
          </a:p>
        </p:txBody>
      </p:sp>
      <p:sp>
        <p:nvSpPr>
          <p:cNvPr id="3" name="Content Placeholder 2"/>
          <p:cNvSpPr>
            <a:spLocks noGrp="1"/>
          </p:cNvSpPr>
          <p:nvPr>
            <p:ph sz="quarter" idx="1"/>
          </p:nvPr>
        </p:nvSpPr>
        <p:spPr>
          <a:xfrm>
            <a:off x="179942" y="2038120"/>
            <a:ext cx="11832115" cy="3371161"/>
          </a:xfrm>
        </p:spPr>
        <p:txBody>
          <a:bodyPr>
            <a:noAutofit/>
          </a:bodyPr>
          <a:lstStyle/>
          <a:p>
            <a:pPr marL="0" indent="0">
              <a:spcBef>
                <a:spcPct val="50000"/>
              </a:spcBef>
            </a:pPr>
            <a:r>
              <a:rPr lang="en-GB" sz="1100" dirty="0"/>
              <a:t>Microsoft, Windows, Excel, Outlook, and PowerPoint are registered trademarks of Microsoft Corporation. </a:t>
            </a:r>
            <a:endParaRPr lang="de-DE" sz="1100" dirty="0"/>
          </a:p>
          <a:p>
            <a:pPr marL="0" indent="0">
              <a:spcBef>
                <a:spcPct val="50000"/>
              </a:spcBef>
            </a:pPr>
            <a:r>
              <a:rPr lang="en-GB" sz="1100" dirty="0"/>
              <a:t>IBM, DB2, DB2 Universal Database, System i, System i5, System p, System p5, System x, System z, System z10, System z9, z10, z9, iSeries, pSeries, xSeries, zSeries, eServer, z/VM, z/OS, i5/OS, S/390, OS/390, OS/400, AS/400, S/390 Parallel Enterprise Server, PowerVM, Power Architecture, POWER6+, POWER6, POWER5+, POWER5, POWER, OpenPower, PowerPC, BatchPipes, BladeCenter, System Storage, GPFS, HACMP, RETAIN, DB2 Connect, RACF, Redbooks, OS/2, Parallel Sysplex, MVS/ESA, AIX, Intelligent Miner, WebSphere, Netfinity, Tivoli and Informix are trademarks or registered trademarks of IBM Corporation.</a:t>
            </a:r>
            <a:endParaRPr lang="de-DE" sz="1100" dirty="0"/>
          </a:p>
          <a:p>
            <a:pPr marL="0" indent="0">
              <a:spcBef>
                <a:spcPct val="50000"/>
              </a:spcBef>
            </a:pPr>
            <a:r>
              <a:rPr lang="en-GB" sz="1100" dirty="0"/>
              <a:t>Linux is the registered trademark of Linus Torvalds in the U.S. and other countries.</a:t>
            </a:r>
            <a:endParaRPr lang="de-DE" sz="1100" dirty="0"/>
          </a:p>
          <a:p>
            <a:pPr marL="0" indent="0">
              <a:spcBef>
                <a:spcPct val="50000"/>
              </a:spcBef>
            </a:pPr>
            <a:r>
              <a:rPr lang="en-GB" sz="1100" dirty="0"/>
              <a:t>Oracle is a registered trademark of Oracle Corporation. </a:t>
            </a:r>
            <a:endParaRPr lang="de-DE" sz="1100" dirty="0"/>
          </a:p>
          <a:p>
            <a:pPr marL="0" indent="0">
              <a:spcBef>
                <a:spcPct val="50000"/>
              </a:spcBef>
            </a:pPr>
            <a:r>
              <a:rPr lang="en-GB" sz="1100" dirty="0"/>
              <a:t>HTML, XML, XHTML and W3C are trademarks or registered trademarks of W3C®, World Wide Web Consortium, Massachusetts Institute of Technology.</a:t>
            </a:r>
            <a:endParaRPr lang="de-DE" sz="1100" dirty="0"/>
          </a:p>
          <a:p>
            <a:pPr marL="0" indent="0">
              <a:spcBef>
                <a:spcPct val="50000"/>
              </a:spcBef>
            </a:pPr>
            <a:r>
              <a:rPr lang="en-GB" sz="1100" dirty="0"/>
              <a:t>Java is a registered trademark of Sun Microsystems, Inc.</a:t>
            </a:r>
            <a:endParaRPr lang="de-DE" sz="1100" dirty="0"/>
          </a:p>
          <a:p>
            <a:pPr marL="0" indent="0">
              <a:spcBef>
                <a:spcPct val="50000"/>
              </a:spcBef>
            </a:pPr>
            <a:r>
              <a:rPr lang="en-GB" sz="1100" dirty="0"/>
              <a:t>JavaScript is a registered trademark of Sun Microsystems, Inc., used under license for technology invented and implemented by Netscape. </a:t>
            </a:r>
            <a:endParaRPr lang="de-DE" sz="1100" dirty="0"/>
          </a:p>
          <a:p>
            <a:pPr marL="0" indent="0">
              <a:spcBef>
                <a:spcPct val="50000"/>
              </a:spcBef>
            </a:pPr>
            <a:r>
              <a:rPr lang="en-GB" sz="1100" dirty="0"/>
              <a:t>SAP, R/3, SAP NetWeaver, Duet, PartnerEdge, ByDesign, SAP Business ByDesign, and other SAP products and services mentioned herein as well as their respective logos are trademarks or registered trademarks of SAP AG in Germany and other countries. </a:t>
            </a:r>
            <a:endParaRPr lang="de-DE" sz="1100" dirty="0"/>
          </a:p>
          <a:p>
            <a:pPr marL="0" indent="0">
              <a:spcBef>
                <a:spcPct val="50000"/>
              </a:spcBef>
            </a:pPr>
            <a:r>
              <a:rPr lang="en-GB" sz="1100" dirty="0"/>
              <a:t>Business Objects and the Business Objects logo, BusinessObjects, Crystal Reports, Crystal Decisions, Web Intelligence, Xcelsius, and other Business Objects products and services mentioned herein as well as their respective logos are trademarks or registered trademarks of Business Objects S.A. in the United States and in other countries. Business Objects is an SAP company.</a:t>
            </a:r>
          </a:p>
          <a:p>
            <a:pPr marL="0" indent="0">
              <a:spcBef>
                <a:spcPct val="50000"/>
              </a:spcBef>
            </a:pPr>
            <a:r>
              <a:rPr lang="en-GB" sz="1100" dirty="0"/>
              <a:t>ERPsim is a registered copyright of ERPsim Labs, HEC Montreal.</a:t>
            </a:r>
          </a:p>
          <a:p>
            <a:pPr marL="0" indent="0">
              <a:spcBef>
                <a:spcPct val="50000"/>
              </a:spcBef>
            </a:pPr>
            <a:r>
              <a:rPr lang="de-DE" sz="1100" dirty="0"/>
              <a:t>Other products mentioned in this presentation are trademarks of their respective owners.</a:t>
            </a:r>
            <a:endParaRPr lang="en-GB" sz="1100" dirty="0"/>
          </a:p>
        </p:txBody>
      </p:sp>
      <p:sp>
        <p:nvSpPr>
          <p:cNvPr id="4" name="Content Placeholder 6"/>
          <p:cNvSpPr txBox="1">
            <a:spLocks/>
          </p:cNvSpPr>
          <p:nvPr/>
        </p:nvSpPr>
        <p:spPr>
          <a:xfrm>
            <a:off x="3200400" y="835443"/>
            <a:ext cx="5791200" cy="993354"/>
          </a:xfrm>
          <a:prstGeom prst="rect">
            <a:avLst/>
          </a:prstGeom>
        </p:spPr>
        <p:txBody>
          <a:bodyPr vert="horz">
            <a:normAutofit/>
          </a:bodyPr>
          <a:lstStyle/>
          <a:p>
            <a:pPr marL="228600" indent="-228600" algn="ctr">
              <a:spcAft>
                <a:spcPts val="300"/>
              </a:spcAft>
              <a:buClr>
                <a:schemeClr val="accent2"/>
              </a:buClr>
              <a:buSzPct val="90000"/>
              <a:defRPr/>
            </a:pPr>
            <a:r>
              <a:rPr lang="en-US" dirty="0">
                <a:latin typeface="Calibri" pitchFamily="34" charset="0"/>
              </a:rPr>
              <a:t>Presentation prepared by and copyright of John Ramsey, East Tennessee State University, Department of Computing . (</a:t>
            </a:r>
            <a:r>
              <a:rPr lang="en-US" dirty="0">
                <a:latin typeface="Calibri" pitchFamily="34" charset="0"/>
                <a:hlinkClick r:id="rId3"/>
              </a:rPr>
              <a:t>ramseyjw@etsu.edu</a:t>
            </a:r>
            <a:r>
              <a:rPr lang="en-US" dirty="0">
                <a:latin typeface="Calibri" pitchFamily="34" charset="0"/>
              </a:rPr>
              <a:t>)</a:t>
            </a:r>
          </a:p>
        </p:txBody>
      </p:sp>
      <p:pic>
        <p:nvPicPr>
          <p:cNvPr id="6" name="Picture 5" descr="sm-C&amp;IS-Logo.jpg"/>
          <p:cNvPicPr>
            <a:picLocks noChangeAspect="1"/>
          </p:cNvPicPr>
          <p:nvPr/>
        </p:nvPicPr>
        <p:blipFill>
          <a:blip r:embed="rId4" cstate="print"/>
          <a:stretch>
            <a:fillRect/>
          </a:stretch>
        </p:blipFill>
        <p:spPr>
          <a:xfrm>
            <a:off x="9551454" y="759243"/>
            <a:ext cx="945096" cy="1197121"/>
          </a:xfrm>
          <a:prstGeom prst="rect">
            <a:avLst/>
          </a:prstGeom>
        </p:spPr>
      </p:pic>
      <p:pic>
        <p:nvPicPr>
          <p:cNvPr id="7" name="Picture 6"/>
          <p:cNvPicPr>
            <a:picLocks noChangeAspect="1"/>
          </p:cNvPicPr>
          <p:nvPr/>
        </p:nvPicPr>
        <p:blipFill rotWithShape="1">
          <a:blip r:embed="rId5">
            <a:extLst>
              <a:ext uri="{28A0092B-C50C-407E-A947-70E740481C1C}">
                <a14:useLocalDpi xmlns:a14="http://schemas.microsoft.com/office/drawing/2010/main" val="0"/>
              </a:ext>
            </a:extLst>
          </a:blip>
          <a:srcRect l="30200" t="23395" r="33350" b="20101"/>
          <a:stretch/>
        </p:blipFill>
        <p:spPr>
          <a:xfrm>
            <a:off x="1018953" y="855417"/>
            <a:ext cx="1094885" cy="1004772"/>
          </a:xfrm>
          <a:prstGeom prst="rect">
            <a:avLst/>
          </a:prstGeom>
          <a:effectLst>
            <a:glow rad="101600">
              <a:schemeClr val="accent1">
                <a:satMod val="175000"/>
                <a:alpha val="40000"/>
              </a:schemeClr>
            </a:glow>
          </a:effectLst>
        </p:spPr>
      </p:pic>
    </p:spTree>
    <p:extLst>
      <p:ext uri="{BB962C8B-B14F-4D97-AF65-F5344CB8AC3E}">
        <p14:creationId xmlns:p14="http://schemas.microsoft.com/office/powerpoint/2010/main" val="3505661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444F9C"/>
      </a:dk2>
      <a:lt2>
        <a:srgbClr val="E8E8E8"/>
      </a:lt2>
      <a:accent1>
        <a:srgbClr val="FDE379"/>
      </a:accent1>
      <a:accent2>
        <a:srgbClr val="507682"/>
      </a:accent2>
      <a:accent3>
        <a:srgbClr val="C23592"/>
      </a:accent3>
      <a:accent4>
        <a:srgbClr val="C43FD1"/>
      </a:accent4>
      <a:accent5>
        <a:srgbClr val="762DBF"/>
      </a:accent5>
      <a:accent6>
        <a:srgbClr val="4E42DA"/>
      </a:accent6>
      <a:hlink>
        <a:srgbClr val="2D5EBF"/>
      </a:hlink>
      <a:folHlink>
        <a:srgbClr val="96607D"/>
      </a:folHlink>
    </a:clrScheme>
    <a:fontScheme name="Web Essentials">
      <a:majorFont>
        <a:latin typeface="Text Me One"/>
        <a:ea typeface=""/>
        <a:cs typeface=""/>
      </a:majorFont>
      <a:minorFont>
        <a:latin typeface="Aveni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etter_etsu_slides.potx" id="{84144527-B722-4FB9-98F2-24E491EA81C0}" vid="{0578278C-0607-42C8-9465-CC104649CC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74"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462877A-EA5C-49AB-AC21-20680D50A734}">
  <we:reference id="wa200010001" version="1.0.0.1" store="en-US"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better_etsu_slides</Template>
  <TotalTime>132</TotalTime>
  <Words>2646</Words>
  <Application>Microsoft Office PowerPoint</Application>
  <PresentationFormat>Widescreen</PresentationFormat>
  <Paragraphs>197</Paragraphs>
  <Slides>53</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53</vt:i4>
      </vt:variant>
    </vt:vector>
  </HeadingPairs>
  <TitlesOfParts>
    <vt:vector size="64" baseType="lpstr">
      <vt:lpstr>Abadi Extra Light</vt:lpstr>
      <vt:lpstr>Aptos</vt:lpstr>
      <vt:lpstr>Arial</vt:lpstr>
      <vt:lpstr>Avenir</vt:lpstr>
      <vt:lpstr>Bahnschrift</vt:lpstr>
      <vt:lpstr>Calibri</vt:lpstr>
      <vt:lpstr>Consolas</vt:lpstr>
      <vt:lpstr>Segoe UI</vt:lpstr>
      <vt:lpstr>Text Me One</vt:lpstr>
      <vt:lpstr>Times New Roman</vt:lpstr>
      <vt:lpstr>Office Theme</vt:lpstr>
      <vt:lpstr>CUSTOM FONTS &amp; DOMAIN MANAGEMENT</vt:lpstr>
      <vt:lpstr>Fonts</vt:lpstr>
      <vt:lpstr>Fonts</vt:lpstr>
      <vt:lpstr>Fonts</vt:lpstr>
      <vt:lpstr>Google Fonts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note of caution</vt:lpstr>
      <vt:lpstr>Domain Management</vt:lpstr>
      <vt:lpstr>Domain Management</vt:lpstr>
      <vt:lpstr>PowerPoint Presentation</vt:lpstr>
      <vt:lpstr>Domain Management</vt:lpstr>
      <vt:lpstr>Domain Management</vt:lpstr>
      <vt:lpstr>Domain Management - How it Works</vt:lpstr>
      <vt:lpstr>Domain Management - How it Works</vt:lpstr>
      <vt:lpstr>Domain Management - Tools &amp; Options</vt:lpstr>
      <vt:lpstr>Domain Management - Tools &amp; Options</vt:lpstr>
      <vt:lpstr>Domain Management - Tools &amp; Options</vt:lpstr>
      <vt:lpstr>Domain Management - Services</vt:lpstr>
      <vt:lpstr>Domain Management - Services</vt:lpstr>
      <vt:lpstr>Purchasing Your Own Domain</vt:lpstr>
      <vt:lpstr>Your Own Domain</vt:lpstr>
      <vt:lpstr>Your Own Domain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Managing Your Domain</vt:lpstr>
      <vt:lpstr>PowerPoint Presentation</vt:lpstr>
      <vt:lpstr>PowerPoint Presentation</vt:lpstr>
      <vt:lpstr>PowerPoint Presentation</vt:lpstr>
      <vt:lpstr>PowerPoint Presentation</vt:lpstr>
      <vt:lpstr>Web Development</vt:lpstr>
      <vt:lpstr>Web Development</vt:lpstr>
      <vt:lpstr>Web Development</vt:lpstr>
      <vt:lpstr>Web Development</vt:lpstr>
      <vt:lpstr>Web Development</vt:lpstr>
      <vt:lpstr>Web Development</vt:lpstr>
      <vt:lpstr>Conclusion</vt:lpstr>
      <vt:lpstr>Copyrights</vt:lpstr>
    </vt:vector>
  </TitlesOfParts>
  <Company>ETSU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 Fonts &amp; Domain Managment</dc:title>
  <dc:creator>Haas, Ryan R;Jack Ramsey</dc:creator>
  <cp:lastModifiedBy>Haas, Ryan R</cp:lastModifiedBy>
  <cp:revision>6</cp:revision>
  <dcterms:created xsi:type="dcterms:W3CDTF">2026-04-02T15:31:17Z</dcterms:created>
  <dcterms:modified xsi:type="dcterms:W3CDTF">2026-08-07T19:33:00Z</dcterms:modified>
</cp:coreProperties>
</file>