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7"/>
  </p:notesMasterIdLst>
  <p:handoutMasterIdLst>
    <p:handoutMasterId r:id="rId88"/>
  </p:handoutMasterIdLst>
  <p:sldIdLst>
    <p:sldId id="260" r:id="rId3"/>
    <p:sldId id="455" r:id="rId4"/>
    <p:sldId id="346" r:id="rId5"/>
    <p:sldId id="323" r:id="rId6"/>
    <p:sldId id="347" r:id="rId7"/>
    <p:sldId id="348" r:id="rId8"/>
    <p:sldId id="443" r:id="rId9"/>
    <p:sldId id="444" r:id="rId10"/>
    <p:sldId id="349" r:id="rId11"/>
    <p:sldId id="445" r:id="rId12"/>
    <p:sldId id="350" r:id="rId13"/>
    <p:sldId id="446" r:id="rId14"/>
    <p:sldId id="351" r:id="rId15"/>
    <p:sldId id="447" r:id="rId16"/>
    <p:sldId id="352" r:id="rId17"/>
    <p:sldId id="355" r:id="rId18"/>
    <p:sldId id="353" r:id="rId19"/>
    <p:sldId id="354" r:id="rId20"/>
    <p:sldId id="448" r:id="rId21"/>
    <p:sldId id="449" r:id="rId22"/>
    <p:sldId id="429" r:id="rId23"/>
    <p:sldId id="430" r:id="rId24"/>
    <p:sldId id="356" r:id="rId25"/>
    <p:sldId id="357" r:id="rId26"/>
    <p:sldId id="325" r:id="rId27"/>
    <p:sldId id="450" r:id="rId28"/>
    <p:sldId id="345" r:id="rId29"/>
    <p:sldId id="451" r:id="rId30"/>
    <p:sldId id="467" r:id="rId31"/>
    <p:sldId id="257" r:id="rId32"/>
    <p:sldId id="388" r:id="rId33"/>
    <p:sldId id="370" r:id="rId34"/>
    <p:sldId id="371" r:id="rId35"/>
    <p:sldId id="372" r:id="rId36"/>
    <p:sldId id="374" r:id="rId37"/>
    <p:sldId id="375" r:id="rId38"/>
    <p:sldId id="468" r:id="rId39"/>
    <p:sldId id="397" r:id="rId40"/>
    <p:sldId id="392" r:id="rId41"/>
    <p:sldId id="394" r:id="rId42"/>
    <p:sldId id="376" r:id="rId43"/>
    <p:sldId id="377" r:id="rId44"/>
    <p:sldId id="380" r:id="rId45"/>
    <p:sldId id="379" r:id="rId46"/>
    <p:sldId id="381" r:id="rId47"/>
    <p:sldId id="453" r:id="rId48"/>
    <p:sldId id="469" r:id="rId49"/>
    <p:sldId id="470" r:id="rId50"/>
    <p:sldId id="456" r:id="rId51"/>
    <p:sldId id="383" r:id="rId52"/>
    <p:sldId id="382" r:id="rId53"/>
    <p:sldId id="384" r:id="rId54"/>
    <p:sldId id="385" r:id="rId55"/>
    <p:sldId id="386" r:id="rId56"/>
    <p:sldId id="396" r:id="rId57"/>
    <p:sldId id="471" r:id="rId58"/>
    <p:sldId id="472" r:id="rId59"/>
    <p:sldId id="473" r:id="rId60"/>
    <p:sldId id="474" r:id="rId61"/>
    <p:sldId id="475" r:id="rId62"/>
    <p:sldId id="440" r:id="rId63"/>
    <p:sldId id="441" r:id="rId64"/>
    <p:sldId id="454" r:id="rId65"/>
    <p:sldId id="442" r:id="rId66"/>
    <p:sldId id="431" r:id="rId67"/>
    <p:sldId id="432" r:id="rId68"/>
    <p:sldId id="433" r:id="rId69"/>
    <p:sldId id="434" r:id="rId70"/>
    <p:sldId id="435" r:id="rId71"/>
    <p:sldId id="436" r:id="rId72"/>
    <p:sldId id="437" r:id="rId73"/>
    <p:sldId id="438" r:id="rId74"/>
    <p:sldId id="457" r:id="rId75"/>
    <p:sldId id="458" r:id="rId76"/>
    <p:sldId id="459" r:id="rId77"/>
    <p:sldId id="460" r:id="rId78"/>
    <p:sldId id="461" r:id="rId79"/>
    <p:sldId id="462" r:id="rId80"/>
    <p:sldId id="463" r:id="rId81"/>
    <p:sldId id="464" r:id="rId82"/>
    <p:sldId id="465" r:id="rId83"/>
    <p:sldId id="466" r:id="rId84"/>
    <p:sldId id="439" r:id="rId85"/>
    <p:sldId id="259"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93" autoAdjust="0"/>
    <p:restoredTop sz="88032" autoAdjust="0"/>
  </p:normalViewPr>
  <p:slideViewPr>
    <p:cSldViewPr snapToGrid="0">
      <p:cViewPr varScale="1">
        <p:scale>
          <a:sx n="90" d="100"/>
          <a:sy n="90" d="100"/>
        </p:scale>
        <p:origin x="978" y="96"/>
      </p:cViewPr>
      <p:guideLst/>
    </p:cSldViewPr>
  </p:slideViewPr>
  <p:notesTextViewPr>
    <p:cViewPr>
      <p:scale>
        <a:sx n="3" d="2"/>
        <a:sy n="3" d="2"/>
      </p:scale>
      <p:origin x="0" y="0"/>
    </p:cViewPr>
  </p:notesTextViewPr>
  <p:notesViewPr>
    <p:cSldViewPr snapToGrid="0">
      <p:cViewPr varScale="1">
        <p:scale>
          <a:sx n="86" d="100"/>
          <a:sy n="86" d="100"/>
        </p:scale>
        <p:origin x="3786"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viewProps" Target="viewProp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diagrams/_rels/data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s>
</file>

<file path=ppt/diagrams/_rels/data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image" Target="../media/image3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DE563F-A618-482E-B036-3F6F9916470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81C4502-633C-4BFB-B383-BAF81E06DE46}">
      <dgm:prSet/>
      <dgm:spPr/>
      <dgm:t>
        <a:bodyPr/>
        <a:lstStyle/>
        <a:p>
          <a:pPr>
            <a:lnSpc>
              <a:spcPct val="100000"/>
            </a:lnSpc>
          </a:pPr>
          <a:r>
            <a:rPr lang="en-US" b="1"/>
            <a:t>Known‑item seeking </a:t>
          </a:r>
          <a:r>
            <a:rPr lang="en-US"/>
            <a:t>– Users are hunting for a single, definitive answer, such as “Which U.S. state has the highest per‑capita income?”</a:t>
          </a:r>
          <a:endParaRPr lang="en-US">
            <a:latin typeface="Avenir"/>
          </a:endParaRPr>
        </a:p>
      </dgm:t>
    </dgm:pt>
    <dgm:pt modelId="{91E2BEAC-45F8-4B7D-A2BF-D1BEA1CBAA6A}" type="parTrans" cxnId="{AC0D1095-92F7-4AEA-89E8-15D98ED00012}">
      <dgm:prSet/>
      <dgm:spPr/>
      <dgm:t>
        <a:bodyPr/>
        <a:lstStyle/>
        <a:p>
          <a:endParaRPr lang="en-US"/>
        </a:p>
      </dgm:t>
    </dgm:pt>
    <dgm:pt modelId="{81C777A2-9D40-484B-A774-008AA7BCE816}" type="sibTrans" cxnId="{AC0D1095-92F7-4AEA-89E8-15D98ED00012}">
      <dgm:prSet/>
      <dgm:spPr/>
      <dgm:t>
        <a:bodyPr/>
        <a:lstStyle/>
        <a:p>
          <a:endParaRPr lang="en-US"/>
        </a:p>
      </dgm:t>
    </dgm:pt>
    <dgm:pt modelId="{DB39127E-BAEB-4F0C-BA10-07E824AFC9EE}">
      <dgm:prSet/>
      <dgm:spPr/>
      <dgm:t>
        <a:bodyPr/>
        <a:lstStyle/>
        <a:p>
          <a:pPr>
            <a:lnSpc>
              <a:spcPct val="100000"/>
            </a:lnSpc>
          </a:pPr>
          <a:r>
            <a:rPr lang="en-US" b="1"/>
            <a:t>Exploratory seeking </a:t>
          </a:r>
          <a:r>
            <a:rPr lang="en-US"/>
            <a:t>– Users want quick, actionable information to meet an immediate need, like “Where can I find a quiet beach to visit this weekend?”</a:t>
          </a:r>
          <a:endParaRPr lang="en-US">
            <a:latin typeface="Avenir"/>
          </a:endParaRPr>
        </a:p>
      </dgm:t>
    </dgm:pt>
    <dgm:pt modelId="{DA13E3E5-963E-4C82-82AF-FF0340B06CD9}" type="parTrans" cxnId="{128D23FD-CBAC-4AFE-8548-1938FC7BB283}">
      <dgm:prSet/>
      <dgm:spPr/>
      <dgm:t>
        <a:bodyPr/>
        <a:lstStyle/>
        <a:p>
          <a:endParaRPr lang="en-US"/>
        </a:p>
      </dgm:t>
    </dgm:pt>
    <dgm:pt modelId="{7AC5EE2C-F6F2-407E-9969-4EC98F1B338B}" type="sibTrans" cxnId="{128D23FD-CBAC-4AFE-8548-1938FC7BB283}">
      <dgm:prSet/>
      <dgm:spPr/>
      <dgm:t>
        <a:bodyPr/>
        <a:lstStyle/>
        <a:p>
          <a:endParaRPr lang="en-US"/>
        </a:p>
      </dgm:t>
    </dgm:pt>
    <dgm:pt modelId="{6CD86BB7-13D9-48CA-89D2-B2261A81B97C}">
      <dgm:prSet/>
      <dgm:spPr/>
      <dgm:t>
        <a:bodyPr/>
        <a:lstStyle/>
        <a:p>
          <a:pPr>
            <a:lnSpc>
              <a:spcPct val="100000"/>
            </a:lnSpc>
          </a:pPr>
          <a:r>
            <a:rPr lang="en-US" b="1" dirty="0" err="1"/>
            <a:t>Refinding</a:t>
          </a:r>
          <a:r>
            <a:rPr lang="en-US" dirty="0"/>
            <a:t> – Users need to retrieve the same or a closely related piece of information again, for example “What are the latest travel advisories for Thailand?”</a:t>
          </a:r>
          <a:endParaRPr lang="en-US" dirty="0">
            <a:latin typeface="Avenir"/>
          </a:endParaRPr>
        </a:p>
      </dgm:t>
    </dgm:pt>
    <dgm:pt modelId="{252DF3A0-E636-4B97-924D-0C6026970169}" type="parTrans" cxnId="{B9517731-F42D-4A28-8339-0102A36124DA}">
      <dgm:prSet/>
      <dgm:spPr/>
      <dgm:t>
        <a:bodyPr/>
        <a:lstStyle/>
        <a:p>
          <a:endParaRPr lang="en-US"/>
        </a:p>
      </dgm:t>
    </dgm:pt>
    <dgm:pt modelId="{4624B8BC-165A-4C97-B030-FA15DD4EFC1E}" type="sibTrans" cxnId="{B9517731-F42D-4A28-8339-0102A36124DA}">
      <dgm:prSet/>
      <dgm:spPr/>
      <dgm:t>
        <a:bodyPr/>
        <a:lstStyle/>
        <a:p>
          <a:endParaRPr lang="en-US"/>
        </a:p>
      </dgm:t>
    </dgm:pt>
    <dgm:pt modelId="{DBEE6947-B6CC-4522-8E86-8D5B7E25B29A}" type="pres">
      <dgm:prSet presAssocID="{62DE563F-A618-482E-B036-3F6F99164705}" presName="root" presStyleCnt="0">
        <dgm:presLayoutVars>
          <dgm:dir/>
          <dgm:resizeHandles val="exact"/>
        </dgm:presLayoutVars>
      </dgm:prSet>
      <dgm:spPr/>
    </dgm:pt>
    <dgm:pt modelId="{7D6DDE88-ACB2-4A9F-98C9-FC860EF41305}" type="pres">
      <dgm:prSet presAssocID="{481C4502-633C-4BFB-B383-BAF81E06DE46}" presName="compNode" presStyleCnt="0"/>
      <dgm:spPr/>
    </dgm:pt>
    <dgm:pt modelId="{7EECB993-FA9D-4CC2-8E97-69FE4A386378}" type="pres">
      <dgm:prSet presAssocID="{481C4502-633C-4BFB-B383-BAF81E06DE46}" presName="bgRect" presStyleLbl="bgShp" presStyleIdx="0" presStyleCnt="3"/>
      <dgm:spPr/>
    </dgm:pt>
    <dgm:pt modelId="{69D5CE03-09BA-41CA-BFFD-B5A96179856A}" type="pres">
      <dgm:prSet presAssocID="{481C4502-633C-4BFB-B383-BAF81E06DE4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ocument"/>
        </a:ext>
      </dgm:extLst>
    </dgm:pt>
    <dgm:pt modelId="{FBDE8E7D-7DF3-49BD-A9A8-6C885B324399}" type="pres">
      <dgm:prSet presAssocID="{481C4502-633C-4BFB-B383-BAF81E06DE46}" presName="spaceRect" presStyleCnt="0"/>
      <dgm:spPr/>
    </dgm:pt>
    <dgm:pt modelId="{91AF1FCE-4AF7-413E-BF88-D005D0DB09FF}" type="pres">
      <dgm:prSet presAssocID="{481C4502-633C-4BFB-B383-BAF81E06DE46}" presName="parTx" presStyleLbl="revTx" presStyleIdx="0" presStyleCnt="3">
        <dgm:presLayoutVars>
          <dgm:chMax val="0"/>
          <dgm:chPref val="0"/>
        </dgm:presLayoutVars>
      </dgm:prSet>
      <dgm:spPr/>
    </dgm:pt>
    <dgm:pt modelId="{AC4F86D0-A9D1-48BF-9A64-743957CF02DA}" type="pres">
      <dgm:prSet presAssocID="{81C777A2-9D40-484B-A774-008AA7BCE816}" presName="sibTrans" presStyleCnt="0"/>
      <dgm:spPr/>
    </dgm:pt>
    <dgm:pt modelId="{A602E085-005D-4B92-B51F-9E711560E823}" type="pres">
      <dgm:prSet presAssocID="{DB39127E-BAEB-4F0C-BA10-07E824AFC9EE}" presName="compNode" presStyleCnt="0"/>
      <dgm:spPr/>
    </dgm:pt>
    <dgm:pt modelId="{3627CD18-2859-4F7E-A68B-1044F8692D82}" type="pres">
      <dgm:prSet presAssocID="{DB39127E-BAEB-4F0C-BA10-07E824AFC9EE}" presName="bgRect" presStyleLbl="bgShp" presStyleIdx="1" presStyleCnt="3"/>
      <dgm:spPr/>
    </dgm:pt>
    <dgm:pt modelId="{0A727145-9CD1-411A-9EFF-2C6EA61D1D14}" type="pres">
      <dgm:prSet presAssocID="{DB39127E-BAEB-4F0C-BA10-07E824AFC9E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ze"/>
        </a:ext>
      </dgm:extLst>
    </dgm:pt>
    <dgm:pt modelId="{41DA35EA-2061-4914-BA85-5AAEA7E524D7}" type="pres">
      <dgm:prSet presAssocID="{DB39127E-BAEB-4F0C-BA10-07E824AFC9EE}" presName="spaceRect" presStyleCnt="0"/>
      <dgm:spPr/>
    </dgm:pt>
    <dgm:pt modelId="{60F649CE-6095-43A8-9319-2B8E490F1379}" type="pres">
      <dgm:prSet presAssocID="{DB39127E-BAEB-4F0C-BA10-07E824AFC9EE}" presName="parTx" presStyleLbl="revTx" presStyleIdx="1" presStyleCnt="3">
        <dgm:presLayoutVars>
          <dgm:chMax val="0"/>
          <dgm:chPref val="0"/>
        </dgm:presLayoutVars>
      </dgm:prSet>
      <dgm:spPr/>
    </dgm:pt>
    <dgm:pt modelId="{8A60997C-5BCE-4EC1-934A-67CFAF6A8361}" type="pres">
      <dgm:prSet presAssocID="{7AC5EE2C-F6F2-407E-9969-4EC98F1B338B}" presName="sibTrans" presStyleCnt="0"/>
      <dgm:spPr/>
    </dgm:pt>
    <dgm:pt modelId="{E7D00E3A-C14C-41D3-8A98-0E5440D46C05}" type="pres">
      <dgm:prSet presAssocID="{6CD86BB7-13D9-48CA-89D2-B2261A81B97C}" presName="compNode" presStyleCnt="0"/>
      <dgm:spPr/>
    </dgm:pt>
    <dgm:pt modelId="{889A2C20-B17E-47D3-9ADC-42DE25D6B401}" type="pres">
      <dgm:prSet presAssocID="{6CD86BB7-13D9-48CA-89D2-B2261A81B97C}" presName="bgRect" presStyleLbl="bgShp" presStyleIdx="2" presStyleCnt="3" custLinFactNeighborY="2603"/>
      <dgm:spPr/>
    </dgm:pt>
    <dgm:pt modelId="{2B17899E-0100-42B8-9510-DA90B064C243}" type="pres">
      <dgm:prSet presAssocID="{6CD86BB7-13D9-48CA-89D2-B2261A81B97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Flowchart"/>
        </a:ext>
      </dgm:extLst>
    </dgm:pt>
    <dgm:pt modelId="{B6532FD1-D5B4-49DE-9CEF-4D1DF6163972}" type="pres">
      <dgm:prSet presAssocID="{6CD86BB7-13D9-48CA-89D2-B2261A81B97C}" presName="spaceRect" presStyleCnt="0"/>
      <dgm:spPr/>
    </dgm:pt>
    <dgm:pt modelId="{D93AFC20-56EB-4C18-87C0-98B1B97C09A0}" type="pres">
      <dgm:prSet presAssocID="{6CD86BB7-13D9-48CA-89D2-B2261A81B97C}" presName="parTx" presStyleLbl="revTx" presStyleIdx="2" presStyleCnt="3">
        <dgm:presLayoutVars>
          <dgm:chMax val="0"/>
          <dgm:chPref val="0"/>
        </dgm:presLayoutVars>
      </dgm:prSet>
      <dgm:spPr/>
    </dgm:pt>
  </dgm:ptLst>
  <dgm:cxnLst>
    <dgm:cxn modelId="{B9517731-F42D-4A28-8339-0102A36124DA}" srcId="{62DE563F-A618-482E-B036-3F6F99164705}" destId="{6CD86BB7-13D9-48CA-89D2-B2261A81B97C}" srcOrd="2" destOrd="0" parTransId="{252DF3A0-E636-4B97-924D-0C6026970169}" sibTransId="{4624B8BC-165A-4C97-B030-FA15DD4EFC1E}"/>
    <dgm:cxn modelId="{863E194B-DD03-499E-8828-446B5222474E}" type="presOf" srcId="{481C4502-633C-4BFB-B383-BAF81E06DE46}" destId="{91AF1FCE-4AF7-413E-BF88-D005D0DB09FF}" srcOrd="0" destOrd="0" presId="urn:microsoft.com/office/officeart/2018/2/layout/IconVerticalSolidList"/>
    <dgm:cxn modelId="{BBF6B46B-1082-48CB-9E5C-ED6CCE175EA2}" type="presOf" srcId="{62DE563F-A618-482E-B036-3F6F99164705}" destId="{DBEE6947-B6CC-4522-8E86-8D5B7E25B29A}" srcOrd="0" destOrd="0" presId="urn:microsoft.com/office/officeart/2018/2/layout/IconVerticalSolidList"/>
    <dgm:cxn modelId="{AC0D1095-92F7-4AEA-89E8-15D98ED00012}" srcId="{62DE563F-A618-482E-B036-3F6F99164705}" destId="{481C4502-633C-4BFB-B383-BAF81E06DE46}" srcOrd="0" destOrd="0" parTransId="{91E2BEAC-45F8-4B7D-A2BF-D1BEA1CBAA6A}" sibTransId="{81C777A2-9D40-484B-A774-008AA7BCE816}"/>
    <dgm:cxn modelId="{9C937ABD-A41E-4DBB-AF2A-609463E74B94}" type="presOf" srcId="{6CD86BB7-13D9-48CA-89D2-B2261A81B97C}" destId="{D93AFC20-56EB-4C18-87C0-98B1B97C09A0}" srcOrd="0" destOrd="0" presId="urn:microsoft.com/office/officeart/2018/2/layout/IconVerticalSolidList"/>
    <dgm:cxn modelId="{4CEEE5C6-02E1-4751-B7E6-D8E0E98199F2}" type="presOf" srcId="{DB39127E-BAEB-4F0C-BA10-07E824AFC9EE}" destId="{60F649CE-6095-43A8-9319-2B8E490F1379}" srcOrd="0" destOrd="0" presId="urn:microsoft.com/office/officeart/2018/2/layout/IconVerticalSolidList"/>
    <dgm:cxn modelId="{128D23FD-CBAC-4AFE-8548-1938FC7BB283}" srcId="{62DE563F-A618-482E-B036-3F6F99164705}" destId="{DB39127E-BAEB-4F0C-BA10-07E824AFC9EE}" srcOrd="1" destOrd="0" parTransId="{DA13E3E5-963E-4C82-82AF-FF0340B06CD9}" sibTransId="{7AC5EE2C-F6F2-407E-9969-4EC98F1B338B}"/>
    <dgm:cxn modelId="{F1E80108-A126-4E00-AC33-CDAAC1084224}" type="presParOf" srcId="{DBEE6947-B6CC-4522-8E86-8D5B7E25B29A}" destId="{7D6DDE88-ACB2-4A9F-98C9-FC860EF41305}" srcOrd="0" destOrd="0" presId="urn:microsoft.com/office/officeart/2018/2/layout/IconVerticalSolidList"/>
    <dgm:cxn modelId="{5D369A56-3A77-4B8A-A54C-FEE7DAD79332}" type="presParOf" srcId="{7D6DDE88-ACB2-4A9F-98C9-FC860EF41305}" destId="{7EECB993-FA9D-4CC2-8E97-69FE4A386378}" srcOrd="0" destOrd="0" presId="urn:microsoft.com/office/officeart/2018/2/layout/IconVerticalSolidList"/>
    <dgm:cxn modelId="{54A8C9F5-6A75-49F3-B18E-D542A2EAE403}" type="presParOf" srcId="{7D6DDE88-ACB2-4A9F-98C9-FC860EF41305}" destId="{69D5CE03-09BA-41CA-BFFD-B5A96179856A}" srcOrd="1" destOrd="0" presId="urn:microsoft.com/office/officeart/2018/2/layout/IconVerticalSolidList"/>
    <dgm:cxn modelId="{932E81E5-BE97-4932-8B00-9973AD4F0949}" type="presParOf" srcId="{7D6DDE88-ACB2-4A9F-98C9-FC860EF41305}" destId="{FBDE8E7D-7DF3-49BD-A9A8-6C885B324399}" srcOrd="2" destOrd="0" presId="urn:microsoft.com/office/officeart/2018/2/layout/IconVerticalSolidList"/>
    <dgm:cxn modelId="{6C9E9524-055C-40E6-ACB5-70212BD4BFA2}" type="presParOf" srcId="{7D6DDE88-ACB2-4A9F-98C9-FC860EF41305}" destId="{91AF1FCE-4AF7-413E-BF88-D005D0DB09FF}" srcOrd="3" destOrd="0" presId="urn:microsoft.com/office/officeart/2018/2/layout/IconVerticalSolidList"/>
    <dgm:cxn modelId="{1450B055-B01D-4B3B-8850-C8747F2F4901}" type="presParOf" srcId="{DBEE6947-B6CC-4522-8E86-8D5B7E25B29A}" destId="{AC4F86D0-A9D1-48BF-9A64-743957CF02DA}" srcOrd="1" destOrd="0" presId="urn:microsoft.com/office/officeart/2018/2/layout/IconVerticalSolidList"/>
    <dgm:cxn modelId="{692A5D58-43F9-4F29-81DA-CC5CEA6B51C1}" type="presParOf" srcId="{DBEE6947-B6CC-4522-8E86-8D5B7E25B29A}" destId="{A602E085-005D-4B92-B51F-9E711560E823}" srcOrd="2" destOrd="0" presId="urn:microsoft.com/office/officeart/2018/2/layout/IconVerticalSolidList"/>
    <dgm:cxn modelId="{86342871-0336-4C5D-9188-92F12CF82FD1}" type="presParOf" srcId="{A602E085-005D-4B92-B51F-9E711560E823}" destId="{3627CD18-2859-4F7E-A68B-1044F8692D82}" srcOrd="0" destOrd="0" presId="urn:microsoft.com/office/officeart/2018/2/layout/IconVerticalSolidList"/>
    <dgm:cxn modelId="{6D8F193F-466B-4858-814C-632F15A941BD}" type="presParOf" srcId="{A602E085-005D-4B92-B51F-9E711560E823}" destId="{0A727145-9CD1-411A-9EFF-2C6EA61D1D14}" srcOrd="1" destOrd="0" presId="urn:microsoft.com/office/officeart/2018/2/layout/IconVerticalSolidList"/>
    <dgm:cxn modelId="{B1066462-E6C7-4218-B6B6-A7B2039CD3F9}" type="presParOf" srcId="{A602E085-005D-4B92-B51F-9E711560E823}" destId="{41DA35EA-2061-4914-BA85-5AAEA7E524D7}" srcOrd="2" destOrd="0" presId="urn:microsoft.com/office/officeart/2018/2/layout/IconVerticalSolidList"/>
    <dgm:cxn modelId="{1D505507-4594-4F39-8EC8-DD3DE7FD1DF9}" type="presParOf" srcId="{A602E085-005D-4B92-B51F-9E711560E823}" destId="{60F649CE-6095-43A8-9319-2B8E490F1379}" srcOrd="3" destOrd="0" presId="urn:microsoft.com/office/officeart/2018/2/layout/IconVerticalSolidList"/>
    <dgm:cxn modelId="{9460DFC8-1759-46C0-9CC1-59FE896526B6}" type="presParOf" srcId="{DBEE6947-B6CC-4522-8E86-8D5B7E25B29A}" destId="{8A60997C-5BCE-4EC1-934A-67CFAF6A8361}" srcOrd="3" destOrd="0" presId="urn:microsoft.com/office/officeart/2018/2/layout/IconVerticalSolidList"/>
    <dgm:cxn modelId="{78AFF429-1F65-43BD-A129-84095EFC695E}" type="presParOf" srcId="{DBEE6947-B6CC-4522-8E86-8D5B7E25B29A}" destId="{E7D00E3A-C14C-41D3-8A98-0E5440D46C05}" srcOrd="4" destOrd="0" presId="urn:microsoft.com/office/officeart/2018/2/layout/IconVerticalSolidList"/>
    <dgm:cxn modelId="{8411CEF9-68FC-4AFB-96FD-811C1C1FFEBF}" type="presParOf" srcId="{E7D00E3A-C14C-41D3-8A98-0E5440D46C05}" destId="{889A2C20-B17E-47D3-9ADC-42DE25D6B401}" srcOrd="0" destOrd="0" presId="urn:microsoft.com/office/officeart/2018/2/layout/IconVerticalSolidList"/>
    <dgm:cxn modelId="{440BDCE2-686A-432D-93EA-9EFA076988EB}" type="presParOf" srcId="{E7D00E3A-C14C-41D3-8A98-0E5440D46C05}" destId="{2B17899E-0100-42B8-9510-DA90B064C243}" srcOrd="1" destOrd="0" presId="urn:microsoft.com/office/officeart/2018/2/layout/IconVerticalSolidList"/>
    <dgm:cxn modelId="{E53DF289-66CD-4C0A-B37B-54306D8DD067}" type="presParOf" srcId="{E7D00E3A-C14C-41D3-8A98-0E5440D46C05}" destId="{B6532FD1-D5B4-49DE-9CEF-4D1DF6163972}" srcOrd="2" destOrd="0" presId="urn:microsoft.com/office/officeart/2018/2/layout/IconVerticalSolidList"/>
    <dgm:cxn modelId="{6EADFA97-05D5-4BCF-9165-0674BC8FDF86}" type="presParOf" srcId="{E7D00E3A-C14C-41D3-8A98-0E5440D46C05}" destId="{D93AFC20-56EB-4C18-87C0-98B1B97C09A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DE563F-A618-482E-B036-3F6F9916470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81C4502-633C-4BFB-B383-BAF81E06DE46}">
      <dgm:prSet custT="1"/>
      <dgm:spPr/>
      <dgm:t>
        <a:bodyPr/>
        <a:lstStyle/>
        <a:p>
          <a:pPr>
            <a:lnSpc>
              <a:spcPct val="100000"/>
            </a:lnSpc>
          </a:pPr>
          <a:r>
            <a:rPr lang="en-US" sz="2100" b="1" dirty="0"/>
            <a:t>Labels &amp; naming</a:t>
          </a:r>
        </a:p>
        <a:p>
          <a:pPr>
            <a:lnSpc>
              <a:spcPct val="100000"/>
            </a:lnSpc>
          </a:pPr>
          <a:r>
            <a:rPr lang="en-US" altLang="en-US" sz="2100" dirty="0"/>
            <a:t>What are things called?  Be consistent to avoid confusion. </a:t>
          </a:r>
          <a:endParaRPr lang="en-US" sz="2100" b="1" dirty="0"/>
        </a:p>
      </dgm:t>
    </dgm:pt>
    <dgm:pt modelId="{91E2BEAC-45F8-4B7D-A2BF-D1BEA1CBAA6A}" type="parTrans" cxnId="{AC0D1095-92F7-4AEA-89E8-15D98ED00012}">
      <dgm:prSet/>
      <dgm:spPr/>
      <dgm:t>
        <a:bodyPr/>
        <a:lstStyle/>
        <a:p>
          <a:endParaRPr lang="en-US"/>
        </a:p>
      </dgm:t>
    </dgm:pt>
    <dgm:pt modelId="{81C777A2-9D40-484B-A774-008AA7BCE816}" type="sibTrans" cxnId="{AC0D1095-92F7-4AEA-89E8-15D98ED00012}">
      <dgm:prSet/>
      <dgm:spPr/>
      <dgm:t>
        <a:bodyPr/>
        <a:lstStyle/>
        <a:p>
          <a:endParaRPr lang="en-US"/>
        </a:p>
      </dgm:t>
    </dgm:pt>
    <dgm:pt modelId="{DB39127E-BAEB-4F0C-BA10-07E824AFC9EE}">
      <dgm:prSet custT="1"/>
      <dgm:spPr/>
      <dgm:t>
        <a:bodyPr/>
        <a:lstStyle/>
        <a:p>
          <a:pPr>
            <a:lnSpc>
              <a:spcPct val="100000"/>
            </a:lnSpc>
          </a:pPr>
          <a:r>
            <a:rPr lang="en-US" sz="2100" b="1" dirty="0"/>
            <a:t>Structure of content</a:t>
          </a:r>
        </a:p>
        <a:p>
          <a:pPr>
            <a:lnSpc>
              <a:spcPct val="100000"/>
            </a:lnSpc>
          </a:pPr>
          <a:r>
            <a:rPr lang="en-US" altLang="en-US" sz="2100" dirty="0"/>
            <a:t>What goes where? What is the relationship between elements?</a:t>
          </a:r>
          <a:endParaRPr lang="en-US" sz="2100" dirty="0">
            <a:latin typeface="Avenir"/>
          </a:endParaRPr>
        </a:p>
      </dgm:t>
    </dgm:pt>
    <dgm:pt modelId="{DA13E3E5-963E-4C82-82AF-FF0340B06CD9}" type="parTrans" cxnId="{128D23FD-CBAC-4AFE-8548-1938FC7BB283}">
      <dgm:prSet/>
      <dgm:spPr/>
      <dgm:t>
        <a:bodyPr/>
        <a:lstStyle/>
        <a:p>
          <a:endParaRPr lang="en-US"/>
        </a:p>
      </dgm:t>
    </dgm:pt>
    <dgm:pt modelId="{7AC5EE2C-F6F2-407E-9969-4EC98F1B338B}" type="sibTrans" cxnId="{128D23FD-CBAC-4AFE-8548-1938FC7BB283}">
      <dgm:prSet/>
      <dgm:spPr/>
      <dgm:t>
        <a:bodyPr/>
        <a:lstStyle/>
        <a:p>
          <a:endParaRPr lang="en-US"/>
        </a:p>
      </dgm:t>
    </dgm:pt>
    <dgm:pt modelId="{6CD86BB7-13D9-48CA-89D2-B2261A81B97C}">
      <dgm:prSet custT="1"/>
      <dgm:spPr/>
      <dgm:t>
        <a:bodyPr/>
        <a:lstStyle/>
        <a:p>
          <a:pPr>
            <a:lnSpc>
              <a:spcPct val="100000"/>
            </a:lnSpc>
          </a:pPr>
          <a:r>
            <a:rPr lang="en-US" sz="2100" b="1" dirty="0"/>
            <a:t>Navigation between pages</a:t>
          </a:r>
        </a:p>
        <a:p>
          <a:pPr>
            <a:lnSpc>
              <a:spcPct val="100000"/>
            </a:lnSpc>
          </a:pPr>
          <a:r>
            <a:rPr lang="en-US" altLang="en-US" sz="2100" dirty="0"/>
            <a:t>How to map mental thought process to supported navigation?</a:t>
          </a:r>
          <a:endParaRPr lang="en-US" sz="2100" dirty="0">
            <a:latin typeface="Avenir"/>
          </a:endParaRPr>
        </a:p>
      </dgm:t>
    </dgm:pt>
    <dgm:pt modelId="{252DF3A0-E636-4B97-924D-0C6026970169}" type="parTrans" cxnId="{B9517731-F42D-4A28-8339-0102A36124DA}">
      <dgm:prSet/>
      <dgm:spPr/>
      <dgm:t>
        <a:bodyPr/>
        <a:lstStyle/>
        <a:p>
          <a:endParaRPr lang="en-US"/>
        </a:p>
      </dgm:t>
    </dgm:pt>
    <dgm:pt modelId="{4624B8BC-165A-4C97-B030-FA15DD4EFC1E}" type="sibTrans" cxnId="{B9517731-F42D-4A28-8339-0102A36124DA}">
      <dgm:prSet/>
      <dgm:spPr/>
      <dgm:t>
        <a:bodyPr/>
        <a:lstStyle/>
        <a:p>
          <a:endParaRPr lang="en-US"/>
        </a:p>
      </dgm:t>
    </dgm:pt>
    <dgm:pt modelId="{DBEE6947-B6CC-4522-8E86-8D5B7E25B29A}" type="pres">
      <dgm:prSet presAssocID="{62DE563F-A618-482E-B036-3F6F99164705}" presName="root" presStyleCnt="0">
        <dgm:presLayoutVars>
          <dgm:dir/>
          <dgm:resizeHandles val="exact"/>
        </dgm:presLayoutVars>
      </dgm:prSet>
      <dgm:spPr/>
    </dgm:pt>
    <dgm:pt modelId="{7D6DDE88-ACB2-4A9F-98C9-FC860EF41305}" type="pres">
      <dgm:prSet presAssocID="{481C4502-633C-4BFB-B383-BAF81E06DE46}" presName="compNode" presStyleCnt="0"/>
      <dgm:spPr/>
    </dgm:pt>
    <dgm:pt modelId="{7EECB993-FA9D-4CC2-8E97-69FE4A386378}" type="pres">
      <dgm:prSet presAssocID="{481C4502-633C-4BFB-B383-BAF81E06DE46}" presName="bgRect" presStyleLbl="bgShp" presStyleIdx="0" presStyleCnt="3"/>
      <dgm:spPr/>
    </dgm:pt>
    <dgm:pt modelId="{69D5CE03-09BA-41CA-BFFD-B5A96179856A}" type="pres">
      <dgm:prSet presAssocID="{481C4502-633C-4BFB-B383-BAF81E06DE46}"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Label with solid fill"/>
        </a:ext>
      </dgm:extLst>
    </dgm:pt>
    <dgm:pt modelId="{FBDE8E7D-7DF3-49BD-A9A8-6C885B324399}" type="pres">
      <dgm:prSet presAssocID="{481C4502-633C-4BFB-B383-BAF81E06DE46}" presName="spaceRect" presStyleCnt="0"/>
      <dgm:spPr/>
    </dgm:pt>
    <dgm:pt modelId="{91AF1FCE-4AF7-413E-BF88-D005D0DB09FF}" type="pres">
      <dgm:prSet presAssocID="{481C4502-633C-4BFB-B383-BAF81E06DE46}" presName="parTx" presStyleLbl="revTx" presStyleIdx="0" presStyleCnt="3">
        <dgm:presLayoutVars>
          <dgm:chMax val="0"/>
          <dgm:chPref val="0"/>
        </dgm:presLayoutVars>
      </dgm:prSet>
      <dgm:spPr/>
    </dgm:pt>
    <dgm:pt modelId="{AC4F86D0-A9D1-48BF-9A64-743957CF02DA}" type="pres">
      <dgm:prSet presAssocID="{81C777A2-9D40-484B-A774-008AA7BCE816}" presName="sibTrans" presStyleCnt="0"/>
      <dgm:spPr/>
    </dgm:pt>
    <dgm:pt modelId="{A602E085-005D-4B92-B51F-9E711560E823}" type="pres">
      <dgm:prSet presAssocID="{DB39127E-BAEB-4F0C-BA10-07E824AFC9EE}" presName="compNode" presStyleCnt="0"/>
      <dgm:spPr/>
    </dgm:pt>
    <dgm:pt modelId="{3627CD18-2859-4F7E-A68B-1044F8692D82}" type="pres">
      <dgm:prSet presAssocID="{DB39127E-BAEB-4F0C-BA10-07E824AFC9EE}" presName="bgRect" presStyleLbl="bgShp" presStyleIdx="1" presStyleCnt="3"/>
      <dgm:spPr/>
    </dgm:pt>
    <dgm:pt modelId="{0A727145-9CD1-411A-9EFF-2C6EA61D1D14}" type="pres">
      <dgm:prSet presAssocID="{DB39127E-BAEB-4F0C-BA10-07E824AFC9E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ierarchy"/>
        </a:ext>
      </dgm:extLst>
    </dgm:pt>
    <dgm:pt modelId="{41DA35EA-2061-4914-BA85-5AAEA7E524D7}" type="pres">
      <dgm:prSet presAssocID="{DB39127E-BAEB-4F0C-BA10-07E824AFC9EE}" presName="spaceRect" presStyleCnt="0"/>
      <dgm:spPr/>
    </dgm:pt>
    <dgm:pt modelId="{60F649CE-6095-43A8-9319-2B8E490F1379}" type="pres">
      <dgm:prSet presAssocID="{DB39127E-BAEB-4F0C-BA10-07E824AFC9EE}" presName="parTx" presStyleLbl="revTx" presStyleIdx="1" presStyleCnt="3">
        <dgm:presLayoutVars>
          <dgm:chMax val="0"/>
          <dgm:chPref val="0"/>
        </dgm:presLayoutVars>
      </dgm:prSet>
      <dgm:spPr/>
    </dgm:pt>
    <dgm:pt modelId="{8A60997C-5BCE-4EC1-934A-67CFAF6A8361}" type="pres">
      <dgm:prSet presAssocID="{7AC5EE2C-F6F2-407E-9969-4EC98F1B338B}" presName="sibTrans" presStyleCnt="0"/>
      <dgm:spPr/>
    </dgm:pt>
    <dgm:pt modelId="{E7D00E3A-C14C-41D3-8A98-0E5440D46C05}" type="pres">
      <dgm:prSet presAssocID="{6CD86BB7-13D9-48CA-89D2-B2261A81B97C}" presName="compNode" presStyleCnt="0"/>
      <dgm:spPr/>
    </dgm:pt>
    <dgm:pt modelId="{889A2C20-B17E-47D3-9ADC-42DE25D6B401}" type="pres">
      <dgm:prSet presAssocID="{6CD86BB7-13D9-48CA-89D2-B2261A81B97C}" presName="bgRect" presStyleLbl="bgShp" presStyleIdx="2" presStyleCnt="3" custLinFactNeighborY="2603"/>
      <dgm:spPr/>
    </dgm:pt>
    <dgm:pt modelId="{2B17899E-0100-42B8-9510-DA90B064C243}" type="pres">
      <dgm:prSet presAssocID="{6CD86BB7-13D9-48CA-89D2-B2261A81B97C}"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Connected with solid fill"/>
        </a:ext>
      </dgm:extLst>
    </dgm:pt>
    <dgm:pt modelId="{B6532FD1-D5B4-49DE-9CEF-4D1DF6163972}" type="pres">
      <dgm:prSet presAssocID="{6CD86BB7-13D9-48CA-89D2-B2261A81B97C}" presName="spaceRect" presStyleCnt="0"/>
      <dgm:spPr/>
    </dgm:pt>
    <dgm:pt modelId="{D93AFC20-56EB-4C18-87C0-98B1B97C09A0}" type="pres">
      <dgm:prSet presAssocID="{6CD86BB7-13D9-48CA-89D2-B2261A81B97C}" presName="parTx" presStyleLbl="revTx" presStyleIdx="2" presStyleCnt="3">
        <dgm:presLayoutVars>
          <dgm:chMax val="0"/>
          <dgm:chPref val="0"/>
        </dgm:presLayoutVars>
      </dgm:prSet>
      <dgm:spPr/>
    </dgm:pt>
  </dgm:ptLst>
  <dgm:cxnLst>
    <dgm:cxn modelId="{B9517731-F42D-4A28-8339-0102A36124DA}" srcId="{62DE563F-A618-482E-B036-3F6F99164705}" destId="{6CD86BB7-13D9-48CA-89D2-B2261A81B97C}" srcOrd="2" destOrd="0" parTransId="{252DF3A0-E636-4B97-924D-0C6026970169}" sibTransId="{4624B8BC-165A-4C97-B030-FA15DD4EFC1E}"/>
    <dgm:cxn modelId="{863E194B-DD03-499E-8828-446B5222474E}" type="presOf" srcId="{481C4502-633C-4BFB-B383-BAF81E06DE46}" destId="{91AF1FCE-4AF7-413E-BF88-D005D0DB09FF}" srcOrd="0" destOrd="0" presId="urn:microsoft.com/office/officeart/2018/2/layout/IconVerticalSolidList"/>
    <dgm:cxn modelId="{BBF6B46B-1082-48CB-9E5C-ED6CCE175EA2}" type="presOf" srcId="{62DE563F-A618-482E-B036-3F6F99164705}" destId="{DBEE6947-B6CC-4522-8E86-8D5B7E25B29A}" srcOrd="0" destOrd="0" presId="urn:microsoft.com/office/officeart/2018/2/layout/IconVerticalSolidList"/>
    <dgm:cxn modelId="{AC0D1095-92F7-4AEA-89E8-15D98ED00012}" srcId="{62DE563F-A618-482E-B036-3F6F99164705}" destId="{481C4502-633C-4BFB-B383-BAF81E06DE46}" srcOrd="0" destOrd="0" parTransId="{91E2BEAC-45F8-4B7D-A2BF-D1BEA1CBAA6A}" sibTransId="{81C777A2-9D40-484B-A774-008AA7BCE816}"/>
    <dgm:cxn modelId="{9C937ABD-A41E-4DBB-AF2A-609463E74B94}" type="presOf" srcId="{6CD86BB7-13D9-48CA-89D2-B2261A81B97C}" destId="{D93AFC20-56EB-4C18-87C0-98B1B97C09A0}" srcOrd="0" destOrd="0" presId="urn:microsoft.com/office/officeart/2018/2/layout/IconVerticalSolidList"/>
    <dgm:cxn modelId="{4CEEE5C6-02E1-4751-B7E6-D8E0E98199F2}" type="presOf" srcId="{DB39127E-BAEB-4F0C-BA10-07E824AFC9EE}" destId="{60F649CE-6095-43A8-9319-2B8E490F1379}" srcOrd="0" destOrd="0" presId="urn:microsoft.com/office/officeart/2018/2/layout/IconVerticalSolidList"/>
    <dgm:cxn modelId="{128D23FD-CBAC-4AFE-8548-1938FC7BB283}" srcId="{62DE563F-A618-482E-B036-3F6F99164705}" destId="{DB39127E-BAEB-4F0C-BA10-07E824AFC9EE}" srcOrd="1" destOrd="0" parTransId="{DA13E3E5-963E-4C82-82AF-FF0340B06CD9}" sibTransId="{7AC5EE2C-F6F2-407E-9969-4EC98F1B338B}"/>
    <dgm:cxn modelId="{F1E80108-A126-4E00-AC33-CDAAC1084224}" type="presParOf" srcId="{DBEE6947-B6CC-4522-8E86-8D5B7E25B29A}" destId="{7D6DDE88-ACB2-4A9F-98C9-FC860EF41305}" srcOrd="0" destOrd="0" presId="urn:microsoft.com/office/officeart/2018/2/layout/IconVerticalSolidList"/>
    <dgm:cxn modelId="{5D369A56-3A77-4B8A-A54C-FEE7DAD79332}" type="presParOf" srcId="{7D6DDE88-ACB2-4A9F-98C9-FC860EF41305}" destId="{7EECB993-FA9D-4CC2-8E97-69FE4A386378}" srcOrd="0" destOrd="0" presId="urn:microsoft.com/office/officeart/2018/2/layout/IconVerticalSolidList"/>
    <dgm:cxn modelId="{54A8C9F5-6A75-49F3-B18E-D542A2EAE403}" type="presParOf" srcId="{7D6DDE88-ACB2-4A9F-98C9-FC860EF41305}" destId="{69D5CE03-09BA-41CA-BFFD-B5A96179856A}" srcOrd="1" destOrd="0" presId="urn:microsoft.com/office/officeart/2018/2/layout/IconVerticalSolidList"/>
    <dgm:cxn modelId="{932E81E5-BE97-4932-8B00-9973AD4F0949}" type="presParOf" srcId="{7D6DDE88-ACB2-4A9F-98C9-FC860EF41305}" destId="{FBDE8E7D-7DF3-49BD-A9A8-6C885B324399}" srcOrd="2" destOrd="0" presId="urn:microsoft.com/office/officeart/2018/2/layout/IconVerticalSolidList"/>
    <dgm:cxn modelId="{6C9E9524-055C-40E6-ACB5-70212BD4BFA2}" type="presParOf" srcId="{7D6DDE88-ACB2-4A9F-98C9-FC860EF41305}" destId="{91AF1FCE-4AF7-413E-BF88-D005D0DB09FF}" srcOrd="3" destOrd="0" presId="urn:microsoft.com/office/officeart/2018/2/layout/IconVerticalSolidList"/>
    <dgm:cxn modelId="{1450B055-B01D-4B3B-8850-C8747F2F4901}" type="presParOf" srcId="{DBEE6947-B6CC-4522-8E86-8D5B7E25B29A}" destId="{AC4F86D0-A9D1-48BF-9A64-743957CF02DA}" srcOrd="1" destOrd="0" presId="urn:microsoft.com/office/officeart/2018/2/layout/IconVerticalSolidList"/>
    <dgm:cxn modelId="{692A5D58-43F9-4F29-81DA-CC5CEA6B51C1}" type="presParOf" srcId="{DBEE6947-B6CC-4522-8E86-8D5B7E25B29A}" destId="{A602E085-005D-4B92-B51F-9E711560E823}" srcOrd="2" destOrd="0" presId="urn:microsoft.com/office/officeart/2018/2/layout/IconVerticalSolidList"/>
    <dgm:cxn modelId="{86342871-0336-4C5D-9188-92F12CF82FD1}" type="presParOf" srcId="{A602E085-005D-4B92-B51F-9E711560E823}" destId="{3627CD18-2859-4F7E-A68B-1044F8692D82}" srcOrd="0" destOrd="0" presId="urn:microsoft.com/office/officeart/2018/2/layout/IconVerticalSolidList"/>
    <dgm:cxn modelId="{6D8F193F-466B-4858-814C-632F15A941BD}" type="presParOf" srcId="{A602E085-005D-4B92-B51F-9E711560E823}" destId="{0A727145-9CD1-411A-9EFF-2C6EA61D1D14}" srcOrd="1" destOrd="0" presId="urn:microsoft.com/office/officeart/2018/2/layout/IconVerticalSolidList"/>
    <dgm:cxn modelId="{B1066462-E6C7-4218-B6B6-A7B2039CD3F9}" type="presParOf" srcId="{A602E085-005D-4B92-B51F-9E711560E823}" destId="{41DA35EA-2061-4914-BA85-5AAEA7E524D7}" srcOrd="2" destOrd="0" presId="urn:microsoft.com/office/officeart/2018/2/layout/IconVerticalSolidList"/>
    <dgm:cxn modelId="{1D505507-4594-4F39-8EC8-DD3DE7FD1DF9}" type="presParOf" srcId="{A602E085-005D-4B92-B51F-9E711560E823}" destId="{60F649CE-6095-43A8-9319-2B8E490F1379}" srcOrd="3" destOrd="0" presId="urn:microsoft.com/office/officeart/2018/2/layout/IconVerticalSolidList"/>
    <dgm:cxn modelId="{9460DFC8-1759-46C0-9CC1-59FE896526B6}" type="presParOf" srcId="{DBEE6947-B6CC-4522-8E86-8D5B7E25B29A}" destId="{8A60997C-5BCE-4EC1-934A-67CFAF6A8361}" srcOrd="3" destOrd="0" presId="urn:microsoft.com/office/officeart/2018/2/layout/IconVerticalSolidList"/>
    <dgm:cxn modelId="{78AFF429-1F65-43BD-A129-84095EFC695E}" type="presParOf" srcId="{DBEE6947-B6CC-4522-8E86-8D5B7E25B29A}" destId="{E7D00E3A-C14C-41D3-8A98-0E5440D46C05}" srcOrd="4" destOrd="0" presId="urn:microsoft.com/office/officeart/2018/2/layout/IconVerticalSolidList"/>
    <dgm:cxn modelId="{8411CEF9-68FC-4AFB-96FD-811C1C1FFEBF}" type="presParOf" srcId="{E7D00E3A-C14C-41D3-8A98-0E5440D46C05}" destId="{889A2C20-B17E-47D3-9ADC-42DE25D6B401}" srcOrd="0" destOrd="0" presId="urn:microsoft.com/office/officeart/2018/2/layout/IconVerticalSolidList"/>
    <dgm:cxn modelId="{440BDCE2-686A-432D-93EA-9EFA076988EB}" type="presParOf" srcId="{E7D00E3A-C14C-41D3-8A98-0E5440D46C05}" destId="{2B17899E-0100-42B8-9510-DA90B064C243}" srcOrd="1" destOrd="0" presId="urn:microsoft.com/office/officeart/2018/2/layout/IconVerticalSolidList"/>
    <dgm:cxn modelId="{E53DF289-66CD-4C0A-B37B-54306D8DD067}" type="presParOf" srcId="{E7D00E3A-C14C-41D3-8A98-0E5440D46C05}" destId="{B6532FD1-D5B4-49DE-9CEF-4D1DF6163972}" srcOrd="2" destOrd="0" presId="urn:microsoft.com/office/officeart/2018/2/layout/IconVerticalSolidList"/>
    <dgm:cxn modelId="{6EADFA97-05D5-4BCF-9165-0674BC8FDF86}" type="presParOf" srcId="{E7D00E3A-C14C-41D3-8A98-0E5440D46C05}" destId="{D93AFC20-56EB-4C18-87C0-98B1B97C09A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0DF2ECC-B808-42E2-9514-122E2113D9F4}" type="doc">
      <dgm:prSet loTypeId="urn:microsoft.com/office/officeart/2005/8/layout/vProcess5" loCatId="process" qsTypeId="urn:microsoft.com/office/officeart/2005/8/quickstyle/simple1" qsCatId="simple" csTypeId="urn:microsoft.com/office/officeart/2005/8/colors/accent1_5" csCatId="accent1" phldr="1"/>
      <dgm:spPr/>
      <dgm:t>
        <a:bodyPr/>
        <a:lstStyle/>
        <a:p>
          <a:endParaRPr lang="en-US"/>
        </a:p>
      </dgm:t>
    </dgm:pt>
    <dgm:pt modelId="{66EC256C-55FD-489F-9435-118C8FBD513B}">
      <dgm:prSet phldrT="[Text]" custT="1"/>
      <dgm:spPr>
        <a:solidFill>
          <a:schemeClr val="accent1">
            <a:lumMod val="60000"/>
            <a:lumOff val="40000"/>
          </a:schemeClr>
        </a:solidFill>
        <a:ln>
          <a:noFill/>
        </a:ln>
      </dgm:spPr>
      <dgm:t>
        <a:bodyPr/>
        <a:lstStyle/>
        <a:p>
          <a:pPr>
            <a:buFont typeface="+mj-lt"/>
            <a:buAutoNum type="arabicPeriod"/>
          </a:pPr>
          <a:r>
            <a:rPr lang="en-US" altLang="en-US" sz="3000" b="1" dirty="0">
              <a:solidFill>
                <a:srgbClr val="626CBA"/>
              </a:solidFill>
            </a:rPr>
            <a:t>1. </a:t>
          </a:r>
          <a:r>
            <a:rPr lang="en-US" altLang="en-US" sz="2700" dirty="0">
              <a:solidFill>
                <a:schemeClr val="bg2">
                  <a:lumMod val="25000"/>
                </a:schemeClr>
              </a:solidFill>
            </a:rPr>
            <a:t>Decide what information elements and functional content site must provide</a:t>
          </a:r>
          <a:endParaRPr lang="en-US" sz="2700" dirty="0">
            <a:solidFill>
              <a:schemeClr val="bg2">
                <a:lumMod val="25000"/>
              </a:schemeClr>
            </a:solidFill>
          </a:endParaRPr>
        </a:p>
      </dgm:t>
    </dgm:pt>
    <dgm:pt modelId="{578F8B34-AE27-45D3-A9AE-6CFF6309C2FE}" type="parTrans" cxnId="{1F7BD3D9-50E8-4141-99F4-779C53CF951A}">
      <dgm:prSet/>
      <dgm:spPr/>
      <dgm:t>
        <a:bodyPr/>
        <a:lstStyle/>
        <a:p>
          <a:endParaRPr lang="en-US"/>
        </a:p>
      </dgm:t>
    </dgm:pt>
    <dgm:pt modelId="{B92C18FE-8ECB-4D88-B543-0E6D911236E8}" type="sibTrans" cxnId="{1F7BD3D9-50E8-4141-99F4-779C53CF951A}">
      <dgm:prSet/>
      <dgm:spPr>
        <a:solidFill>
          <a:schemeClr val="tx2">
            <a:lumMod val="40000"/>
            <a:lumOff val="60000"/>
            <a:alpha val="90000"/>
          </a:schemeClr>
        </a:solidFill>
        <a:ln>
          <a:noFill/>
        </a:ln>
      </dgm:spPr>
      <dgm:t>
        <a:bodyPr/>
        <a:lstStyle/>
        <a:p>
          <a:endParaRPr lang="en-US"/>
        </a:p>
      </dgm:t>
    </dgm:pt>
    <dgm:pt modelId="{2B4DA6CB-9517-4C7C-9E94-42CE21E93686}">
      <dgm:prSet phldrT="[Text]" custT="1"/>
      <dgm:spPr>
        <a:solidFill>
          <a:schemeClr val="accent1">
            <a:lumMod val="40000"/>
            <a:lumOff val="60000"/>
          </a:schemeClr>
        </a:solidFill>
        <a:ln>
          <a:noFill/>
        </a:ln>
      </dgm:spPr>
      <dgm:t>
        <a:bodyPr/>
        <a:lstStyle/>
        <a:p>
          <a:pPr>
            <a:buFont typeface="+mj-lt"/>
            <a:buAutoNum type="arabicPeriod"/>
          </a:pPr>
          <a:r>
            <a:rPr lang="en-US" altLang="en-US" sz="3000" b="1" dirty="0">
              <a:solidFill>
                <a:schemeClr val="tx2">
                  <a:lumMod val="60000"/>
                  <a:lumOff val="40000"/>
                </a:schemeClr>
              </a:solidFill>
            </a:rPr>
            <a:t>2. </a:t>
          </a:r>
          <a:r>
            <a:rPr lang="en-US" altLang="en-US" sz="2800" dirty="0">
              <a:solidFill>
                <a:schemeClr val="bg2">
                  <a:lumMod val="25000"/>
                </a:schemeClr>
              </a:solidFill>
            </a:rPr>
            <a:t>Decide how above can best be grouped and organized</a:t>
          </a:r>
          <a:endParaRPr lang="en-US" sz="2800" dirty="0">
            <a:solidFill>
              <a:schemeClr val="bg2">
                <a:lumMod val="25000"/>
              </a:schemeClr>
            </a:solidFill>
          </a:endParaRPr>
        </a:p>
      </dgm:t>
    </dgm:pt>
    <dgm:pt modelId="{AED87D88-7F4A-4854-B138-7C8F47B38B02}" type="parTrans" cxnId="{E3EC3938-6279-4455-A16F-91AB0A2834B7}">
      <dgm:prSet/>
      <dgm:spPr/>
      <dgm:t>
        <a:bodyPr/>
        <a:lstStyle/>
        <a:p>
          <a:endParaRPr lang="en-US"/>
        </a:p>
      </dgm:t>
    </dgm:pt>
    <dgm:pt modelId="{150B2C8A-73F6-4613-ACB8-1733D18BA873}" type="sibTrans" cxnId="{E3EC3938-6279-4455-A16F-91AB0A2834B7}">
      <dgm:prSet/>
      <dgm:spPr>
        <a:solidFill>
          <a:schemeClr val="tx2">
            <a:lumMod val="20000"/>
            <a:lumOff val="80000"/>
            <a:alpha val="85098"/>
          </a:schemeClr>
        </a:solidFill>
        <a:ln>
          <a:noFill/>
        </a:ln>
      </dgm:spPr>
      <dgm:t>
        <a:bodyPr/>
        <a:lstStyle/>
        <a:p>
          <a:endParaRPr lang="en-US"/>
        </a:p>
      </dgm:t>
    </dgm:pt>
    <dgm:pt modelId="{D1193D73-C687-453E-B560-215F96578A4D}">
      <dgm:prSet phldrT="[Text]" custT="1"/>
      <dgm:spPr>
        <a:solidFill>
          <a:schemeClr val="accent1">
            <a:lumMod val="20000"/>
            <a:lumOff val="80000"/>
          </a:schemeClr>
        </a:solidFill>
        <a:ln>
          <a:noFill/>
        </a:ln>
      </dgm:spPr>
      <dgm:t>
        <a:bodyPr/>
        <a:lstStyle/>
        <a:p>
          <a:pPr>
            <a:buFont typeface="+mj-lt"/>
            <a:buAutoNum type="arabicPeriod"/>
          </a:pPr>
          <a:r>
            <a:rPr lang="en-US" altLang="en-US" sz="3000" b="1" dirty="0">
              <a:solidFill>
                <a:schemeClr val="tx2">
                  <a:lumMod val="40000"/>
                  <a:lumOff val="60000"/>
                </a:schemeClr>
              </a:solidFill>
            </a:rPr>
            <a:t>3. </a:t>
          </a:r>
          <a:r>
            <a:rPr lang="en-US" altLang="en-US" sz="3000" dirty="0">
              <a:solidFill>
                <a:schemeClr val="bg2">
                  <a:lumMod val="25000"/>
                </a:schemeClr>
              </a:solidFill>
            </a:rPr>
            <a:t>Plan connecting navigation among elements</a:t>
          </a:r>
          <a:endParaRPr lang="en-US" sz="3000" dirty="0">
            <a:solidFill>
              <a:schemeClr val="bg2">
                <a:lumMod val="25000"/>
              </a:schemeClr>
            </a:solidFill>
          </a:endParaRPr>
        </a:p>
      </dgm:t>
    </dgm:pt>
    <dgm:pt modelId="{A5147F8C-7747-4AC4-8D12-A2684AD85EC1}" type="parTrans" cxnId="{B39E96D0-604E-46CE-B18C-A23B37260063}">
      <dgm:prSet/>
      <dgm:spPr/>
      <dgm:t>
        <a:bodyPr/>
        <a:lstStyle/>
        <a:p>
          <a:endParaRPr lang="en-US"/>
        </a:p>
      </dgm:t>
    </dgm:pt>
    <dgm:pt modelId="{DD611833-9451-49BF-9D4D-9576B1543AA0}" type="sibTrans" cxnId="{B39E96D0-604E-46CE-B18C-A23B37260063}">
      <dgm:prSet/>
      <dgm:spPr/>
      <dgm:t>
        <a:bodyPr/>
        <a:lstStyle/>
        <a:p>
          <a:endParaRPr lang="en-US"/>
        </a:p>
      </dgm:t>
    </dgm:pt>
    <dgm:pt modelId="{565C700F-B4BB-4B0B-AE78-1D6C9A10EA2E}" type="pres">
      <dgm:prSet presAssocID="{60DF2ECC-B808-42E2-9514-122E2113D9F4}" presName="outerComposite" presStyleCnt="0">
        <dgm:presLayoutVars>
          <dgm:chMax val="5"/>
          <dgm:dir/>
          <dgm:resizeHandles val="exact"/>
        </dgm:presLayoutVars>
      </dgm:prSet>
      <dgm:spPr/>
    </dgm:pt>
    <dgm:pt modelId="{2465697B-7900-4AEF-96E9-6A7CFACF6051}" type="pres">
      <dgm:prSet presAssocID="{60DF2ECC-B808-42E2-9514-122E2113D9F4}" presName="dummyMaxCanvas" presStyleCnt="0">
        <dgm:presLayoutVars/>
      </dgm:prSet>
      <dgm:spPr/>
    </dgm:pt>
    <dgm:pt modelId="{20E09DDC-FD64-483D-8340-2710C3106315}" type="pres">
      <dgm:prSet presAssocID="{60DF2ECC-B808-42E2-9514-122E2113D9F4}" presName="ThreeNodes_1" presStyleLbl="node1" presStyleIdx="0" presStyleCnt="3">
        <dgm:presLayoutVars>
          <dgm:bulletEnabled val="1"/>
        </dgm:presLayoutVars>
      </dgm:prSet>
      <dgm:spPr/>
    </dgm:pt>
    <dgm:pt modelId="{DA7E690C-542C-4096-A40D-8DA5509CCC02}" type="pres">
      <dgm:prSet presAssocID="{60DF2ECC-B808-42E2-9514-122E2113D9F4}" presName="ThreeNodes_2" presStyleLbl="node1" presStyleIdx="1" presStyleCnt="3">
        <dgm:presLayoutVars>
          <dgm:bulletEnabled val="1"/>
        </dgm:presLayoutVars>
      </dgm:prSet>
      <dgm:spPr/>
    </dgm:pt>
    <dgm:pt modelId="{969C3A6B-737B-4AFB-869B-065DBB9B8E0D}" type="pres">
      <dgm:prSet presAssocID="{60DF2ECC-B808-42E2-9514-122E2113D9F4}" presName="ThreeNodes_3" presStyleLbl="node1" presStyleIdx="2" presStyleCnt="3">
        <dgm:presLayoutVars>
          <dgm:bulletEnabled val="1"/>
        </dgm:presLayoutVars>
      </dgm:prSet>
      <dgm:spPr/>
    </dgm:pt>
    <dgm:pt modelId="{2C2D6700-F9E2-419D-A3B1-CFD326E1B431}" type="pres">
      <dgm:prSet presAssocID="{60DF2ECC-B808-42E2-9514-122E2113D9F4}" presName="ThreeConn_1-2" presStyleLbl="fgAccFollowNode1" presStyleIdx="0" presStyleCnt="2">
        <dgm:presLayoutVars>
          <dgm:bulletEnabled val="1"/>
        </dgm:presLayoutVars>
      </dgm:prSet>
      <dgm:spPr/>
    </dgm:pt>
    <dgm:pt modelId="{E19FFCAD-5459-4551-AA28-93DC8FAA7860}" type="pres">
      <dgm:prSet presAssocID="{60DF2ECC-B808-42E2-9514-122E2113D9F4}" presName="ThreeConn_2-3" presStyleLbl="fgAccFollowNode1" presStyleIdx="1" presStyleCnt="2">
        <dgm:presLayoutVars>
          <dgm:bulletEnabled val="1"/>
        </dgm:presLayoutVars>
      </dgm:prSet>
      <dgm:spPr/>
    </dgm:pt>
    <dgm:pt modelId="{003A8AB0-7366-4737-A8F8-1ACB880C53A8}" type="pres">
      <dgm:prSet presAssocID="{60DF2ECC-B808-42E2-9514-122E2113D9F4}" presName="ThreeNodes_1_text" presStyleLbl="node1" presStyleIdx="2" presStyleCnt="3">
        <dgm:presLayoutVars>
          <dgm:bulletEnabled val="1"/>
        </dgm:presLayoutVars>
      </dgm:prSet>
      <dgm:spPr/>
    </dgm:pt>
    <dgm:pt modelId="{B4EBB439-F267-486A-83BB-931DA2A71E60}" type="pres">
      <dgm:prSet presAssocID="{60DF2ECC-B808-42E2-9514-122E2113D9F4}" presName="ThreeNodes_2_text" presStyleLbl="node1" presStyleIdx="2" presStyleCnt="3">
        <dgm:presLayoutVars>
          <dgm:bulletEnabled val="1"/>
        </dgm:presLayoutVars>
      </dgm:prSet>
      <dgm:spPr/>
    </dgm:pt>
    <dgm:pt modelId="{1FCD96A5-EC9C-4E70-8710-5028F6334402}" type="pres">
      <dgm:prSet presAssocID="{60DF2ECC-B808-42E2-9514-122E2113D9F4}" presName="ThreeNodes_3_text" presStyleLbl="node1" presStyleIdx="2" presStyleCnt="3">
        <dgm:presLayoutVars>
          <dgm:bulletEnabled val="1"/>
        </dgm:presLayoutVars>
      </dgm:prSet>
      <dgm:spPr/>
    </dgm:pt>
  </dgm:ptLst>
  <dgm:cxnLst>
    <dgm:cxn modelId="{046A1A06-D9D9-4A28-A28F-1AFBDCCDFD59}" type="presOf" srcId="{2B4DA6CB-9517-4C7C-9E94-42CE21E93686}" destId="{DA7E690C-542C-4096-A40D-8DA5509CCC02}" srcOrd="0" destOrd="0" presId="urn:microsoft.com/office/officeart/2005/8/layout/vProcess5"/>
    <dgm:cxn modelId="{3731FC32-9249-48AD-887A-46E0B29BA58B}" type="presOf" srcId="{2B4DA6CB-9517-4C7C-9E94-42CE21E93686}" destId="{B4EBB439-F267-486A-83BB-931DA2A71E60}" srcOrd="1" destOrd="0" presId="urn:microsoft.com/office/officeart/2005/8/layout/vProcess5"/>
    <dgm:cxn modelId="{E3EC3938-6279-4455-A16F-91AB0A2834B7}" srcId="{60DF2ECC-B808-42E2-9514-122E2113D9F4}" destId="{2B4DA6CB-9517-4C7C-9E94-42CE21E93686}" srcOrd="1" destOrd="0" parTransId="{AED87D88-7F4A-4854-B138-7C8F47B38B02}" sibTransId="{150B2C8A-73F6-4613-ACB8-1733D18BA873}"/>
    <dgm:cxn modelId="{11E3C33C-8038-46F4-A4F9-D0DFE647DA91}" type="presOf" srcId="{B92C18FE-8ECB-4D88-B543-0E6D911236E8}" destId="{2C2D6700-F9E2-419D-A3B1-CFD326E1B431}" srcOrd="0" destOrd="0" presId="urn:microsoft.com/office/officeart/2005/8/layout/vProcess5"/>
    <dgm:cxn modelId="{7F7BD242-A4CD-43BE-89E6-388CD73D842B}" type="presOf" srcId="{150B2C8A-73F6-4613-ACB8-1733D18BA873}" destId="{E19FFCAD-5459-4551-AA28-93DC8FAA7860}" srcOrd="0" destOrd="0" presId="urn:microsoft.com/office/officeart/2005/8/layout/vProcess5"/>
    <dgm:cxn modelId="{2C583F46-69DB-43AD-BD38-16FFD5565618}" type="presOf" srcId="{D1193D73-C687-453E-B560-215F96578A4D}" destId="{969C3A6B-737B-4AFB-869B-065DBB9B8E0D}" srcOrd="0" destOrd="0" presId="urn:microsoft.com/office/officeart/2005/8/layout/vProcess5"/>
    <dgm:cxn modelId="{F5CA8191-265C-4B41-80F7-904279DB4249}" type="presOf" srcId="{66EC256C-55FD-489F-9435-118C8FBD513B}" destId="{20E09DDC-FD64-483D-8340-2710C3106315}" srcOrd="0" destOrd="0" presId="urn:microsoft.com/office/officeart/2005/8/layout/vProcess5"/>
    <dgm:cxn modelId="{B42091AD-41C0-4F3E-A9DC-5F63C605C6EE}" type="presOf" srcId="{66EC256C-55FD-489F-9435-118C8FBD513B}" destId="{003A8AB0-7366-4737-A8F8-1ACB880C53A8}" srcOrd="1" destOrd="0" presId="urn:microsoft.com/office/officeart/2005/8/layout/vProcess5"/>
    <dgm:cxn modelId="{B39E96D0-604E-46CE-B18C-A23B37260063}" srcId="{60DF2ECC-B808-42E2-9514-122E2113D9F4}" destId="{D1193D73-C687-453E-B560-215F96578A4D}" srcOrd="2" destOrd="0" parTransId="{A5147F8C-7747-4AC4-8D12-A2684AD85EC1}" sibTransId="{DD611833-9451-49BF-9D4D-9576B1543AA0}"/>
    <dgm:cxn modelId="{1F7BD3D9-50E8-4141-99F4-779C53CF951A}" srcId="{60DF2ECC-B808-42E2-9514-122E2113D9F4}" destId="{66EC256C-55FD-489F-9435-118C8FBD513B}" srcOrd="0" destOrd="0" parTransId="{578F8B34-AE27-45D3-A9AE-6CFF6309C2FE}" sibTransId="{B92C18FE-8ECB-4D88-B543-0E6D911236E8}"/>
    <dgm:cxn modelId="{98C0B9F5-2D68-427D-BE8C-7833F1716C5B}" type="presOf" srcId="{D1193D73-C687-453E-B560-215F96578A4D}" destId="{1FCD96A5-EC9C-4E70-8710-5028F6334402}" srcOrd="1" destOrd="0" presId="urn:microsoft.com/office/officeart/2005/8/layout/vProcess5"/>
    <dgm:cxn modelId="{DFBB26FE-584D-4779-8291-D7855D1E3FED}" type="presOf" srcId="{60DF2ECC-B808-42E2-9514-122E2113D9F4}" destId="{565C700F-B4BB-4B0B-AE78-1D6C9A10EA2E}" srcOrd="0" destOrd="0" presId="urn:microsoft.com/office/officeart/2005/8/layout/vProcess5"/>
    <dgm:cxn modelId="{8BDAB547-3CB7-42FC-BBFC-4EDF38246BFF}" type="presParOf" srcId="{565C700F-B4BB-4B0B-AE78-1D6C9A10EA2E}" destId="{2465697B-7900-4AEF-96E9-6A7CFACF6051}" srcOrd="0" destOrd="0" presId="urn:microsoft.com/office/officeart/2005/8/layout/vProcess5"/>
    <dgm:cxn modelId="{6541BEB9-B5E8-4838-B59E-9D1CD5F5AA0C}" type="presParOf" srcId="{565C700F-B4BB-4B0B-AE78-1D6C9A10EA2E}" destId="{20E09DDC-FD64-483D-8340-2710C3106315}" srcOrd="1" destOrd="0" presId="urn:microsoft.com/office/officeart/2005/8/layout/vProcess5"/>
    <dgm:cxn modelId="{1214A875-9E5C-46F9-8254-355DAD67554A}" type="presParOf" srcId="{565C700F-B4BB-4B0B-AE78-1D6C9A10EA2E}" destId="{DA7E690C-542C-4096-A40D-8DA5509CCC02}" srcOrd="2" destOrd="0" presId="urn:microsoft.com/office/officeart/2005/8/layout/vProcess5"/>
    <dgm:cxn modelId="{F99F51BA-DBCB-4690-8C01-B5DC7C611BED}" type="presParOf" srcId="{565C700F-B4BB-4B0B-AE78-1D6C9A10EA2E}" destId="{969C3A6B-737B-4AFB-869B-065DBB9B8E0D}" srcOrd="3" destOrd="0" presId="urn:microsoft.com/office/officeart/2005/8/layout/vProcess5"/>
    <dgm:cxn modelId="{4DDC6814-6112-4487-BB6D-AFC10E362218}" type="presParOf" srcId="{565C700F-B4BB-4B0B-AE78-1D6C9A10EA2E}" destId="{2C2D6700-F9E2-419D-A3B1-CFD326E1B431}" srcOrd="4" destOrd="0" presId="urn:microsoft.com/office/officeart/2005/8/layout/vProcess5"/>
    <dgm:cxn modelId="{CACC52F0-0CC7-4136-9D76-DA82AD7A6713}" type="presParOf" srcId="{565C700F-B4BB-4B0B-AE78-1D6C9A10EA2E}" destId="{E19FFCAD-5459-4551-AA28-93DC8FAA7860}" srcOrd="5" destOrd="0" presId="urn:microsoft.com/office/officeart/2005/8/layout/vProcess5"/>
    <dgm:cxn modelId="{F06421CB-9A8F-47B1-B62A-83CD8D80A111}" type="presParOf" srcId="{565C700F-B4BB-4B0B-AE78-1D6C9A10EA2E}" destId="{003A8AB0-7366-4737-A8F8-1ACB880C53A8}" srcOrd="6" destOrd="0" presId="urn:microsoft.com/office/officeart/2005/8/layout/vProcess5"/>
    <dgm:cxn modelId="{1916C999-07CC-4E50-B9B4-D7D998A8779B}" type="presParOf" srcId="{565C700F-B4BB-4B0B-AE78-1D6C9A10EA2E}" destId="{B4EBB439-F267-486A-83BB-931DA2A71E60}" srcOrd="7" destOrd="0" presId="urn:microsoft.com/office/officeart/2005/8/layout/vProcess5"/>
    <dgm:cxn modelId="{FC3DB692-9F76-4DEC-8507-694402B921DA}" type="presParOf" srcId="{565C700F-B4BB-4B0B-AE78-1D6C9A10EA2E}" destId="{1FCD96A5-EC9C-4E70-8710-5028F6334402}" srcOrd="8" destOrd="0" presId="urn:microsoft.com/office/officeart/2005/8/layout/v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6C3A428-6DA2-4E80-A46A-067D483EE5C2}" type="doc">
      <dgm:prSet loTypeId="urn:microsoft.com/office/officeart/2008/layout/LinedList" loCatId="list" qsTypeId="urn:microsoft.com/office/officeart/2005/8/quickstyle/simple2" qsCatId="simple" csTypeId="urn:microsoft.com/office/officeart/2005/8/colors/accent0_3" csCatId="mainScheme"/>
      <dgm:spPr/>
      <dgm:t>
        <a:bodyPr/>
        <a:lstStyle/>
        <a:p>
          <a:endParaRPr lang="en-US"/>
        </a:p>
      </dgm:t>
    </dgm:pt>
    <dgm:pt modelId="{796A090C-7817-46F2-884B-6EC4530471EC}">
      <dgm:prSet custT="1"/>
      <dgm:spPr/>
      <dgm:t>
        <a:bodyPr anchor="ctr"/>
        <a:lstStyle/>
        <a:p>
          <a:r>
            <a:rPr lang="en-US" sz="2700" b="1" i="1" dirty="0">
              <a:solidFill>
                <a:schemeClr val="accent2">
                  <a:lumMod val="75000"/>
                </a:schemeClr>
              </a:solidFill>
            </a:rPr>
            <a:t>User knows what they want — the site needs to get out of the way.</a:t>
          </a:r>
        </a:p>
      </dgm:t>
    </dgm:pt>
    <dgm:pt modelId="{6F5838AC-5118-4B66-B811-C8CCA4344096}" type="parTrans" cxnId="{D2D97F6C-7B87-425B-9561-A54D2065648D}">
      <dgm:prSet/>
      <dgm:spPr/>
      <dgm:t>
        <a:bodyPr/>
        <a:lstStyle/>
        <a:p>
          <a:endParaRPr lang="en-US"/>
        </a:p>
      </dgm:t>
    </dgm:pt>
    <dgm:pt modelId="{8A1FF0E5-6515-4A33-8880-D67F9703E845}" type="sibTrans" cxnId="{D2D97F6C-7B87-425B-9561-A54D2065648D}">
      <dgm:prSet/>
      <dgm:spPr/>
      <dgm:t>
        <a:bodyPr/>
        <a:lstStyle/>
        <a:p>
          <a:endParaRPr lang="en-US"/>
        </a:p>
      </dgm:t>
    </dgm:pt>
    <dgm:pt modelId="{1B04706D-457B-41D1-9169-C95074CA7316}">
      <dgm:prSet custT="1"/>
      <dgm:spPr/>
      <dgm:t>
        <a:bodyPr/>
        <a:lstStyle/>
        <a:p>
          <a:r>
            <a:rPr lang="en-US" sz="1900" dirty="0"/>
            <a:t>Category labels must be </a:t>
          </a:r>
          <a:r>
            <a:rPr lang="en-US" sz="1900" b="1" dirty="0">
              <a:solidFill>
                <a:schemeClr val="accent5">
                  <a:lumMod val="75000"/>
                </a:schemeClr>
              </a:solidFill>
            </a:rPr>
            <a:t>precise</a:t>
          </a:r>
          <a:r>
            <a:rPr lang="en-US" sz="1900" dirty="0"/>
            <a:t> and </a:t>
          </a:r>
          <a:r>
            <a:rPr lang="en-US" sz="1900" b="1" dirty="0">
              <a:solidFill>
                <a:schemeClr val="accent5">
                  <a:lumMod val="75000"/>
                </a:schemeClr>
              </a:solidFill>
            </a:rPr>
            <a:t>mutually exclusive </a:t>
          </a:r>
          <a:r>
            <a:rPr lang="en-US" sz="1900" dirty="0"/>
            <a:t>— ambiguous or overlapping labels force the user to guess and backtrack</a:t>
          </a:r>
        </a:p>
      </dgm:t>
    </dgm:pt>
    <dgm:pt modelId="{F7C7F72A-CB07-4EB9-ACCD-F34D7A1B17A6}" type="parTrans" cxnId="{E5B4A3D9-7D63-4BB3-9533-3A1BE0B539A5}">
      <dgm:prSet/>
      <dgm:spPr/>
      <dgm:t>
        <a:bodyPr/>
        <a:lstStyle/>
        <a:p>
          <a:endParaRPr lang="en-US"/>
        </a:p>
      </dgm:t>
    </dgm:pt>
    <dgm:pt modelId="{1EDD97BE-6FBB-4489-9BC4-A06282AE8EC3}" type="sibTrans" cxnId="{E5B4A3D9-7D63-4BB3-9533-3A1BE0B539A5}">
      <dgm:prSet/>
      <dgm:spPr/>
      <dgm:t>
        <a:bodyPr/>
        <a:lstStyle/>
        <a:p>
          <a:endParaRPr lang="en-US"/>
        </a:p>
      </dgm:t>
    </dgm:pt>
    <dgm:pt modelId="{DC781688-B52C-42CD-AB47-C1110BBACEF7}">
      <dgm:prSet custT="1"/>
      <dgm:spPr/>
      <dgm:t>
        <a:bodyPr/>
        <a:lstStyle/>
        <a:p>
          <a:r>
            <a:rPr lang="en-US" sz="1900" dirty="0"/>
            <a:t>Navigation </a:t>
          </a:r>
          <a:r>
            <a:rPr lang="en-US" sz="1900" b="1" dirty="0">
              <a:solidFill>
                <a:schemeClr val="accent5">
                  <a:lumMod val="75000"/>
                </a:schemeClr>
              </a:solidFill>
            </a:rPr>
            <a:t>depth over breadth </a:t>
          </a:r>
          <a:r>
            <a:rPr lang="en-US" sz="1900" dirty="0"/>
            <a:t>— a deeper hierarchy with specific labels is better than a wide, vague top-level menu</a:t>
          </a:r>
        </a:p>
      </dgm:t>
    </dgm:pt>
    <dgm:pt modelId="{B01A91C1-337A-485E-B7D8-D09FDFADE423}" type="parTrans" cxnId="{4B9EAE81-43AA-4A14-9C05-91B655836231}">
      <dgm:prSet/>
      <dgm:spPr/>
      <dgm:t>
        <a:bodyPr/>
        <a:lstStyle/>
        <a:p>
          <a:endParaRPr lang="en-US"/>
        </a:p>
      </dgm:t>
    </dgm:pt>
    <dgm:pt modelId="{BFF3C8B5-0455-46F5-8EE9-91E9775491AA}" type="sibTrans" cxnId="{4B9EAE81-43AA-4A14-9C05-91B655836231}">
      <dgm:prSet/>
      <dgm:spPr/>
      <dgm:t>
        <a:bodyPr/>
        <a:lstStyle/>
        <a:p>
          <a:endParaRPr lang="en-US"/>
        </a:p>
      </dgm:t>
    </dgm:pt>
    <dgm:pt modelId="{2B9234BF-2B14-4249-B851-2F52A8CDC5D7}">
      <dgm:prSet custT="1"/>
      <dgm:spPr/>
      <dgm:t>
        <a:bodyPr/>
        <a:lstStyle/>
        <a:p>
          <a:r>
            <a:rPr lang="en-US" sz="1900" b="1" dirty="0">
              <a:solidFill>
                <a:schemeClr val="accent5">
                  <a:lumMod val="75000"/>
                </a:schemeClr>
              </a:solidFill>
            </a:rPr>
            <a:t>Utility navigation </a:t>
          </a:r>
          <a:r>
            <a:rPr lang="en-US" sz="1900" dirty="0"/>
            <a:t>(e.g., top-right links for Login, Contact, Hours) for highly specific, frequently sought items that don't fit the main taxonomy</a:t>
          </a:r>
        </a:p>
      </dgm:t>
    </dgm:pt>
    <dgm:pt modelId="{73A38366-E1C4-4489-9EFC-5B91AA6D0C02}" type="parTrans" cxnId="{6D47442B-673B-40E2-B685-4D8F87AE4009}">
      <dgm:prSet/>
      <dgm:spPr/>
      <dgm:t>
        <a:bodyPr/>
        <a:lstStyle/>
        <a:p>
          <a:endParaRPr lang="en-US"/>
        </a:p>
      </dgm:t>
    </dgm:pt>
    <dgm:pt modelId="{4648586C-1D33-4348-A91D-2223F94A0BA5}" type="sibTrans" cxnId="{6D47442B-673B-40E2-B685-4D8F87AE4009}">
      <dgm:prSet/>
      <dgm:spPr/>
      <dgm:t>
        <a:bodyPr/>
        <a:lstStyle/>
        <a:p>
          <a:endParaRPr lang="en-US"/>
        </a:p>
      </dgm:t>
    </dgm:pt>
    <dgm:pt modelId="{418B1DD2-D0F4-4F9C-BCCA-063629A03F23}">
      <dgm:prSet custT="1"/>
      <dgm:spPr/>
      <dgm:t>
        <a:bodyPr/>
        <a:lstStyle/>
        <a:p>
          <a:r>
            <a:rPr lang="en-US" sz="1900" dirty="0"/>
            <a:t>Consistent, </a:t>
          </a:r>
          <a:r>
            <a:rPr lang="en-US" sz="1900" b="1" dirty="0">
              <a:solidFill>
                <a:schemeClr val="accent5">
                  <a:lumMod val="75000"/>
                </a:schemeClr>
              </a:solidFill>
            </a:rPr>
            <a:t>literal labeling </a:t>
          </a:r>
          <a:r>
            <a:rPr lang="en-US" sz="1900" dirty="0"/>
            <a:t>— avoid clever/branded category names; users scanning for a known item need labels that match their mental model</a:t>
          </a:r>
        </a:p>
      </dgm:t>
    </dgm:pt>
    <dgm:pt modelId="{F3FCDC51-A353-493F-A21B-0D1EAD4C66DA}" type="parTrans" cxnId="{52D17451-8CD8-43E1-B86E-029909A6F5FA}">
      <dgm:prSet/>
      <dgm:spPr/>
      <dgm:t>
        <a:bodyPr/>
        <a:lstStyle/>
        <a:p>
          <a:endParaRPr lang="en-US"/>
        </a:p>
      </dgm:t>
    </dgm:pt>
    <dgm:pt modelId="{8D2531EC-CEE3-4DC8-BC62-689AED8E2986}" type="sibTrans" cxnId="{52D17451-8CD8-43E1-B86E-029909A6F5FA}">
      <dgm:prSet/>
      <dgm:spPr/>
      <dgm:t>
        <a:bodyPr/>
        <a:lstStyle/>
        <a:p>
          <a:endParaRPr lang="en-US"/>
        </a:p>
      </dgm:t>
    </dgm:pt>
    <dgm:pt modelId="{4A926DAC-7F10-426D-8768-5AF73F1A5941}">
      <dgm:prSet custT="1"/>
      <dgm:spPr/>
      <dgm:t>
        <a:bodyPr/>
        <a:lstStyle/>
        <a:p>
          <a:r>
            <a:rPr lang="en-US" sz="1900" dirty="0"/>
            <a:t>Page layout: </a:t>
          </a:r>
          <a:r>
            <a:rPr lang="en-US" sz="1900" b="1" dirty="0">
              <a:solidFill>
                <a:schemeClr val="accent5">
                  <a:lumMod val="75000"/>
                </a:schemeClr>
              </a:solidFill>
            </a:rPr>
            <a:t>answer-first</a:t>
          </a:r>
          <a:r>
            <a:rPr lang="en-US" sz="1900" dirty="0"/>
            <a:t> — lead with the key fact, spec, or definition; supporting context follows below</a:t>
          </a:r>
        </a:p>
      </dgm:t>
    </dgm:pt>
    <dgm:pt modelId="{60E9ECE4-BE69-48B4-99FA-0903E07BAC9F}" type="parTrans" cxnId="{AEDBDAD7-F4CC-4D99-B9D5-207370CAFFB7}">
      <dgm:prSet/>
      <dgm:spPr/>
      <dgm:t>
        <a:bodyPr/>
        <a:lstStyle/>
        <a:p>
          <a:endParaRPr lang="en-US"/>
        </a:p>
      </dgm:t>
    </dgm:pt>
    <dgm:pt modelId="{60DDCD12-33EB-4F68-AAA5-FD21075153CE}" type="sibTrans" cxnId="{AEDBDAD7-F4CC-4D99-B9D5-207370CAFFB7}">
      <dgm:prSet/>
      <dgm:spPr/>
      <dgm:t>
        <a:bodyPr/>
        <a:lstStyle/>
        <a:p>
          <a:endParaRPr lang="en-US"/>
        </a:p>
      </dgm:t>
    </dgm:pt>
    <dgm:pt modelId="{4153B492-4636-4C74-9517-090BE8DE3157}" type="pres">
      <dgm:prSet presAssocID="{06C3A428-6DA2-4E80-A46A-067D483EE5C2}" presName="vert0" presStyleCnt="0">
        <dgm:presLayoutVars>
          <dgm:dir/>
          <dgm:animOne val="branch"/>
          <dgm:animLvl val="lvl"/>
        </dgm:presLayoutVars>
      </dgm:prSet>
      <dgm:spPr/>
    </dgm:pt>
    <dgm:pt modelId="{AE42C90C-1EDF-4132-9B14-DD7D794E78DD}" type="pres">
      <dgm:prSet presAssocID="{796A090C-7817-46F2-884B-6EC4530471EC}" presName="thickLine" presStyleLbl="alignNode1" presStyleIdx="0" presStyleCnt="1"/>
      <dgm:spPr/>
    </dgm:pt>
    <dgm:pt modelId="{020EC565-55A8-4805-A28B-C4EFA6F7A9BA}" type="pres">
      <dgm:prSet presAssocID="{796A090C-7817-46F2-884B-6EC4530471EC}" presName="horz1" presStyleCnt="0"/>
      <dgm:spPr/>
    </dgm:pt>
    <dgm:pt modelId="{E9179E95-1DF6-40D5-A0C6-6D7C4B968298}" type="pres">
      <dgm:prSet presAssocID="{796A090C-7817-46F2-884B-6EC4530471EC}" presName="tx1" presStyleLbl="revTx" presStyleIdx="0" presStyleCnt="6"/>
      <dgm:spPr/>
    </dgm:pt>
    <dgm:pt modelId="{0BE80B7E-1E00-48EE-9C31-90D1D3C29D6F}" type="pres">
      <dgm:prSet presAssocID="{796A090C-7817-46F2-884B-6EC4530471EC}" presName="vert1" presStyleCnt="0"/>
      <dgm:spPr/>
    </dgm:pt>
    <dgm:pt modelId="{64673765-E601-4674-BFFB-64DEFD4C02E5}" type="pres">
      <dgm:prSet presAssocID="{1B04706D-457B-41D1-9169-C95074CA7316}" presName="vertSpace2a" presStyleCnt="0"/>
      <dgm:spPr/>
    </dgm:pt>
    <dgm:pt modelId="{FE545C84-B795-4E23-B767-3D214EB5A240}" type="pres">
      <dgm:prSet presAssocID="{1B04706D-457B-41D1-9169-C95074CA7316}" presName="horz2" presStyleCnt="0"/>
      <dgm:spPr/>
    </dgm:pt>
    <dgm:pt modelId="{CD228C30-EC86-4A8B-9347-8D3775C7982F}" type="pres">
      <dgm:prSet presAssocID="{1B04706D-457B-41D1-9169-C95074CA7316}" presName="horzSpace2" presStyleCnt="0"/>
      <dgm:spPr/>
    </dgm:pt>
    <dgm:pt modelId="{199C02EE-DEC8-4750-A8BB-C51D80DE506D}" type="pres">
      <dgm:prSet presAssocID="{1B04706D-457B-41D1-9169-C95074CA7316}" presName="tx2" presStyleLbl="revTx" presStyleIdx="1" presStyleCnt="6"/>
      <dgm:spPr/>
    </dgm:pt>
    <dgm:pt modelId="{23D62A3E-A639-4B9A-A9DE-6FE03165449D}" type="pres">
      <dgm:prSet presAssocID="{1B04706D-457B-41D1-9169-C95074CA7316}" presName="vert2" presStyleCnt="0"/>
      <dgm:spPr/>
    </dgm:pt>
    <dgm:pt modelId="{7F84BF2C-8FB2-4CF5-9B57-318D5C5B34F6}" type="pres">
      <dgm:prSet presAssocID="{1B04706D-457B-41D1-9169-C95074CA7316}" presName="thinLine2b" presStyleLbl="callout" presStyleIdx="0" presStyleCnt="5"/>
      <dgm:spPr/>
    </dgm:pt>
    <dgm:pt modelId="{498F7992-2352-4F45-BBCC-2DD4993DD0C9}" type="pres">
      <dgm:prSet presAssocID="{1B04706D-457B-41D1-9169-C95074CA7316}" presName="vertSpace2b" presStyleCnt="0"/>
      <dgm:spPr/>
    </dgm:pt>
    <dgm:pt modelId="{331EA3BE-68DE-4C2D-9EDD-DB698267E733}" type="pres">
      <dgm:prSet presAssocID="{DC781688-B52C-42CD-AB47-C1110BBACEF7}" presName="horz2" presStyleCnt="0"/>
      <dgm:spPr/>
    </dgm:pt>
    <dgm:pt modelId="{4D98D7B5-1B3C-4792-847E-8EA54C57F2A0}" type="pres">
      <dgm:prSet presAssocID="{DC781688-B52C-42CD-AB47-C1110BBACEF7}" presName="horzSpace2" presStyleCnt="0"/>
      <dgm:spPr/>
    </dgm:pt>
    <dgm:pt modelId="{A9436C7E-E2A5-48A6-88C8-6C3B21AD7C24}" type="pres">
      <dgm:prSet presAssocID="{DC781688-B52C-42CD-AB47-C1110BBACEF7}" presName="tx2" presStyleLbl="revTx" presStyleIdx="2" presStyleCnt="6"/>
      <dgm:spPr/>
    </dgm:pt>
    <dgm:pt modelId="{EFE8D00A-FFEF-4104-9099-710F8CABB2EB}" type="pres">
      <dgm:prSet presAssocID="{DC781688-B52C-42CD-AB47-C1110BBACEF7}" presName="vert2" presStyleCnt="0"/>
      <dgm:spPr/>
    </dgm:pt>
    <dgm:pt modelId="{0959C976-026B-455F-9AC5-82C79C221CCB}" type="pres">
      <dgm:prSet presAssocID="{DC781688-B52C-42CD-AB47-C1110BBACEF7}" presName="thinLine2b" presStyleLbl="callout" presStyleIdx="1" presStyleCnt="5"/>
      <dgm:spPr/>
    </dgm:pt>
    <dgm:pt modelId="{B913733C-5509-4DEE-8DB0-1519948B9505}" type="pres">
      <dgm:prSet presAssocID="{DC781688-B52C-42CD-AB47-C1110BBACEF7}" presName="vertSpace2b" presStyleCnt="0"/>
      <dgm:spPr/>
    </dgm:pt>
    <dgm:pt modelId="{7E821ACB-FB93-40DB-A113-8660C7EDB067}" type="pres">
      <dgm:prSet presAssocID="{2B9234BF-2B14-4249-B851-2F52A8CDC5D7}" presName="horz2" presStyleCnt="0"/>
      <dgm:spPr/>
    </dgm:pt>
    <dgm:pt modelId="{91941F76-1CAD-40B2-AD80-237DCBAE2C27}" type="pres">
      <dgm:prSet presAssocID="{2B9234BF-2B14-4249-B851-2F52A8CDC5D7}" presName="horzSpace2" presStyleCnt="0"/>
      <dgm:spPr/>
    </dgm:pt>
    <dgm:pt modelId="{E1D3734C-F460-4FF7-8736-7D1DCA93BAED}" type="pres">
      <dgm:prSet presAssocID="{2B9234BF-2B14-4249-B851-2F52A8CDC5D7}" presName="tx2" presStyleLbl="revTx" presStyleIdx="3" presStyleCnt="6"/>
      <dgm:spPr/>
    </dgm:pt>
    <dgm:pt modelId="{F6026895-5ABD-4581-9D4C-84C06203C177}" type="pres">
      <dgm:prSet presAssocID="{2B9234BF-2B14-4249-B851-2F52A8CDC5D7}" presName="vert2" presStyleCnt="0"/>
      <dgm:spPr/>
    </dgm:pt>
    <dgm:pt modelId="{C3276E96-EB30-4580-9106-461598C1C1E7}" type="pres">
      <dgm:prSet presAssocID="{2B9234BF-2B14-4249-B851-2F52A8CDC5D7}" presName="thinLine2b" presStyleLbl="callout" presStyleIdx="2" presStyleCnt="5"/>
      <dgm:spPr/>
    </dgm:pt>
    <dgm:pt modelId="{F809B9DB-EF0A-4A3F-BDDF-7CEC2E5869F6}" type="pres">
      <dgm:prSet presAssocID="{2B9234BF-2B14-4249-B851-2F52A8CDC5D7}" presName="vertSpace2b" presStyleCnt="0"/>
      <dgm:spPr/>
    </dgm:pt>
    <dgm:pt modelId="{4A0EDA06-3713-44BF-AA48-6FD655BA5B94}" type="pres">
      <dgm:prSet presAssocID="{418B1DD2-D0F4-4F9C-BCCA-063629A03F23}" presName="horz2" presStyleCnt="0"/>
      <dgm:spPr/>
    </dgm:pt>
    <dgm:pt modelId="{2E82DB67-04A7-4B08-BF19-A5CB30992960}" type="pres">
      <dgm:prSet presAssocID="{418B1DD2-D0F4-4F9C-BCCA-063629A03F23}" presName="horzSpace2" presStyleCnt="0"/>
      <dgm:spPr/>
    </dgm:pt>
    <dgm:pt modelId="{9FFC7036-4E71-48C3-9920-C9E45EDFA657}" type="pres">
      <dgm:prSet presAssocID="{418B1DD2-D0F4-4F9C-BCCA-063629A03F23}" presName="tx2" presStyleLbl="revTx" presStyleIdx="4" presStyleCnt="6"/>
      <dgm:spPr/>
    </dgm:pt>
    <dgm:pt modelId="{7728BC0F-ECE1-4D9F-9180-0BF2DCFCD455}" type="pres">
      <dgm:prSet presAssocID="{418B1DD2-D0F4-4F9C-BCCA-063629A03F23}" presName="vert2" presStyleCnt="0"/>
      <dgm:spPr/>
    </dgm:pt>
    <dgm:pt modelId="{EF21FEA6-7038-4032-984F-052F90C4DADF}" type="pres">
      <dgm:prSet presAssocID="{418B1DD2-D0F4-4F9C-BCCA-063629A03F23}" presName="thinLine2b" presStyleLbl="callout" presStyleIdx="3" presStyleCnt="5"/>
      <dgm:spPr/>
    </dgm:pt>
    <dgm:pt modelId="{3CE4491C-5722-49A0-9702-C234B38E54AA}" type="pres">
      <dgm:prSet presAssocID="{418B1DD2-D0F4-4F9C-BCCA-063629A03F23}" presName="vertSpace2b" presStyleCnt="0"/>
      <dgm:spPr/>
    </dgm:pt>
    <dgm:pt modelId="{7ECD9166-E31B-407A-BE50-6B0AA5AB89F9}" type="pres">
      <dgm:prSet presAssocID="{4A926DAC-7F10-426D-8768-5AF73F1A5941}" presName="horz2" presStyleCnt="0"/>
      <dgm:spPr/>
    </dgm:pt>
    <dgm:pt modelId="{CAF60B64-78EA-46A0-B6D9-891B4955BE2A}" type="pres">
      <dgm:prSet presAssocID="{4A926DAC-7F10-426D-8768-5AF73F1A5941}" presName="horzSpace2" presStyleCnt="0"/>
      <dgm:spPr/>
    </dgm:pt>
    <dgm:pt modelId="{C8D7F805-408F-4A97-9EAE-5E8A04AADD14}" type="pres">
      <dgm:prSet presAssocID="{4A926DAC-7F10-426D-8768-5AF73F1A5941}" presName="tx2" presStyleLbl="revTx" presStyleIdx="5" presStyleCnt="6"/>
      <dgm:spPr/>
    </dgm:pt>
    <dgm:pt modelId="{FE39B465-54EE-4225-B70E-C93DB7C38994}" type="pres">
      <dgm:prSet presAssocID="{4A926DAC-7F10-426D-8768-5AF73F1A5941}" presName="vert2" presStyleCnt="0"/>
      <dgm:spPr/>
    </dgm:pt>
    <dgm:pt modelId="{832A5ACC-4C56-4248-8A0D-C5E79D60A139}" type="pres">
      <dgm:prSet presAssocID="{4A926DAC-7F10-426D-8768-5AF73F1A5941}" presName="thinLine2b" presStyleLbl="callout" presStyleIdx="4" presStyleCnt="5"/>
      <dgm:spPr/>
    </dgm:pt>
    <dgm:pt modelId="{C3B1E55D-855E-48C8-A70B-F3E70D0D18A6}" type="pres">
      <dgm:prSet presAssocID="{4A926DAC-7F10-426D-8768-5AF73F1A5941}" presName="vertSpace2b" presStyleCnt="0"/>
      <dgm:spPr/>
    </dgm:pt>
  </dgm:ptLst>
  <dgm:cxnLst>
    <dgm:cxn modelId="{57797C16-3F10-41C1-B139-034B9A000293}" type="presOf" srcId="{1B04706D-457B-41D1-9169-C95074CA7316}" destId="{199C02EE-DEC8-4750-A8BB-C51D80DE506D}" srcOrd="0" destOrd="0" presId="urn:microsoft.com/office/officeart/2008/layout/LinedList"/>
    <dgm:cxn modelId="{7D0D3427-9DA6-447F-ACE2-8AB528147EA7}" type="presOf" srcId="{DC781688-B52C-42CD-AB47-C1110BBACEF7}" destId="{A9436C7E-E2A5-48A6-88C8-6C3B21AD7C24}" srcOrd="0" destOrd="0" presId="urn:microsoft.com/office/officeart/2008/layout/LinedList"/>
    <dgm:cxn modelId="{6D47442B-673B-40E2-B685-4D8F87AE4009}" srcId="{796A090C-7817-46F2-884B-6EC4530471EC}" destId="{2B9234BF-2B14-4249-B851-2F52A8CDC5D7}" srcOrd="2" destOrd="0" parTransId="{73A38366-E1C4-4489-9EFC-5B91AA6D0C02}" sibTransId="{4648586C-1D33-4348-A91D-2223F94A0BA5}"/>
    <dgm:cxn modelId="{C03AF040-551E-4F85-AA60-7717529745C3}" type="presOf" srcId="{4A926DAC-7F10-426D-8768-5AF73F1A5941}" destId="{C8D7F805-408F-4A97-9EAE-5E8A04AADD14}" srcOrd="0" destOrd="0" presId="urn:microsoft.com/office/officeart/2008/layout/LinedList"/>
    <dgm:cxn modelId="{DDB61560-8291-4625-969B-004AB14B4CD8}" type="presOf" srcId="{796A090C-7817-46F2-884B-6EC4530471EC}" destId="{E9179E95-1DF6-40D5-A0C6-6D7C4B968298}" srcOrd="0" destOrd="0" presId="urn:microsoft.com/office/officeart/2008/layout/LinedList"/>
    <dgm:cxn modelId="{D2D97F6C-7B87-425B-9561-A54D2065648D}" srcId="{06C3A428-6DA2-4E80-A46A-067D483EE5C2}" destId="{796A090C-7817-46F2-884B-6EC4530471EC}" srcOrd="0" destOrd="0" parTransId="{6F5838AC-5118-4B66-B811-C8CCA4344096}" sibTransId="{8A1FF0E5-6515-4A33-8880-D67F9703E845}"/>
    <dgm:cxn modelId="{52D17451-8CD8-43E1-B86E-029909A6F5FA}" srcId="{796A090C-7817-46F2-884B-6EC4530471EC}" destId="{418B1DD2-D0F4-4F9C-BCCA-063629A03F23}" srcOrd="3" destOrd="0" parTransId="{F3FCDC51-A353-493F-A21B-0D1EAD4C66DA}" sibTransId="{8D2531EC-CEE3-4DC8-BC62-689AED8E2986}"/>
    <dgm:cxn modelId="{4B9EAE81-43AA-4A14-9C05-91B655836231}" srcId="{796A090C-7817-46F2-884B-6EC4530471EC}" destId="{DC781688-B52C-42CD-AB47-C1110BBACEF7}" srcOrd="1" destOrd="0" parTransId="{B01A91C1-337A-485E-B7D8-D09FDFADE423}" sibTransId="{BFF3C8B5-0455-46F5-8EE9-91E9775491AA}"/>
    <dgm:cxn modelId="{3A7B72B7-3C5B-424E-87FE-967B065AD893}" type="presOf" srcId="{06C3A428-6DA2-4E80-A46A-067D483EE5C2}" destId="{4153B492-4636-4C74-9517-090BE8DE3157}" srcOrd="0" destOrd="0" presId="urn:microsoft.com/office/officeart/2008/layout/LinedList"/>
    <dgm:cxn modelId="{964995C6-ECD1-43A7-8B66-C14F2B82AF7F}" type="presOf" srcId="{418B1DD2-D0F4-4F9C-BCCA-063629A03F23}" destId="{9FFC7036-4E71-48C3-9920-C9E45EDFA657}" srcOrd="0" destOrd="0" presId="urn:microsoft.com/office/officeart/2008/layout/LinedList"/>
    <dgm:cxn modelId="{AEDBDAD7-F4CC-4D99-B9D5-207370CAFFB7}" srcId="{796A090C-7817-46F2-884B-6EC4530471EC}" destId="{4A926DAC-7F10-426D-8768-5AF73F1A5941}" srcOrd="4" destOrd="0" parTransId="{60E9ECE4-BE69-48B4-99FA-0903E07BAC9F}" sibTransId="{60DDCD12-33EB-4F68-AAA5-FD21075153CE}"/>
    <dgm:cxn modelId="{E5B4A3D9-7D63-4BB3-9533-3A1BE0B539A5}" srcId="{796A090C-7817-46F2-884B-6EC4530471EC}" destId="{1B04706D-457B-41D1-9169-C95074CA7316}" srcOrd="0" destOrd="0" parTransId="{F7C7F72A-CB07-4EB9-ACCD-F34D7A1B17A6}" sibTransId="{1EDD97BE-6FBB-4489-9BC4-A06282AE8EC3}"/>
    <dgm:cxn modelId="{EC68ACF4-33B1-4B3B-B96E-80C471310362}" type="presOf" srcId="{2B9234BF-2B14-4249-B851-2F52A8CDC5D7}" destId="{E1D3734C-F460-4FF7-8736-7D1DCA93BAED}" srcOrd="0" destOrd="0" presId="urn:microsoft.com/office/officeart/2008/layout/LinedList"/>
    <dgm:cxn modelId="{39B06DCE-3702-4EF2-8A3E-4EC1A6A43346}" type="presParOf" srcId="{4153B492-4636-4C74-9517-090BE8DE3157}" destId="{AE42C90C-1EDF-4132-9B14-DD7D794E78DD}" srcOrd="0" destOrd="0" presId="urn:microsoft.com/office/officeart/2008/layout/LinedList"/>
    <dgm:cxn modelId="{F38696AD-D2D4-4629-9CC0-2B218B2F156B}" type="presParOf" srcId="{4153B492-4636-4C74-9517-090BE8DE3157}" destId="{020EC565-55A8-4805-A28B-C4EFA6F7A9BA}" srcOrd="1" destOrd="0" presId="urn:microsoft.com/office/officeart/2008/layout/LinedList"/>
    <dgm:cxn modelId="{09E642E4-7D99-4792-825C-67476A3E4E06}" type="presParOf" srcId="{020EC565-55A8-4805-A28B-C4EFA6F7A9BA}" destId="{E9179E95-1DF6-40D5-A0C6-6D7C4B968298}" srcOrd="0" destOrd="0" presId="urn:microsoft.com/office/officeart/2008/layout/LinedList"/>
    <dgm:cxn modelId="{370EC01D-D8AB-4715-9F00-0928E5FF8FB5}" type="presParOf" srcId="{020EC565-55A8-4805-A28B-C4EFA6F7A9BA}" destId="{0BE80B7E-1E00-48EE-9C31-90D1D3C29D6F}" srcOrd="1" destOrd="0" presId="urn:microsoft.com/office/officeart/2008/layout/LinedList"/>
    <dgm:cxn modelId="{FD43AF13-CBEF-4B97-82BF-5EFC749CE9DF}" type="presParOf" srcId="{0BE80B7E-1E00-48EE-9C31-90D1D3C29D6F}" destId="{64673765-E601-4674-BFFB-64DEFD4C02E5}" srcOrd="0" destOrd="0" presId="urn:microsoft.com/office/officeart/2008/layout/LinedList"/>
    <dgm:cxn modelId="{BD3F9EC6-8BD5-4345-9D84-B78F83371FA9}" type="presParOf" srcId="{0BE80B7E-1E00-48EE-9C31-90D1D3C29D6F}" destId="{FE545C84-B795-4E23-B767-3D214EB5A240}" srcOrd="1" destOrd="0" presId="urn:microsoft.com/office/officeart/2008/layout/LinedList"/>
    <dgm:cxn modelId="{C92076B3-00ED-4237-9C90-61D29EEB9143}" type="presParOf" srcId="{FE545C84-B795-4E23-B767-3D214EB5A240}" destId="{CD228C30-EC86-4A8B-9347-8D3775C7982F}" srcOrd="0" destOrd="0" presId="urn:microsoft.com/office/officeart/2008/layout/LinedList"/>
    <dgm:cxn modelId="{EA1076F6-C9F1-47E1-939C-48ED6A8EB747}" type="presParOf" srcId="{FE545C84-B795-4E23-B767-3D214EB5A240}" destId="{199C02EE-DEC8-4750-A8BB-C51D80DE506D}" srcOrd="1" destOrd="0" presId="urn:microsoft.com/office/officeart/2008/layout/LinedList"/>
    <dgm:cxn modelId="{FAAB9FD6-6E4D-4499-A1E4-0E5371712286}" type="presParOf" srcId="{FE545C84-B795-4E23-B767-3D214EB5A240}" destId="{23D62A3E-A639-4B9A-A9DE-6FE03165449D}" srcOrd="2" destOrd="0" presId="urn:microsoft.com/office/officeart/2008/layout/LinedList"/>
    <dgm:cxn modelId="{03AFE420-3528-4F9C-987C-6CD496E3582E}" type="presParOf" srcId="{0BE80B7E-1E00-48EE-9C31-90D1D3C29D6F}" destId="{7F84BF2C-8FB2-4CF5-9B57-318D5C5B34F6}" srcOrd="2" destOrd="0" presId="urn:microsoft.com/office/officeart/2008/layout/LinedList"/>
    <dgm:cxn modelId="{F4F41706-7584-4565-AB25-EF964FD55427}" type="presParOf" srcId="{0BE80B7E-1E00-48EE-9C31-90D1D3C29D6F}" destId="{498F7992-2352-4F45-BBCC-2DD4993DD0C9}" srcOrd="3" destOrd="0" presId="urn:microsoft.com/office/officeart/2008/layout/LinedList"/>
    <dgm:cxn modelId="{D3390604-AD25-4B7A-9F8A-B352A36A9A3B}" type="presParOf" srcId="{0BE80B7E-1E00-48EE-9C31-90D1D3C29D6F}" destId="{331EA3BE-68DE-4C2D-9EDD-DB698267E733}" srcOrd="4" destOrd="0" presId="urn:microsoft.com/office/officeart/2008/layout/LinedList"/>
    <dgm:cxn modelId="{406A9D8C-D1F0-4684-B78A-0480A54580AE}" type="presParOf" srcId="{331EA3BE-68DE-4C2D-9EDD-DB698267E733}" destId="{4D98D7B5-1B3C-4792-847E-8EA54C57F2A0}" srcOrd="0" destOrd="0" presId="urn:microsoft.com/office/officeart/2008/layout/LinedList"/>
    <dgm:cxn modelId="{66F0B7AB-FEA1-4737-9DCF-B5088886924F}" type="presParOf" srcId="{331EA3BE-68DE-4C2D-9EDD-DB698267E733}" destId="{A9436C7E-E2A5-48A6-88C8-6C3B21AD7C24}" srcOrd="1" destOrd="0" presId="urn:microsoft.com/office/officeart/2008/layout/LinedList"/>
    <dgm:cxn modelId="{3A252C05-16C5-46EF-B6A2-B4000BD01E31}" type="presParOf" srcId="{331EA3BE-68DE-4C2D-9EDD-DB698267E733}" destId="{EFE8D00A-FFEF-4104-9099-710F8CABB2EB}" srcOrd="2" destOrd="0" presId="urn:microsoft.com/office/officeart/2008/layout/LinedList"/>
    <dgm:cxn modelId="{4F41971F-5750-492C-A9F9-573928F77CFF}" type="presParOf" srcId="{0BE80B7E-1E00-48EE-9C31-90D1D3C29D6F}" destId="{0959C976-026B-455F-9AC5-82C79C221CCB}" srcOrd="5" destOrd="0" presId="urn:microsoft.com/office/officeart/2008/layout/LinedList"/>
    <dgm:cxn modelId="{CFCAABAB-233D-4ABF-857C-720625E67E80}" type="presParOf" srcId="{0BE80B7E-1E00-48EE-9C31-90D1D3C29D6F}" destId="{B913733C-5509-4DEE-8DB0-1519948B9505}" srcOrd="6" destOrd="0" presId="urn:microsoft.com/office/officeart/2008/layout/LinedList"/>
    <dgm:cxn modelId="{ED425F78-82D5-43B3-9F05-01521D6627B8}" type="presParOf" srcId="{0BE80B7E-1E00-48EE-9C31-90D1D3C29D6F}" destId="{7E821ACB-FB93-40DB-A113-8660C7EDB067}" srcOrd="7" destOrd="0" presId="urn:microsoft.com/office/officeart/2008/layout/LinedList"/>
    <dgm:cxn modelId="{FA3ABAAB-8A22-4BB0-9408-7B6BCDDDE95D}" type="presParOf" srcId="{7E821ACB-FB93-40DB-A113-8660C7EDB067}" destId="{91941F76-1CAD-40B2-AD80-237DCBAE2C27}" srcOrd="0" destOrd="0" presId="urn:microsoft.com/office/officeart/2008/layout/LinedList"/>
    <dgm:cxn modelId="{A29E84FC-4863-4F8F-AFA5-522494A8AD79}" type="presParOf" srcId="{7E821ACB-FB93-40DB-A113-8660C7EDB067}" destId="{E1D3734C-F460-4FF7-8736-7D1DCA93BAED}" srcOrd="1" destOrd="0" presId="urn:microsoft.com/office/officeart/2008/layout/LinedList"/>
    <dgm:cxn modelId="{54761E67-F06E-4722-8EEE-6B10AEF84570}" type="presParOf" srcId="{7E821ACB-FB93-40DB-A113-8660C7EDB067}" destId="{F6026895-5ABD-4581-9D4C-84C06203C177}" srcOrd="2" destOrd="0" presId="urn:microsoft.com/office/officeart/2008/layout/LinedList"/>
    <dgm:cxn modelId="{0FBBA56C-6FE2-4007-B19C-202E9B5A880A}" type="presParOf" srcId="{0BE80B7E-1E00-48EE-9C31-90D1D3C29D6F}" destId="{C3276E96-EB30-4580-9106-461598C1C1E7}" srcOrd="8" destOrd="0" presId="urn:microsoft.com/office/officeart/2008/layout/LinedList"/>
    <dgm:cxn modelId="{BBDF0398-6617-4BC0-B628-F365E5BAAC30}" type="presParOf" srcId="{0BE80B7E-1E00-48EE-9C31-90D1D3C29D6F}" destId="{F809B9DB-EF0A-4A3F-BDDF-7CEC2E5869F6}" srcOrd="9" destOrd="0" presId="urn:microsoft.com/office/officeart/2008/layout/LinedList"/>
    <dgm:cxn modelId="{44865A86-8638-4863-8D89-9A0D847BD1AF}" type="presParOf" srcId="{0BE80B7E-1E00-48EE-9C31-90D1D3C29D6F}" destId="{4A0EDA06-3713-44BF-AA48-6FD655BA5B94}" srcOrd="10" destOrd="0" presId="urn:microsoft.com/office/officeart/2008/layout/LinedList"/>
    <dgm:cxn modelId="{55D097F6-D755-49B7-AF79-D8E770B4B9C4}" type="presParOf" srcId="{4A0EDA06-3713-44BF-AA48-6FD655BA5B94}" destId="{2E82DB67-04A7-4B08-BF19-A5CB30992960}" srcOrd="0" destOrd="0" presId="urn:microsoft.com/office/officeart/2008/layout/LinedList"/>
    <dgm:cxn modelId="{730143AD-1D46-4C55-809B-DD73CD3DC4A8}" type="presParOf" srcId="{4A0EDA06-3713-44BF-AA48-6FD655BA5B94}" destId="{9FFC7036-4E71-48C3-9920-C9E45EDFA657}" srcOrd="1" destOrd="0" presId="urn:microsoft.com/office/officeart/2008/layout/LinedList"/>
    <dgm:cxn modelId="{D04B92EE-1DF3-4533-9F37-8A948166E38A}" type="presParOf" srcId="{4A0EDA06-3713-44BF-AA48-6FD655BA5B94}" destId="{7728BC0F-ECE1-4D9F-9180-0BF2DCFCD455}" srcOrd="2" destOrd="0" presId="urn:microsoft.com/office/officeart/2008/layout/LinedList"/>
    <dgm:cxn modelId="{0009F060-6192-457E-9B07-FBC07742303D}" type="presParOf" srcId="{0BE80B7E-1E00-48EE-9C31-90D1D3C29D6F}" destId="{EF21FEA6-7038-4032-984F-052F90C4DADF}" srcOrd="11" destOrd="0" presId="urn:microsoft.com/office/officeart/2008/layout/LinedList"/>
    <dgm:cxn modelId="{4B0E3D7D-5C82-44F9-9A27-C7900F30A4CA}" type="presParOf" srcId="{0BE80B7E-1E00-48EE-9C31-90D1D3C29D6F}" destId="{3CE4491C-5722-49A0-9702-C234B38E54AA}" srcOrd="12" destOrd="0" presId="urn:microsoft.com/office/officeart/2008/layout/LinedList"/>
    <dgm:cxn modelId="{6BF7652C-B4FA-4491-851E-1DA7C692284A}" type="presParOf" srcId="{0BE80B7E-1E00-48EE-9C31-90D1D3C29D6F}" destId="{7ECD9166-E31B-407A-BE50-6B0AA5AB89F9}" srcOrd="13" destOrd="0" presId="urn:microsoft.com/office/officeart/2008/layout/LinedList"/>
    <dgm:cxn modelId="{67699ABD-C286-4740-9731-23EDA369CD62}" type="presParOf" srcId="{7ECD9166-E31B-407A-BE50-6B0AA5AB89F9}" destId="{CAF60B64-78EA-46A0-B6D9-891B4955BE2A}" srcOrd="0" destOrd="0" presId="urn:microsoft.com/office/officeart/2008/layout/LinedList"/>
    <dgm:cxn modelId="{A61B0E60-5398-4047-AF98-E6F3716FB6F5}" type="presParOf" srcId="{7ECD9166-E31B-407A-BE50-6B0AA5AB89F9}" destId="{C8D7F805-408F-4A97-9EAE-5E8A04AADD14}" srcOrd="1" destOrd="0" presId="urn:microsoft.com/office/officeart/2008/layout/LinedList"/>
    <dgm:cxn modelId="{0622D780-CFA5-4BD6-87FF-35DE3CAA9F51}" type="presParOf" srcId="{7ECD9166-E31B-407A-BE50-6B0AA5AB89F9}" destId="{FE39B465-54EE-4225-B70E-C93DB7C38994}" srcOrd="2" destOrd="0" presId="urn:microsoft.com/office/officeart/2008/layout/LinedList"/>
    <dgm:cxn modelId="{BA45A06C-84C2-42C5-AE6B-0777D152F0EC}" type="presParOf" srcId="{0BE80B7E-1E00-48EE-9C31-90D1D3C29D6F}" destId="{832A5ACC-4C56-4248-8A0D-C5E79D60A139}" srcOrd="14" destOrd="0" presId="urn:microsoft.com/office/officeart/2008/layout/LinedList"/>
    <dgm:cxn modelId="{C8F3DEB1-55E2-405F-AE9F-F5F862DB9A3D}" type="presParOf" srcId="{0BE80B7E-1E00-48EE-9C31-90D1D3C29D6F}" destId="{C3B1E55D-855E-48C8-A70B-F3E70D0D18A6}" srcOrd="15"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6C3A428-6DA2-4E80-A46A-067D483EE5C2}" type="doc">
      <dgm:prSet loTypeId="urn:microsoft.com/office/officeart/2008/layout/LinedList" loCatId="list" qsTypeId="urn:microsoft.com/office/officeart/2005/8/quickstyle/simple2" qsCatId="simple" csTypeId="urn:microsoft.com/office/officeart/2005/8/colors/accent0_3" csCatId="mainScheme" phldr="1"/>
      <dgm:spPr/>
      <dgm:t>
        <a:bodyPr/>
        <a:lstStyle/>
        <a:p>
          <a:endParaRPr lang="en-US"/>
        </a:p>
      </dgm:t>
    </dgm:pt>
    <dgm:pt modelId="{796A090C-7817-46F2-884B-6EC4530471EC}">
      <dgm:prSet custT="1"/>
      <dgm:spPr/>
      <dgm:t>
        <a:bodyPr anchor="ctr"/>
        <a:lstStyle/>
        <a:p>
          <a:r>
            <a:rPr lang="en-US" sz="2700" b="1" i="1" dirty="0">
              <a:solidFill>
                <a:srgbClr val="5D8592"/>
              </a:solidFill>
            </a:rPr>
            <a:t>User has a vague goal — the site should help them discover and refine it.</a:t>
          </a:r>
          <a:endParaRPr lang="en-US" sz="2700" b="1" i="1" dirty="0">
            <a:solidFill>
              <a:schemeClr val="accent2">
                <a:lumMod val="75000"/>
              </a:schemeClr>
            </a:solidFill>
          </a:endParaRPr>
        </a:p>
      </dgm:t>
    </dgm:pt>
    <dgm:pt modelId="{6F5838AC-5118-4B66-B811-C8CCA4344096}" type="parTrans" cxnId="{D2D97F6C-7B87-425B-9561-A54D2065648D}">
      <dgm:prSet/>
      <dgm:spPr/>
      <dgm:t>
        <a:bodyPr/>
        <a:lstStyle/>
        <a:p>
          <a:endParaRPr lang="en-US"/>
        </a:p>
      </dgm:t>
    </dgm:pt>
    <dgm:pt modelId="{8A1FF0E5-6515-4A33-8880-D67F9703E845}" type="sibTrans" cxnId="{D2D97F6C-7B87-425B-9561-A54D2065648D}">
      <dgm:prSet/>
      <dgm:spPr/>
      <dgm:t>
        <a:bodyPr/>
        <a:lstStyle/>
        <a:p>
          <a:endParaRPr lang="en-US"/>
        </a:p>
      </dgm:t>
    </dgm:pt>
    <dgm:pt modelId="{1B04706D-457B-41D1-9169-C95074CA7316}">
      <dgm:prSet custT="1"/>
      <dgm:spPr/>
      <dgm:t>
        <a:bodyPr/>
        <a:lstStyle/>
        <a:p>
          <a:r>
            <a:rPr lang="en-US" sz="1900" dirty="0"/>
            <a:t>Broad, inviting top-level categories — </a:t>
          </a:r>
          <a:r>
            <a:rPr lang="en-US" sz="1900" b="1" dirty="0">
              <a:solidFill>
                <a:schemeClr val="accent5">
                  <a:lumMod val="75000"/>
                </a:schemeClr>
              </a:solidFill>
            </a:rPr>
            <a:t>fewer, wider buckets at the top </a:t>
          </a:r>
          <a:r>
            <a:rPr lang="en-US" sz="1900" dirty="0"/>
            <a:t>level reduce the commitment required to start browsing</a:t>
          </a:r>
        </a:p>
      </dgm:t>
    </dgm:pt>
    <dgm:pt modelId="{F7C7F72A-CB07-4EB9-ACCD-F34D7A1B17A6}" type="parTrans" cxnId="{E5B4A3D9-7D63-4BB3-9533-3A1BE0B539A5}">
      <dgm:prSet/>
      <dgm:spPr/>
      <dgm:t>
        <a:bodyPr/>
        <a:lstStyle/>
        <a:p>
          <a:endParaRPr lang="en-US"/>
        </a:p>
      </dgm:t>
    </dgm:pt>
    <dgm:pt modelId="{1EDD97BE-6FBB-4489-9BC4-A06282AE8EC3}" type="sibTrans" cxnId="{E5B4A3D9-7D63-4BB3-9533-3A1BE0B539A5}">
      <dgm:prSet/>
      <dgm:spPr/>
      <dgm:t>
        <a:bodyPr/>
        <a:lstStyle/>
        <a:p>
          <a:endParaRPr lang="en-US"/>
        </a:p>
      </dgm:t>
    </dgm:pt>
    <dgm:pt modelId="{DC781688-B52C-42CD-AB47-C1110BBACEF7}">
      <dgm:prSet custT="1"/>
      <dgm:spPr/>
      <dgm:t>
        <a:bodyPr/>
        <a:lstStyle/>
        <a:p>
          <a:r>
            <a:rPr lang="en-US" sz="1900" b="1" dirty="0">
              <a:solidFill>
                <a:schemeClr val="accent5">
                  <a:lumMod val="75000"/>
                </a:schemeClr>
              </a:solidFill>
            </a:rPr>
            <a:t>Hub/landing pages per category </a:t>
          </a:r>
          <a:r>
            <a:rPr lang="en-US" sz="1900" dirty="0"/>
            <a:t>with </a:t>
          </a:r>
          <a:r>
            <a:rPr lang="en-US" sz="1900" b="1" dirty="0">
              <a:solidFill>
                <a:schemeClr val="accent5">
                  <a:lumMod val="75000"/>
                </a:schemeClr>
              </a:solidFill>
            </a:rPr>
            <a:t>short descriptions of sub-categories </a:t>
          </a:r>
          <a:r>
            <a:rPr lang="en-US" sz="1900" dirty="0"/>
            <a:t>— don't just show a list of links, give users enough context to orient</a:t>
          </a:r>
        </a:p>
      </dgm:t>
    </dgm:pt>
    <dgm:pt modelId="{B01A91C1-337A-485E-B7D8-D09FDFADE423}" type="parTrans" cxnId="{4B9EAE81-43AA-4A14-9C05-91B655836231}">
      <dgm:prSet/>
      <dgm:spPr/>
      <dgm:t>
        <a:bodyPr/>
        <a:lstStyle/>
        <a:p>
          <a:endParaRPr lang="en-US"/>
        </a:p>
      </dgm:t>
    </dgm:pt>
    <dgm:pt modelId="{BFF3C8B5-0455-46F5-8EE9-91E9775491AA}" type="sibTrans" cxnId="{4B9EAE81-43AA-4A14-9C05-91B655836231}">
      <dgm:prSet/>
      <dgm:spPr/>
      <dgm:t>
        <a:bodyPr/>
        <a:lstStyle/>
        <a:p>
          <a:endParaRPr lang="en-US"/>
        </a:p>
      </dgm:t>
    </dgm:pt>
    <dgm:pt modelId="{2B9234BF-2B14-4249-B851-2F52A8CDC5D7}">
      <dgm:prSet custT="1"/>
      <dgm:spPr/>
      <dgm:t>
        <a:bodyPr/>
        <a:lstStyle/>
        <a:p>
          <a:r>
            <a:rPr lang="en-US" sz="1900" b="1" dirty="0">
              <a:solidFill>
                <a:schemeClr val="accent5">
                  <a:lumMod val="75000"/>
                </a:schemeClr>
              </a:solidFill>
            </a:rPr>
            <a:t>Cross-links</a:t>
          </a:r>
          <a:r>
            <a:rPr lang="en-US" sz="1900" dirty="0"/>
            <a:t> and </a:t>
          </a:r>
          <a:r>
            <a:rPr lang="en-US" sz="1900" dirty="0">
              <a:solidFill>
                <a:schemeClr val="accent5">
                  <a:lumMod val="75000"/>
                </a:schemeClr>
              </a:solidFill>
            </a:rPr>
            <a:t>"</a:t>
          </a:r>
          <a:r>
            <a:rPr lang="en-US" sz="1900" b="1" dirty="0">
              <a:solidFill>
                <a:schemeClr val="accent5">
                  <a:lumMod val="75000"/>
                </a:schemeClr>
              </a:solidFill>
            </a:rPr>
            <a:t>see also</a:t>
          </a:r>
          <a:r>
            <a:rPr lang="en-US" sz="1900" dirty="0">
              <a:solidFill>
                <a:schemeClr val="accent5">
                  <a:lumMod val="75000"/>
                </a:schemeClr>
              </a:solidFill>
            </a:rPr>
            <a:t>" </a:t>
          </a:r>
          <a:r>
            <a:rPr lang="en-US" sz="1900" dirty="0"/>
            <a:t>relationships embedded in navigation </a:t>
          </a:r>
          <a:r>
            <a:rPr lang="en-US" sz="1900" b="1" dirty="0">
              <a:solidFill>
                <a:schemeClr val="accent5">
                  <a:lumMod val="75000"/>
                </a:schemeClr>
              </a:solidFill>
            </a:rPr>
            <a:t>and page content</a:t>
          </a:r>
          <a:r>
            <a:rPr lang="en-US" sz="1900" dirty="0"/>
            <a:t> — support lateral movement between adjacent topics</a:t>
          </a:r>
        </a:p>
      </dgm:t>
    </dgm:pt>
    <dgm:pt modelId="{73A38366-E1C4-4489-9EFC-5B91AA6D0C02}" type="parTrans" cxnId="{6D47442B-673B-40E2-B685-4D8F87AE4009}">
      <dgm:prSet/>
      <dgm:spPr/>
      <dgm:t>
        <a:bodyPr/>
        <a:lstStyle/>
        <a:p>
          <a:endParaRPr lang="en-US"/>
        </a:p>
      </dgm:t>
    </dgm:pt>
    <dgm:pt modelId="{4648586C-1D33-4348-A91D-2223F94A0BA5}" type="sibTrans" cxnId="{6D47442B-673B-40E2-B685-4D8F87AE4009}">
      <dgm:prSet/>
      <dgm:spPr/>
      <dgm:t>
        <a:bodyPr/>
        <a:lstStyle/>
        <a:p>
          <a:endParaRPr lang="en-US"/>
        </a:p>
      </dgm:t>
    </dgm:pt>
    <dgm:pt modelId="{418B1DD2-D0F4-4F9C-BCCA-063629A03F23}">
      <dgm:prSet custT="1"/>
      <dgm:spPr/>
      <dgm:t>
        <a:bodyPr/>
        <a:lstStyle/>
        <a:p>
          <a:r>
            <a:rPr lang="en-US" sz="1900" dirty="0"/>
            <a:t>Page layout: </a:t>
          </a:r>
          <a:r>
            <a:rPr lang="en-US" sz="1900" b="1" dirty="0">
              <a:solidFill>
                <a:schemeClr val="accent5">
                  <a:lumMod val="75000"/>
                </a:schemeClr>
              </a:solidFill>
            </a:rPr>
            <a:t>overview before detail </a:t>
          </a:r>
          <a:r>
            <a:rPr lang="en-US" sz="1900" dirty="0"/>
            <a:t>— lead with summaries, use progressive disclosure to reveal depth; card-based or thumbnail-heavy layouts lower the cost of scanning</a:t>
          </a:r>
        </a:p>
      </dgm:t>
    </dgm:pt>
    <dgm:pt modelId="{F3FCDC51-A353-493F-A21B-0D1EAD4C66DA}" type="parTrans" cxnId="{52D17451-8CD8-43E1-B86E-029909A6F5FA}">
      <dgm:prSet/>
      <dgm:spPr/>
      <dgm:t>
        <a:bodyPr/>
        <a:lstStyle/>
        <a:p>
          <a:endParaRPr lang="en-US"/>
        </a:p>
      </dgm:t>
    </dgm:pt>
    <dgm:pt modelId="{8D2531EC-CEE3-4DC8-BC62-689AED8E2986}" type="sibTrans" cxnId="{52D17451-8CD8-43E1-B86E-029909A6F5FA}">
      <dgm:prSet/>
      <dgm:spPr/>
      <dgm:t>
        <a:bodyPr/>
        <a:lstStyle/>
        <a:p>
          <a:endParaRPr lang="en-US"/>
        </a:p>
      </dgm:t>
    </dgm:pt>
    <dgm:pt modelId="{4A926DAC-7F10-426D-8768-5AF73F1A5941}">
      <dgm:prSet custT="1"/>
      <dgm:spPr/>
      <dgm:t>
        <a:bodyPr/>
        <a:lstStyle/>
        <a:p>
          <a:r>
            <a:rPr lang="en-US" sz="1900" dirty="0"/>
            <a:t>Visual affordances that </a:t>
          </a:r>
          <a:r>
            <a:rPr lang="en-US" sz="1900" b="1" dirty="0">
              <a:solidFill>
                <a:schemeClr val="accent5">
                  <a:lumMod val="75000"/>
                </a:schemeClr>
              </a:solidFill>
            </a:rPr>
            <a:t>signal "there's more" </a:t>
          </a:r>
          <a:r>
            <a:rPr lang="en-US" sz="1900" dirty="0"/>
            <a:t>— clear section breaks, </a:t>
          </a:r>
          <a:r>
            <a:rPr lang="en-US" sz="1900" b="1" dirty="0">
              <a:solidFill>
                <a:schemeClr val="accent5">
                  <a:lumMod val="75000"/>
                </a:schemeClr>
              </a:solidFill>
            </a:rPr>
            <a:t>teaser text</a:t>
          </a:r>
          <a:r>
            <a:rPr lang="en-US" sz="1900" dirty="0"/>
            <a:t>, "browse all" links</a:t>
          </a:r>
        </a:p>
      </dgm:t>
    </dgm:pt>
    <dgm:pt modelId="{60E9ECE4-BE69-48B4-99FA-0903E07BAC9F}" type="parTrans" cxnId="{AEDBDAD7-F4CC-4D99-B9D5-207370CAFFB7}">
      <dgm:prSet/>
      <dgm:spPr/>
      <dgm:t>
        <a:bodyPr/>
        <a:lstStyle/>
        <a:p>
          <a:endParaRPr lang="en-US"/>
        </a:p>
      </dgm:t>
    </dgm:pt>
    <dgm:pt modelId="{60DDCD12-33EB-4F68-AAA5-FD21075153CE}" type="sibTrans" cxnId="{AEDBDAD7-F4CC-4D99-B9D5-207370CAFFB7}">
      <dgm:prSet/>
      <dgm:spPr/>
      <dgm:t>
        <a:bodyPr/>
        <a:lstStyle/>
        <a:p>
          <a:endParaRPr lang="en-US"/>
        </a:p>
      </dgm:t>
    </dgm:pt>
    <dgm:pt modelId="{4153B492-4636-4C74-9517-090BE8DE3157}" type="pres">
      <dgm:prSet presAssocID="{06C3A428-6DA2-4E80-A46A-067D483EE5C2}" presName="vert0" presStyleCnt="0">
        <dgm:presLayoutVars>
          <dgm:dir/>
          <dgm:animOne val="branch"/>
          <dgm:animLvl val="lvl"/>
        </dgm:presLayoutVars>
      </dgm:prSet>
      <dgm:spPr/>
    </dgm:pt>
    <dgm:pt modelId="{AE42C90C-1EDF-4132-9B14-DD7D794E78DD}" type="pres">
      <dgm:prSet presAssocID="{796A090C-7817-46F2-884B-6EC4530471EC}" presName="thickLine" presStyleLbl="alignNode1" presStyleIdx="0" presStyleCnt="1"/>
      <dgm:spPr/>
    </dgm:pt>
    <dgm:pt modelId="{020EC565-55A8-4805-A28B-C4EFA6F7A9BA}" type="pres">
      <dgm:prSet presAssocID="{796A090C-7817-46F2-884B-6EC4530471EC}" presName="horz1" presStyleCnt="0"/>
      <dgm:spPr/>
    </dgm:pt>
    <dgm:pt modelId="{E9179E95-1DF6-40D5-A0C6-6D7C4B968298}" type="pres">
      <dgm:prSet presAssocID="{796A090C-7817-46F2-884B-6EC4530471EC}" presName="tx1" presStyleLbl="revTx" presStyleIdx="0" presStyleCnt="6"/>
      <dgm:spPr/>
    </dgm:pt>
    <dgm:pt modelId="{0BE80B7E-1E00-48EE-9C31-90D1D3C29D6F}" type="pres">
      <dgm:prSet presAssocID="{796A090C-7817-46F2-884B-6EC4530471EC}" presName="vert1" presStyleCnt="0"/>
      <dgm:spPr/>
    </dgm:pt>
    <dgm:pt modelId="{64673765-E601-4674-BFFB-64DEFD4C02E5}" type="pres">
      <dgm:prSet presAssocID="{1B04706D-457B-41D1-9169-C95074CA7316}" presName="vertSpace2a" presStyleCnt="0"/>
      <dgm:spPr/>
    </dgm:pt>
    <dgm:pt modelId="{FE545C84-B795-4E23-B767-3D214EB5A240}" type="pres">
      <dgm:prSet presAssocID="{1B04706D-457B-41D1-9169-C95074CA7316}" presName="horz2" presStyleCnt="0"/>
      <dgm:spPr/>
    </dgm:pt>
    <dgm:pt modelId="{CD228C30-EC86-4A8B-9347-8D3775C7982F}" type="pres">
      <dgm:prSet presAssocID="{1B04706D-457B-41D1-9169-C95074CA7316}" presName="horzSpace2" presStyleCnt="0"/>
      <dgm:spPr/>
    </dgm:pt>
    <dgm:pt modelId="{199C02EE-DEC8-4750-A8BB-C51D80DE506D}" type="pres">
      <dgm:prSet presAssocID="{1B04706D-457B-41D1-9169-C95074CA7316}" presName="tx2" presStyleLbl="revTx" presStyleIdx="1" presStyleCnt="6"/>
      <dgm:spPr/>
    </dgm:pt>
    <dgm:pt modelId="{23D62A3E-A639-4B9A-A9DE-6FE03165449D}" type="pres">
      <dgm:prSet presAssocID="{1B04706D-457B-41D1-9169-C95074CA7316}" presName="vert2" presStyleCnt="0"/>
      <dgm:spPr/>
    </dgm:pt>
    <dgm:pt modelId="{7F84BF2C-8FB2-4CF5-9B57-318D5C5B34F6}" type="pres">
      <dgm:prSet presAssocID="{1B04706D-457B-41D1-9169-C95074CA7316}" presName="thinLine2b" presStyleLbl="callout" presStyleIdx="0" presStyleCnt="5"/>
      <dgm:spPr/>
    </dgm:pt>
    <dgm:pt modelId="{498F7992-2352-4F45-BBCC-2DD4993DD0C9}" type="pres">
      <dgm:prSet presAssocID="{1B04706D-457B-41D1-9169-C95074CA7316}" presName="vertSpace2b" presStyleCnt="0"/>
      <dgm:spPr/>
    </dgm:pt>
    <dgm:pt modelId="{331EA3BE-68DE-4C2D-9EDD-DB698267E733}" type="pres">
      <dgm:prSet presAssocID="{DC781688-B52C-42CD-AB47-C1110BBACEF7}" presName="horz2" presStyleCnt="0"/>
      <dgm:spPr/>
    </dgm:pt>
    <dgm:pt modelId="{4D98D7B5-1B3C-4792-847E-8EA54C57F2A0}" type="pres">
      <dgm:prSet presAssocID="{DC781688-B52C-42CD-AB47-C1110BBACEF7}" presName="horzSpace2" presStyleCnt="0"/>
      <dgm:spPr/>
    </dgm:pt>
    <dgm:pt modelId="{A9436C7E-E2A5-48A6-88C8-6C3B21AD7C24}" type="pres">
      <dgm:prSet presAssocID="{DC781688-B52C-42CD-AB47-C1110BBACEF7}" presName="tx2" presStyleLbl="revTx" presStyleIdx="2" presStyleCnt="6"/>
      <dgm:spPr/>
    </dgm:pt>
    <dgm:pt modelId="{EFE8D00A-FFEF-4104-9099-710F8CABB2EB}" type="pres">
      <dgm:prSet presAssocID="{DC781688-B52C-42CD-AB47-C1110BBACEF7}" presName="vert2" presStyleCnt="0"/>
      <dgm:spPr/>
    </dgm:pt>
    <dgm:pt modelId="{0959C976-026B-455F-9AC5-82C79C221CCB}" type="pres">
      <dgm:prSet presAssocID="{DC781688-B52C-42CD-AB47-C1110BBACEF7}" presName="thinLine2b" presStyleLbl="callout" presStyleIdx="1" presStyleCnt="5"/>
      <dgm:spPr/>
    </dgm:pt>
    <dgm:pt modelId="{B913733C-5509-4DEE-8DB0-1519948B9505}" type="pres">
      <dgm:prSet presAssocID="{DC781688-B52C-42CD-AB47-C1110BBACEF7}" presName="vertSpace2b" presStyleCnt="0"/>
      <dgm:spPr/>
    </dgm:pt>
    <dgm:pt modelId="{7E821ACB-FB93-40DB-A113-8660C7EDB067}" type="pres">
      <dgm:prSet presAssocID="{2B9234BF-2B14-4249-B851-2F52A8CDC5D7}" presName="horz2" presStyleCnt="0"/>
      <dgm:spPr/>
    </dgm:pt>
    <dgm:pt modelId="{91941F76-1CAD-40B2-AD80-237DCBAE2C27}" type="pres">
      <dgm:prSet presAssocID="{2B9234BF-2B14-4249-B851-2F52A8CDC5D7}" presName="horzSpace2" presStyleCnt="0"/>
      <dgm:spPr/>
    </dgm:pt>
    <dgm:pt modelId="{E1D3734C-F460-4FF7-8736-7D1DCA93BAED}" type="pres">
      <dgm:prSet presAssocID="{2B9234BF-2B14-4249-B851-2F52A8CDC5D7}" presName="tx2" presStyleLbl="revTx" presStyleIdx="3" presStyleCnt="6"/>
      <dgm:spPr/>
    </dgm:pt>
    <dgm:pt modelId="{F6026895-5ABD-4581-9D4C-84C06203C177}" type="pres">
      <dgm:prSet presAssocID="{2B9234BF-2B14-4249-B851-2F52A8CDC5D7}" presName="vert2" presStyleCnt="0"/>
      <dgm:spPr/>
    </dgm:pt>
    <dgm:pt modelId="{C3276E96-EB30-4580-9106-461598C1C1E7}" type="pres">
      <dgm:prSet presAssocID="{2B9234BF-2B14-4249-B851-2F52A8CDC5D7}" presName="thinLine2b" presStyleLbl="callout" presStyleIdx="2" presStyleCnt="5"/>
      <dgm:spPr/>
    </dgm:pt>
    <dgm:pt modelId="{F809B9DB-EF0A-4A3F-BDDF-7CEC2E5869F6}" type="pres">
      <dgm:prSet presAssocID="{2B9234BF-2B14-4249-B851-2F52A8CDC5D7}" presName="vertSpace2b" presStyleCnt="0"/>
      <dgm:spPr/>
    </dgm:pt>
    <dgm:pt modelId="{4A0EDA06-3713-44BF-AA48-6FD655BA5B94}" type="pres">
      <dgm:prSet presAssocID="{418B1DD2-D0F4-4F9C-BCCA-063629A03F23}" presName="horz2" presStyleCnt="0"/>
      <dgm:spPr/>
    </dgm:pt>
    <dgm:pt modelId="{2E82DB67-04A7-4B08-BF19-A5CB30992960}" type="pres">
      <dgm:prSet presAssocID="{418B1DD2-D0F4-4F9C-BCCA-063629A03F23}" presName="horzSpace2" presStyleCnt="0"/>
      <dgm:spPr/>
    </dgm:pt>
    <dgm:pt modelId="{9FFC7036-4E71-48C3-9920-C9E45EDFA657}" type="pres">
      <dgm:prSet presAssocID="{418B1DD2-D0F4-4F9C-BCCA-063629A03F23}" presName="tx2" presStyleLbl="revTx" presStyleIdx="4" presStyleCnt="6" custLinFactNeighborY="-7006"/>
      <dgm:spPr/>
    </dgm:pt>
    <dgm:pt modelId="{7728BC0F-ECE1-4D9F-9180-0BF2DCFCD455}" type="pres">
      <dgm:prSet presAssocID="{418B1DD2-D0F4-4F9C-BCCA-063629A03F23}" presName="vert2" presStyleCnt="0"/>
      <dgm:spPr/>
    </dgm:pt>
    <dgm:pt modelId="{EF21FEA6-7038-4032-984F-052F90C4DADF}" type="pres">
      <dgm:prSet presAssocID="{418B1DD2-D0F4-4F9C-BCCA-063629A03F23}" presName="thinLine2b" presStyleLbl="callout" presStyleIdx="3" presStyleCnt="5"/>
      <dgm:spPr/>
    </dgm:pt>
    <dgm:pt modelId="{3CE4491C-5722-49A0-9702-C234B38E54AA}" type="pres">
      <dgm:prSet presAssocID="{418B1DD2-D0F4-4F9C-BCCA-063629A03F23}" presName="vertSpace2b" presStyleCnt="0"/>
      <dgm:spPr/>
    </dgm:pt>
    <dgm:pt modelId="{7ECD9166-E31B-407A-BE50-6B0AA5AB89F9}" type="pres">
      <dgm:prSet presAssocID="{4A926DAC-7F10-426D-8768-5AF73F1A5941}" presName="horz2" presStyleCnt="0"/>
      <dgm:spPr/>
    </dgm:pt>
    <dgm:pt modelId="{CAF60B64-78EA-46A0-B6D9-891B4955BE2A}" type="pres">
      <dgm:prSet presAssocID="{4A926DAC-7F10-426D-8768-5AF73F1A5941}" presName="horzSpace2" presStyleCnt="0"/>
      <dgm:spPr/>
    </dgm:pt>
    <dgm:pt modelId="{C8D7F805-408F-4A97-9EAE-5E8A04AADD14}" type="pres">
      <dgm:prSet presAssocID="{4A926DAC-7F10-426D-8768-5AF73F1A5941}" presName="tx2" presStyleLbl="revTx" presStyleIdx="5" presStyleCnt="6"/>
      <dgm:spPr/>
    </dgm:pt>
    <dgm:pt modelId="{FE39B465-54EE-4225-B70E-C93DB7C38994}" type="pres">
      <dgm:prSet presAssocID="{4A926DAC-7F10-426D-8768-5AF73F1A5941}" presName="vert2" presStyleCnt="0"/>
      <dgm:spPr/>
    </dgm:pt>
    <dgm:pt modelId="{832A5ACC-4C56-4248-8A0D-C5E79D60A139}" type="pres">
      <dgm:prSet presAssocID="{4A926DAC-7F10-426D-8768-5AF73F1A5941}" presName="thinLine2b" presStyleLbl="callout" presStyleIdx="4" presStyleCnt="5"/>
      <dgm:spPr/>
    </dgm:pt>
    <dgm:pt modelId="{C3B1E55D-855E-48C8-A70B-F3E70D0D18A6}" type="pres">
      <dgm:prSet presAssocID="{4A926DAC-7F10-426D-8768-5AF73F1A5941}" presName="vertSpace2b" presStyleCnt="0"/>
      <dgm:spPr/>
    </dgm:pt>
  </dgm:ptLst>
  <dgm:cxnLst>
    <dgm:cxn modelId="{57797C16-3F10-41C1-B139-034B9A000293}" type="presOf" srcId="{1B04706D-457B-41D1-9169-C95074CA7316}" destId="{199C02EE-DEC8-4750-A8BB-C51D80DE506D}" srcOrd="0" destOrd="0" presId="urn:microsoft.com/office/officeart/2008/layout/LinedList"/>
    <dgm:cxn modelId="{7D0D3427-9DA6-447F-ACE2-8AB528147EA7}" type="presOf" srcId="{DC781688-B52C-42CD-AB47-C1110BBACEF7}" destId="{A9436C7E-E2A5-48A6-88C8-6C3B21AD7C24}" srcOrd="0" destOrd="0" presId="urn:microsoft.com/office/officeart/2008/layout/LinedList"/>
    <dgm:cxn modelId="{6D47442B-673B-40E2-B685-4D8F87AE4009}" srcId="{796A090C-7817-46F2-884B-6EC4530471EC}" destId="{2B9234BF-2B14-4249-B851-2F52A8CDC5D7}" srcOrd="2" destOrd="0" parTransId="{73A38366-E1C4-4489-9EFC-5B91AA6D0C02}" sibTransId="{4648586C-1D33-4348-A91D-2223F94A0BA5}"/>
    <dgm:cxn modelId="{C03AF040-551E-4F85-AA60-7717529745C3}" type="presOf" srcId="{4A926DAC-7F10-426D-8768-5AF73F1A5941}" destId="{C8D7F805-408F-4A97-9EAE-5E8A04AADD14}" srcOrd="0" destOrd="0" presId="urn:microsoft.com/office/officeart/2008/layout/LinedList"/>
    <dgm:cxn modelId="{DDB61560-8291-4625-969B-004AB14B4CD8}" type="presOf" srcId="{796A090C-7817-46F2-884B-6EC4530471EC}" destId="{E9179E95-1DF6-40D5-A0C6-6D7C4B968298}" srcOrd="0" destOrd="0" presId="urn:microsoft.com/office/officeart/2008/layout/LinedList"/>
    <dgm:cxn modelId="{D2D97F6C-7B87-425B-9561-A54D2065648D}" srcId="{06C3A428-6DA2-4E80-A46A-067D483EE5C2}" destId="{796A090C-7817-46F2-884B-6EC4530471EC}" srcOrd="0" destOrd="0" parTransId="{6F5838AC-5118-4B66-B811-C8CCA4344096}" sibTransId="{8A1FF0E5-6515-4A33-8880-D67F9703E845}"/>
    <dgm:cxn modelId="{52D17451-8CD8-43E1-B86E-029909A6F5FA}" srcId="{796A090C-7817-46F2-884B-6EC4530471EC}" destId="{418B1DD2-D0F4-4F9C-BCCA-063629A03F23}" srcOrd="3" destOrd="0" parTransId="{F3FCDC51-A353-493F-A21B-0D1EAD4C66DA}" sibTransId="{8D2531EC-CEE3-4DC8-BC62-689AED8E2986}"/>
    <dgm:cxn modelId="{4B9EAE81-43AA-4A14-9C05-91B655836231}" srcId="{796A090C-7817-46F2-884B-6EC4530471EC}" destId="{DC781688-B52C-42CD-AB47-C1110BBACEF7}" srcOrd="1" destOrd="0" parTransId="{B01A91C1-337A-485E-B7D8-D09FDFADE423}" sibTransId="{BFF3C8B5-0455-46F5-8EE9-91E9775491AA}"/>
    <dgm:cxn modelId="{3A7B72B7-3C5B-424E-87FE-967B065AD893}" type="presOf" srcId="{06C3A428-6DA2-4E80-A46A-067D483EE5C2}" destId="{4153B492-4636-4C74-9517-090BE8DE3157}" srcOrd="0" destOrd="0" presId="urn:microsoft.com/office/officeart/2008/layout/LinedList"/>
    <dgm:cxn modelId="{964995C6-ECD1-43A7-8B66-C14F2B82AF7F}" type="presOf" srcId="{418B1DD2-D0F4-4F9C-BCCA-063629A03F23}" destId="{9FFC7036-4E71-48C3-9920-C9E45EDFA657}" srcOrd="0" destOrd="0" presId="urn:microsoft.com/office/officeart/2008/layout/LinedList"/>
    <dgm:cxn modelId="{AEDBDAD7-F4CC-4D99-B9D5-207370CAFFB7}" srcId="{796A090C-7817-46F2-884B-6EC4530471EC}" destId="{4A926DAC-7F10-426D-8768-5AF73F1A5941}" srcOrd="4" destOrd="0" parTransId="{60E9ECE4-BE69-48B4-99FA-0903E07BAC9F}" sibTransId="{60DDCD12-33EB-4F68-AAA5-FD21075153CE}"/>
    <dgm:cxn modelId="{E5B4A3D9-7D63-4BB3-9533-3A1BE0B539A5}" srcId="{796A090C-7817-46F2-884B-6EC4530471EC}" destId="{1B04706D-457B-41D1-9169-C95074CA7316}" srcOrd="0" destOrd="0" parTransId="{F7C7F72A-CB07-4EB9-ACCD-F34D7A1B17A6}" sibTransId="{1EDD97BE-6FBB-4489-9BC4-A06282AE8EC3}"/>
    <dgm:cxn modelId="{EC68ACF4-33B1-4B3B-B96E-80C471310362}" type="presOf" srcId="{2B9234BF-2B14-4249-B851-2F52A8CDC5D7}" destId="{E1D3734C-F460-4FF7-8736-7D1DCA93BAED}" srcOrd="0" destOrd="0" presId="urn:microsoft.com/office/officeart/2008/layout/LinedList"/>
    <dgm:cxn modelId="{39B06DCE-3702-4EF2-8A3E-4EC1A6A43346}" type="presParOf" srcId="{4153B492-4636-4C74-9517-090BE8DE3157}" destId="{AE42C90C-1EDF-4132-9B14-DD7D794E78DD}" srcOrd="0" destOrd="0" presId="urn:microsoft.com/office/officeart/2008/layout/LinedList"/>
    <dgm:cxn modelId="{F38696AD-D2D4-4629-9CC0-2B218B2F156B}" type="presParOf" srcId="{4153B492-4636-4C74-9517-090BE8DE3157}" destId="{020EC565-55A8-4805-A28B-C4EFA6F7A9BA}" srcOrd="1" destOrd="0" presId="urn:microsoft.com/office/officeart/2008/layout/LinedList"/>
    <dgm:cxn modelId="{09E642E4-7D99-4792-825C-67476A3E4E06}" type="presParOf" srcId="{020EC565-55A8-4805-A28B-C4EFA6F7A9BA}" destId="{E9179E95-1DF6-40D5-A0C6-6D7C4B968298}" srcOrd="0" destOrd="0" presId="urn:microsoft.com/office/officeart/2008/layout/LinedList"/>
    <dgm:cxn modelId="{370EC01D-D8AB-4715-9F00-0928E5FF8FB5}" type="presParOf" srcId="{020EC565-55A8-4805-A28B-C4EFA6F7A9BA}" destId="{0BE80B7E-1E00-48EE-9C31-90D1D3C29D6F}" srcOrd="1" destOrd="0" presId="urn:microsoft.com/office/officeart/2008/layout/LinedList"/>
    <dgm:cxn modelId="{FD43AF13-CBEF-4B97-82BF-5EFC749CE9DF}" type="presParOf" srcId="{0BE80B7E-1E00-48EE-9C31-90D1D3C29D6F}" destId="{64673765-E601-4674-BFFB-64DEFD4C02E5}" srcOrd="0" destOrd="0" presId="urn:microsoft.com/office/officeart/2008/layout/LinedList"/>
    <dgm:cxn modelId="{BD3F9EC6-8BD5-4345-9D84-B78F83371FA9}" type="presParOf" srcId="{0BE80B7E-1E00-48EE-9C31-90D1D3C29D6F}" destId="{FE545C84-B795-4E23-B767-3D214EB5A240}" srcOrd="1" destOrd="0" presId="urn:microsoft.com/office/officeart/2008/layout/LinedList"/>
    <dgm:cxn modelId="{C92076B3-00ED-4237-9C90-61D29EEB9143}" type="presParOf" srcId="{FE545C84-B795-4E23-B767-3D214EB5A240}" destId="{CD228C30-EC86-4A8B-9347-8D3775C7982F}" srcOrd="0" destOrd="0" presId="urn:microsoft.com/office/officeart/2008/layout/LinedList"/>
    <dgm:cxn modelId="{EA1076F6-C9F1-47E1-939C-48ED6A8EB747}" type="presParOf" srcId="{FE545C84-B795-4E23-B767-3D214EB5A240}" destId="{199C02EE-DEC8-4750-A8BB-C51D80DE506D}" srcOrd="1" destOrd="0" presId="urn:microsoft.com/office/officeart/2008/layout/LinedList"/>
    <dgm:cxn modelId="{FAAB9FD6-6E4D-4499-A1E4-0E5371712286}" type="presParOf" srcId="{FE545C84-B795-4E23-B767-3D214EB5A240}" destId="{23D62A3E-A639-4B9A-A9DE-6FE03165449D}" srcOrd="2" destOrd="0" presId="urn:microsoft.com/office/officeart/2008/layout/LinedList"/>
    <dgm:cxn modelId="{03AFE420-3528-4F9C-987C-6CD496E3582E}" type="presParOf" srcId="{0BE80B7E-1E00-48EE-9C31-90D1D3C29D6F}" destId="{7F84BF2C-8FB2-4CF5-9B57-318D5C5B34F6}" srcOrd="2" destOrd="0" presId="urn:microsoft.com/office/officeart/2008/layout/LinedList"/>
    <dgm:cxn modelId="{F4F41706-7584-4565-AB25-EF964FD55427}" type="presParOf" srcId="{0BE80B7E-1E00-48EE-9C31-90D1D3C29D6F}" destId="{498F7992-2352-4F45-BBCC-2DD4993DD0C9}" srcOrd="3" destOrd="0" presId="urn:microsoft.com/office/officeart/2008/layout/LinedList"/>
    <dgm:cxn modelId="{D3390604-AD25-4B7A-9F8A-B352A36A9A3B}" type="presParOf" srcId="{0BE80B7E-1E00-48EE-9C31-90D1D3C29D6F}" destId="{331EA3BE-68DE-4C2D-9EDD-DB698267E733}" srcOrd="4" destOrd="0" presId="urn:microsoft.com/office/officeart/2008/layout/LinedList"/>
    <dgm:cxn modelId="{406A9D8C-D1F0-4684-B78A-0480A54580AE}" type="presParOf" srcId="{331EA3BE-68DE-4C2D-9EDD-DB698267E733}" destId="{4D98D7B5-1B3C-4792-847E-8EA54C57F2A0}" srcOrd="0" destOrd="0" presId="urn:microsoft.com/office/officeart/2008/layout/LinedList"/>
    <dgm:cxn modelId="{66F0B7AB-FEA1-4737-9DCF-B5088886924F}" type="presParOf" srcId="{331EA3BE-68DE-4C2D-9EDD-DB698267E733}" destId="{A9436C7E-E2A5-48A6-88C8-6C3B21AD7C24}" srcOrd="1" destOrd="0" presId="urn:microsoft.com/office/officeart/2008/layout/LinedList"/>
    <dgm:cxn modelId="{3A252C05-16C5-46EF-B6A2-B4000BD01E31}" type="presParOf" srcId="{331EA3BE-68DE-4C2D-9EDD-DB698267E733}" destId="{EFE8D00A-FFEF-4104-9099-710F8CABB2EB}" srcOrd="2" destOrd="0" presId="urn:microsoft.com/office/officeart/2008/layout/LinedList"/>
    <dgm:cxn modelId="{4F41971F-5750-492C-A9F9-573928F77CFF}" type="presParOf" srcId="{0BE80B7E-1E00-48EE-9C31-90D1D3C29D6F}" destId="{0959C976-026B-455F-9AC5-82C79C221CCB}" srcOrd="5" destOrd="0" presId="urn:microsoft.com/office/officeart/2008/layout/LinedList"/>
    <dgm:cxn modelId="{CFCAABAB-233D-4ABF-857C-720625E67E80}" type="presParOf" srcId="{0BE80B7E-1E00-48EE-9C31-90D1D3C29D6F}" destId="{B913733C-5509-4DEE-8DB0-1519948B9505}" srcOrd="6" destOrd="0" presId="urn:microsoft.com/office/officeart/2008/layout/LinedList"/>
    <dgm:cxn modelId="{ED425F78-82D5-43B3-9F05-01521D6627B8}" type="presParOf" srcId="{0BE80B7E-1E00-48EE-9C31-90D1D3C29D6F}" destId="{7E821ACB-FB93-40DB-A113-8660C7EDB067}" srcOrd="7" destOrd="0" presId="urn:microsoft.com/office/officeart/2008/layout/LinedList"/>
    <dgm:cxn modelId="{FA3ABAAB-8A22-4BB0-9408-7B6BCDDDE95D}" type="presParOf" srcId="{7E821ACB-FB93-40DB-A113-8660C7EDB067}" destId="{91941F76-1CAD-40B2-AD80-237DCBAE2C27}" srcOrd="0" destOrd="0" presId="urn:microsoft.com/office/officeart/2008/layout/LinedList"/>
    <dgm:cxn modelId="{A29E84FC-4863-4F8F-AFA5-522494A8AD79}" type="presParOf" srcId="{7E821ACB-FB93-40DB-A113-8660C7EDB067}" destId="{E1D3734C-F460-4FF7-8736-7D1DCA93BAED}" srcOrd="1" destOrd="0" presId="urn:microsoft.com/office/officeart/2008/layout/LinedList"/>
    <dgm:cxn modelId="{54761E67-F06E-4722-8EEE-6B10AEF84570}" type="presParOf" srcId="{7E821ACB-FB93-40DB-A113-8660C7EDB067}" destId="{F6026895-5ABD-4581-9D4C-84C06203C177}" srcOrd="2" destOrd="0" presId="urn:microsoft.com/office/officeart/2008/layout/LinedList"/>
    <dgm:cxn modelId="{0FBBA56C-6FE2-4007-B19C-202E9B5A880A}" type="presParOf" srcId="{0BE80B7E-1E00-48EE-9C31-90D1D3C29D6F}" destId="{C3276E96-EB30-4580-9106-461598C1C1E7}" srcOrd="8" destOrd="0" presId="urn:microsoft.com/office/officeart/2008/layout/LinedList"/>
    <dgm:cxn modelId="{BBDF0398-6617-4BC0-B628-F365E5BAAC30}" type="presParOf" srcId="{0BE80B7E-1E00-48EE-9C31-90D1D3C29D6F}" destId="{F809B9DB-EF0A-4A3F-BDDF-7CEC2E5869F6}" srcOrd="9" destOrd="0" presId="urn:microsoft.com/office/officeart/2008/layout/LinedList"/>
    <dgm:cxn modelId="{44865A86-8638-4863-8D89-9A0D847BD1AF}" type="presParOf" srcId="{0BE80B7E-1E00-48EE-9C31-90D1D3C29D6F}" destId="{4A0EDA06-3713-44BF-AA48-6FD655BA5B94}" srcOrd="10" destOrd="0" presId="urn:microsoft.com/office/officeart/2008/layout/LinedList"/>
    <dgm:cxn modelId="{55D097F6-D755-49B7-AF79-D8E770B4B9C4}" type="presParOf" srcId="{4A0EDA06-3713-44BF-AA48-6FD655BA5B94}" destId="{2E82DB67-04A7-4B08-BF19-A5CB30992960}" srcOrd="0" destOrd="0" presId="urn:microsoft.com/office/officeart/2008/layout/LinedList"/>
    <dgm:cxn modelId="{730143AD-1D46-4C55-809B-DD73CD3DC4A8}" type="presParOf" srcId="{4A0EDA06-3713-44BF-AA48-6FD655BA5B94}" destId="{9FFC7036-4E71-48C3-9920-C9E45EDFA657}" srcOrd="1" destOrd="0" presId="urn:microsoft.com/office/officeart/2008/layout/LinedList"/>
    <dgm:cxn modelId="{D04B92EE-1DF3-4533-9F37-8A948166E38A}" type="presParOf" srcId="{4A0EDA06-3713-44BF-AA48-6FD655BA5B94}" destId="{7728BC0F-ECE1-4D9F-9180-0BF2DCFCD455}" srcOrd="2" destOrd="0" presId="urn:microsoft.com/office/officeart/2008/layout/LinedList"/>
    <dgm:cxn modelId="{0009F060-6192-457E-9B07-FBC07742303D}" type="presParOf" srcId="{0BE80B7E-1E00-48EE-9C31-90D1D3C29D6F}" destId="{EF21FEA6-7038-4032-984F-052F90C4DADF}" srcOrd="11" destOrd="0" presId="urn:microsoft.com/office/officeart/2008/layout/LinedList"/>
    <dgm:cxn modelId="{4B0E3D7D-5C82-44F9-9A27-C7900F30A4CA}" type="presParOf" srcId="{0BE80B7E-1E00-48EE-9C31-90D1D3C29D6F}" destId="{3CE4491C-5722-49A0-9702-C234B38E54AA}" srcOrd="12" destOrd="0" presId="urn:microsoft.com/office/officeart/2008/layout/LinedList"/>
    <dgm:cxn modelId="{6BF7652C-B4FA-4491-851E-1DA7C692284A}" type="presParOf" srcId="{0BE80B7E-1E00-48EE-9C31-90D1D3C29D6F}" destId="{7ECD9166-E31B-407A-BE50-6B0AA5AB89F9}" srcOrd="13" destOrd="0" presId="urn:microsoft.com/office/officeart/2008/layout/LinedList"/>
    <dgm:cxn modelId="{67699ABD-C286-4740-9731-23EDA369CD62}" type="presParOf" srcId="{7ECD9166-E31B-407A-BE50-6B0AA5AB89F9}" destId="{CAF60B64-78EA-46A0-B6D9-891B4955BE2A}" srcOrd="0" destOrd="0" presId="urn:microsoft.com/office/officeart/2008/layout/LinedList"/>
    <dgm:cxn modelId="{A61B0E60-5398-4047-AF98-E6F3716FB6F5}" type="presParOf" srcId="{7ECD9166-E31B-407A-BE50-6B0AA5AB89F9}" destId="{C8D7F805-408F-4A97-9EAE-5E8A04AADD14}" srcOrd="1" destOrd="0" presId="urn:microsoft.com/office/officeart/2008/layout/LinedList"/>
    <dgm:cxn modelId="{0622D780-CFA5-4BD6-87FF-35DE3CAA9F51}" type="presParOf" srcId="{7ECD9166-E31B-407A-BE50-6B0AA5AB89F9}" destId="{FE39B465-54EE-4225-B70E-C93DB7C38994}" srcOrd="2" destOrd="0" presId="urn:microsoft.com/office/officeart/2008/layout/LinedList"/>
    <dgm:cxn modelId="{BA45A06C-84C2-42C5-AE6B-0777D152F0EC}" type="presParOf" srcId="{0BE80B7E-1E00-48EE-9C31-90D1D3C29D6F}" destId="{832A5ACC-4C56-4248-8A0D-C5E79D60A139}" srcOrd="14" destOrd="0" presId="urn:microsoft.com/office/officeart/2008/layout/LinedList"/>
    <dgm:cxn modelId="{C8F3DEB1-55E2-405F-AE9F-F5F862DB9A3D}" type="presParOf" srcId="{0BE80B7E-1E00-48EE-9C31-90D1D3C29D6F}" destId="{C3B1E55D-855E-48C8-A70B-F3E70D0D18A6}"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6C3A428-6DA2-4E80-A46A-067D483EE5C2}" type="doc">
      <dgm:prSet loTypeId="urn:microsoft.com/office/officeart/2008/layout/LinedList" loCatId="list" qsTypeId="urn:microsoft.com/office/officeart/2005/8/quickstyle/simple2" qsCatId="simple" csTypeId="urn:microsoft.com/office/officeart/2005/8/colors/accent0_3" csCatId="mainScheme" phldr="1"/>
      <dgm:spPr/>
      <dgm:t>
        <a:bodyPr/>
        <a:lstStyle/>
        <a:p>
          <a:endParaRPr lang="en-US"/>
        </a:p>
      </dgm:t>
    </dgm:pt>
    <dgm:pt modelId="{796A090C-7817-46F2-884B-6EC4530471EC}">
      <dgm:prSet custT="1"/>
      <dgm:spPr/>
      <dgm:t>
        <a:bodyPr anchor="ctr"/>
        <a:lstStyle/>
        <a:p>
          <a:r>
            <a:rPr lang="en-US" sz="2500" b="1" i="1" dirty="0">
              <a:solidFill>
                <a:schemeClr val="accent2">
                  <a:lumMod val="75000"/>
                </a:schemeClr>
              </a:solidFill>
            </a:rPr>
            <a:t>Most of the time, we want to avoid extremes. Our websites will serve both known-info seekers &amp; explorers</a:t>
          </a:r>
        </a:p>
      </dgm:t>
    </dgm:pt>
    <dgm:pt modelId="{6F5838AC-5118-4B66-B811-C8CCA4344096}" type="parTrans" cxnId="{D2D97F6C-7B87-425B-9561-A54D2065648D}">
      <dgm:prSet/>
      <dgm:spPr/>
      <dgm:t>
        <a:bodyPr/>
        <a:lstStyle/>
        <a:p>
          <a:endParaRPr lang="en-US"/>
        </a:p>
      </dgm:t>
    </dgm:pt>
    <dgm:pt modelId="{8A1FF0E5-6515-4A33-8880-D67F9703E845}" type="sibTrans" cxnId="{D2D97F6C-7B87-425B-9561-A54D2065648D}">
      <dgm:prSet/>
      <dgm:spPr/>
      <dgm:t>
        <a:bodyPr/>
        <a:lstStyle/>
        <a:p>
          <a:endParaRPr lang="en-US"/>
        </a:p>
      </dgm:t>
    </dgm:pt>
    <dgm:pt modelId="{1B04706D-457B-41D1-9169-C95074CA7316}">
      <dgm:prSet custT="1"/>
      <dgm:spPr/>
      <dgm:t>
        <a:bodyPr/>
        <a:lstStyle/>
        <a:p>
          <a:r>
            <a:rPr lang="en-US" sz="1900" b="1" dirty="0">
              <a:solidFill>
                <a:schemeClr val="accent5">
                  <a:lumMod val="75000"/>
                </a:schemeClr>
              </a:solidFill>
            </a:rPr>
            <a:t>Keep the nav precise; do the exploratory work inside the page </a:t>
          </a:r>
          <a:r>
            <a:rPr lang="en-US" sz="1900" dirty="0"/>
            <a:t>— Navigation labels should be literal and stable. Hub pages, descriptions, cards, &amp; cross-links handle discovery without polluting the hierarchy.</a:t>
          </a:r>
        </a:p>
      </dgm:t>
    </dgm:pt>
    <dgm:pt modelId="{F7C7F72A-CB07-4EB9-ACCD-F34D7A1B17A6}" type="parTrans" cxnId="{E5B4A3D9-7D63-4BB3-9533-3A1BE0B539A5}">
      <dgm:prSet/>
      <dgm:spPr/>
      <dgm:t>
        <a:bodyPr/>
        <a:lstStyle/>
        <a:p>
          <a:endParaRPr lang="en-US"/>
        </a:p>
      </dgm:t>
    </dgm:pt>
    <dgm:pt modelId="{1EDD97BE-6FBB-4489-9BC4-A06282AE8EC3}" type="sibTrans" cxnId="{E5B4A3D9-7D63-4BB3-9533-3A1BE0B539A5}">
      <dgm:prSet/>
      <dgm:spPr/>
      <dgm:t>
        <a:bodyPr/>
        <a:lstStyle/>
        <a:p>
          <a:endParaRPr lang="en-US"/>
        </a:p>
      </dgm:t>
    </dgm:pt>
    <dgm:pt modelId="{DC781688-B52C-42CD-AB47-C1110BBACEF7}">
      <dgm:prSet custT="1"/>
      <dgm:spPr/>
      <dgm:t>
        <a:bodyPr/>
        <a:lstStyle/>
        <a:p>
          <a:r>
            <a:rPr lang="en-US" sz="1900" b="1" dirty="0">
              <a:solidFill>
                <a:schemeClr val="accent5">
                  <a:lumMod val="75000"/>
                </a:schemeClr>
              </a:solidFill>
            </a:rPr>
            <a:t>Offer dual entry points on the homepage </a:t>
          </a:r>
          <a:r>
            <a:rPr lang="en-US" sz="1900" dirty="0"/>
            <a:t>— A direct pathway ("I know what I need") alongside a discovery pathway ("Show me what's here"). Neither should dominate.</a:t>
          </a:r>
        </a:p>
      </dgm:t>
    </dgm:pt>
    <dgm:pt modelId="{B01A91C1-337A-485E-B7D8-D09FDFADE423}" type="parTrans" cxnId="{4B9EAE81-43AA-4A14-9C05-91B655836231}">
      <dgm:prSet/>
      <dgm:spPr/>
      <dgm:t>
        <a:bodyPr/>
        <a:lstStyle/>
        <a:p>
          <a:endParaRPr lang="en-US"/>
        </a:p>
      </dgm:t>
    </dgm:pt>
    <dgm:pt modelId="{BFF3C8B5-0455-46F5-8EE9-91E9775491AA}" type="sibTrans" cxnId="{4B9EAE81-43AA-4A14-9C05-91B655836231}">
      <dgm:prSet/>
      <dgm:spPr/>
      <dgm:t>
        <a:bodyPr/>
        <a:lstStyle/>
        <a:p>
          <a:endParaRPr lang="en-US"/>
        </a:p>
      </dgm:t>
    </dgm:pt>
    <dgm:pt modelId="{2B9234BF-2B14-4249-B851-2F52A8CDC5D7}">
      <dgm:prSet custT="1"/>
      <dgm:spPr/>
      <dgm:t>
        <a:bodyPr/>
        <a:lstStyle/>
        <a:p>
          <a:r>
            <a:rPr lang="en-US" sz="1900" b="1" dirty="0">
              <a:solidFill>
                <a:schemeClr val="accent5">
                  <a:lumMod val="75000"/>
                </a:schemeClr>
              </a:solidFill>
            </a:rPr>
            <a:t>Progressive disclosure serves both modes at once</a:t>
          </a:r>
          <a:r>
            <a:rPr lang="en-US" sz="1900" dirty="0">
              <a:solidFill>
                <a:schemeClr val="accent5">
                  <a:lumMod val="75000"/>
                </a:schemeClr>
              </a:solidFill>
            </a:rPr>
            <a:t> </a:t>
          </a:r>
          <a:r>
            <a:rPr lang="en-US" sz="1900" dirty="0"/>
            <a:t>— Lead w/ a clear, scannable answer or summary (known-item users stop here), then follow w/ context, related content, &amp; deeper sections (explorers keep going).</a:t>
          </a:r>
        </a:p>
      </dgm:t>
    </dgm:pt>
    <dgm:pt modelId="{73A38366-E1C4-4489-9EFC-5B91AA6D0C02}" type="parTrans" cxnId="{6D47442B-673B-40E2-B685-4D8F87AE4009}">
      <dgm:prSet/>
      <dgm:spPr/>
      <dgm:t>
        <a:bodyPr/>
        <a:lstStyle/>
        <a:p>
          <a:endParaRPr lang="en-US"/>
        </a:p>
      </dgm:t>
    </dgm:pt>
    <dgm:pt modelId="{4648586C-1D33-4348-A91D-2223F94A0BA5}" type="sibTrans" cxnId="{6D47442B-673B-40E2-B685-4D8F87AE4009}">
      <dgm:prSet/>
      <dgm:spPr/>
      <dgm:t>
        <a:bodyPr/>
        <a:lstStyle/>
        <a:p>
          <a:endParaRPr lang="en-US"/>
        </a:p>
      </dgm:t>
    </dgm:pt>
    <dgm:pt modelId="{418B1DD2-D0F4-4F9C-BCCA-063629A03F23}">
      <dgm:prSet custT="1"/>
      <dgm:spPr/>
      <dgm:t>
        <a:bodyPr/>
        <a:lstStyle/>
        <a:p>
          <a:r>
            <a:rPr lang="en-US" sz="1900" b="1" dirty="0">
              <a:solidFill>
                <a:schemeClr val="accent5">
                  <a:lumMod val="75000"/>
                </a:schemeClr>
              </a:solidFill>
            </a:rPr>
            <a:t>Sub-labels beneath nav items </a:t>
          </a:r>
          <a:r>
            <a:rPr lang="en-US" sz="1900" dirty="0"/>
            <a:t>— A precise label ("Tuition &amp; Fees") plus a brief descriptor ("Deadlines, payment plans, fee schedules") gives known-item users the literal match they need &amp; explorers the context to orient.</a:t>
          </a:r>
        </a:p>
      </dgm:t>
    </dgm:pt>
    <dgm:pt modelId="{F3FCDC51-A353-493F-A21B-0D1EAD4C66DA}" type="parTrans" cxnId="{52D17451-8CD8-43E1-B86E-029909A6F5FA}">
      <dgm:prSet/>
      <dgm:spPr/>
      <dgm:t>
        <a:bodyPr/>
        <a:lstStyle/>
        <a:p>
          <a:endParaRPr lang="en-US"/>
        </a:p>
      </dgm:t>
    </dgm:pt>
    <dgm:pt modelId="{8D2531EC-CEE3-4DC8-BC62-689AED8E2986}" type="sibTrans" cxnId="{52D17451-8CD8-43E1-B86E-029909A6F5FA}">
      <dgm:prSet/>
      <dgm:spPr/>
      <dgm:t>
        <a:bodyPr/>
        <a:lstStyle/>
        <a:p>
          <a:endParaRPr lang="en-US"/>
        </a:p>
      </dgm:t>
    </dgm:pt>
    <dgm:pt modelId="{4A926DAC-7F10-426D-8768-5AF73F1A5941}">
      <dgm:prSet custT="1"/>
      <dgm:spPr/>
      <dgm:t>
        <a:bodyPr/>
        <a:lstStyle/>
        <a:p>
          <a:pPr>
            <a:buNone/>
          </a:pPr>
          <a:r>
            <a:rPr lang="en-US" sz="1900" b="1" dirty="0">
              <a:solidFill>
                <a:schemeClr val="accent5">
                  <a:lumMod val="75000"/>
                </a:schemeClr>
              </a:solidFill>
            </a:rPr>
            <a:t>Consistent page structure, main nav is best </a:t>
          </a:r>
          <a:r>
            <a:rPr lang="en-US" sz="1900" dirty="0"/>
            <a:t>— Predictable placement of nav, breadcrumbs, and landmarks helps returning users </a:t>
          </a:r>
          <a:r>
            <a:rPr lang="en-US" sz="1900" b="1" i="1" dirty="0" err="1"/>
            <a:t>refind</a:t>
          </a:r>
          <a:r>
            <a:rPr lang="en-US" sz="1900" dirty="0"/>
            <a:t> things and new users orient — both benefit equally.</a:t>
          </a:r>
        </a:p>
      </dgm:t>
    </dgm:pt>
    <dgm:pt modelId="{60E9ECE4-BE69-48B4-99FA-0903E07BAC9F}" type="parTrans" cxnId="{AEDBDAD7-F4CC-4D99-B9D5-207370CAFFB7}">
      <dgm:prSet/>
      <dgm:spPr/>
      <dgm:t>
        <a:bodyPr/>
        <a:lstStyle/>
        <a:p>
          <a:endParaRPr lang="en-US"/>
        </a:p>
      </dgm:t>
    </dgm:pt>
    <dgm:pt modelId="{60DDCD12-33EB-4F68-AAA5-FD21075153CE}" type="sibTrans" cxnId="{AEDBDAD7-F4CC-4D99-B9D5-207370CAFFB7}">
      <dgm:prSet/>
      <dgm:spPr/>
      <dgm:t>
        <a:bodyPr/>
        <a:lstStyle/>
        <a:p>
          <a:endParaRPr lang="en-US"/>
        </a:p>
      </dgm:t>
    </dgm:pt>
    <dgm:pt modelId="{4153B492-4636-4C74-9517-090BE8DE3157}" type="pres">
      <dgm:prSet presAssocID="{06C3A428-6DA2-4E80-A46A-067D483EE5C2}" presName="vert0" presStyleCnt="0">
        <dgm:presLayoutVars>
          <dgm:dir/>
          <dgm:animOne val="branch"/>
          <dgm:animLvl val="lvl"/>
        </dgm:presLayoutVars>
      </dgm:prSet>
      <dgm:spPr/>
    </dgm:pt>
    <dgm:pt modelId="{AE42C90C-1EDF-4132-9B14-DD7D794E78DD}" type="pres">
      <dgm:prSet presAssocID="{796A090C-7817-46F2-884B-6EC4530471EC}" presName="thickLine" presStyleLbl="alignNode1" presStyleIdx="0" presStyleCnt="1"/>
      <dgm:spPr/>
    </dgm:pt>
    <dgm:pt modelId="{020EC565-55A8-4805-A28B-C4EFA6F7A9BA}" type="pres">
      <dgm:prSet presAssocID="{796A090C-7817-46F2-884B-6EC4530471EC}" presName="horz1" presStyleCnt="0"/>
      <dgm:spPr/>
    </dgm:pt>
    <dgm:pt modelId="{E9179E95-1DF6-40D5-A0C6-6D7C4B968298}" type="pres">
      <dgm:prSet presAssocID="{796A090C-7817-46F2-884B-6EC4530471EC}" presName="tx1" presStyleLbl="revTx" presStyleIdx="0" presStyleCnt="6"/>
      <dgm:spPr/>
    </dgm:pt>
    <dgm:pt modelId="{0BE80B7E-1E00-48EE-9C31-90D1D3C29D6F}" type="pres">
      <dgm:prSet presAssocID="{796A090C-7817-46F2-884B-6EC4530471EC}" presName="vert1" presStyleCnt="0"/>
      <dgm:spPr/>
    </dgm:pt>
    <dgm:pt modelId="{64673765-E601-4674-BFFB-64DEFD4C02E5}" type="pres">
      <dgm:prSet presAssocID="{1B04706D-457B-41D1-9169-C95074CA7316}" presName="vertSpace2a" presStyleCnt="0"/>
      <dgm:spPr/>
    </dgm:pt>
    <dgm:pt modelId="{FE545C84-B795-4E23-B767-3D214EB5A240}" type="pres">
      <dgm:prSet presAssocID="{1B04706D-457B-41D1-9169-C95074CA7316}" presName="horz2" presStyleCnt="0"/>
      <dgm:spPr/>
    </dgm:pt>
    <dgm:pt modelId="{CD228C30-EC86-4A8B-9347-8D3775C7982F}" type="pres">
      <dgm:prSet presAssocID="{1B04706D-457B-41D1-9169-C95074CA7316}" presName="horzSpace2" presStyleCnt="0"/>
      <dgm:spPr/>
    </dgm:pt>
    <dgm:pt modelId="{199C02EE-DEC8-4750-A8BB-C51D80DE506D}" type="pres">
      <dgm:prSet presAssocID="{1B04706D-457B-41D1-9169-C95074CA7316}" presName="tx2" presStyleLbl="revTx" presStyleIdx="1" presStyleCnt="6"/>
      <dgm:spPr/>
    </dgm:pt>
    <dgm:pt modelId="{23D62A3E-A639-4B9A-A9DE-6FE03165449D}" type="pres">
      <dgm:prSet presAssocID="{1B04706D-457B-41D1-9169-C95074CA7316}" presName="vert2" presStyleCnt="0"/>
      <dgm:spPr/>
    </dgm:pt>
    <dgm:pt modelId="{7F84BF2C-8FB2-4CF5-9B57-318D5C5B34F6}" type="pres">
      <dgm:prSet presAssocID="{1B04706D-457B-41D1-9169-C95074CA7316}" presName="thinLine2b" presStyleLbl="callout" presStyleIdx="0" presStyleCnt="5"/>
      <dgm:spPr/>
    </dgm:pt>
    <dgm:pt modelId="{498F7992-2352-4F45-BBCC-2DD4993DD0C9}" type="pres">
      <dgm:prSet presAssocID="{1B04706D-457B-41D1-9169-C95074CA7316}" presName="vertSpace2b" presStyleCnt="0"/>
      <dgm:spPr/>
    </dgm:pt>
    <dgm:pt modelId="{331EA3BE-68DE-4C2D-9EDD-DB698267E733}" type="pres">
      <dgm:prSet presAssocID="{DC781688-B52C-42CD-AB47-C1110BBACEF7}" presName="horz2" presStyleCnt="0"/>
      <dgm:spPr/>
    </dgm:pt>
    <dgm:pt modelId="{4D98D7B5-1B3C-4792-847E-8EA54C57F2A0}" type="pres">
      <dgm:prSet presAssocID="{DC781688-B52C-42CD-AB47-C1110BBACEF7}" presName="horzSpace2" presStyleCnt="0"/>
      <dgm:spPr/>
    </dgm:pt>
    <dgm:pt modelId="{A9436C7E-E2A5-48A6-88C8-6C3B21AD7C24}" type="pres">
      <dgm:prSet presAssocID="{DC781688-B52C-42CD-AB47-C1110BBACEF7}" presName="tx2" presStyleLbl="revTx" presStyleIdx="2" presStyleCnt="6"/>
      <dgm:spPr/>
    </dgm:pt>
    <dgm:pt modelId="{EFE8D00A-FFEF-4104-9099-710F8CABB2EB}" type="pres">
      <dgm:prSet presAssocID="{DC781688-B52C-42CD-AB47-C1110BBACEF7}" presName="vert2" presStyleCnt="0"/>
      <dgm:spPr/>
    </dgm:pt>
    <dgm:pt modelId="{0959C976-026B-455F-9AC5-82C79C221CCB}" type="pres">
      <dgm:prSet presAssocID="{DC781688-B52C-42CD-AB47-C1110BBACEF7}" presName="thinLine2b" presStyleLbl="callout" presStyleIdx="1" presStyleCnt="5"/>
      <dgm:spPr/>
    </dgm:pt>
    <dgm:pt modelId="{B913733C-5509-4DEE-8DB0-1519948B9505}" type="pres">
      <dgm:prSet presAssocID="{DC781688-B52C-42CD-AB47-C1110BBACEF7}" presName="vertSpace2b" presStyleCnt="0"/>
      <dgm:spPr/>
    </dgm:pt>
    <dgm:pt modelId="{7E821ACB-FB93-40DB-A113-8660C7EDB067}" type="pres">
      <dgm:prSet presAssocID="{2B9234BF-2B14-4249-B851-2F52A8CDC5D7}" presName="horz2" presStyleCnt="0"/>
      <dgm:spPr/>
    </dgm:pt>
    <dgm:pt modelId="{91941F76-1CAD-40B2-AD80-237DCBAE2C27}" type="pres">
      <dgm:prSet presAssocID="{2B9234BF-2B14-4249-B851-2F52A8CDC5D7}" presName="horzSpace2" presStyleCnt="0"/>
      <dgm:spPr/>
    </dgm:pt>
    <dgm:pt modelId="{E1D3734C-F460-4FF7-8736-7D1DCA93BAED}" type="pres">
      <dgm:prSet presAssocID="{2B9234BF-2B14-4249-B851-2F52A8CDC5D7}" presName="tx2" presStyleLbl="revTx" presStyleIdx="3" presStyleCnt="6"/>
      <dgm:spPr/>
    </dgm:pt>
    <dgm:pt modelId="{F6026895-5ABD-4581-9D4C-84C06203C177}" type="pres">
      <dgm:prSet presAssocID="{2B9234BF-2B14-4249-B851-2F52A8CDC5D7}" presName="vert2" presStyleCnt="0"/>
      <dgm:spPr/>
    </dgm:pt>
    <dgm:pt modelId="{C3276E96-EB30-4580-9106-461598C1C1E7}" type="pres">
      <dgm:prSet presAssocID="{2B9234BF-2B14-4249-B851-2F52A8CDC5D7}" presName="thinLine2b" presStyleLbl="callout" presStyleIdx="2" presStyleCnt="5"/>
      <dgm:spPr/>
    </dgm:pt>
    <dgm:pt modelId="{F809B9DB-EF0A-4A3F-BDDF-7CEC2E5869F6}" type="pres">
      <dgm:prSet presAssocID="{2B9234BF-2B14-4249-B851-2F52A8CDC5D7}" presName="vertSpace2b" presStyleCnt="0"/>
      <dgm:spPr/>
    </dgm:pt>
    <dgm:pt modelId="{4A0EDA06-3713-44BF-AA48-6FD655BA5B94}" type="pres">
      <dgm:prSet presAssocID="{418B1DD2-D0F4-4F9C-BCCA-063629A03F23}" presName="horz2" presStyleCnt="0"/>
      <dgm:spPr/>
    </dgm:pt>
    <dgm:pt modelId="{2E82DB67-04A7-4B08-BF19-A5CB30992960}" type="pres">
      <dgm:prSet presAssocID="{418B1DD2-D0F4-4F9C-BCCA-063629A03F23}" presName="horzSpace2" presStyleCnt="0"/>
      <dgm:spPr/>
    </dgm:pt>
    <dgm:pt modelId="{9FFC7036-4E71-48C3-9920-C9E45EDFA657}" type="pres">
      <dgm:prSet presAssocID="{418B1DD2-D0F4-4F9C-BCCA-063629A03F23}" presName="tx2" presStyleLbl="revTx" presStyleIdx="4" presStyleCnt="6"/>
      <dgm:spPr/>
    </dgm:pt>
    <dgm:pt modelId="{7728BC0F-ECE1-4D9F-9180-0BF2DCFCD455}" type="pres">
      <dgm:prSet presAssocID="{418B1DD2-D0F4-4F9C-BCCA-063629A03F23}" presName="vert2" presStyleCnt="0"/>
      <dgm:spPr/>
    </dgm:pt>
    <dgm:pt modelId="{EF21FEA6-7038-4032-984F-052F90C4DADF}" type="pres">
      <dgm:prSet presAssocID="{418B1DD2-D0F4-4F9C-BCCA-063629A03F23}" presName="thinLine2b" presStyleLbl="callout" presStyleIdx="3" presStyleCnt="5"/>
      <dgm:spPr/>
    </dgm:pt>
    <dgm:pt modelId="{3CE4491C-5722-49A0-9702-C234B38E54AA}" type="pres">
      <dgm:prSet presAssocID="{418B1DD2-D0F4-4F9C-BCCA-063629A03F23}" presName="vertSpace2b" presStyleCnt="0"/>
      <dgm:spPr/>
    </dgm:pt>
    <dgm:pt modelId="{7ECD9166-E31B-407A-BE50-6B0AA5AB89F9}" type="pres">
      <dgm:prSet presAssocID="{4A926DAC-7F10-426D-8768-5AF73F1A5941}" presName="horz2" presStyleCnt="0"/>
      <dgm:spPr/>
    </dgm:pt>
    <dgm:pt modelId="{CAF60B64-78EA-46A0-B6D9-891B4955BE2A}" type="pres">
      <dgm:prSet presAssocID="{4A926DAC-7F10-426D-8768-5AF73F1A5941}" presName="horzSpace2" presStyleCnt="0"/>
      <dgm:spPr/>
    </dgm:pt>
    <dgm:pt modelId="{C8D7F805-408F-4A97-9EAE-5E8A04AADD14}" type="pres">
      <dgm:prSet presAssocID="{4A926DAC-7F10-426D-8768-5AF73F1A5941}" presName="tx2" presStyleLbl="revTx" presStyleIdx="5" presStyleCnt="6"/>
      <dgm:spPr/>
    </dgm:pt>
    <dgm:pt modelId="{FE39B465-54EE-4225-B70E-C93DB7C38994}" type="pres">
      <dgm:prSet presAssocID="{4A926DAC-7F10-426D-8768-5AF73F1A5941}" presName="vert2" presStyleCnt="0"/>
      <dgm:spPr/>
    </dgm:pt>
    <dgm:pt modelId="{832A5ACC-4C56-4248-8A0D-C5E79D60A139}" type="pres">
      <dgm:prSet presAssocID="{4A926DAC-7F10-426D-8768-5AF73F1A5941}" presName="thinLine2b" presStyleLbl="callout" presStyleIdx="4" presStyleCnt="5"/>
      <dgm:spPr/>
    </dgm:pt>
    <dgm:pt modelId="{C3B1E55D-855E-48C8-A70B-F3E70D0D18A6}" type="pres">
      <dgm:prSet presAssocID="{4A926DAC-7F10-426D-8768-5AF73F1A5941}" presName="vertSpace2b" presStyleCnt="0"/>
      <dgm:spPr/>
    </dgm:pt>
  </dgm:ptLst>
  <dgm:cxnLst>
    <dgm:cxn modelId="{57797C16-3F10-41C1-B139-034B9A000293}" type="presOf" srcId="{1B04706D-457B-41D1-9169-C95074CA7316}" destId="{199C02EE-DEC8-4750-A8BB-C51D80DE506D}" srcOrd="0" destOrd="0" presId="urn:microsoft.com/office/officeart/2008/layout/LinedList"/>
    <dgm:cxn modelId="{7D0D3427-9DA6-447F-ACE2-8AB528147EA7}" type="presOf" srcId="{DC781688-B52C-42CD-AB47-C1110BBACEF7}" destId="{A9436C7E-E2A5-48A6-88C8-6C3B21AD7C24}" srcOrd="0" destOrd="0" presId="urn:microsoft.com/office/officeart/2008/layout/LinedList"/>
    <dgm:cxn modelId="{6D47442B-673B-40E2-B685-4D8F87AE4009}" srcId="{796A090C-7817-46F2-884B-6EC4530471EC}" destId="{2B9234BF-2B14-4249-B851-2F52A8CDC5D7}" srcOrd="2" destOrd="0" parTransId="{73A38366-E1C4-4489-9EFC-5B91AA6D0C02}" sibTransId="{4648586C-1D33-4348-A91D-2223F94A0BA5}"/>
    <dgm:cxn modelId="{C03AF040-551E-4F85-AA60-7717529745C3}" type="presOf" srcId="{4A926DAC-7F10-426D-8768-5AF73F1A5941}" destId="{C8D7F805-408F-4A97-9EAE-5E8A04AADD14}" srcOrd="0" destOrd="0" presId="urn:microsoft.com/office/officeart/2008/layout/LinedList"/>
    <dgm:cxn modelId="{DDB61560-8291-4625-969B-004AB14B4CD8}" type="presOf" srcId="{796A090C-7817-46F2-884B-6EC4530471EC}" destId="{E9179E95-1DF6-40D5-A0C6-6D7C4B968298}" srcOrd="0" destOrd="0" presId="urn:microsoft.com/office/officeart/2008/layout/LinedList"/>
    <dgm:cxn modelId="{D2D97F6C-7B87-425B-9561-A54D2065648D}" srcId="{06C3A428-6DA2-4E80-A46A-067D483EE5C2}" destId="{796A090C-7817-46F2-884B-6EC4530471EC}" srcOrd="0" destOrd="0" parTransId="{6F5838AC-5118-4B66-B811-C8CCA4344096}" sibTransId="{8A1FF0E5-6515-4A33-8880-D67F9703E845}"/>
    <dgm:cxn modelId="{52D17451-8CD8-43E1-B86E-029909A6F5FA}" srcId="{796A090C-7817-46F2-884B-6EC4530471EC}" destId="{418B1DD2-D0F4-4F9C-BCCA-063629A03F23}" srcOrd="3" destOrd="0" parTransId="{F3FCDC51-A353-493F-A21B-0D1EAD4C66DA}" sibTransId="{8D2531EC-CEE3-4DC8-BC62-689AED8E2986}"/>
    <dgm:cxn modelId="{4B9EAE81-43AA-4A14-9C05-91B655836231}" srcId="{796A090C-7817-46F2-884B-6EC4530471EC}" destId="{DC781688-B52C-42CD-AB47-C1110BBACEF7}" srcOrd="1" destOrd="0" parTransId="{B01A91C1-337A-485E-B7D8-D09FDFADE423}" sibTransId="{BFF3C8B5-0455-46F5-8EE9-91E9775491AA}"/>
    <dgm:cxn modelId="{3A7B72B7-3C5B-424E-87FE-967B065AD893}" type="presOf" srcId="{06C3A428-6DA2-4E80-A46A-067D483EE5C2}" destId="{4153B492-4636-4C74-9517-090BE8DE3157}" srcOrd="0" destOrd="0" presId="urn:microsoft.com/office/officeart/2008/layout/LinedList"/>
    <dgm:cxn modelId="{964995C6-ECD1-43A7-8B66-C14F2B82AF7F}" type="presOf" srcId="{418B1DD2-D0F4-4F9C-BCCA-063629A03F23}" destId="{9FFC7036-4E71-48C3-9920-C9E45EDFA657}" srcOrd="0" destOrd="0" presId="urn:microsoft.com/office/officeart/2008/layout/LinedList"/>
    <dgm:cxn modelId="{AEDBDAD7-F4CC-4D99-B9D5-207370CAFFB7}" srcId="{796A090C-7817-46F2-884B-6EC4530471EC}" destId="{4A926DAC-7F10-426D-8768-5AF73F1A5941}" srcOrd="4" destOrd="0" parTransId="{60E9ECE4-BE69-48B4-99FA-0903E07BAC9F}" sibTransId="{60DDCD12-33EB-4F68-AAA5-FD21075153CE}"/>
    <dgm:cxn modelId="{E5B4A3D9-7D63-4BB3-9533-3A1BE0B539A5}" srcId="{796A090C-7817-46F2-884B-6EC4530471EC}" destId="{1B04706D-457B-41D1-9169-C95074CA7316}" srcOrd="0" destOrd="0" parTransId="{F7C7F72A-CB07-4EB9-ACCD-F34D7A1B17A6}" sibTransId="{1EDD97BE-6FBB-4489-9BC4-A06282AE8EC3}"/>
    <dgm:cxn modelId="{EC68ACF4-33B1-4B3B-B96E-80C471310362}" type="presOf" srcId="{2B9234BF-2B14-4249-B851-2F52A8CDC5D7}" destId="{E1D3734C-F460-4FF7-8736-7D1DCA93BAED}" srcOrd="0" destOrd="0" presId="urn:microsoft.com/office/officeart/2008/layout/LinedList"/>
    <dgm:cxn modelId="{39B06DCE-3702-4EF2-8A3E-4EC1A6A43346}" type="presParOf" srcId="{4153B492-4636-4C74-9517-090BE8DE3157}" destId="{AE42C90C-1EDF-4132-9B14-DD7D794E78DD}" srcOrd="0" destOrd="0" presId="urn:microsoft.com/office/officeart/2008/layout/LinedList"/>
    <dgm:cxn modelId="{F38696AD-D2D4-4629-9CC0-2B218B2F156B}" type="presParOf" srcId="{4153B492-4636-4C74-9517-090BE8DE3157}" destId="{020EC565-55A8-4805-A28B-C4EFA6F7A9BA}" srcOrd="1" destOrd="0" presId="urn:microsoft.com/office/officeart/2008/layout/LinedList"/>
    <dgm:cxn modelId="{09E642E4-7D99-4792-825C-67476A3E4E06}" type="presParOf" srcId="{020EC565-55A8-4805-A28B-C4EFA6F7A9BA}" destId="{E9179E95-1DF6-40D5-A0C6-6D7C4B968298}" srcOrd="0" destOrd="0" presId="urn:microsoft.com/office/officeart/2008/layout/LinedList"/>
    <dgm:cxn modelId="{370EC01D-D8AB-4715-9F00-0928E5FF8FB5}" type="presParOf" srcId="{020EC565-55A8-4805-A28B-C4EFA6F7A9BA}" destId="{0BE80B7E-1E00-48EE-9C31-90D1D3C29D6F}" srcOrd="1" destOrd="0" presId="urn:microsoft.com/office/officeart/2008/layout/LinedList"/>
    <dgm:cxn modelId="{FD43AF13-CBEF-4B97-82BF-5EFC749CE9DF}" type="presParOf" srcId="{0BE80B7E-1E00-48EE-9C31-90D1D3C29D6F}" destId="{64673765-E601-4674-BFFB-64DEFD4C02E5}" srcOrd="0" destOrd="0" presId="urn:microsoft.com/office/officeart/2008/layout/LinedList"/>
    <dgm:cxn modelId="{BD3F9EC6-8BD5-4345-9D84-B78F83371FA9}" type="presParOf" srcId="{0BE80B7E-1E00-48EE-9C31-90D1D3C29D6F}" destId="{FE545C84-B795-4E23-B767-3D214EB5A240}" srcOrd="1" destOrd="0" presId="urn:microsoft.com/office/officeart/2008/layout/LinedList"/>
    <dgm:cxn modelId="{C92076B3-00ED-4237-9C90-61D29EEB9143}" type="presParOf" srcId="{FE545C84-B795-4E23-B767-3D214EB5A240}" destId="{CD228C30-EC86-4A8B-9347-8D3775C7982F}" srcOrd="0" destOrd="0" presId="urn:microsoft.com/office/officeart/2008/layout/LinedList"/>
    <dgm:cxn modelId="{EA1076F6-C9F1-47E1-939C-48ED6A8EB747}" type="presParOf" srcId="{FE545C84-B795-4E23-B767-3D214EB5A240}" destId="{199C02EE-DEC8-4750-A8BB-C51D80DE506D}" srcOrd="1" destOrd="0" presId="urn:microsoft.com/office/officeart/2008/layout/LinedList"/>
    <dgm:cxn modelId="{FAAB9FD6-6E4D-4499-A1E4-0E5371712286}" type="presParOf" srcId="{FE545C84-B795-4E23-B767-3D214EB5A240}" destId="{23D62A3E-A639-4B9A-A9DE-6FE03165449D}" srcOrd="2" destOrd="0" presId="urn:microsoft.com/office/officeart/2008/layout/LinedList"/>
    <dgm:cxn modelId="{03AFE420-3528-4F9C-987C-6CD496E3582E}" type="presParOf" srcId="{0BE80B7E-1E00-48EE-9C31-90D1D3C29D6F}" destId="{7F84BF2C-8FB2-4CF5-9B57-318D5C5B34F6}" srcOrd="2" destOrd="0" presId="urn:microsoft.com/office/officeart/2008/layout/LinedList"/>
    <dgm:cxn modelId="{F4F41706-7584-4565-AB25-EF964FD55427}" type="presParOf" srcId="{0BE80B7E-1E00-48EE-9C31-90D1D3C29D6F}" destId="{498F7992-2352-4F45-BBCC-2DD4993DD0C9}" srcOrd="3" destOrd="0" presId="urn:microsoft.com/office/officeart/2008/layout/LinedList"/>
    <dgm:cxn modelId="{D3390604-AD25-4B7A-9F8A-B352A36A9A3B}" type="presParOf" srcId="{0BE80B7E-1E00-48EE-9C31-90D1D3C29D6F}" destId="{331EA3BE-68DE-4C2D-9EDD-DB698267E733}" srcOrd="4" destOrd="0" presId="urn:microsoft.com/office/officeart/2008/layout/LinedList"/>
    <dgm:cxn modelId="{406A9D8C-D1F0-4684-B78A-0480A54580AE}" type="presParOf" srcId="{331EA3BE-68DE-4C2D-9EDD-DB698267E733}" destId="{4D98D7B5-1B3C-4792-847E-8EA54C57F2A0}" srcOrd="0" destOrd="0" presId="urn:microsoft.com/office/officeart/2008/layout/LinedList"/>
    <dgm:cxn modelId="{66F0B7AB-FEA1-4737-9DCF-B5088886924F}" type="presParOf" srcId="{331EA3BE-68DE-4C2D-9EDD-DB698267E733}" destId="{A9436C7E-E2A5-48A6-88C8-6C3B21AD7C24}" srcOrd="1" destOrd="0" presId="urn:microsoft.com/office/officeart/2008/layout/LinedList"/>
    <dgm:cxn modelId="{3A252C05-16C5-46EF-B6A2-B4000BD01E31}" type="presParOf" srcId="{331EA3BE-68DE-4C2D-9EDD-DB698267E733}" destId="{EFE8D00A-FFEF-4104-9099-710F8CABB2EB}" srcOrd="2" destOrd="0" presId="urn:microsoft.com/office/officeart/2008/layout/LinedList"/>
    <dgm:cxn modelId="{4F41971F-5750-492C-A9F9-573928F77CFF}" type="presParOf" srcId="{0BE80B7E-1E00-48EE-9C31-90D1D3C29D6F}" destId="{0959C976-026B-455F-9AC5-82C79C221CCB}" srcOrd="5" destOrd="0" presId="urn:microsoft.com/office/officeart/2008/layout/LinedList"/>
    <dgm:cxn modelId="{CFCAABAB-233D-4ABF-857C-720625E67E80}" type="presParOf" srcId="{0BE80B7E-1E00-48EE-9C31-90D1D3C29D6F}" destId="{B913733C-5509-4DEE-8DB0-1519948B9505}" srcOrd="6" destOrd="0" presId="urn:microsoft.com/office/officeart/2008/layout/LinedList"/>
    <dgm:cxn modelId="{ED425F78-82D5-43B3-9F05-01521D6627B8}" type="presParOf" srcId="{0BE80B7E-1E00-48EE-9C31-90D1D3C29D6F}" destId="{7E821ACB-FB93-40DB-A113-8660C7EDB067}" srcOrd="7" destOrd="0" presId="urn:microsoft.com/office/officeart/2008/layout/LinedList"/>
    <dgm:cxn modelId="{FA3ABAAB-8A22-4BB0-9408-7B6BCDDDE95D}" type="presParOf" srcId="{7E821ACB-FB93-40DB-A113-8660C7EDB067}" destId="{91941F76-1CAD-40B2-AD80-237DCBAE2C27}" srcOrd="0" destOrd="0" presId="urn:microsoft.com/office/officeart/2008/layout/LinedList"/>
    <dgm:cxn modelId="{A29E84FC-4863-4F8F-AFA5-522494A8AD79}" type="presParOf" srcId="{7E821ACB-FB93-40DB-A113-8660C7EDB067}" destId="{E1D3734C-F460-4FF7-8736-7D1DCA93BAED}" srcOrd="1" destOrd="0" presId="urn:microsoft.com/office/officeart/2008/layout/LinedList"/>
    <dgm:cxn modelId="{54761E67-F06E-4722-8EEE-6B10AEF84570}" type="presParOf" srcId="{7E821ACB-FB93-40DB-A113-8660C7EDB067}" destId="{F6026895-5ABD-4581-9D4C-84C06203C177}" srcOrd="2" destOrd="0" presId="urn:microsoft.com/office/officeart/2008/layout/LinedList"/>
    <dgm:cxn modelId="{0FBBA56C-6FE2-4007-B19C-202E9B5A880A}" type="presParOf" srcId="{0BE80B7E-1E00-48EE-9C31-90D1D3C29D6F}" destId="{C3276E96-EB30-4580-9106-461598C1C1E7}" srcOrd="8" destOrd="0" presId="urn:microsoft.com/office/officeart/2008/layout/LinedList"/>
    <dgm:cxn modelId="{BBDF0398-6617-4BC0-B628-F365E5BAAC30}" type="presParOf" srcId="{0BE80B7E-1E00-48EE-9C31-90D1D3C29D6F}" destId="{F809B9DB-EF0A-4A3F-BDDF-7CEC2E5869F6}" srcOrd="9" destOrd="0" presId="urn:microsoft.com/office/officeart/2008/layout/LinedList"/>
    <dgm:cxn modelId="{44865A86-8638-4863-8D89-9A0D847BD1AF}" type="presParOf" srcId="{0BE80B7E-1E00-48EE-9C31-90D1D3C29D6F}" destId="{4A0EDA06-3713-44BF-AA48-6FD655BA5B94}" srcOrd="10" destOrd="0" presId="urn:microsoft.com/office/officeart/2008/layout/LinedList"/>
    <dgm:cxn modelId="{55D097F6-D755-49B7-AF79-D8E770B4B9C4}" type="presParOf" srcId="{4A0EDA06-3713-44BF-AA48-6FD655BA5B94}" destId="{2E82DB67-04A7-4B08-BF19-A5CB30992960}" srcOrd="0" destOrd="0" presId="urn:microsoft.com/office/officeart/2008/layout/LinedList"/>
    <dgm:cxn modelId="{730143AD-1D46-4C55-809B-DD73CD3DC4A8}" type="presParOf" srcId="{4A0EDA06-3713-44BF-AA48-6FD655BA5B94}" destId="{9FFC7036-4E71-48C3-9920-C9E45EDFA657}" srcOrd="1" destOrd="0" presId="urn:microsoft.com/office/officeart/2008/layout/LinedList"/>
    <dgm:cxn modelId="{D04B92EE-1DF3-4533-9F37-8A948166E38A}" type="presParOf" srcId="{4A0EDA06-3713-44BF-AA48-6FD655BA5B94}" destId="{7728BC0F-ECE1-4D9F-9180-0BF2DCFCD455}" srcOrd="2" destOrd="0" presId="urn:microsoft.com/office/officeart/2008/layout/LinedList"/>
    <dgm:cxn modelId="{0009F060-6192-457E-9B07-FBC07742303D}" type="presParOf" srcId="{0BE80B7E-1E00-48EE-9C31-90D1D3C29D6F}" destId="{EF21FEA6-7038-4032-984F-052F90C4DADF}" srcOrd="11" destOrd="0" presId="urn:microsoft.com/office/officeart/2008/layout/LinedList"/>
    <dgm:cxn modelId="{4B0E3D7D-5C82-44F9-9A27-C7900F30A4CA}" type="presParOf" srcId="{0BE80B7E-1E00-48EE-9C31-90D1D3C29D6F}" destId="{3CE4491C-5722-49A0-9702-C234B38E54AA}" srcOrd="12" destOrd="0" presId="urn:microsoft.com/office/officeart/2008/layout/LinedList"/>
    <dgm:cxn modelId="{6BF7652C-B4FA-4491-851E-1DA7C692284A}" type="presParOf" srcId="{0BE80B7E-1E00-48EE-9C31-90D1D3C29D6F}" destId="{7ECD9166-E31B-407A-BE50-6B0AA5AB89F9}" srcOrd="13" destOrd="0" presId="urn:microsoft.com/office/officeart/2008/layout/LinedList"/>
    <dgm:cxn modelId="{67699ABD-C286-4740-9731-23EDA369CD62}" type="presParOf" srcId="{7ECD9166-E31B-407A-BE50-6B0AA5AB89F9}" destId="{CAF60B64-78EA-46A0-B6D9-891B4955BE2A}" srcOrd="0" destOrd="0" presId="urn:microsoft.com/office/officeart/2008/layout/LinedList"/>
    <dgm:cxn modelId="{A61B0E60-5398-4047-AF98-E6F3716FB6F5}" type="presParOf" srcId="{7ECD9166-E31B-407A-BE50-6B0AA5AB89F9}" destId="{C8D7F805-408F-4A97-9EAE-5E8A04AADD14}" srcOrd="1" destOrd="0" presId="urn:microsoft.com/office/officeart/2008/layout/LinedList"/>
    <dgm:cxn modelId="{0622D780-CFA5-4BD6-87FF-35DE3CAA9F51}" type="presParOf" srcId="{7ECD9166-E31B-407A-BE50-6B0AA5AB89F9}" destId="{FE39B465-54EE-4225-B70E-C93DB7C38994}" srcOrd="2" destOrd="0" presId="urn:microsoft.com/office/officeart/2008/layout/LinedList"/>
    <dgm:cxn modelId="{BA45A06C-84C2-42C5-AE6B-0777D152F0EC}" type="presParOf" srcId="{0BE80B7E-1E00-48EE-9C31-90D1D3C29D6F}" destId="{832A5ACC-4C56-4248-8A0D-C5E79D60A139}" srcOrd="14" destOrd="0" presId="urn:microsoft.com/office/officeart/2008/layout/LinedList"/>
    <dgm:cxn modelId="{C8F3DEB1-55E2-405F-AE9F-F5F862DB9A3D}" type="presParOf" srcId="{0BE80B7E-1E00-48EE-9C31-90D1D3C29D6F}" destId="{C3B1E55D-855E-48C8-A70B-F3E70D0D18A6}"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ECB993-FA9D-4CC2-8E97-69FE4A386378}">
      <dsp:nvSpPr>
        <dsp:cNvPr id="0" name=""/>
        <dsp:cNvSpPr/>
      </dsp:nvSpPr>
      <dsp:spPr>
        <a:xfrm>
          <a:off x="0" y="523"/>
          <a:ext cx="8178800" cy="12252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D5CE03-09BA-41CA-BFFD-B5A96179856A}">
      <dsp:nvSpPr>
        <dsp:cNvPr id="0" name=""/>
        <dsp:cNvSpPr/>
      </dsp:nvSpPr>
      <dsp:spPr>
        <a:xfrm>
          <a:off x="370638" y="276205"/>
          <a:ext cx="673887" cy="673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AF1FCE-4AF7-413E-BF88-D005D0DB09FF}">
      <dsp:nvSpPr>
        <dsp:cNvPr id="0" name=""/>
        <dsp:cNvSpPr/>
      </dsp:nvSpPr>
      <dsp:spPr>
        <a:xfrm>
          <a:off x="1415164" y="523"/>
          <a:ext cx="6763635" cy="1225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72" tIns="129672" rIns="129672" bIns="129672" numCol="1" spcCol="1270" anchor="ctr" anchorCtr="0">
          <a:noAutofit/>
        </a:bodyPr>
        <a:lstStyle/>
        <a:p>
          <a:pPr marL="0" lvl="0" indent="0" algn="l" defTabSz="889000">
            <a:lnSpc>
              <a:spcPct val="100000"/>
            </a:lnSpc>
            <a:spcBef>
              <a:spcPct val="0"/>
            </a:spcBef>
            <a:spcAft>
              <a:spcPct val="35000"/>
            </a:spcAft>
            <a:buNone/>
          </a:pPr>
          <a:r>
            <a:rPr lang="en-US" sz="2000" b="1" kern="1200"/>
            <a:t>Known‑item seeking </a:t>
          </a:r>
          <a:r>
            <a:rPr lang="en-US" sz="2000" kern="1200"/>
            <a:t>– Users are hunting for a single, definitive answer, such as “Which U.S. state has the highest per‑capita income?”</a:t>
          </a:r>
          <a:endParaRPr lang="en-US" sz="2000" kern="1200">
            <a:latin typeface="Avenir"/>
          </a:endParaRPr>
        </a:p>
      </dsp:txBody>
      <dsp:txXfrm>
        <a:off x="1415164" y="523"/>
        <a:ext cx="6763635" cy="1225250"/>
      </dsp:txXfrm>
    </dsp:sp>
    <dsp:sp modelId="{3627CD18-2859-4F7E-A68B-1044F8692D82}">
      <dsp:nvSpPr>
        <dsp:cNvPr id="0" name=""/>
        <dsp:cNvSpPr/>
      </dsp:nvSpPr>
      <dsp:spPr>
        <a:xfrm>
          <a:off x="0" y="1532087"/>
          <a:ext cx="8178800" cy="12252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727145-9CD1-411A-9EFF-2C6EA61D1D14}">
      <dsp:nvSpPr>
        <dsp:cNvPr id="0" name=""/>
        <dsp:cNvSpPr/>
      </dsp:nvSpPr>
      <dsp:spPr>
        <a:xfrm>
          <a:off x="370638" y="1807768"/>
          <a:ext cx="673887" cy="673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F649CE-6095-43A8-9319-2B8E490F1379}">
      <dsp:nvSpPr>
        <dsp:cNvPr id="0" name=""/>
        <dsp:cNvSpPr/>
      </dsp:nvSpPr>
      <dsp:spPr>
        <a:xfrm>
          <a:off x="1415164" y="1532087"/>
          <a:ext cx="6763635" cy="1225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72" tIns="129672" rIns="129672" bIns="129672" numCol="1" spcCol="1270" anchor="ctr" anchorCtr="0">
          <a:noAutofit/>
        </a:bodyPr>
        <a:lstStyle/>
        <a:p>
          <a:pPr marL="0" lvl="0" indent="0" algn="l" defTabSz="889000">
            <a:lnSpc>
              <a:spcPct val="100000"/>
            </a:lnSpc>
            <a:spcBef>
              <a:spcPct val="0"/>
            </a:spcBef>
            <a:spcAft>
              <a:spcPct val="35000"/>
            </a:spcAft>
            <a:buNone/>
          </a:pPr>
          <a:r>
            <a:rPr lang="en-US" sz="2000" b="1" kern="1200"/>
            <a:t>Exploratory seeking </a:t>
          </a:r>
          <a:r>
            <a:rPr lang="en-US" sz="2000" kern="1200"/>
            <a:t>– Users want quick, actionable information to meet an immediate need, like “Where can I find a quiet beach to visit this weekend?”</a:t>
          </a:r>
          <a:endParaRPr lang="en-US" sz="2000" kern="1200">
            <a:latin typeface="Avenir"/>
          </a:endParaRPr>
        </a:p>
      </dsp:txBody>
      <dsp:txXfrm>
        <a:off x="1415164" y="1532087"/>
        <a:ext cx="6763635" cy="1225250"/>
      </dsp:txXfrm>
    </dsp:sp>
    <dsp:sp modelId="{889A2C20-B17E-47D3-9ADC-42DE25D6B401}">
      <dsp:nvSpPr>
        <dsp:cNvPr id="0" name=""/>
        <dsp:cNvSpPr/>
      </dsp:nvSpPr>
      <dsp:spPr>
        <a:xfrm>
          <a:off x="0" y="3064174"/>
          <a:ext cx="8178800" cy="12252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17899E-0100-42B8-9510-DA90B064C243}">
      <dsp:nvSpPr>
        <dsp:cNvPr id="0" name=""/>
        <dsp:cNvSpPr/>
      </dsp:nvSpPr>
      <dsp:spPr>
        <a:xfrm>
          <a:off x="370638" y="3339332"/>
          <a:ext cx="673887" cy="673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3AFC20-56EB-4C18-87C0-98B1B97C09A0}">
      <dsp:nvSpPr>
        <dsp:cNvPr id="0" name=""/>
        <dsp:cNvSpPr/>
      </dsp:nvSpPr>
      <dsp:spPr>
        <a:xfrm>
          <a:off x="1415164" y="3063650"/>
          <a:ext cx="6763635" cy="1225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672" tIns="129672" rIns="129672" bIns="129672" numCol="1" spcCol="1270" anchor="ctr" anchorCtr="0">
          <a:noAutofit/>
        </a:bodyPr>
        <a:lstStyle/>
        <a:p>
          <a:pPr marL="0" lvl="0" indent="0" algn="l" defTabSz="889000">
            <a:lnSpc>
              <a:spcPct val="100000"/>
            </a:lnSpc>
            <a:spcBef>
              <a:spcPct val="0"/>
            </a:spcBef>
            <a:spcAft>
              <a:spcPct val="35000"/>
            </a:spcAft>
            <a:buNone/>
          </a:pPr>
          <a:r>
            <a:rPr lang="en-US" sz="2000" b="1" kern="1200" dirty="0" err="1"/>
            <a:t>Refinding</a:t>
          </a:r>
          <a:r>
            <a:rPr lang="en-US" sz="2000" kern="1200" dirty="0"/>
            <a:t> – Users need to retrieve the same or a closely related piece of information again, for example “What are the latest travel advisories for Thailand?”</a:t>
          </a:r>
          <a:endParaRPr lang="en-US" sz="2000" kern="1200" dirty="0">
            <a:latin typeface="Avenir"/>
          </a:endParaRPr>
        </a:p>
      </dsp:txBody>
      <dsp:txXfrm>
        <a:off x="1415164" y="3063650"/>
        <a:ext cx="6763635" cy="12252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ECB993-FA9D-4CC2-8E97-69FE4A386378}">
      <dsp:nvSpPr>
        <dsp:cNvPr id="0" name=""/>
        <dsp:cNvSpPr/>
      </dsp:nvSpPr>
      <dsp:spPr>
        <a:xfrm>
          <a:off x="0" y="3755"/>
          <a:ext cx="8178800" cy="12373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D5CE03-09BA-41CA-BFFD-B5A96179856A}">
      <dsp:nvSpPr>
        <dsp:cNvPr id="0" name=""/>
        <dsp:cNvSpPr/>
      </dsp:nvSpPr>
      <dsp:spPr>
        <a:xfrm>
          <a:off x="374301" y="282161"/>
          <a:ext cx="681213" cy="680548"/>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AF1FCE-4AF7-413E-BF88-D005D0DB09FF}">
      <dsp:nvSpPr>
        <dsp:cNvPr id="0" name=""/>
        <dsp:cNvSpPr/>
      </dsp:nvSpPr>
      <dsp:spPr>
        <a:xfrm>
          <a:off x="1429816" y="3755"/>
          <a:ext cx="6654625" cy="1238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82" tIns="131082" rIns="131082" bIns="131082" numCol="1" spcCol="1270" anchor="ctr" anchorCtr="0">
          <a:noAutofit/>
        </a:bodyPr>
        <a:lstStyle/>
        <a:p>
          <a:pPr marL="0" lvl="0" indent="0" algn="l" defTabSz="933450">
            <a:lnSpc>
              <a:spcPct val="100000"/>
            </a:lnSpc>
            <a:spcBef>
              <a:spcPct val="0"/>
            </a:spcBef>
            <a:spcAft>
              <a:spcPct val="35000"/>
            </a:spcAft>
            <a:buNone/>
          </a:pPr>
          <a:r>
            <a:rPr lang="en-US" sz="2100" b="1" kern="1200" dirty="0"/>
            <a:t>Labels &amp; naming</a:t>
          </a:r>
        </a:p>
        <a:p>
          <a:pPr marL="0" lvl="0" indent="0" algn="l" defTabSz="933450">
            <a:lnSpc>
              <a:spcPct val="100000"/>
            </a:lnSpc>
            <a:spcBef>
              <a:spcPct val="0"/>
            </a:spcBef>
            <a:spcAft>
              <a:spcPct val="35000"/>
            </a:spcAft>
            <a:buNone/>
          </a:pPr>
          <a:r>
            <a:rPr lang="en-US" altLang="en-US" sz="2100" kern="1200" dirty="0"/>
            <a:t>What are things called?  Be consistent to avoid confusion. </a:t>
          </a:r>
          <a:endParaRPr lang="en-US" sz="2100" b="1" kern="1200" dirty="0"/>
        </a:p>
      </dsp:txBody>
      <dsp:txXfrm>
        <a:off x="1429816" y="3755"/>
        <a:ext cx="6654625" cy="1238570"/>
      </dsp:txXfrm>
    </dsp:sp>
    <dsp:sp modelId="{3627CD18-2859-4F7E-A68B-1044F8692D82}">
      <dsp:nvSpPr>
        <dsp:cNvPr id="0" name=""/>
        <dsp:cNvSpPr/>
      </dsp:nvSpPr>
      <dsp:spPr>
        <a:xfrm>
          <a:off x="0" y="1525427"/>
          <a:ext cx="8178800" cy="12373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727145-9CD1-411A-9EFF-2C6EA61D1D14}">
      <dsp:nvSpPr>
        <dsp:cNvPr id="0" name=""/>
        <dsp:cNvSpPr/>
      </dsp:nvSpPr>
      <dsp:spPr>
        <a:xfrm>
          <a:off x="374301" y="1803833"/>
          <a:ext cx="681213" cy="68054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F649CE-6095-43A8-9319-2B8E490F1379}">
      <dsp:nvSpPr>
        <dsp:cNvPr id="0" name=""/>
        <dsp:cNvSpPr/>
      </dsp:nvSpPr>
      <dsp:spPr>
        <a:xfrm>
          <a:off x="1429816" y="1525427"/>
          <a:ext cx="6654625" cy="1238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82" tIns="131082" rIns="131082" bIns="131082" numCol="1" spcCol="1270" anchor="ctr" anchorCtr="0">
          <a:noAutofit/>
        </a:bodyPr>
        <a:lstStyle/>
        <a:p>
          <a:pPr marL="0" lvl="0" indent="0" algn="l" defTabSz="933450">
            <a:lnSpc>
              <a:spcPct val="100000"/>
            </a:lnSpc>
            <a:spcBef>
              <a:spcPct val="0"/>
            </a:spcBef>
            <a:spcAft>
              <a:spcPct val="35000"/>
            </a:spcAft>
            <a:buNone/>
          </a:pPr>
          <a:r>
            <a:rPr lang="en-US" sz="2100" b="1" kern="1200" dirty="0"/>
            <a:t>Structure of content</a:t>
          </a:r>
        </a:p>
        <a:p>
          <a:pPr marL="0" lvl="0" indent="0" algn="l" defTabSz="933450">
            <a:lnSpc>
              <a:spcPct val="100000"/>
            </a:lnSpc>
            <a:spcBef>
              <a:spcPct val="0"/>
            </a:spcBef>
            <a:spcAft>
              <a:spcPct val="35000"/>
            </a:spcAft>
            <a:buNone/>
          </a:pPr>
          <a:r>
            <a:rPr lang="en-US" altLang="en-US" sz="2100" kern="1200" dirty="0"/>
            <a:t>What goes where? What is the relationship between elements?</a:t>
          </a:r>
          <a:endParaRPr lang="en-US" sz="2100" kern="1200" dirty="0">
            <a:latin typeface="Avenir"/>
          </a:endParaRPr>
        </a:p>
      </dsp:txBody>
      <dsp:txXfrm>
        <a:off x="1429816" y="1525427"/>
        <a:ext cx="6654625" cy="1238570"/>
      </dsp:txXfrm>
    </dsp:sp>
    <dsp:sp modelId="{889A2C20-B17E-47D3-9ADC-42DE25D6B401}">
      <dsp:nvSpPr>
        <dsp:cNvPr id="0" name=""/>
        <dsp:cNvSpPr/>
      </dsp:nvSpPr>
      <dsp:spPr>
        <a:xfrm>
          <a:off x="0" y="3052064"/>
          <a:ext cx="8178800" cy="12373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17899E-0100-42B8-9510-DA90B064C243}">
      <dsp:nvSpPr>
        <dsp:cNvPr id="0" name=""/>
        <dsp:cNvSpPr/>
      </dsp:nvSpPr>
      <dsp:spPr>
        <a:xfrm>
          <a:off x="374301" y="3325505"/>
          <a:ext cx="681213" cy="680548"/>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3AFC20-56EB-4C18-87C0-98B1B97C09A0}">
      <dsp:nvSpPr>
        <dsp:cNvPr id="0" name=""/>
        <dsp:cNvSpPr/>
      </dsp:nvSpPr>
      <dsp:spPr>
        <a:xfrm>
          <a:off x="1429816" y="3047099"/>
          <a:ext cx="6654625" cy="1238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82" tIns="131082" rIns="131082" bIns="131082" numCol="1" spcCol="1270" anchor="ctr" anchorCtr="0">
          <a:noAutofit/>
        </a:bodyPr>
        <a:lstStyle/>
        <a:p>
          <a:pPr marL="0" lvl="0" indent="0" algn="l" defTabSz="933450">
            <a:lnSpc>
              <a:spcPct val="100000"/>
            </a:lnSpc>
            <a:spcBef>
              <a:spcPct val="0"/>
            </a:spcBef>
            <a:spcAft>
              <a:spcPct val="35000"/>
            </a:spcAft>
            <a:buNone/>
          </a:pPr>
          <a:r>
            <a:rPr lang="en-US" sz="2100" b="1" kern="1200" dirty="0"/>
            <a:t>Navigation between pages</a:t>
          </a:r>
        </a:p>
        <a:p>
          <a:pPr marL="0" lvl="0" indent="0" algn="l" defTabSz="933450">
            <a:lnSpc>
              <a:spcPct val="100000"/>
            </a:lnSpc>
            <a:spcBef>
              <a:spcPct val="0"/>
            </a:spcBef>
            <a:spcAft>
              <a:spcPct val="35000"/>
            </a:spcAft>
            <a:buNone/>
          </a:pPr>
          <a:r>
            <a:rPr lang="en-US" altLang="en-US" sz="2100" kern="1200" dirty="0"/>
            <a:t>How to map mental thought process to supported navigation?</a:t>
          </a:r>
          <a:endParaRPr lang="en-US" sz="2100" kern="1200" dirty="0">
            <a:latin typeface="Avenir"/>
          </a:endParaRPr>
        </a:p>
      </dsp:txBody>
      <dsp:txXfrm>
        <a:off x="1429816" y="3047099"/>
        <a:ext cx="6654625" cy="12385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E09DDC-FD64-483D-8340-2710C3106315}">
      <dsp:nvSpPr>
        <dsp:cNvPr id="0" name=""/>
        <dsp:cNvSpPr/>
      </dsp:nvSpPr>
      <dsp:spPr>
        <a:xfrm>
          <a:off x="0" y="0"/>
          <a:ext cx="6120765" cy="1431687"/>
        </a:xfrm>
        <a:prstGeom prst="roundRect">
          <a:avLst>
            <a:gd name="adj" fmla="val 10000"/>
          </a:avLst>
        </a:prstGeom>
        <a:solidFill>
          <a:schemeClr val="accent1">
            <a:lumMod val="60000"/>
            <a:lumOff val="4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Font typeface="+mj-lt"/>
            <a:buNone/>
          </a:pPr>
          <a:r>
            <a:rPr lang="en-US" altLang="en-US" sz="3000" b="1" kern="1200" dirty="0">
              <a:solidFill>
                <a:srgbClr val="626CBA"/>
              </a:solidFill>
            </a:rPr>
            <a:t>1. </a:t>
          </a:r>
          <a:r>
            <a:rPr lang="en-US" altLang="en-US" sz="2700" kern="1200" dirty="0">
              <a:solidFill>
                <a:schemeClr val="bg2">
                  <a:lumMod val="25000"/>
                </a:schemeClr>
              </a:solidFill>
            </a:rPr>
            <a:t>Decide what information elements and functional content site must provide</a:t>
          </a:r>
          <a:endParaRPr lang="en-US" sz="2700" kern="1200" dirty="0">
            <a:solidFill>
              <a:schemeClr val="bg2">
                <a:lumMod val="25000"/>
              </a:schemeClr>
            </a:solidFill>
          </a:endParaRPr>
        </a:p>
      </dsp:txBody>
      <dsp:txXfrm>
        <a:off x="41933" y="41933"/>
        <a:ext cx="4575862" cy="1347821"/>
      </dsp:txXfrm>
    </dsp:sp>
    <dsp:sp modelId="{DA7E690C-542C-4096-A40D-8DA5509CCC02}">
      <dsp:nvSpPr>
        <dsp:cNvPr id="0" name=""/>
        <dsp:cNvSpPr/>
      </dsp:nvSpPr>
      <dsp:spPr>
        <a:xfrm>
          <a:off x="540067" y="1670301"/>
          <a:ext cx="6120765" cy="1431687"/>
        </a:xfrm>
        <a:prstGeom prst="roundRect">
          <a:avLst>
            <a:gd name="adj" fmla="val 10000"/>
          </a:avLst>
        </a:prstGeom>
        <a:solidFill>
          <a:schemeClr val="accent1">
            <a:lumMod val="40000"/>
            <a:lumOff val="6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Font typeface="+mj-lt"/>
            <a:buNone/>
          </a:pPr>
          <a:r>
            <a:rPr lang="en-US" altLang="en-US" sz="3000" b="1" kern="1200" dirty="0">
              <a:solidFill>
                <a:schemeClr val="tx2">
                  <a:lumMod val="60000"/>
                  <a:lumOff val="40000"/>
                </a:schemeClr>
              </a:solidFill>
            </a:rPr>
            <a:t>2. </a:t>
          </a:r>
          <a:r>
            <a:rPr lang="en-US" altLang="en-US" sz="2800" kern="1200" dirty="0">
              <a:solidFill>
                <a:schemeClr val="bg2">
                  <a:lumMod val="25000"/>
                </a:schemeClr>
              </a:solidFill>
            </a:rPr>
            <a:t>Decide how above can best be grouped and organized</a:t>
          </a:r>
          <a:endParaRPr lang="en-US" sz="2800" kern="1200" dirty="0">
            <a:solidFill>
              <a:schemeClr val="bg2">
                <a:lumMod val="25000"/>
              </a:schemeClr>
            </a:solidFill>
          </a:endParaRPr>
        </a:p>
      </dsp:txBody>
      <dsp:txXfrm>
        <a:off x="582000" y="1712234"/>
        <a:ext cx="4566234" cy="1347820"/>
      </dsp:txXfrm>
    </dsp:sp>
    <dsp:sp modelId="{969C3A6B-737B-4AFB-869B-065DBB9B8E0D}">
      <dsp:nvSpPr>
        <dsp:cNvPr id="0" name=""/>
        <dsp:cNvSpPr/>
      </dsp:nvSpPr>
      <dsp:spPr>
        <a:xfrm>
          <a:off x="1080134" y="3340603"/>
          <a:ext cx="6120765" cy="1431687"/>
        </a:xfrm>
        <a:prstGeom prst="roundRect">
          <a:avLst>
            <a:gd name="adj" fmla="val 10000"/>
          </a:avLst>
        </a:prstGeom>
        <a:solidFill>
          <a:schemeClr val="accent1">
            <a:lumMod val="20000"/>
            <a:lumOff val="8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Font typeface="+mj-lt"/>
            <a:buNone/>
          </a:pPr>
          <a:r>
            <a:rPr lang="en-US" altLang="en-US" sz="3000" b="1" kern="1200" dirty="0">
              <a:solidFill>
                <a:schemeClr val="tx2">
                  <a:lumMod val="40000"/>
                  <a:lumOff val="60000"/>
                </a:schemeClr>
              </a:solidFill>
            </a:rPr>
            <a:t>3. </a:t>
          </a:r>
          <a:r>
            <a:rPr lang="en-US" altLang="en-US" sz="3000" kern="1200" dirty="0">
              <a:solidFill>
                <a:schemeClr val="bg2">
                  <a:lumMod val="25000"/>
                </a:schemeClr>
              </a:solidFill>
            </a:rPr>
            <a:t>Plan connecting navigation among elements</a:t>
          </a:r>
          <a:endParaRPr lang="en-US" sz="3000" kern="1200" dirty="0">
            <a:solidFill>
              <a:schemeClr val="bg2">
                <a:lumMod val="25000"/>
              </a:schemeClr>
            </a:solidFill>
          </a:endParaRPr>
        </a:p>
      </dsp:txBody>
      <dsp:txXfrm>
        <a:off x="1122067" y="3382536"/>
        <a:ext cx="4566234" cy="1347820"/>
      </dsp:txXfrm>
    </dsp:sp>
    <dsp:sp modelId="{2C2D6700-F9E2-419D-A3B1-CFD326E1B431}">
      <dsp:nvSpPr>
        <dsp:cNvPr id="0" name=""/>
        <dsp:cNvSpPr/>
      </dsp:nvSpPr>
      <dsp:spPr>
        <a:xfrm>
          <a:off x="5190168" y="1085695"/>
          <a:ext cx="930596" cy="930596"/>
        </a:xfrm>
        <a:prstGeom prst="downArrow">
          <a:avLst>
            <a:gd name="adj1" fmla="val 55000"/>
            <a:gd name="adj2" fmla="val 45000"/>
          </a:avLst>
        </a:prstGeom>
        <a:solidFill>
          <a:schemeClr val="tx2">
            <a:lumMod val="40000"/>
            <a:lumOff val="60000"/>
            <a:alpha val="9000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399552" y="1085695"/>
        <a:ext cx="511828" cy="700273"/>
      </dsp:txXfrm>
    </dsp:sp>
    <dsp:sp modelId="{E19FFCAD-5459-4551-AA28-93DC8FAA7860}">
      <dsp:nvSpPr>
        <dsp:cNvPr id="0" name=""/>
        <dsp:cNvSpPr/>
      </dsp:nvSpPr>
      <dsp:spPr>
        <a:xfrm>
          <a:off x="5730235" y="2746452"/>
          <a:ext cx="930596" cy="930596"/>
        </a:xfrm>
        <a:prstGeom prst="downArrow">
          <a:avLst>
            <a:gd name="adj1" fmla="val 55000"/>
            <a:gd name="adj2" fmla="val 45000"/>
          </a:avLst>
        </a:prstGeom>
        <a:solidFill>
          <a:schemeClr val="tx2">
            <a:lumMod val="20000"/>
            <a:lumOff val="80000"/>
            <a:alpha val="85098"/>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939619" y="2746452"/>
        <a:ext cx="511828" cy="7002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2C90C-1EDF-4132-9B14-DD7D794E78DD}">
      <dsp:nvSpPr>
        <dsp:cNvPr id="0" name=""/>
        <dsp:cNvSpPr/>
      </dsp:nvSpPr>
      <dsp:spPr>
        <a:xfrm>
          <a:off x="0" y="0"/>
          <a:ext cx="94098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9179E95-1DF6-40D5-A0C6-6D7C4B968298}">
      <dsp:nvSpPr>
        <dsp:cNvPr id="0" name=""/>
        <dsp:cNvSpPr/>
      </dsp:nvSpPr>
      <dsp:spPr>
        <a:xfrm>
          <a:off x="0" y="0"/>
          <a:ext cx="1881962" cy="4667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i="1" kern="1200" dirty="0">
              <a:solidFill>
                <a:schemeClr val="accent2">
                  <a:lumMod val="75000"/>
                </a:schemeClr>
              </a:solidFill>
            </a:rPr>
            <a:t>User knows what they want — the site needs to get out of the way.</a:t>
          </a:r>
        </a:p>
      </dsp:txBody>
      <dsp:txXfrm>
        <a:off x="0" y="0"/>
        <a:ext cx="1881962" cy="4667250"/>
      </dsp:txXfrm>
    </dsp:sp>
    <dsp:sp modelId="{199C02EE-DEC8-4750-A8BB-C51D80DE506D}">
      <dsp:nvSpPr>
        <dsp:cNvPr id="0" name=""/>
        <dsp:cNvSpPr/>
      </dsp:nvSpPr>
      <dsp:spPr>
        <a:xfrm>
          <a:off x="2023110" y="43983"/>
          <a:ext cx="7386703" cy="879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Category labels must be </a:t>
          </a:r>
          <a:r>
            <a:rPr lang="en-US" sz="1900" b="1" kern="1200" dirty="0">
              <a:solidFill>
                <a:schemeClr val="accent5">
                  <a:lumMod val="75000"/>
                </a:schemeClr>
              </a:solidFill>
            </a:rPr>
            <a:t>precise</a:t>
          </a:r>
          <a:r>
            <a:rPr lang="en-US" sz="1900" kern="1200" dirty="0"/>
            <a:t> and </a:t>
          </a:r>
          <a:r>
            <a:rPr lang="en-US" sz="1900" b="1" kern="1200" dirty="0">
              <a:solidFill>
                <a:schemeClr val="accent5">
                  <a:lumMod val="75000"/>
                </a:schemeClr>
              </a:solidFill>
            </a:rPr>
            <a:t>mutually exclusive </a:t>
          </a:r>
          <a:r>
            <a:rPr lang="en-US" sz="1900" kern="1200" dirty="0"/>
            <a:t>— ambiguous or overlapping labels force the user to guess and backtrack</a:t>
          </a:r>
        </a:p>
      </dsp:txBody>
      <dsp:txXfrm>
        <a:off x="2023110" y="43983"/>
        <a:ext cx="7386703" cy="879667"/>
      </dsp:txXfrm>
    </dsp:sp>
    <dsp:sp modelId="{7F84BF2C-8FB2-4CF5-9B57-318D5C5B34F6}">
      <dsp:nvSpPr>
        <dsp:cNvPr id="0" name=""/>
        <dsp:cNvSpPr/>
      </dsp:nvSpPr>
      <dsp:spPr>
        <a:xfrm>
          <a:off x="1881962" y="923650"/>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A9436C7E-E2A5-48A6-88C8-6C3B21AD7C24}">
      <dsp:nvSpPr>
        <dsp:cNvPr id="0" name=""/>
        <dsp:cNvSpPr/>
      </dsp:nvSpPr>
      <dsp:spPr>
        <a:xfrm>
          <a:off x="2023110" y="967633"/>
          <a:ext cx="7386703" cy="879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Navigation </a:t>
          </a:r>
          <a:r>
            <a:rPr lang="en-US" sz="1900" b="1" kern="1200" dirty="0">
              <a:solidFill>
                <a:schemeClr val="accent5">
                  <a:lumMod val="75000"/>
                </a:schemeClr>
              </a:solidFill>
            </a:rPr>
            <a:t>depth over breadth </a:t>
          </a:r>
          <a:r>
            <a:rPr lang="en-US" sz="1900" kern="1200" dirty="0"/>
            <a:t>— a deeper hierarchy with specific labels is better than a wide, vague top-level menu</a:t>
          </a:r>
        </a:p>
      </dsp:txBody>
      <dsp:txXfrm>
        <a:off x="2023110" y="967633"/>
        <a:ext cx="7386703" cy="879667"/>
      </dsp:txXfrm>
    </dsp:sp>
    <dsp:sp modelId="{0959C976-026B-455F-9AC5-82C79C221CCB}">
      <dsp:nvSpPr>
        <dsp:cNvPr id="0" name=""/>
        <dsp:cNvSpPr/>
      </dsp:nvSpPr>
      <dsp:spPr>
        <a:xfrm>
          <a:off x="1881962" y="1847301"/>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E1D3734C-F460-4FF7-8736-7D1DCA93BAED}">
      <dsp:nvSpPr>
        <dsp:cNvPr id="0" name=""/>
        <dsp:cNvSpPr/>
      </dsp:nvSpPr>
      <dsp:spPr>
        <a:xfrm>
          <a:off x="2023110" y="1891284"/>
          <a:ext cx="7386703" cy="879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Utility navigation </a:t>
          </a:r>
          <a:r>
            <a:rPr lang="en-US" sz="1900" kern="1200" dirty="0"/>
            <a:t>(e.g., top-right links for Login, Contact, Hours) for highly specific, frequently sought items that don't fit the main taxonomy</a:t>
          </a:r>
        </a:p>
      </dsp:txBody>
      <dsp:txXfrm>
        <a:off x="2023110" y="1891284"/>
        <a:ext cx="7386703" cy="879667"/>
      </dsp:txXfrm>
    </dsp:sp>
    <dsp:sp modelId="{C3276E96-EB30-4580-9106-461598C1C1E7}">
      <dsp:nvSpPr>
        <dsp:cNvPr id="0" name=""/>
        <dsp:cNvSpPr/>
      </dsp:nvSpPr>
      <dsp:spPr>
        <a:xfrm>
          <a:off x="1881962" y="2770951"/>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9FFC7036-4E71-48C3-9920-C9E45EDFA657}">
      <dsp:nvSpPr>
        <dsp:cNvPr id="0" name=""/>
        <dsp:cNvSpPr/>
      </dsp:nvSpPr>
      <dsp:spPr>
        <a:xfrm>
          <a:off x="2023110" y="2814935"/>
          <a:ext cx="7386703" cy="879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Consistent, </a:t>
          </a:r>
          <a:r>
            <a:rPr lang="en-US" sz="1900" b="1" kern="1200" dirty="0">
              <a:solidFill>
                <a:schemeClr val="accent5">
                  <a:lumMod val="75000"/>
                </a:schemeClr>
              </a:solidFill>
            </a:rPr>
            <a:t>literal labeling </a:t>
          </a:r>
          <a:r>
            <a:rPr lang="en-US" sz="1900" kern="1200" dirty="0"/>
            <a:t>— avoid clever/branded category names; users scanning for a known item need labels that match their mental model</a:t>
          </a:r>
        </a:p>
      </dsp:txBody>
      <dsp:txXfrm>
        <a:off x="2023110" y="2814935"/>
        <a:ext cx="7386703" cy="879667"/>
      </dsp:txXfrm>
    </dsp:sp>
    <dsp:sp modelId="{EF21FEA6-7038-4032-984F-052F90C4DADF}">
      <dsp:nvSpPr>
        <dsp:cNvPr id="0" name=""/>
        <dsp:cNvSpPr/>
      </dsp:nvSpPr>
      <dsp:spPr>
        <a:xfrm>
          <a:off x="1881962" y="3694602"/>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C8D7F805-408F-4A97-9EAE-5E8A04AADD14}">
      <dsp:nvSpPr>
        <dsp:cNvPr id="0" name=""/>
        <dsp:cNvSpPr/>
      </dsp:nvSpPr>
      <dsp:spPr>
        <a:xfrm>
          <a:off x="2023110" y="3738585"/>
          <a:ext cx="7386703" cy="8796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Page layout: </a:t>
          </a:r>
          <a:r>
            <a:rPr lang="en-US" sz="1900" b="1" kern="1200" dirty="0">
              <a:solidFill>
                <a:schemeClr val="accent5">
                  <a:lumMod val="75000"/>
                </a:schemeClr>
              </a:solidFill>
            </a:rPr>
            <a:t>answer-first</a:t>
          </a:r>
          <a:r>
            <a:rPr lang="en-US" sz="1900" kern="1200" dirty="0"/>
            <a:t> — lead with the key fact, spec, or definition; supporting context follows below</a:t>
          </a:r>
        </a:p>
      </dsp:txBody>
      <dsp:txXfrm>
        <a:off x="2023110" y="3738585"/>
        <a:ext cx="7386703" cy="879667"/>
      </dsp:txXfrm>
    </dsp:sp>
    <dsp:sp modelId="{832A5ACC-4C56-4248-8A0D-C5E79D60A139}">
      <dsp:nvSpPr>
        <dsp:cNvPr id="0" name=""/>
        <dsp:cNvSpPr/>
      </dsp:nvSpPr>
      <dsp:spPr>
        <a:xfrm>
          <a:off x="1881962" y="4618252"/>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2C90C-1EDF-4132-9B14-DD7D794E78DD}">
      <dsp:nvSpPr>
        <dsp:cNvPr id="0" name=""/>
        <dsp:cNvSpPr/>
      </dsp:nvSpPr>
      <dsp:spPr>
        <a:xfrm>
          <a:off x="0" y="2278"/>
          <a:ext cx="94098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9179E95-1DF6-40D5-A0C6-6D7C4B968298}">
      <dsp:nvSpPr>
        <dsp:cNvPr id="0" name=""/>
        <dsp:cNvSpPr/>
      </dsp:nvSpPr>
      <dsp:spPr>
        <a:xfrm>
          <a:off x="0" y="2278"/>
          <a:ext cx="1881962" cy="4662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i="1" kern="1200" dirty="0">
              <a:solidFill>
                <a:srgbClr val="5D8592"/>
              </a:solidFill>
            </a:rPr>
            <a:t>User has a vague goal — the site should help them discover and refine it.</a:t>
          </a:r>
          <a:endParaRPr lang="en-US" sz="2700" b="1" i="1" kern="1200" dirty="0">
            <a:solidFill>
              <a:schemeClr val="accent2">
                <a:lumMod val="75000"/>
              </a:schemeClr>
            </a:solidFill>
          </a:endParaRPr>
        </a:p>
      </dsp:txBody>
      <dsp:txXfrm>
        <a:off x="0" y="2278"/>
        <a:ext cx="1881962" cy="4662692"/>
      </dsp:txXfrm>
    </dsp:sp>
    <dsp:sp modelId="{199C02EE-DEC8-4750-A8BB-C51D80DE506D}">
      <dsp:nvSpPr>
        <dsp:cNvPr id="0" name=""/>
        <dsp:cNvSpPr/>
      </dsp:nvSpPr>
      <dsp:spPr>
        <a:xfrm>
          <a:off x="2023110" y="46219"/>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Broad, inviting top-level categories — </a:t>
          </a:r>
          <a:r>
            <a:rPr lang="en-US" sz="1900" b="1" kern="1200" dirty="0">
              <a:solidFill>
                <a:schemeClr val="accent5">
                  <a:lumMod val="75000"/>
                </a:schemeClr>
              </a:solidFill>
            </a:rPr>
            <a:t>fewer, wider buckets at the top </a:t>
          </a:r>
          <a:r>
            <a:rPr lang="en-US" sz="1900" kern="1200" dirty="0"/>
            <a:t>level reduce the commitment required to start browsing</a:t>
          </a:r>
        </a:p>
      </dsp:txBody>
      <dsp:txXfrm>
        <a:off x="2023110" y="46219"/>
        <a:ext cx="7386703" cy="878808"/>
      </dsp:txXfrm>
    </dsp:sp>
    <dsp:sp modelId="{7F84BF2C-8FB2-4CF5-9B57-318D5C5B34F6}">
      <dsp:nvSpPr>
        <dsp:cNvPr id="0" name=""/>
        <dsp:cNvSpPr/>
      </dsp:nvSpPr>
      <dsp:spPr>
        <a:xfrm>
          <a:off x="1881962" y="925027"/>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A9436C7E-E2A5-48A6-88C8-6C3B21AD7C24}">
      <dsp:nvSpPr>
        <dsp:cNvPr id="0" name=""/>
        <dsp:cNvSpPr/>
      </dsp:nvSpPr>
      <dsp:spPr>
        <a:xfrm>
          <a:off x="2023110" y="968967"/>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Hub/landing pages per category </a:t>
          </a:r>
          <a:r>
            <a:rPr lang="en-US" sz="1900" kern="1200" dirty="0"/>
            <a:t>with </a:t>
          </a:r>
          <a:r>
            <a:rPr lang="en-US" sz="1900" b="1" kern="1200" dirty="0">
              <a:solidFill>
                <a:schemeClr val="accent5">
                  <a:lumMod val="75000"/>
                </a:schemeClr>
              </a:solidFill>
            </a:rPr>
            <a:t>short descriptions of sub-categories </a:t>
          </a:r>
          <a:r>
            <a:rPr lang="en-US" sz="1900" kern="1200" dirty="0"/>
            <a:t>— don't just show a list of links, give users enough context to orient</a:t>
          </a:r>
        </a:p>
      </dsp:txBody>
      <dsp:txXfrm>
        <a:off x="2023110" y="968967"/>
        <a:ext cx="7386703" cy="878808"/>
      </dsp:txXfrm>
    </dsp:sp>
    <dsp:sp modelId="{0959C976-026B-455F-9AC5-82C79C221CCB}">
      <dsp:nvSpPr>
        <dsp:cNvPr id="0" name=""/>
        <dsp:cNvSpPr/>
      </dsp:nvSpPr>
      <dsp:spPr>
        <a:xfrm>
          <a:off x="1881962" y="1847776"/>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E1D3734C-F460-4FF7-8736-7D1DCA93BAED}">
      <dsp:nvSpPr>
        <dsp:cNvPr id="0" name=""/>
        <dsp:cNvSpPr/>
      </dsp:nvSpPr>
      <dsp:spPr>
        <a:xfrm>
          <a:off x="2023110" y="1891716"/>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Cross-links</a:t>
          </a:r>
          <a:r>
            <a:rPr lang="en-US" sz="1900" kern="1200" dirty="0"/>
            <a:t> and </a:t>
          </a:r>
          <a:r>
            <a:rPr lang="en-US" sz="1900" kern="1200" dirty="0">
              <a:solidFill>
                <a:schemeClr val="accent5">
                  <a:lumMod val="75000"/>
                </a:schemeClr>
              </a:solidFill>
            </a:rPr>
            <a:t>"</a:t>
          </a:r>
          <a:r>
            <a:rPr lang="en-US" sz="1900" b="1" kern="1200" dirty="0">
              <a:solidFill>
                <a:schemeClr val="accent5">
                  <a:lumMod val="75000"/>
                </a:schemeClr>
              </a:solidFill>
            </a:rPr>
            <a:t>see also</a:t>
          </a:r>
          <a:r>
            <a:rPr lang="en-US" sz="1900" kern="1200" dirty="0">
              <a:solidFill>
                <a:schemeClr val="accent5">
                  <a:lumMod val="75000"/>
                </a:schemeClr>
              </a:solidFill>
            </a:rPr>
            <a:t>" </a:t>
          </a:r>
          <a:r>
            <a:rPr lang="en-US" sz="1900" kern="1200" dirty="0"/>
            <a:t>relationships embedded in navigation </a:t>
          </a:r>
          <a:r>
            <a:rPr lang="en-US" sz="1900" b="1" kern="1200" dirty="0">
              <a:solidFill>
                <a:schemeClr val="accent5">
                  <a:lumMod val="75000"/>
                </a:schemeClr>
              </a:solidFill>
            </a:rPr>
            <a:t>and page content</a:t>
          </a:r>
          <a:r>
            <a:rPr lang="en-US" sz="1900" kern="1200" dirty="0"/>
            <a:t> — support lateral movement between adjacent topics</a:t>
          </a:r>
        </a:p>
      </dsp:txBody>
      <dsp:txXfrm>
        <a:off x="2023110" y="1891716"/>
        <a:ext cx="7386703" cy="878808"/>
      </dsp:txXfrm>
    </dsp:sp>
    <dsp:sp modelId="{C3276E96-EB30-4580-9106-461598C1C1E7}">
      <dsp:nvSpPr>
        <dsp:cNvPr id="0" name=""/>
        <dsp:cNvSpPr/>
      </dsp:nvSpPr>
      <dsp:spPr>
        <a:xfrm>
          <a:off x="1881962" y="2770524"/>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9FFC7036-4E71-48C3-9920-C9E45EDFA657}">
      <dsp:nvSpPr>
        <dsp:cNvPr id="0" name=""/>
        <dsp:cNvSpPr/>
      </dsp:nvSpPr>
      <dsp:spPr>
        <a:xfrm>
          <a:off x="2023110" y="2752895"/>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Page layout: </a:t>
          </a:r>
          <a:r>
            <a:rPr lang="en-US" sz="1900" b="1" kern="1200" dirty="0">
              <a:solidFill>
                <a:schemeClr val="accent5">
                  <a:lumMod val="75000"/>
                </a:schemeClr>
              </a:solidFill>
            </a:rPr>
            <a:t>overview before detail </a:t>
          </a:r>
          <a:r>
            <a:rPr lang="en-US" sz="1900" kern="1200" dirty="0"/>
            <a:t>— lead with summaries, use progressive disclosure to reveal depth; card-based or thumbnail-heavy layouts lower the cost of scanning</a:t>
          </a:r>
        </a:p>
      </dsp:txBody>
      <dsp:txXfrm>
        <a:off x="2023110" y="2752895"/>
        <a:ext cx="7386703" cy="878808"/>
      </dsp:txXfrm>
    </dsp:sp>
    <dsp:sp modelId="{EF21FEA6-7038-4032-984F-052F90C4DADF}">
      <dsp:nvSpPr>
        <dsp:cNvPr id="0" name=""/>
        <dsp:cNvSpPr/>
      </dsp:nvSpPr>
      <dsp:spPr>
        <a:xfrm>
          <a:off x="1881962" y="3693273"/>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C8D7F805-408F-4A97-9EAE-5E8A04AADD14}">
      <dsp:nvSpPr>
        <dsp:cNvPr id="0" name=""/>
        <dsp:cNvSpPr/>
      </dsp:nvSpPr>
      <dsp:spPr>
        <a:xfrm>
          <a:off x="2023110" y="3737213"/>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Visual affordances that </a:t>
          </a:r>
          <a:r>
            <a:rPr lang="en-US" sz="1900" b="1" kern="1200" dirty="0">
              <a:solidFill>
                <a:schemeClr val="accent5">
                  <a:lumMod val="75000"/>
                </a:schemeClr>
              </a:solidFill>
            </a:rPr>
            <a:t>signal "there's more" </a:t>
          </a:r>
          <a:r>
            <a:rPr lang="en-US" sz="1900" kern="1200" dirty="0"/>
            <a:t>— clear section breaks, </a:t>
          </a:r>
          <a:r>
            <a:rPr lang="en-US" sz="1900" b="1" kern="1200" dirty="0">
              <a:solidFill>
                <a:schemeClr val="accent5">
                  <a:lumMod val="75000"/>
                </a:schemeClr>
              </a:solidFill>
            </a:rPr>
            <a:t>teaser text</a:t>
          </a:r>
          <a:r>
            <a:rPr lang="en-US" sz="1900" kern="1200" dirty="0"/>
            <a:t>, "browse all" links</a:t>
          </a:r>
        </a:p>
      </dsp:txBody>
      <dsp:txXfrm>
        <a:off x="2023110" y="3737213"/>
        <a:ext cx="7386703" cy="878808"/>
      </dsp:txXfrm>
    </dsp:sp>
    <dsp:sp modelId="{832A5ACC-4C56-4248-8A0D-C5E79D60A139}">
      <dsp:nvSpPr>
        <dsp:cNvPr id="0" name=""/>
        <dsp:cNvSpPr/>
      </dsp:nvSpPr>
      <dsp:spPr>
        <a:xfrm>
          <a:off x="1881962" y="4616021"/>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42C90C-1EDF-4132-9B14-DD7D794E78DD}">
      <dsp:nvSpPr>
        <dsp:cNvPr id="0" name=""/>
        <dsp:cNvSpPr/>
      </dsp:nvSpPr>
      <dsp:spPr>
        <a:xfrm>
          <a:off x="0" y="2278"/>
          <a:ext cx="9409814" cy="0"/>
        </a:xfrm>
        <a:prstGeom prst="line">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9179E95-1DF6-40D5-A0C6-6D7C4B968298}">
      <dsp:nvSpPr>
        <dsp:cNvPr id="0" name=""/>
        <dsp:cNvSpPr/>
      </dsp:nvSpPr>
      <dsp:spPr>
        <a:xfrm>
          <a:off x="0" y="2278"/>
          <a:ext cx="1881962" cy="46626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1" kern="1200" dirty="0">
              <a:solidFill>
                <a:schemeClr val="accent2">
                  <a:lumMod val="75000"/>
                </a:schemeClr>
              </a:solidFill>
            </a:rPr>
            <a:t>Most of the time, we want to avoid extremes. Our websites will serve both known-info seekers &amp; explorers</a:t>
          </a:r>
        </a:p>
      </dsp:txBody>
      <dsp:txXfrm>
        <a:off x="0" y="2278"/>
        <a:ext cx="1881962" cy="4662692"/>
      </dsp:txXfrm>
    </dsp:sp>
    <dsp:sp modelId="{199C02EE-DEC8-4750-A8BB-C51D80DE506D}">
      <dsp:nvSpPr>
        <dsp:cNvPr id="0" name=""/>
        <dsp:cNvSpPr/>
      </dsp:nvSpPr>
      <dsp:spPr>
        <a:xfrm>
          <a:off x="2023110" y="46219"/>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Keep the nav precise; do the exploratory work inside the page </a:t>
          </a:r>
          <a:r>
            <a:rPr lang="en-US" sz="1900" kern="1200" dirty="0"/>
            <a:t>— Navigation labels should be literal and stable. Hub pages, descriptions, cards, &amp; cross-links handle discovery without polluting the hierarchy.</a:t>
          </a:r>
        </a:p>
      </dsp:txBody>
      <dsp:txXfrm>
        <a:off x="2023110" y="46219"/>
        <a:ext cx="7386703" cy="878808"/>
      </dsp:txXfrm>
    </dsp:sp>
    <dsp:sp modelId="{7F84BF2C-8FB2-4CF5-9B57-318D5C5B34F6}">
      <dsp:nvSpPr>
        <dsp:cNvPr id="0" name=""/>
        <dsp:cNvSpPr/>
      </dsp:nvSpPr>
      <dsp:spPr>
        <a:xfrm>
          <a:off x="1881962" y="925027"/>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A9436C7E-E2A5-48A6-88C8-6C3B21AD7C24}">
      <dsp:nvSpPr>
        <dsp:cNvPr id="0" name=""/>
        <dsp:cNvSpPr/>
      </dsp:nvSpPr>
      <dsp:spPr>
        <a:xfrm>
          <a:off x="2023110" y="968967"/>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Offer dual entry points on the homepage </a:t>
          </a:r>
          <a:r>
            <a:rPr lang="en-US" sz="1900" kern="1200" dirty="0"/>
            <a:t>— A direct pathway ("I know what I need") alongside a discovery pathway ("Show me what's here"). Neither should dominate.</a:t>
          </a:r>
        </a:p>
      </dsp:txBody>
      <dsp:txXfrm>
        <a:off x="2023110" y="968967"/>
        <a:ext cx="7386703" cy="878808"/>
      </dsp:txXfrm>
    </dsp:sp>
    <dsp:sp modelId="{0959C976-026B-455F-9AC5-82C79C221CCB}">
      <dsp:nvSpPr>
        <dsp:cNvPr id="0" name=""/>
        <dsp:cNvSpPr/>
      </dsp:nvSpPr>
      <dsp:spPr>
        <a:xfrm>
          <a:off x="1881962" y="1847776"/>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E1D3734C-F460-4FF7-8736-7D1DCA93BAED}">
      <dsp:nvSpPr>
        <dsp:cNvPr id="0" name=""/>
        <dsp:cNvSpPr/>
      </dsp:nvSpPr>
      <dsp:spPr>
        <a:xfrm>
          <a:off x="2023110" y="1891716"/>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Progressive disclosure serves both modes at once</a:t>
          </a:r>
          <a:r>
            <a:rPr lang="en-US" sz="1900" kern="1200" dirty="0">
              <a:solidFill>
                <a:schemeClr val="accent5">
                  <a:lumMod val="75000"/>
                </a:schemeClr>
              </a:solidFill>
            </a:rPr>
            <a:t> </a:t>
          </a:r>
          <a:r>
            <a:rPr lang="en-US" sz="1900" kern="1200" dirty="0"/>
            <a:t>— Lead w/ a clear, scannable answer or summary (known-item users stop here), then follow w/ context, related content, &amp; deeper sections (explorers keep going).</a:t>
          </a:r>
        </a:p>
      </dsp:txBody>
      <dsp:txXfrm>
        <a:off x="2023110" y="1891716"/>
        <a:ext cx="7386703" cy="878808"/>
      </dsp:txXfrm>
    </dsp:sp>
    <dsp:sp modelId="{C3276E96-EB30-4580-9106-461598C1C1E7}">
      <dsp:nvSpPr>
        <dsp:cNvPr id="0" name=""/>
        <dsp:cNvSpPr/>
      </dsp:nvSpPr>
      <dsp:spPr>
        <a:xfrm>
          <a:off x="1881962" y="2770524"/>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9FFC7036-4E71-48C3-9920-C9E45EDFA657}">
      <dsp:nvSpPr>
        <dsp:cNvPr id="0" name=""/>
        <dsp:cNvSpPr/>
      </dsp:nvSpPr>
      <dsp:spPr>
        <a:xfrm>
          <a:off x="2023110" y="2814465"/>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Sub-labels beneath nav items </a:t>
          </a:r>
          <a:r>
            <a:rPr lang="en-US" sz="1900" kern="1200" dirty="0"/>
            <a:t>— A precise label ("Tuition &amp; Fees") plus a brief descriptor ("Deadlines, payment plans, fee schedules") gives known-item users the literal match they need &amp; explorers the context to orient.</a:t>
          </a:r>
        </a:p>
      </dsp:txBody>
      <dsp:txXfrm>
        <a:off x="2023110" y="2814465"/>
        <a:ext cx="7386703" cy="878808"/>
      </dsp:txXfrm>
    </dsp:sp>
    <dsp:sp modelId="{EF21FEA6-7038-4032-984F-052F90C4DADF}">
      <dsp:nvSpPr>
        <dsp:cNvPr id="0" name=""/>
        <dsp:cNvSpPr/>
      </dsp:nvSpPr>
      <dsp:spPr>
        <a:xfrm>
          <a:off x="1881962" y="3693273"/>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 modelId="{C8D7F805-408F-4A97-9EAE-5E8A04AADD14}">
      <dsp:nvSpPr>
        <dsp:cNvPr id="0" name=""/>
        <dsp:cNvSpPr/>
      </dsp:nvSpPr>
      <dsp:spPr>
        <a:xfrm>
          <a:off x="2023110" y="3737213"/>
          <a:ext cx="7386703" cy="878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1" kern="1200" dirty="0">
              <a:solidFill>
                <a:schemeClr val="accent5">
                  <a:lumMod val="75000"/>
                </a:schemeClr>
              </a:solidFill>
            </a:rPr>
            <a:t>Consistent page structure, main nav is best </a:t>
          </a:r>
          <a:r>
            <a:rPr lang="en-US" sz="1900" kern="1200" dirty="0"/>
            <a:t>— Predictable placement of nav, breadcrumbs, and landmarks helps returning users </a:t>
          </a:r>
          <a:r>
            <a:rPr lang="en-US" sz="1900" b="1" i="1" kern="1200" dirty="0" err="1"/>
            <a:t>refind</a:t>
          </a:r>
          <a:r>
            <a:rPr lang="en-US" sz="1900" kern="1200" dirty="0"/>
            <a:t> things and new users orient — both benefit equally.</a:t>
          </a:r>
        </a:p>
      </dsp:txBody>
      <dsp:txXfrm>
        <a:off x="2023110" y="3737213"/>
        <a:ext cx="7386703" cy="878808"/>
      </dsp:txXfrm>
    </dsp:sp>
    <dsp:sp modelId="{832A5ACC-4C56-4248-8A0D-C5E79D60A139}">
      <dsp:nvSpPr>
        <dsp:cNvPr id="0" name=""/>
        <dsp:cNvSpPr/>
      </dsp:nvSpPr>
      <dsp:spPr>
        <a:xfrm>
          <a:off x="1881962" y="4616021"/>
          <a:ext cx="7527851" cy="0"/>
        </a:xfrm>
        <a:prstGeom prst="line">
          <a:avLst/>
        </a:prstGeom>
        <a:solidFill>
          <a:schemeClr val="dk2">
            <a:hueOff val="0"/>
            <a:satOff val="0"/>
            <a:lumOff val="0"/>
            <a:alphaOff val="0"/>
          </a:schemeClr>
        </a:solidFill>
        <a:ln w="19050" cap="flat" cmpd="sng" algn="ctr">
          <a:solidFill>
            <a:schemeClr val="dk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048DB8-E0CE-4AE3-A5C9-E39E57A715DD}" type="datetimeFigureOut">
              <a:rPr lang="en-US" smtClean="0"/>
              <a:t>8/7/2026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5D01150-3591-4FC8-A83B-AD32415AD0A9}" type="slidenum">
              <a:rPr lang="en-US" smtClean="0"/>
              <a:t>‹#›</a:t>
            </a:fld>
            <a:endParaRPr lang="en-US"/>
          </a:p>
        </p:txBody>
      </p:sp>
    </p:spTree>
    <p:extLst>
      <p:ext uri="{BB962C8B-B14F-4D97-AF65-F5344CB8AC3E}">
        <p14:creationId xmlns:p14="http://schemas.microsoft.com/office/powerpoint/2010/main" val="3942037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C5A10F-CF37-4AC7-82BD-75A953686F83}" type="datetimeFigureOut">
              <a:rPr lang="en-US" smtClean="0"/>
              <a:t>8/7/2026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F5FE12-90FA-47AA-A354-9C8BF1C8A060}" type="slidenum">
              <a:rPr lang="en-US" smtClean="0"/>
              <a:t>‹#›</a:t>
            </a:fld>
            <a:endParaRPr lang="en-US" dirty="0"/>
          </a:p>
        </p:txBody>
      </p:sp>
    </p:spTree>
    <p:extLst>
      <p:ext uri="{BB962C8B-B14F-4D97-AF65-F5344CB8AC3E}">
        <p14:creationId xmlns:p14="http://schemas.microsoft.com/office/powerpoint/2010/main" val="4104964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w3schools.com/html/html5_semantic_elements.asp"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www.w3schools.com/css/css_navbar.asp" TargetMode="External"/><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a:r>
            <a:r>
              <a:rPr lang="en-US" dirty="0">
                <a:hlinkClick r:id="rId3"/>
              </a:rPr>
              <a:t>http://www.w3schools.com/html/html5_semantic_elements.asp</a:t>
            </a:r>
            <a:endParaRPr lang="en-US" dirty="0"/>
          </a:p>
        </p:txBody>
      </p:sp>
      <p:sp>
        <p:nvSpPr>
          <p:cNvPr id="4" name="Slide Number Placeholder 3"/>
          <p:cNvSpPr>
            <a:spLocks noGrp="1"/>
          </p:cNvSpPr>
          <p:nvPr>
            <p:ph type="sldNum" sz="quarter" idx="10"/>
          </p:nvPr>
        </p:nvSpPr>
        <p:spPr/>
        <p:txBody>
          <a:bodyPr/>
          <a:lstStyle/>
          <a:p>
            <a:fld id="{EA81EC36-1CDF-4D9C-9548-B94DCA498DF3}" type="slidenum">
              <a:rPr lang="en-US" smtClean="0"/>
              <a:t>4</a:t>
            </a:fld>
            <a:endParaRPr lang="en-US"/>
          </a:p>
        </p:txBody>
      </p:sp>
    </p:spTree>
    <p:extLst>
      <p:ext uri="{BB962C8B-B14F-4D97-AF65-F5344CB8AC3E}">
        <p14:creationId xmlns:p14="http://schemas.microsoft.com/office/powerpoint/2010/main" val="3220442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F5FE12-90FA-47AA-A354-9C8BF1C8A060}" type="slidenum">
              <a:rPr lang="en-US" smtClean="0"/>
              <a:t>14</a:t>
            </a:fld>
            <a:endParaRPr lang="en-US" dirty="0"/>
          </a:p>
        </p:txBody>
      </p:sp>
    </p:spTree>
    <p:extLst>
      <p:ext uri="{BB962C8B-B14F-4D97-AF65-F5344CB8AC3E}">
        <p14:creationId xmlns:p14="http://schemas.microsoft.com/office/powerpoint/2010/main" val="2953266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2149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0B1AD-2D0A-730D-F958-70F0371BC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5525EC-7AEE-A469-2EFE-2C4C8E53E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4910EE-5237-8470-AC33-E801470787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85F8D7-0CF6-D811-12D7-BDD6E5A048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7593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90405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E2493-0946-8A42-6154-5C363EFDB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DB516-3539-B6C3-C034-524E3B2BA9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9EC1FD-C169-03AE-F6FB-D808E99A96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CA9B4F-41A9-2EA5-4056-AB521E5B7A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8474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7740E-92D1-FFCE-50E5-C1CF62492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BD674-9EE5-C796-87BF-39E9650EED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CA57A-78E1-8B70-D234-5D7C927A37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6B6369-311F-FB1C-AE62-5B82DBFBB6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9735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2739D-3137-CBE9-2AFE-BDA9C6108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230B2-61CE-9D8A-38F3-FF88B9ECB2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AA5CF-DFC5-B8D6-13C8-1685007267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519E6E-2BDC-F833-5A96-A9C132650D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05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EC944-6D69-7DEE-EECC-346A38A38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6AE0D-64E5-95B4-0E9B-567100EF06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099DC2-7391-BCDC-283A-AD70C3F50E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DBBE6B-54F6-E9A4-6A05-982461B3843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36262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r" defTabSz="931863" rtl="0" eaLnBrk="1" fontAlgn="auto" latinLnBrk="0" hangingPunct="1">
              <a:lnSpc>
                <a:spcPct val="100000"/>
              </a:lnSpc>
              <a:spcBef>
                <a:spcPts val="0"/>
              </a:spcBef>
              <a:spcAft>
                <a:spcPts val="0"/>
              </a:spcAft>
              <a:buClrTx/>
              <a:buSzTx/>
              <a:buFontTx/>
              <a:buNone/>
              <a:tabLst/>
              <a:defRPr/>
            </a:pPr>
            <a:fld id="{11CD0195-5250-49AE-A2AE-5893A4012F0C}"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31863" rtl="0" eaLnBrk="1" fontAlgn="auto" latinLnBrk="0" hangingPunct="1">
                <a:lnSpc>
                  <a:spcPct val="100000"/>
                </a:lnSpc>
                <a:spcBef>
                  <a:spcPts val="0"/>
                </a:spcBef>
                <a:spcAft>
                  <a:spcPts val="0"/>
                </a:spcAft>
                <a:buClrTx/>
                <a:buSzTx/>
                <a:buFontTx/>
                <a:buNone/>
                <a:tabLst/>
                <a:defRPr/>
              </a:pPr>
              <a:t>37</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56255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67466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a:extLst>
            <a:ext uri="{FF2B5EF4-FFF2-40B4-BE49-F238E27FC236}">
              <a16:creationId xmlns:a16="http://schemas.microsoft.com/office/drawing/2014/main" id="{E96C2624-3AAF-2C57-D82D-9E747FB90BB7}"/>
            </a:ext>
          </a:extLst>
        </p:cNvPr>
        <p:cNvGrpSpPr/>
        <p:nvPr/>
      </p:nvGrpSpPr>
      <p:grpSpPr>
        <a:xfrm>
          <a:off x="0" y="0"/>
          <a:ext cx="0" cy="0"/>
          <a:chOff x="0" y="0"/>
          <a:chExt cx="0" cy="0"/>
        </a:xfrm>
      </p:grpSpPr>
      <p:sp>
        <p:nvSpPr>
          <p:cNvPr id="359" name="Google Shape;359;p11:notes">
            <a:extLst>
              <a:ext uri="{FF2B5EF4-FFF2-40B4-BE49-F238E27FC236}">
                <a16:creationId xmlns:a16="http://schemas.microsoft.com/office/drawing/2014/main" id="{D98A1AD6-E017-4C0E-65D8-8752501501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11:notes">
            <a:extLst>
              <a:ext uri="{FF2B5EF4-FFF2-40B4-BE49-F238E27FC236}">
                <a16:creationId xmlns:a16="http://schemas.microsoft.com/office/drawing/2014/main" id="{EAEC92FD-2570-C568-1DC3-EE740F658FF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61" name="Google Shape;361;p11:notes">
            <a:extLst>
              <a:ext uri="{FF2B5EF4-FFF2-40B4-BE49-F238E27FC236}">
                <a16:creationId xmlns:a16="http://schemas.microsoft.com/office/drawing/2014/main" id="{11218CA8-5E7C-E83B-FE26-4747A3761DC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Pts val="1400"/>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Pts val="1400"/>
                <a:buFontTx/>
                <a:buNone/>
                <a:tabLst/>
                <a:defRPr/>
              </a:pPr>
              <a:t>41</a:t>
            </a:fld>
            <a:endParaRPr kumimoji="0"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00627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68863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71D9E-0D6A-051F-E864-9BCD2C5C6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A0325-C077-C8CB-8F1F-4D6BE2B2C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30DEE-CA8E-2ABC-87CB-E701C2D996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8DDFE-2D5D-F25B-435A-6BF96321B5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14935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F0922-C544-230D-D9C8-336F16612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FC78F-C9E5-A3B0-E304-91F41E4F9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72381-54B0-EFD3-EFD1-70639237DF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47BF67-BE39-2B9C-C7DA-F31040C859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817897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1965D-FD13-513D-BB72-FAEF37463B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43C5F-8C78-49A6-F002-4D0E71072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200767-7D03-FCC1-2173-3758A3C7F7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5F78F9-B15C-AE8C-5D16-B1E07B8FFC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143966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56267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r" defTabSz="931863" rtl="0" eaLnBrk="1" fontAlgn="auto" latinLnBrk="0" hangingPunct="1">
              <a:lnSpc>
                <a:spcPct val="100000"/>
              </a:lnSpc>
              <a:spcBef>
                <a:spcPts val="0"/>
              </a:spcBef>
              <a:spcAft>
                <a:spcPts val="0"/>
              </a:spcAft>
              <a:buClrTx/>
              <a:buSzTx/>
              <a:buFontTx/>
              <a:buNone/>
              <a:tabLst/>
              <a:defRPr/>
            </a:pPr>
            <a:fld id="{90598ACA-793A-4A20-9FB8-70E0A3473C15}"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31863" rtl="0" eaLnBrk="1" fontAlgn="auto" latinLnBrk="0" hangingPunct="1">
                <a:lnSpc>
                  <a:spcPct val="100000"/>
                </a:lnSpc>
                <a:spcBef>
                  <a:spcPts val="0"/>
                </a:spcBef>
                <a:spcAft>
                  <a:spcPts val="0"/>
                </a:spcAft>
                <a:buClrTx/>
                <a:buSzTx/>
                <a:buFontTx/>
                <a:buNone/>
                <a:tabLst/>
                <a:defRPr/>
              </a:pPr>
              <a:t>47</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200882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E8D5E-369D-4F28-A9ED-44E931434E7A}"/>
            </a:ext>
          </a:extLst>
        </p:cNvPr>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B8B98E35-71DD-868C-A757-B28EF0FBB95B}"/>
              </a:ext>
            </a:extLst>
          </p:cNvPr>
          <p:cNvSpPr>
            <a:spLocks noGrp="1" noRot="1" noChangeAspect="1" noTextEdit="1"/>
          </p:cNvSpPr>
          <p:nvPr>
            <p:ph type="sldImg"/>
          </p:nvPr>
        </p:nvSpPr>
        <p:spPr>
          <a:ln/>
        </p:spPr>
      </p:sp>
      <p:sp>
        <p:nvSpPr>
          <p:cNvPr id="47107" name="Notes Placeholder 2">
            <a:extLst>
              <a:ext uri="{FF2B5EF4-FFF2-40B4-BE49-F238E27FC236}">
                <a16:creationId xmlns:a16="http://schemas.microsoft.com/office/drawing/2014/main" id="{D7CE63AF-6E4B-0CEC-DB74-5C1D46B0F1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7108" name="Slide Number Placeholder 3">
            <a:extLst>
              <a:ext uri="{FF2B5EF4-FFF2-40B4-BE49-F238E27FC236}">
                <a16:creationId xmlns:a16="http://schemas.microsoft.com/office/drawing/2014/main" id="{3039172E-05BA-5704-D912-D8BD2A1B67E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r" defTabSz="931863" rtl="0" eaLnBrk="1" fontAlgn="auto" latinLnBrk="0" hangingPunct="1">
              <a:lnSpc>
                <a:spcPct val="100000"/>
              </a:lnSpc>
              <a:spcBef>
                <a:spcPts val="0"/>
              </a:spcBef>
              <a:spcAft>
                <a:spcPts val="0"/>
              </a:spcAft>
              <a:buClrTx/>
              <a:buSzTx/>
              <a:buFontTx/>
              <a:buNone/>
              <a:tabLst/>
              <a:defRPr/>
            </a:pPr>
            <a:fld id="{90598ACA-793A-4A20-9FB8-70E0A3473C15}"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31863" rtl="0" eaLnBrk="1" fontAlgn="auto" latinLnBrk="0" hangingPunct="1">
                <a:lnSpc>
                  <a:spcPct val="100000"/>
                </a:lnSpc>
                <a:spcBef>
                  <a:spcPts val="0"/>
                </a:spcBef>
                <a:spcAft>
                  <a:spcPts val="0"/>
                </a:spcAft>
                <a:buClrTx/>
                <a:buSzTx/>
                <a:buFontTx/>
                <a:buNone/>
                <a:tabLst/>
                <a:defRPr/>
              </a:pPr>
              <a:t>48</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683186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5283D-7351-612C-9E68-E4E23F19F5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4E65C-D0D8-DFA7-1568-95E26FBE30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400EE-D231-2479-0B5F-9DAAD8DD5A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0AD678-0E16-414F-779C-B65DBE1349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60475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5D49B-DAA2-887D-B3B2-F8DA5166E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628D98-025E-5D4F-B840-2C365BADE0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E22713-447F-034F-9994-73FDE00908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F73914-7E39-0B92-A501-FE3DEA3BDE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93283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116517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90672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842177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D069E-D60A-E769-5000-AD3CF5C67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095F4-00A9-9BE4-7303-F495F0A3C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84EA53-91A5-F340-B8F3-AEEB810D91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E0F948-4852-DDC0-1644-5117494A72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4476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r" defTabSz="931863" rtl="0" eaLnBrk="1" fontAlgn="auto" latinLnBrk="0" hangingPunct="1">
              <a:lnSpc>
                <a:spcPct val="100000"/>
              </a:lnSpc>
              <a:spcBef>
                <a:spcPts val="0"/>
              </a:spcBef>
              <a:spcAft>
                <a:spcPts val="0"/>
              </a:spcAft>
              <a:buClrTx/>
              <a:buSzTx/>
              <a:buFontTx/>
              <a:buNone/>
              <a:tabLst/>
              <a:defRPr/>
            </a:pPr>
            <a:fld id="{11CD0195-5250-49AE-A2AE-5893A4012F0C}"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31863" rtl="0" eaLnBrk="1" fontAlgn="auto" latinLnBrk="0" hangingPunct="1">
                <a:lnSpc>
                  <a:spcPct val="100000"/>
                </a:lnSpc>
                <a:spcBef>
                  <a:spcPts val="0"/>
                </a:spcBef>
                <a:spcAft>
                  <a:spcPts val="0"/>
                </a:spcAft>
                <a:buClrTx/>
                <a:buSzTx/>
                <a:buFontTx/>
                <a:buNone/>
                <a:tabLst/>
                <a:defRPr/>
              </a:pPr>
              <a:t>57</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562555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defRPr>
            </a:lvl1pPr>
            <a:lvl2pPr marL="742950" indent="-285750" defTabSz="931863">
              <a:defRPr>
                <a:solidFill>
                  <a:schemeClr val="tx1"/>
                </a:solidFill>
                <a:latin typeface="Verdana" panose="020B0604030504040204" pitchFamily="34" charset="0"/>
              </a:defRPr>
            </a:lvl2pPr>
            <a:lvl3pPr marL="1143000" indent="-228600" defTabSz="931863">
              <a:defRPr>
                <a:solidFill>
                  <a:schemeClr val="tx1"/>
                </a:solidFill>
                <a:latin typeface="Verdana" panose="020B0604030504040204" pitchFamily="34" charset="0"/>
              </a:defRPr>
            </a:lvl3pPr>
            <a:lvl4pPr marL="1600200" indent="-228600" defTabSz="931863">
              <a:defRPr>
                <a:solidFill>
                  <a:schemeClr val="tx1"/>
                </a:solidFill>
                <a:latin typeface="Verdana" panose="020B0604030504040204" pitchFamily="34" charset="0"/>
              </a:defRPr>
            </a:lvl4pPr>
            <a:lvl5pPr marL="2057400" indent="-228600" defTabSz="931863">
              <a:defRPr>
                <a:solidFill>
                  <a:schemeClr val="tx1"/>
                </a:solidFill>
                <a:latin typeface="Verdana" panose="020B0604030504040204" pitchFamily="34" charset="0"/>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r" defTabSz="931863" rtl="0" eaLnBrk="1" fontAlgn="auto" latinLnBrk="0" hangingPunct="1">
              <a:lnSpc>
                <a:spcPct val="100000"/>
              </a:lnSpc>
              <a:spcBef>
                <a:spcPts val="0"/>
              </a:spcBef>
              <a:spcAft>
                <a:spcPts val="0"/>
              </a:spcAft>
              <a:buClrTx/>
              <a:buSzTx/>
              <a:buFontTx/>
              <a:buNone/>
              <a:tabLst/>
              <a:defRPr/>
            </a:pPr>
            <a:fld id="{222D8405-2EA0-44D6-88B3-4BBB0E4EDFAF}" type="slidenum">
              <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31863" rtl="0" eaLnBrk="1" fontAlgn="auto" latinLnBrk="0" hangingPunct="1">
                <a:lnSpc>
                  <a:spcPct val="100000"/>
                </a:lnSpc>
                <a:spcBef>
                  <a:spcPts val="0"/>
                </a:spcBef>
                <a:spcAft>
                  <a:spcPts val="0"/>
                </a:spcAft>
                <a:buClrTx/>
                <a:buSzTx/>
                <a:buFontTx/>
                <a:buNone/>
                <a:tabLst/>
                <a:defRPr/>
              </a:pPr>
              <a:t>58</a:t>
            </a:fld>
            <a:endParaRPr kumimoji="0" lang="en-US" alt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033989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78336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4B24E-E92A-446E-9BBA-E049DEAECB4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93615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a:r>
            <a:r>
              <a:rPr lang="en-US" dirty="0">
                <a:hlinkClick r:id="rId3"/>
              </a:rPr>
              <a:t>http://www.w3schools.com/css/css_navbar.asp</a:t>
            </a:r>
            <a:endParaRPr lang="en-US" dirty="0"/>
          </a:p>
        </p:txBody>
      </p:sp>
      <p:sp>
        <p:nvSpPr>
          <p:cNvPr id="4" name="Slide Number Placeholder 3"/>
          <p:cNvSpPr>
            <a:spLocks noGrp="1"/>
          </p:cNvSpPr>
          <p:nvPr>
            <p:ph type="sldNum" sz="quarter" idx="10"/>
          </p:nvPr>
        </p:nvSpPr>
        <p:spPr/>
        <p:txBody>
          <a:bodyPr/>
          <a:lstStyle/>
          <a:p>
            <a:fld id="{EA81EC36-1CDF-4D9C-9548-B94DCA498DF3}" type="slidenum">
              <a:rPr lang="en-US" smtClean="0"/>
              <a:t>66</a:t>
            </a:fld>
            <a:endParaRPr lang="en-US"/>
          </a:p>
        </p:txBody>
      </p:sp>
    </p:spTree>
    <p:extLst>
      <p:ext uri="{BB962C8B-B14F-4D97-AF65-F5344CB8AC3E}">
        <p14:creationId xmlns:p14="http://schemas.microsoft.com/office/powerpoint/2010/main" val="34799751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endParaRPr lang="en-US" dirty="0"/>
          </a:p>
        </p:txBody>
      </p:sp>
    </p:spTree>
    <p:extLst>
      <p:ext uri="{BB962C8B-B14F-4D97-AF65-F5344CB8AC3E}">
        <p14:creationId xmlns:p14="http://schemas.microsoft.com/office/powerpoint/2010/main" val="412389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3.png"/><Relationship Id="rId16"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6.png"/><Relationship Id="rId11" Type="http://schemas.openxmlformats.org/officeDocument/2006/relationships/image" Target="../media/image11.png"/><Relationship Id="rId5" Type="http://schemas.microsoft.com/office/2007/relationships/hdphoto" Target="../media/hdphoto1.wdp"/><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9.png"/><Relationship Id="rId1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62361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505174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2148954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940523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187670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792192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2176508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94177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3036266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639919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3F851E-2928-4682-9B42-D2579E13F8BF}" type="datetimeFigureOut">
              <a:rPr lang="en-US" smtClean="0"/>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9FE998A-8700-4210-9762-D768112401A7}" type="slidenum">
              <a:rPr lang="en-US" smtClean="0"/>
              <a:t>‹#›</a:t>
            </a:fld>
            <a:endParaRPr lang="en-US" dirty="0"/>
          </a:p>
        </p:txBody>
      </p:sp>
    </p:spTree>
    <p:extLst>
      <p:ext uri="{BB962C8B-B14F-4D97-AF65-F5344CB8AC3E}">
        <p14:creationId xmlns:p14="http://schemas.microsoft.com/office/powerpoint/2010/main" val="2523128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502A189-2B57-C927-377D-F831B32D7CD1}"/>
              </a:ext>
            </a:extLst>
          </p:cNvPr>
          <p:cNvSpPr/>
          <p:nvPr userDrawn="1"/>
        </p:nvSpPr>
        <p:spPr>
          <a:xfrm rot="21445655">
            <a:off x="69346" y="4396968"/>
            <a:ext cx="12011481" cy="14077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1216741-237D-0769-D99B-267B5D217537}"/>
              </a:ext>
            </a:extLst>
          </p:cNvPr>
          <p:cNvSpPr/>
          <p:nvPr userDrawn="1"/>
        </p:nvSpPr>
        <p:spPr>
          <a:xfrm rot="21427662">
            <a:off x="-60052" y="6003794"/>
            <a:ext cx="4469000" cy="9305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E89674F-E33C-2D82-00F4-96B3AD40E68B}"/>
              </a:ext>
            </a:extLst>
          </p:cNvPr>
          <p:cNvPicPr>
            <a:picLocks noChangeAspect="1"/>
          </p:cNvPicPr>
          <p:nvPr userDrawn="1"/>
        </p:nvPicPr>
        <p:blipFill>
          <a:blip r:embed="rId2">
            <a:extLst>
              <a:ext uri="{28A0092B-C50C-407E-A947-70E740481C1C}">
                <a14:useLocalDpi xmlns:a14="http://schemas.microsoft.com/office/drawing/2010/main" val="0"/>
              </a:ext>
            </a:extLst>
          </a:blip>
          <a:srcRect l="5402" t="79881" b="3862"/>
          <a:stretch>
            <a:fillRect/>
          </a:stretch>
        </p:blipFill>
        <p:spPr>
          <a:xfrm>
            <a:off x="0" y="5767798"/>
            <a:ext cx="8458587" cy="1090201"/>
          </a:xfrm>
          <a:prstGeom prst="rect">
            <a:avLst/>
          </a:prstGeom>
        </p:spPr>
      </p:pic>
      <p:pic>
        <p:nvPicPr>
          <p:cNvPr id="20" name="Picture 19">
            <a:extLst>
              <a:ext uri="{FF2B5EF4-FFF2-40B4-BE49-F238E27FC236}">
                <a16:creationId xmlns:a16="http://schemas.microsoft.com/office/drawing/2014/main" id="{7562235D-3592-B27E-4298-EAB9B742B776}"/>
              </a:ext>
            </a:extLst>
          </p:cNvPr>
          <p:cNvPicPr>
            <a:picLocks noChangeAspect="1"/>
          </p:cNvPicPr>
          <p:nvPr userDrawn="1"/>
        </p:nvPicPr>
        <p:blipFill>
          <a:blip r:embed="rId3"/>
          <a:srcRect l="21456" t="64054" r="17391"/>
          <a:stretch>
            <a:fillRect/>
          </a:stretch>
        </p:blipFill>
        <p:spPr>
          <a:xfrm>
            <a:off x="2657475" y="5770987"/>
            <a:ext cx="4120571" cy="287494"/>
          </a:xfrm>
          <a:prstGeom prst="rect">
            <a:avLst/>
          </a:prstGeom>
        </p:spPr>
      </p:pic>
      <p:sp>
        <p:nvSpPr>
          <p:cNvPr id="9" name="Rectangle 8">
            <a:extLst>
              <a:ext uri="{FF2B5EF4-FFF2-40B4-BE49-F238E27FC236}">
                <a16:creationId xmlns:a16="http://schemas.microsoft.com/office/drawing/2014/main" id="{054EEE6A-C6E4-A152-1B90-5323F41D80B0}"/>
              </a:ext>
            </a:extLst>
          </p:cNvPr>
          <p:cNvSpPr/>
          <p:nvPr userDrawn="1"/>
        </p:nvSpPr>
        <p:spPr>
          <a:xfrm rot="21417291">
            <a:off x="2322985" y="3818640"/>
            <a:ext cx="9823266" cy="198350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2908FD1D-6E84-981D-B344-286B78D5AA58}"/>
              </a:ext>
            </a:extLst>
          </p:cNvPr>
          <p:cNvPicPr>
            <a:picLocks noChangeAspect="1"/>
          </p:cNvPicPr>
          <p:nvPr userDrawn="1"/>
        </p:nvPicPr>
        <p:blipFill>
          <a:blip r:embed="rId4">
            <a:alphaModFix amt="8000"/>
            <a:extLst>
              <a:ext uri="{BEBA8EAE-BF5A-486C-A8C5-ECC9F3942E4B}">
                <a14:imgProps xmlns:a14="http://schemas.microsoft.com/office/drawing/2010/main">
                  <a14:imgLayer r:embed="rId5">
                    <a14:imgEffect>
                      <a14:colorTemperature colorTemp="8889"/>
                    </a14:imgEffect>
                    <a14:imgEffect>
                      <a14:saturation sat="212000"/>
                    </a14:imgEffect>
                  </a14:imgLayer>
                </a14:imgProps>
              </a:ext>
            </a:extLst>
          </a:blip>
          <a:srcRect b="11630"/>
          <a:stretch>
            <a:fillRect/>
          </a:stretch>
        </p:blipFill>
        <p:spPr>
          <a:xfrm rot="21408228">
            <a:off x="-842222" y="1130631"/>
            <a:ext cx="5485683" cy="4856978"/>
          </a:xfrm>
          <a:prstGeom prst="rect">
            <a:avLst/>
          </a:prstGeom>
          <a:effectLst>
            <a:softEdge rad="0"/>
          </a:effectLst>
        </p:spPr>
      </p:pic>
      <p:sp>
        <p:nvSpPr>
          <p:cNvPr id="11" name="Holder 3">
            <a:extLst>
              <a:ext uri="{FF2B5EF4-FFF2-40B4-BE49-F238E27FC236}">
                <a16:creationId xmlns:a16="http://schemas.microsoft.com/office/drawing/2014/main" id="{8FA63A7F-3217-2288-452F-D3FCF999DEC6}"/>
              </a:ext>
            </a:extLst>
          </p:cNvPr>
          <p:cNvSpPr>
            <a:spLocks noGrp="1"/>
          </p:cNvSpPr>
          <p:nvPr>
            <p:ph type="subTitle" idx="4"/>
          </p:nvPr>
        </p:nvSpPr>
        <p:spPr>
          <a:xfrm>
            <a:off x="1524000" y="4084859"/>
            <a:ext cx="9144000" cy="457048"/>
          </a:xfrm>
          <a:prstGeom prst="rect">
            <a:avLst/>
          </a:prstGeom>
          <a:ln>
            <a:noFill/>
          </a:ln>
        </p:spPr>
        <p:txBody>
          <a:bodyPr wrap="square" lIns="0" tIns="0" rIns="0" bIns="0" anchor="ctr">
            <a:spAutoFit/>
          </a:bodyPr>
          <a:lstStyle>
            <a:lvl1pPr algn="ctr">
              <a:buNone/>
              <a:defRPr sz="3300" b="0" i="0">
                <a:solidFill>
                  <a:schemeClr val="tx2"/>
                </a:solidFill>
                <a:latin typeface="+mn-lt"/>
                <a:ea typeface="Bahnschrift" panose="020B0502040204020203" pitchFamily="34" charset="0"/>
                <a:cs typeface="Arial" charset="0"/>
              </a:defRPr>
            </a:lvl1pPr>
          </a:lstStyle>
          <a:p>
            <a:r>
              <a:rPr lang="en-US"/>
              <a:t>Click to edit Master subtitle style</a:t>
            </a:r>
            <a:endParaRPr dirty="0"/>
          </a:p>
        </p:txBody>
      </p:sp>
      <p:sp>
        <p:nvSpPr>
          <p:cNvPr id="14" name="Text Placeholder 23">
            <a:extLst>
              <a:ext uri="{FF2B5EF4-FFF2-40B4-BE49-F238E27FC236}">
                <a16:creationId xmlns:a16="http://schemas.microsoft.com/office/drawing/2014/main" id="{B5728811-BAD7-EDE2-0F78-822178836DC7}"/>
              </a:ext>
            </a:extLst>
          </p:cNvPr>
          <p:cNvSpPr>
            <a:spLocks noGrp="1"/>
          </p:cNvSpPr>
          <p:nvPr>
            <p:ph type="body" sz="quarter" idx="10"/>
          </p:nvPr>
        </p:nvSpPr>
        <p:spPr>
          <a:xfrm>
            <a:off x="2580290" y="4867147"/>
            <a:ext cx="7031421" cy="686695"/>
          </a:xfrm>
        </p:spPr>
        <p:txBody>
          <a:bodyPr anchor="ctr">
            <a:normAutofit/>
          </a:bodyPr>
          <a:lstStyle>
            <a:lvl1pPr algn="ctr">
              <a:buNone/>
              <a:defRPr sz="2000">
                <a:solidFill>
                  <a:schemeClr val="accent2">
                    <a:lumMod val="75000"/>
                  </a:schemeClr>
                </a:solidFill>
                <a:latin typeface="Bahnschrift" panose="020B0502040204020203" pitchFamily="34" charset="0"/>
              </a:defRPr>
            </a:lvl1pPr>
          </a:lstStyle>
          <a:p>
            <a:pPr lvl="0"/>
            <a:r>
              <a:rPr lang="en-US"/>
              <a:t>Click to edit Master text styles</a:t>
            </a:r>
          </a:p>
        </p:txBody>
      </p:sp>
      <p:sp>
        <p:nvSpPr>
          <p:cNvPr id="19" name="Title 42">
            <a:extLst>
              <a:ext uri="{FF2B5EF4-FFF2-40B4-BE49-F238E27FC236}">
                <a16:creationId xmlns:a16="http://schemas.microsoft.com/office/drawing/2014/main" id="{65249093-A560-0C05-828F-9B8248E53E2C}"/>
              </a:ext>
            </a:extLst>
          </p:cNvPr>
          <p:cNvSpPr>
            <a:spLocks noGrp="1"/>
          </p:cNvSpPr>
          <p:nvPr>
            <p:ph type="title" hasCustomPrompt="1"/>
          </p:nvPr>
        </p:nvSpPr>
        <p:spPr>
          <a:xfrm>
            <a:off x="828544" y="2438135"/>
            <a:ext cx="10515600" cy="1325563"/>
          </a:xfrm>
        </p:spPr>
        <p:txBody>
          <a:bodyPr/>
          <a:lstStyle>
            <a:lvl1pPr algn="ctr">
              <a:defRPr sz="5000" b="1">
                <a:solidFill>
                  <a:schemeClr val="tx2"/>
                </a:solidFill>
                <a:latin typeface="Source Sans Pro" panose="020B0503030403020204" pitchFamily="34" charset="0"/>
                <a:ea typeface="Source Sans Pro" panose="020B0503030403020204" pitchFamily="34" charset="0"/>
              </a:defRPr>
            </a:lvl1pPr>
          </a:lstStyle>
          <a:p>
            <a:r>
              <a:rPr lang="en-US" dirty="0"/>
              <a:t>CLICK TO EDIT MASTER TITLE STYLE</a:t>
            </a:r>
          </a:p>
        </p:txBody>
      </p:sp>
      <p:pic>
        <p:nvPicPr>
          <p:cNvPr id="23" name="Picture 22">
            <a:extLst>
              <a:ext uri="{FF2B5EF4-FFF2-40B4-BE49-F238E27FC236}">
                <a16:creationId xmlns:a16="http://schemas.microsoft.com/office/drawing/2014/main" id="{388D5A43-18D8-A9F1-6F5E-147A7C2DA6B1}"/>
              </a:ext>
            </a:extLst>
          </p:cNvPr>
          <p:cNvPicPr>
            <a:picLocks noChangeAspect="1"/>
          </p:cNvPicPr>
          <p:nvPr userDrawn="1"/>
        </p:nvPicPr>
        <p:blipFill>
          <a:blip r:embed="rId6"/>
          <a:srcRect l="4864" t="16748" r="77379" b="51965"/>
          <a:stretch>
            <a:fillRect/>
          </a:stretch>
        </p:blipFill>
        <p:spPr>
          <a:xfrm>
            <a:off x="2800457" y="6075941"/>
            <a:ext cx="1105314" cy="474903"/>
          </a:xfrm>
          <a:prstGeom prst="rect">
            <a:avLst/>
          </a:prstGeom>
        </p:spPr>
      </p:pic>
      <p:pic>
        <p:nvPicPr>
          <p:cNvPr id="28" name="Picture 27">
            <a:extLst>
              <a:ext uri="{FF2B5EF4-FFF2-40B4-BE49-F238E27FC236}">
                <a16:creationId xmlns:a16="http://schemas.microsoft.com/office/drawing/2014/main" id="{2893C971-8BFD-8F5A-2912-9897D729FC77}"/>
              </a:ext>
            </a:extLst>
          </p:cNvPr>
          <p:cNvPicPr>
            <a:picLocks noChangeAspect="1"/>
          </p:cNvPicPr>
          <p:nvPr userDrawn="1"/>
        </p:nvPicPr>
        <p:blipFill>
          <a:blip r:embed="rId7"/>
          <a:srcRect t="19478"/>
          <a:stretch>
            <a:fillRect/>
          </a:stretch>
        </p:blipFill>
        <p:spPr>
          <a:xfrm>
            <a:off x="10975856" y="5681273"/>
            <a:ext cx="1216144" cy="645163"/>
          </a:xfrm>
          <a:prstGeom prst="rect">
            <a:avLst/>
          </a:prstGeom>
        </p:spPr>
      </p:pic>
      <p:pic>
        <p:nvPicPr>
          <p:cNvPr id="30" name="Picture 29">
            <a:extLst>
              <a:ext uri="{FF2B5EF4-FFF2-40B4-BE49-F238E27FC236}">
                <a16:creationId xmlns:a16="http://schemas.microsoft.com/office/drawing/2014/main" id="{491126BC-8E4E-AEDF-D09C-FE043D1A8608}"/>
              </a:ext>
            </a:extLst>
          </p:cNvPr>
          <p:cNvPicPr>
            <a:picLocks noChangeAspect="1"/>
          </p:cNvPicPr>
          <p:nvPr userDrawn="1"/>
        </p:nvPicPr>
        <p:blipFill>
          <a:blip r:embed="rId8"/>
          <a:srcRect l="23407" t="28145"/>
          <a:stretch>
            <a:fillRect/>
          </a:stretch>
        </p:blipFill>
        <p:spPr>
          <a:xfrm>
            <a:off x="828544" y="6014585"/>
            <a:ext cx="248082" cy="287495"/>
          </a:xfrm>
          <a:prstGeom prst="rect">
            <a:avLst/>
          </a:prstGeom>
        </p:spPr>
      </p:pic>
      <p:pic>
        <p:nvPicPr>
          <p:cNvPr id="32" name="Picture 31">
            <a:extLst>
              <a:ext uri="{FF2B5EF4-FFF2-40B4-BE49-F238E27FC236}">
                <a16:creationId xmlns:a16="http://schemas.microsoft.com/office/drawing/2014/main" id="{BFB46271-354B-D9F0-C43F-237A0BEF9F00}"/>
              </a:ext>
            </a:extLst>
          </p:cNvPr>
          <p:cNvPicPr>
            <a:picLocks noChangeAspect="1"/>
          </p:cNvPicPr>
          <p:nvPr userDrawn="1"/>
        </p:nvPicPr>
        <p:blipFill>
          <a:blip r:embed="rId8"/>
          <a:stretch>
            <a:fillRect/>
          </a:stretch>
        </p:blipFill>
        <p:spPr>
          <a:xfrm>
            <a:off x="5354462" y="5995022"/>
            <a:ext cx="477574" cy="589945"/>
          </a:xfrm>
          <a:prstGeom prst="rect">
            <a:avLst/>
          </a:prstGeom>
        </p:spPr>
      </p:pic>
      <p:pic>
        <p:nvPicPr>
          <p:cNvPr id="34" name="Picture 33">
            <a:extLst>
              <a:ext uri="{FF2B5EF4-FFF2-40B4-BE49-F238E27FC236}">
                <a16:creationId xmlns:a16="http://schemas.microsoft.com/office/drawing/2014/main" id="{E53B015C-48F2-F48F-8B4E-E17E1DC5A78A}"/>
              </a:ext>
            </a:extLst>
          </p:cNvPr>
          <p:cNvPicPr>
            <a:picLocks noChangeAspect="1"/>
          </p:cNvPicPr>
          <p:nvPr userDrawn="1"/>
        </p:nvPicPr>
        <p:blipFill>
          <a:blip r:embed="rId9"/>
          <a:stretch>
            <a:fillRect/>
          </a:stretch>
        </p:blipFill>
        <p:spPr>
          <a:xfrm>
            <a:off x="10299486" y="6275198"/>
            <a:ext cx="676369" cy="409632"/>
          </a:xfrm>
          <a:prstGeom prst="rect">
            <a:avLst/>
          </a:prstGeom>
        </p:spPr>
      </p:pic>
      <p:pic>
        <p:nvPicPr>
          <p:cNvPr id="36" name="Picture 35">
            <a:extLst>
              <a:ext uri="{FF2B5EF4-FFF2-40B4-BE49-F238E27FC236}">
                <a16:creationId xmlns:a16="http://schemas.microsoft.com/office/drawing/2014/main" id="{6786BABE-62AB-0560-4106-EF69AC885F9C}"/>
              </a:ext>
            </a:extLst>
          </p:cNvPr>
          <p:cNvPicPr>
            <a:picLocks noChangeAspect="1"/>
          </p:cNvPicPr>
          <p:nvPr userDrawn="1"/>
        </p:nvPicPr>
        <p:blipFill>
          <a:blip r:embed="rId10"/>
          <a:stretch>
            <a:fillRect/>
          </a:stretch>
        </p:blipFill>
        <p:spPr>
          <a:xfrm>
            <a:off x="9216260" y="5872601"/>
            <a:ext cx="517545" cy="743141"/>
          </a:xfrm>
          <a:prstGeom prst="rect">
            <a:avLst/>
          </a:prstGeom>
        </p:spPr>
      </p:pic>
      <p:pic>
        <p:nvPicPr>
          <p:cNvPr id="38" name="Picture 37">
            <a:extLst>
              <a:ext uri="{FF2B5EF4-FFF2-40B4-BE49-F238E27FC236}">
                <a16:creationId xmlns:a16="http://schemas.microsoft.com/office/drawing/2014/main" id="{7F180099-B636-5463-532F-5A22785CECA6}"/>
              </a:ext>
            </a:extLst>
          </p:cNvPr>
          <p:cNvPicPr>
            <a:picLocks noChangeAspect="1"/>
          </p:cNvPicPr>
          <p:nvPr userDrawn="1"/>
        </p:nvPicPr>
        <p:blipFill>
          <a:blip r:embed="rId11"/>
          <a:srcRect t="24241"/>
          <a:stretch>
            <a:fillRect/>
          </a:stretch>
        </p:blipFill>
        <p:spPr>
          <a:xfrm>
            <a:off x="7305773" y="5729495"/>
            <a:ext cx="957103" cy="531053"/>
          </a:xfrm>
          <a:prstGeom prst="rect">
            <a:avLst/>
          </a:prstGeom>
        </p:spPr>
      </p:pic>
      <p:pic>
        <p:nvPicPr>
          <p:cNvPr id="40" name="Picture 39">
            <a:extLst>
              <a:ext uri="{FF2B5EF4-FFF2-40B4-BE49-F238E27FC236}">
                <a16:creationId xmlns:a16="http://schemas.microsoft.com/office/drawing/2014/main" id="{C1914764-E001-08FA-E2C5-62C087CC8FED}"/>
              </a:ext>
            </a:extLst>
          </p:cNvPr>
          <p:cNvPicPr>
            <a:picLocks noChangeAspect="1"/>
          </p:cNvPicPr>
          <p:nvPr userDrawn="1"/>
        </p:nvPicPr>
        <p:blipFill>
          <a:blip r:embed="rId12"/>
          <a:stretch>
            <a:fillRect/>
          </a:stretch>
        </p:blipFill>
        <p:spPr>
          <a:xfrm rot="12077710">
            <a:off x="8417340" y="6368186"/>
            <a:ext cx="515835" cy="453310"/>
          </a:xfrm>
          <a:prstGeom prst="rect">
            <a:avLst/>
          </a:prstGeom>
        </p:spPr>
      </p:pic>
      <p:pic>
        <p:nvPicPr>
          <p:cNvPr id="42" name="Picture 41">
            <a:extLst>
              <a:ext uri="{FF2B5EF4-FFF2-40B4-BE49-F238E27FC236}">
                <a16:creationId xmlns:a16="http://schemas.microsoft.com/office/drawing/2014/main" id="{8726D3FF-1307-9C3E-CBAA-205686C19AC5}"/>
              </a:ext>
            </a:extLst>
          </p:cNvPr>
          <p:cNvPicPr>
            <a:picLocks noChangeAspect="1"/>
          </p:cNvPicPr>
          <p:nvPr userDrawn="1"/>
        </p:nvPicPr>
        <p:blipFill>
          <a:blip r:embed="rId13"/>
          <a:stretch>
            <a:fillRect/>
          </a:stretch>
        </p:blipFill>
        <p:spPr>
          <a:xfrm rot="20104791">
            <a:off x="6939109" y="6415056"/>
            <a:ext cx="342948" cy="466790"/>
          </a:xfrm>
          <a:prstGeom prst="rect">
            <a:avLst/>
          </a:prstGeom>
        </p:spPr>
      </p:pic>
      <p:pic>
        <p:nvPicPr>
          <p:cNvPr id="48" name="Picture 47">
            <a:extLst>
              <a:ext uri="{FF2B5EF4-FFF2-40B4-BE49-F238E27FC236}">
                <a16:creationId xmlns:a16="http://schemas.microsoft.com/office/drawing/2014/main" id="{AD057DB6-D21D-71FF-3D4C-9868A0DA9DD5}"/>
              </a:ext>
            </a:extLst>
          </p:cNvPr>
          <p:cNvPicPr>
            <a:picLocks noChangeAspect="1"/>
          </p:cNvPicPr>
          <p:nvPr userDrawn="1"/>
        </p:nvPicPr>
        <p:blipFill>
          <a:blip r:embed="rId14">
            <a:alphaModFix amt="69000"/>
          </a:blip>
          <a:stretch>
            <a:fillRect/>
          </a:stretch>
        </p:blipFill>
        <p:spPr>
          <a:xfrm rot="21399994">
            <a:off x="10322219" y="3545618"/>
            <a:ext cx="2123641" cy="1617007"/>
          </a:xfrm>
          <a:prstGeom prst="rect">
            <a:avLst/>
          </a:prstGeom>
        </p:spPr>
      </p:pic>
      <p:cxnSp>
        <p:nvCxnSpPr>
          <p:cNvPr id="18" name="Straight Connector 17">
            <a:extLst>
              <a:ext uri="{FF2B5EF4-FFF2-40B4-BE49-F238E27FC236}">
                <a16:creationId xmlns:a16="http://schemas.microsoft.com/office/drawing/2014/main" id="{B07C398C-D17A-4704-FC83-8A97D3BAA141}"/>
              </a:ext>
            </a:extLst>
          </p:cNvPr>
          <p:cNvCxnSpPr>
            <a:cxnSpLocks/>
          </p:cNvCxnSpPr>
          <p:nvPr userDrawn="1"/>
        </p:nvCxnSpPr>
        <p:spPr>
          <a:xfrm flipV="1">
            <a:off x="-6645" y="5570975"/>
            <a:ext cx="12278435" cy="531053"/>
          </a:xfrm>
          <a:prstGeom prst="line">
            <a:avLst/>
          </a:prstGeom>
          <a:ln w="41275">
            <a:solidFill>
              <a:schemeClr val="tx2"/>
            </a:solidFill>
          </a:ln>
        </p:spPr>
        <p:style>
          <a:lnRef idx="1">
            <a:schemeClr val="accent1"/>
          </a:lnRef>
          <a:fillRef idx="0">
            <a:schemeClr val="accent1"/>
          </a:fillRef>
          <a:effectRef idx="0">
            <a:schemeClr val="accent1"/>
          </a:effectRef>
          <a:fontRef idx="minor">
            <a:schemeClr val="tx1"/>
          </a:fontRef>
        </p:style>
      </p:cxnSp>
      <p:pic>
        <p:nvPicPr>
          <p:cNvPr id="52" name="Picture 51">
            <a:extLst>
              <a:ext uri="{FF2B5EF4-FFF2-40B4-BE49-F238E27FC236}">
                <a16:creationId xmlns:a16="http://schemas.microsoft.com/office/drawing/2014/main" id="{959CD51F-18C5-450B-BF53-575F3099C6FB}"/>
              </a:ext>
            </a:extLst>
          </p:cNvPr>
          <p:cNvPicPr>
            <a:picLocks noChangeAspect="1"/>
          </p:cNvPicPr>
          <p:nvPr userDrawn="1"/>
        </p:nvPicPr>
        <p:blipFill>
          <a:blip r:embed="rId14">
            <a:alphaModFix amt="69000"/>
          </a:blip>
          <a:stretch>
            <a:fillRect/>
          </a:stretch>
        </p:blipFill>
        <p:spPr>
          <a:xfrm rot="21426855">
            <a:off x="-733620" y="2340375"/>
            <a:ext cx="2123641" cy="1617007"/>
          </a:xfrm>
          <a:prstGeom prst="rect">
            <a:avLst/>
          </a:prstGeom>
        </p:spPr>
      </p:pic>
      <p:sp>
        <p:nvSpPr>
          <p:cNvPr id="12" name="Rectangle 11">
            <a:extLst>
              <a:ext uri="{FF2B5EF4-FFF2-40B4-BE49-F238E27FC236}">
                <a16:creationId xmlns:a16="http://schemas.microsoft.com/office/drawing/2014/main" id="{385A0640-87F0-31FC-4CC8-4440071D89E0}"/>
              </a:ext>
            </a:extLst>
          </p:cNvPr>
          <p:cNvSpPr/>
          <p:nvPr userDrawn="1"/>
        </p:nvSpPr>
        <p:spPr>
          <a:xfrm rot="21448443">
            <a:off x="-72497" y="-400007"/>
            <a:ext cx="12286865" cy="24789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1" name="Picture 60">
            <a:extLst>
              <a:ext uri="{FF2B5EF4-FFF2-40B4-BE49-F238E27FC236}">
                <a16:creationId xmlns:a16="http://schemas.microsoft.com/office/drawing/2014/main" id="{B0A04AD3-D133-2F98-8BF5-829D1691D5FF}"/>
              </a:ext>
            </a:extLst>
          </p:cNvPr>
          <p:cNvPicPr>
            <a:picLocks noChangeAspect="1"/>
          </p:cNvPicPr>
          <p:nvPr userDrawn="1"/>
        </p:nvPicPr>
        <p:blipFill>
          <a:blip r:embed="rId4">
            <a:alphaModFix amt="2000"/>
            <a:extLst>
              <a:ext uri="{BEBA8EAE-BF5A-486C-A8C5-ECC9F3942E4B}">
                <a14:imgProps xmlns:a14="http://schemas.microsoft.com/office/drawing/2010/main">
                  <a14:imgLayer r:embed="rId5">
                    <a14:imgEffect>
                      <a14:colorTemperature colorTemp="8889"/>
                    </a14:imgEffect>
                    <a14:imgEffect>
                      <a14:saturation sat="212000"/>
                    </a14:imgEffect>
                  </a14:imgLayer>
                </a14:imgProps>
              </a:ext>
            </a:extLst>
          </a:blip>
          <a:srcRect t="1" b="79480"/>
          <a:stretch>
            <a:fillRect/>
          </a:stretch>
        </p:blipFill>
        <p:spPr>
          <a:xfrm rot="21408228">
            <a:off x="-949281" y="1162572"/>
            <a:ext cx="5485683" cy="1127760"/>
          </a:xfrm>
          <a:prstGeom prst="rect">
            <a:avLst/>
          </a:prstGeom>
          <a:effectLst>
            <a:softEdge rad="0"/>
          </a:effectLst>
        </p:spPr>
      </p:pic>
      <p:pic>
        <p:nvPicPr>
          <p:cNvPr id="62" name="Picture 61">
            <a:extLst>
              <a:ext uri="{FF2B5EF4-FFF2-40B4-BE49-F238E27FC236}">
                <a16:creationId xmlns:a16="http://schemas.microsoft.com/office/drawing/2014/main" id="{FE78F02A-2690-E709-7190-54BD4AF34994}"/>
              </a:ext>
            </a:extLst>
          </p:cNvPr>
          <p:cNvPicPr>
            <a:picLocks noChangeAspect="1"/>
          </p:cNvPicPr>
          <p:nvPr userDrawn="1"/>
        </p:nvPicPr>
        <p:blipFill>
          <a:blip r:embed="rId4">
            <a:alphaModFix amt="8000"/>
            <a:extLst>
              <a:ext uri="{BEBA8EAE-BF5A-486C-A8C5-ECC9F3942E4B}">
                <a14:imgProps xmlns:a14="http://schemas.microsoft.com/office/drawing/2010/main">
                  <a14:imgLayer r:embed="rId5">
                    <a14:imgEffect>
                      <a14:colorTemperature colorTemp="8889"/>
                    </a14:imgEffect>
                    <a14:imgEffect>
                      <a14:saturation sat="212000"/>
                    </a14:imgEffect>
                  </a14:imgLayer>
                </a14:imgProps>
              </a:ext>
            </a:extLst>
          </a:blip>
          <a:srcRect t="55117" r="46272" b="11630"/>
          <a:stretch>
            <a:fillRect/>
          </a:stretch>
        </p:blipFill>
        <p:spPr>
          <a:xfrm rot="21382046">
            <a:off x="9391938" y="1860924"/>
            <a:ext cx="2947358" cy="1827694"/>
          </a:xfrm>
          <a:prstGeom prst="rect">
            <a:avLst/>
          </a:prstGeom>
          <a:effectLst>
            <a:softEdge rad="0"/>
          </a:effectLst>
        </p:spPr>
      </p:pic>
      <p:cxnSp>
        <p:nvCxnSpPr>
          <p:cNvPr id="13" name="Straight Connector 12">
            <a:extLst>
              <a:ext uri="{FF2B5EF4-FFF2-40B4-BE49-F238E27FC236}">
                <a16:creationId xmlns:a16="http://schemas.microsoft.com/office/drawing/2014/main" id="{D736ABF1-4104-4493-5E03-678B80EDF52A}"/>
              </a:ext>
            </a:extLst>
          </p:cNvPr>
          <p:cNvCxnSpPr>
            <a:cxnSpLocks/>
          </p:cNvCxnSpPr>
          <p:nvPr userDrawn="1"/>
        </p:nvCxnSpPr>
        <p:spPr>
          <a:xfrm flipV="1">
            <a:off x="-96090" y="1812859"/>
            <a:ext cx="12399178" cy="521290"/>
          </a:xfrm>
          <a:prstGeom prst="line">
            <a:avLst/>
          </a:prstGeom>
          <a:ln w="41275">
            <a:solidFill>
              <a:schemeClr val="tx2"/>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D79E7D8B-FED9-BE69-9E15-79A00AB56FDB}"/>
              </a:ext>
            </a:extLst>
          </p:cNvPr>
          <p:cNvPicPr>
            <a:picLocks noChangeAspect="1"/>
          </p:cNvPicPr>
          <p:nvPr userDrawn="1"/>
        </p:nvPicPr>
        <p:blipFill>
          <a:blip r:embed="rId15">
            <a:duotone>
              <a:schemeClr val="accent2">
                <a:shade val="45000"/>
                <a:satMod val="135000"/>
              </a:schemeClr>
              <a:prstClr val="white"/>
            </a:duotone>
          </a:blip>
          <a:stretch>
            <a:fillRect/>
          </a:stretch>
        </p:blipFill>
        <p:spPr>
          <a:xfrm>
            <a:off x="4603638" y="889865"/>
            <a:ext cx="2934594" cy="764474"/>
          </a:xfrm>
          <a:prstGeom prst="rect">
            <a:avLst/>
          </a:prstGeom>
        </p:spPr>
      </p:pic>
      <p:pic>
        <p:nvPicPr>
          <p:cNvPr id="1025" name="Picture 1024">
            <a:extLst>
              <a:ext uri="{FF2B5EF4-FFF2-40B4-BE49-F238E27FC236}">
                <a16:creationId xmlns:a16="http://schemas.microsoft.com/office/drawing/2014/main" id="{D94884FC-EC7A-27EA-A3A1-1B9EF6AA03D5}"/>
              </a:ext>
            </a:extLst>
          </p:cNvPr>
          <p:cNvPicPr>
            <a:picLocks noChangeAspect="1"/>
          </p:cNvPicPr>
          <p:nvPr userDrawn="1"/>
        </p:nvPicPr>
        <p:blipFill>
          <a:blip r:embed="rId16">
            <a:alphaModFix amt="86000"/>
          </a:blip>
          <a:stretch>
            <a:fillRect/>
          </a:stretch>
        </p:blipFill>
        <p:spPr>
          <a:xfrm>
            <a:off x="5886976" y="508585"/>
            <a:ext cx="494774" cy="494774"/>
          </a:xfrm>
          <a:prstGeom prst="rect">
            <a:avLst/>
          </a:prstGeom>
        </p:spPr>
      </p:pic>
    </p:spTree>
    <p:extLst>
      <p:ext uri="{BB962C8B-B14F-4D97-AF65-F5344CB8AC3E}">
        <p14:creationId xmlns:p14="http://schemas.microsoft.com/office/powerpoint/2010/main" val="1673679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EC9F4A-E4AA-AFA8-A6E0-722E3426EB6F}"/>
              </a:ext>
            </a:extLst>
          </p:cNvPr>
          <p:cNvSpPr>
            <a:spLocks noGrp="1"/>
          </p:cNvSpPr>
          <p:nvPr>
            <p:ph idx="1"/>
          </p:nvPr>
        </p:nvSpPr>
        <p:spPr>
          <a:xfrm>
            <a:off x="1397000" y="1384300"/>
            <a:ext cx="9956800" cy="4792663"/>
          </a:xfrm>
        </p:spPr>
        <p:txBody>
          <a:bodyPr/>
          <a:lstStyle>
            <a:lvl1pPr>
              <a:spcAft>
                <a:spcPts val="1800"/>
              </a:spcAft>
              <a:defRPr>
                <a:solidFill>
                  <a:schemeClr val="bg2">
                    <a:lumMod val="25000"/>
                  </a:schemeClr>
                </a:solidFill>
                <a:latin typeface="Avenir"/>
              </a:defRPr>
            </a:lvl1pPr>
            <a:lvl2pPr>
              <a:spcAft>
                <a:spcPts val="1800"/>
              </a:spcAft>
              <a:defRPr>
                <a:solidFill>
                  <a:schemeClr val="bg2">
                    <a:lumMod val="25000"/>
                  </a:schemeClr>
                </a:solidFill>
                <a:latin typeface="Avenir"/>
              </a:defRPr>
            </a:lvl2pPr>
            <a:lvl3pPr>
              <a:spcAft>
                <a:spcPts val="1200"/>
              </a:spcAft>
              <a:defRPr>
                <a:solidFill>
                  <a:schemeClr val="bg2">
                    <a:lumMod val="25000"/>
                  </a:schemeClr>
                </a:solidFill>
                <a:latin typeface="Avenir"/>
              </a:defRPr>
            </a:lvl3pPr>
            <a:lvl4pPr>
              <a:spcAft>
                <a:spcPts val="600"/>
              </a:spcAft>
              <a:defRPr>
                <a:solidFill>
                  <a:schemeClr val="bg2">
                    <a:lumMod val="25000"/>
                  </a:schemeClr>
                </a:solidFill>
                <a:latin typeface="Avenir"/>
              </a:defRPr>
            </a:lvl4pPr>
            <a:lvl5pPr>
              <a:spcAft>
                <a:spcPts val="300"/>
              </a:spcAft>
              <a:defRPr>
                <a:solidFill>
                  <a:schemeClr val="bg2">
                    <a:lumMod val="25000"/>
                  </a:schemeClr>
                </a:solidFill>
                <a:latin typeface="Aveni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E7573E01-F548-B945-781C-BDDFB6E1CE94}"/>
              </a:ext>
            </a:extLst>
          </p:cNvPr>
          <p:cNvSpPr>
            <a:spLocks noGrp="1"/>
          </p:cNvSpPr>
          <p:nvPr>
            <p:ph type="title"/>
          </p:nvPr>
        </p:nvSpPr>
        <p:spPr>
          <a:xfrm>
            <a:off x="1270000" y="365126"/>
            <a:ext cx="10083800" cy="768350"/>
          </a:xfrm>
        </p:spPr>
        <p:txBody>
          <a:bodyPr/>
          <a:lstStyle/>
          <a:p>
            <a:r>
              <a:rPr lang="en-US" dirty="0"/>
              <a:t>Click to edit Master title style</a:t>
            </a:r>
          </a:p>
        </p:txBody>
      </p:sp>
    </p:spTree>
    <p:extLst>
      <p:ext uri="{BB962C8B-B14F-4D97-AF65-F5344CB8AC3E}">
        <p14:creationId xmlns:p14="http://schemas.microsoft.com/office/powerpoint/2010/main" val="357690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75BBE-15CE-FECC-0EA2-4392182B0F9A}"/>
              </a:ext>
            </a:extLst>
          </p:cNvPr>
          <p:cNvSpPr>
            <a:spLocks noGrp="1"/>
          </p:cNvSpPr>
          <p:nvPr>
            <p:ph type="title"/>
          </p:nvPr>
        </p:nvSpPr>
        <p:spPr>
          <a:xfrm>
            <a:off x="831850" y="690564"/>
            <a:ext cx="10515600" cy="2043112"/>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860049-57EF-DA0B-2419-4F41FE8817EC}"/>
              </a:ext>
            </a:extLst>
          </p:cNvPr>
          <p:cNvSpPr>
            <a:spLocks noGrp="1"/>
          </p:cNvSpPr>
          <p:nvPr>
            <p:ph type="body" idx="1"/>
          </p:nvPr>
        </p:nvSpPr>
        <p:spPr>
          <a:xfrm>
            <a:off x="838200" y="338931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27117875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75BBE-15CE-FECC-0EA2-4392182B0F9A}"/>
              </a:ext>
            </a:extLst>
          </p:cNvPr>
          <p:cNvSpPr>
            <a:spLocks noGrp="1"/>
          </p:cNvSpPr>
          <p:nvPr>
            <p:ph type="title"/>
          </p:nvPr>
        </p:nvSpPr>
        <p:spPr>
          <a:xfrm>
            <a:off x="831850" y="690564"/>
            <a:ext cx="10515600" cy="2043112"/>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9860049-57EF-DA0B-2419-4F41FE8817EC}"/>
              </a:ext>
            </a:extLst>
          </p:cNvPr>
          <p:cNvSpPr>
            <a:spLocks noGrp="1"/>
          </p:cNvSpPr>
          <p:nvPr>
            <p:ph type="body" idx="1"/>
          </p:nvPr>
        </p:nvSpPr>
        <p:spPr>
          <a:xfrm>
            <a:off x="838200" y="338931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28828623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060F1-50B1-D5E8-9069-BBC4AB3175B1}"/>
              </a:ext>
            </a:extLst>
          </p:cNvPr>
          <p:cNvSpPr>
            <a:spLocks noGrp="1"/>
          </p:cNvSpPr>
          <p:nvPr>
            <p:ph type="title"/>
          </p:nvPr>
        </p:nvSpPr>
        <p:spPr>
          <a:xfrm>
            <a:off x="838200" y="365126"/>
            <a:ext cx="10515600" cy="76835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26A16D44-9053-488D-C196-3EEF4F8E7D73}"/>
              </a:ext>
            </a:extLst>
          </p:cNvPr>
          <p:cNvSpPr>
            <a:spLocks noGrp="1"/>
          </p:cNvSpPr>
          <p:nvPr>
            <p:ph sz="half" idx="1"/>
          </p:nvPr>
        </p:nvSpPr>
        <p:spPr>
          <a:xfrm>
            <a:off x="838200" y="1312863"/>
            <a:ext cx="5181600" cy="486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138D4C6-FE86-E6F4-D966-08345F9E47B4}"/>
              </a:ext>
            </a:extLst>
          </p:cNvPr>
          <p:cNvSpPr>
            <a:spLocks noGrp="1"/>
          </p:cNvSpPr>
          <p:nvPr>
            <p:ph sz="half" idx="2"/>
          </p:nvPr>
        </p:nvSpPr>
        <p:spPr>
          <a:xfrm>
            <a:off x="6172200" y="1312863"/>
            <a:ext cx="5181600" cy="486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22862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500623-B814-AA29-1478-860D146CAE14}"/>
              </a:ext>
            </a:extLst>
          </p:cNvPr>
          <p:cNvSpPr>
            <a:spLocks noGrp="1"/>
          </p:cNvSpPr>
          <p:nvPr>
            <p:ph type="body" idx="1"/>
          </p:nvPr>
        </p:nvSpPr>
        <p:spPr>
          <a:xfrm>
            <a:off x="839788" y="1209675"/>
            <a:ext cx="5157787" cy="981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FE7B30-4700-CE3D-CF95-DF3D2FB9F6DC}"/>
              </a:ext>
            </a:extLst>
          </p:cNvPr>
          <p:cNvSpPr>
            <a:spLocks noGrp="1"/>
          </p:cNvSpPr>
          <p:nvPr>
            <p:ph sz="half" idx="2"/>
          </p:nvPr>
        </p:nvSpPr>
        <p:spPr>
          <a:xfrm>
            <a:off x="839788" y="2266949"/>
            <a:ext cx="5157787" cy="3922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97EB1C-E741-5458-B88B-1B4EA577B79B}"/>
              </a:ext>
            </a:extLst>
          </p:cNvPr>
          <p:cNvSpPr>
            <a:spLocks noGrp="1"/>
          </p:cNvSpPr>
          <p:nvPr>
            <p:ph type="body" sz="quarter" idx="3"/>
          </p:nvPr>
        </p:nvSpPr>
        <p:spPr>
          <a:xfrm>
            <a:off x="6172200" y="1209675"/>
            <a:ext cx="5183188" cy="981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4958A-139C-712C-756C-7D57D85373A2}"/>
              </a:ext>
            </a:extLst>
          </p:cNvPr>
          <p:cNvSpPr>
            <a:spLocks noGrp="1"/>
          </p:cNvSpPr>
          <p:nvPr>
            <p:ph sz="quarter" idx="4"/>
          </p:nvPr>
        </p:nvSpPr>
        <p:spPr>
          <a:xfrm>
            <a:off x="6172200" y="2266949"/>
            <a:ext cx="5183188" cy="3922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1">
            <a:extLst>
              <a:ext uri="{FF2B5EF4-FFF2-40B4-BE49-F238E27FC236}">
                <a16:creationId xmlns:a16="http://schemas.microsoft.com/office/drawing/2014/main" id="{C18B09D6-A041-338A-CB2B-40754AEEF59A}"/>
              </a:ext>
            </a:extLst>
          </p:cNvPr>
          <p:cNvSpPr>
            <a:spLocks noGrp="1"/>
          </p:cNvSpPr>
          <p:nvPr>
            <p:ph type="title"/>
          </p:nvPr>
        </p:nvSpPr>
        <p:spPr>
          <a:xfrm>
            <a:off x="838200" y="365126"/>
            <a:ext cx="10515600" cy="768350"/>
          </a:xfrm>
        </p:spPr>
        <p:txBody>
          <a:bodyPr/>
          <a:lstStyle/>
          <a:p>
            <a:r>
              <a:rPr lang="en-US" dirty="0"/>
              <a:t>Click to edit Master title style</a:t>
            </a:r>
          </a:p>
        </p:txBody>
      </p:sp>
    </p:spTree>
    <p:extLst>
      <p:ext uri="{BB962C8B-B14F-4D97-AF65-F5344CB8AC3E}">
        <p14:creationId xmlns:p14="http://schemas.microsoft.com/office/powerpoint/2010/main" val="1094369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C6407EC-06E4-D8F0-F6D7-BE094DC079AF}"/>
              </a:ext>
            </a:extLst>
          </p:cNvPr>
          <p:cNvSpPr>
            <a:spLocks noGrp="1"/>
          </p:cNvSpPr>
          <p:nvPr>
            <p:ph type="title"/>
          </p:nvPr>
        </p:nvSpPr>
        <p:spPr>
          <a:xfrm>
            <a:off x="838200" y="365126"/>
            <a:ext cx="10515600" cy="768350"/>
          </a:xfrm>
        </p:spPr>
        <p:txBody>
          <a:bodyPr/>
          <a:lstStyle/>
          <a:p>
            <a:r>
              <a:rPr lang="en-US"/>
              <a:t>Click to edit Master title style</a:t>
            </a:r>
          </a:p>
        </p:txBody>
      </p:sp>
    </p:spTree>
    <p:extLst>
      <p:ext uri="{BB962C8B-B14F-4D97-AF65-F5344CB8AC3E}">
        <p14:creationId xmlns:p14="http://schemas.microsoft.com/office/powerpoint/2010/main" val="18916907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17368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D43A-720E-736E-D62A-EA38D20AC1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4BC827-315B-E749-A310-2EF3406168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7FF770-77DF-FE4D-8554-E3ABB36464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072622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A9F3-F346-BB20-1B1E-E53DB1EE7E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225A3-D646-8708-CE66-B452140318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5489DE-7F13-FF58-5E20-11F9416327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6613789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D799-F14C-682F-BA8C-38570FF5A8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9CB458-665C-F4E6-D069-76EBF80DC0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3CC8D2-B2D9-D372-1854-D78AECAED39A}"/>
              </a:ext>
            </a:extLst>
          </p:cNvPr>
          <p:cNvSpPr>
            <a:spLocks noGrp="1"/>
          </p:cNvSpPr>
          <p:nvPr>
            <p:ph type="dt" sz="half" idx="10"/>
          </p:nvPr>
        </p:nvSpPr>
        <p:spPr>
          <a:xfrm>
            <a:off x="838200" y="6356350"/>
            <a:ext cx="2743200" cy="365125"/>
          </a:xfrm>
          <a:prstGeom prst="rect">
            <a:avLst/>
          </a:prstGeom>
        </p:spPr>
        <p:txBody>
          <a:bodyPr/>
          <a:lstStyle/>
          <a:p>
            <a:fld id="{FEE2AF39-4A2E-4BB2-B90D-C09D4ADF0C9D}" type="datetimeFigureOut">
              <a:rPr lang="en-US" smtClean="0"/>
              <a:t>8/7/2026</a:t>
            </a:fld>
            <a:endParaRPr lang="en-US"/>
          </a:p>
        </p:txBody>
      </p:sp>
      <p:sp>
        <p:nvSpPr>
          <p:cNvPr id="5" name="Footer Placeholder 4">
            <a:extLst>
              <a:ext uri="{FF2B5EF4-FFF2-40B4-BE49-F238E27FC236}">
                <a16:creationId xmlns:a16="http://schemas.microsoft.com/office/drawing/2014/main" id="{C3FB4B92-87EF-8CDC-D841-12872C10CF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42073D2-A493-19CF-574F-F7D2C4B3F8C6}"/>
              </a:ext>
            </a:extLst>
          </p:cNvPr>
          <p:cNvSpPr>
            <a:spLocks noGrp="1"/>
          </p:cNvSpPr>
          <p:nvPr>
            <p:ph type="sldNum" sz="quarter" idx="12"/>
          </p:nvPr>
        </p:nvSpPr>
        <p:spPr>
          <a:xfrm>
            <a:off x="8610600" y="6356350"/>
            <a:ext cx="2743200" cy="365125"/>
          </a:xfrm>
          <a:prstGeom prst="rect">
            <a:avLst/>
          </a:prstGeom>
        </p:spPr>
        <p:txBody>
          <a:bodyPr/>
          <a:lstStyle/>
          <a:p>
            <a:fld id="{B3D7EEE9-2273-4822-B6B6-BD0A1D117B59}" type="slidenum">
              <a:rPr lang="en-US" smtClean="0"/>
              <a:t>‹#›</a:t>
            </a:fld>
            <a:endParaRPr lang="en-US"/>
          </a:p>
        </p:txBody>
      </p:sp>
    </p:spTree>
    <p:extLst>
      <p:ext uri="{BB962C8B-B14F-4D97-AF65-F5344CB8AC3E}">
        <p14:creationId xmlns:p14="http://schemas.microsoft.com/office/powerpoint/2010/main" val="4214821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1890EC-AD11-A012-0E00-40B281369E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DAAACC-DDC8-5DE8-B758-0B8ACEF987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A8E7EF-D1CD-652C-325E-0928FC0F3493}"/>
              </a:ext>
            </a:extLst>
          </p:cNvPr>
          <p:cNvSpPr>
            <a:spLocks noGrp="1"/>
          </p:cNvSpPr>
          <p:nvPr>
            <p:ph type="dt" sz="half" idx="10"/>
          </p:nvPr>
        </p:nvSpPr>
        <p:spPr>
          <a:xfrm>
            <a:off x="838200" y="6356350"/>
            <a:ext cx="2743200" cy="365125"/>
          </a:xfrm>
          <a:prstGeom prst="rect">
            <a:avLst/>
          </a:prstGeom>
        </p:spPr>
        <p:txBody>
          <a:bodyPr/>
          <a:lstStyle/>
          <a:p>
            <a:fld id="{FEE2AF39-4A2E-4BB2-B90D-C09D4ADF0C9D}" type="datetimeFigureOut">
              <a:rPr lang="en-US" smtClean="0"/>
              <a:t>8/7/2026</a:t>
            </a:fld>
            <a:endParaRPr lang="en-US"/>
          </a:p>
        </p:txBody>
      </p:sp>
      <p:sp>
        <p:nvSpPr>
          <p:cNvPr id="5" name="Footer Placeholder 4">
            <a:extLst>
              <a:ext uri="{FF2B5EF4-FFF2-40B4-BE49-F238E27FC236}">
                <a16:creationId xmlns:a16="http://schemas.microsoft.com/office/drawing/2014/main" id="{3F53CDAF-E4AF-C9EB-4CDB-2246556E542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DD008F7-5E17-873A-40FD-ACDE0C3C2C9F}"/>
              </a:ext>
            </a:extLst>
          </p:cNvPr>
          <p:cNvSpPr>
            <a:spLocks noGrp="1"/>
          </p:cNvSpPr>
          <p:nvPr>
            <p:ph type="sldNum" sz="quarter" idx="12"/>
          </p:nvPr>
        </p:nvSpPr>
        <p:spPr>
          <a:xfrm>
            <a:off x="8610600" y="6356350"/>
            <a:ext cx="2743200" cy="365125"/>
          </a:xfrm>
          <a:prstGeom prst="rect">
            <a:avLst/>
          </a:prstGeom>
        </p:spPr>
        <p:txBody>
          <a:bodyPr/>
          <a:lstStyle/>
          <a:p>
            <a:fld id="{B3D7EEE9-2273-4822-B6B6-BD0A1D117B59}" type="slidenum">
              <a:rPr lang="en-US" smtClean="0"/>
              <a:t>‹#›</a:t>
            </a:fld>
            <a:endParaRPr lang="en-US"/>
          </a:p>
        </p:txBody>
      </p:sp>
    </p:spTree>
    <p:extLst>
      <p:ext uri="{BB962C8B-B14F-4D97-AF65-F5344CB8AC3E}">
        <p14:creationId xmlns:p14="http://schemas.microsoft.com/office/powerpoint/2010/main" val="2164941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a:off x="989400" y="395289"/>
            <a:ext cx="10213200" cy="1112836"/>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29" name="Google Shape;29;p23"/>
          <p:cNvSpPr txBox="1">
            <a:spLocks noGrp="1"/>
          </p:cNvSpPr>
          <p:nvPr>
            <p:ph type="body" idx="1"/>
          </p:nvPr>
        </p:nvSpPr>
        <p:spPr>
          <a:xfrm>
            <a:off x="989400" y="1685925"/>
            <a:ext cx="10213200" cy="4040191"/>
          </a:xfrm>
          <a:prstGeom prst="rect">
            <a:avLst/>
          </a:prstGeom>
          <a:noFill/>
          <a:ln>
            <a:noFill/>
          </a:ln>
        </p:spPr>
        <p:txBody>
          <a:bodyPr spcFirstLastPara="1" wrap="square" lIns="91425" tIns="45700" rIns="91425" bIns="45700" anchor="t" anchorCtr="0">
            <a:normAutofit/>
          </a:bodyPr>
          <a:lstStyle>
            <a:lvl1pPr marL="457200" lvl="0" indent="-342900" algn="l">
              <a:lnSpc>
                <a:spcPct val="150000"/>
              </a:lnSpc>
              <a:spcBef>
                <a:spcPts val="1000"/>
              </a:spcBef>
              <a:spcAft>
                <a:spcPts val="0"/>
              </a:spcAft>
              <a:buSzPts val="1800"/>
              <a:buChar char="·"/>
              <a:defRPr/>
            </a:lvl1pPr>
            <a:lvl2pPr marL="914400" lvl="1" indent="-228600" algn="l">
              <a:lnSpc>
                <a:spcPct val="150000"/>
              </a:lnSpc>
              <a:spcBef>
                <a:spcPts val="500"/>
              </a:spcBef>
              <a:spcAft>
                <a:spcPts val="0"/>
              </a:spcAft>
              <a:buClr>
                <a:schemeClr val="dk1"/>
              </a:buClr>
              <a:buSzPts val="1800"/>
              <a:buNone/>
              <a:defRPr/>
            </a:lvl2pPr>
            <a:lvl3pPr marL="1371600" lvl="2" indent="-342900" algn="l">
              <a:lnSpc>
                <a:spcPct val="150000"/>
              </a:lnSpc>
              <a:spcBef>
                <a:spcPts val="500"/>
              </a:spcBef>
              <a:spcAft>
                <a:spcPts val="0"/>
              </a:spcAft>
              <a:buSzPts val="1800"/>
              <a:buChar char="·"/>
              <a:defRPr/>
            </a:lvl3pPr>
            <a:lvl4pPr marL="1828800" lvl="3" indent="-228600" algn="l">
              <a:lnSpc>
                <a:spcPct val="150000"/>
              </a:lnSpc>
              <a:spcBef>
                <a:spcPts val="500"/>
              </a:spcBef>
              <a:spcAft>
                <a:spcPts val="0"/>
              </a:spcAft>
              <a:buSzPts val="1800"/>
              <a:buNone/>
              <a:defRPr/>
            </a:lvl4pPr>
            <a:lvl5pPr marL="2286000" lvl="4" indent="-342900" algn="l">
              <a:lnSpc>
                <a:spcPct val="15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30" name="Google Shape;30;p23"/>
          <p:cNvSpPr txBox="1">
            <a:spLocks noGrp="1"/>
          </p:cNvSpPr>
          <p:nvPr>
            <p:ph type="dt" idx="10"/>
          </p:nvPr>
        </p:nvSpPr>
        <p:spPr>
          <a:xfrm>
            <a:off x="450000" y="6357168"/>
            <a:ext cx="1760150" cy="461665"/>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3"/>
          <p:cNvSpPr txBox="1">
            <a:spLocks noGrp="1"/>
          </p:cNvSpPr>
          <p:nvPr>
            <p:ph type="ftr" idx="11"/>
          </p:nvPr>
        </p:nvSpPr>
        <p:spPr>
          <a:xfrm>
            <a:off x="2754312" y="6357600"/>
            <a:ext cx="6683376" cy="460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3"/>
          <p:cNvSpPr txBox="1">
            <a:spLocks noGrp="1"/>
          </p:cNvSpPr>
          <p:nvPr>
            <p:ph type="sldNum" idx="12"/>
          </p:nvPr>
        </p:nvSpPr>
        <p:spPr>
          <a:xfrm>
            <a:off x="9982800" y="6357600"/>
            <a:ext cx="1760150" cy="4608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Sorts Mill Goudy"/>
                <a:ea typeface="Sorts Mill Goudy"/>
                <a:cs typeface="Sorts Mill Goudy"/>
                <a:sym typeface="Sorts Mill Goudy"/>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84680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3F851E-2928-4682-9B42-D2579E13F8BF}" type="datetimeFigureOut">
              <a:rPr lang="en-US" smtClean="0"/>
              <a:t>8/7/2026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FE998A-8700-4210-9762-D768112401A7}" type="slidenum">
              <a:rPr lang="en-US" smtClean="0"/>
              <a:t>‹#›</a:t>
            </a:fld>
            <a:endParaRPr lang="en-US" dirty="0"/>
          </a:p>
        </p:txBody>
      </p:sp>
    </p:spTree>
    <p:extLst>
      <p:ext uri="{BB962C8B-B14F-4D97-AF65-F5344CB8AC3E}">
        <p14:creationId xmlns:p14="http://schemas.microsoft.com/office/powerpoint/2010/main" val="1779232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C5BED7-9B4D-FAE0-C708-F335944633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9A36A39-B7FB-7B10-14CB-F05DF64ECC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00168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100" b="1" kern="1200">
          <a:solidFill>
            <a:schemeClr val="tx2"/>
          </a:solidFill>
          <a:latin typeface="Source Sans Pro" panose="020B0503030403020204" pitchFamily="34" charset="0"/>
          <a:ea typeface="Source Sans Pro" panose="020B0503030403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100" kern="1200">
          <a:solidFill>
            <a:schemeClr val="bg2">
              <a:lumMod val="25000"/>
            </a:schemeClr>
          </a:solidFill>
          <a:latin typeface="Avenir"/>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700" kern="1200">
          <a:solidFill>
            <a:schemeClr val="bg2">
              <a:lumMod val="25000"/>
            </a:schemeClr>
          </a:solidFill>
          <a:latin typeface="Avenir"/>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Avenir"/>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100" kern="1200">
          <a:solidFill>
            <a:schemeClr val="bg2">
              <a:lumMod val="25000"/>
            </a:schemeClr>
          </a:solidFill>
          <a:latin typeface="Avenir"/>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Avenir"/>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hyperlink" Target="https://doi.org/10.1037/0033-295x.106.4.643"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hyperlink" Target="https://doi.org/10.1037/0033-295x.106.4.643" TargetMode="Externa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8.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35.svg"/><Relationship Id="rId7" Type="http://schemas.openxmlformats.org/officeDocument/2006/relationships/diagramQuickStyle" Target="../diagrams/quickStyle3.xm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37.svg"/><Relationship Id="rId4" Type="http://schemas.openxmlformats.org/officeDocument/2006/relationships/image" Target="../media/image36.svg"/><Relationship Id="rId9" Type="http://schemas.microsoft.com/office/2007/relationships/diagramDrawing" Target="../diagrams/drawing3.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4.xml"/><Relationship Id="rId5" Type="http://schemas.openxmlformats.org/officeDocument/2006/relationships/image" Target="../media/image42.png"/><Relationship Id="rId4" Type="http://schemas.openxmlformats.org/officeDocument/2006/relationships/image" Target="../media/image41.png"/></Relationships>
</file>

<file path=ppt/slides/_rels/slide4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9.svg"/><Relationship Id="rId7" Type="http://schemas.openxmlformats.org/officeDocument/2006/relationships/diagramColors" Target="../diagrams/colors4.xml"/><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47.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6.wmf"/><Relationship Id="rId4" Type="http://schemas.openxmlformats.org/officeDocument/2006/relationships/oleObject" Target="../embeddings/oleObject1.bin"/></Relationships>
</file>

<file path=ppt/slides/_rels/slide6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mailto:pittares@etsu.edu"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66.jpg"/><Relationship Id="rId4" Type="http://schemas.openxmlformats.org/officeDocument/2006/relationships/image" Target="../media/image6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80327" y="744458"/>
            <a:ext cx="10480964" cy="2647518"/>
          </a:xfrm>
        </p:spPr>
        <p:txBody>
          <a:bodyPr>
            <a:normAutofit/>
          </a:bodyPr>
          <a:lstStyle/>
          <a:p>
            <a:r>
              <a:rPr lang="en-US" sz="4800" dirty="0"/>
              <a:t>HTML5 Semantic Elements / Information Architecture  / Navigation</a:t>
            </a:r>
          </a:p>
        </p:txBody>
      </p:sp>
      <p:sp>
        <p:nvSpPr>
          <p:cNvPr id="3" name="Subtitle 2"/>
          <p:cNvSpPr>
            <a:spLocks noGrp="1"/>
          </p:cNvSpPr>
          <p:nvPr>
            <p:ph type="subTitle" idx="1"/>
          </p:nvPr>
        </p:nvSpPr>
        <p:spPr/>
        <p:txBody>
          <a:bodyPr>
            <a:normAutofit/>
          </a:bodyPr>
          <a:lstStyle/>
          <a:p>
            <a:r>
              <a:rPr lang="en-US" dirty="0"/>
              <a:t>Essentials of Web Design</a:t>
            </a:r>
          </a:p>
          <a:p>
            <a:r>
              <a:rPr lang="en-US" dirty="0"/>
              <a:t>CSCI 1210</a:t>
            </a:r>
          </a:p>
        </p:txBody>
      </p:sp>
    </p:spTree>
    <p:extLst>
      <p:ext uri="{BB962C8B-B14F-4D97-AF65-F5344CB8AC3E}">
        <p14:creationId xmlns:p14="http://schemas.microsoft.com/office/powerpoint/2010/main" val="920346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Today</a:t>
            </a:r>
          </a:p>
        </p:txBody>
      </p:sp>
      <p:sp>
        <p:nvSpPr>
          <p:cNvPr id="3" name="Content Placeholder 2"/>
          <p:cNvSpPr>
            <a:spLocks noGrp="1"/>
          </p:cNvSpPr>
          <p:nvPr>
            <p:ph idx="1"/>
          </p:nvPr>
        </p:nvSpPr>
        <p:spPr/>
        <p:txBody>
          <a:bodyPr/>
          <a:lstStyle/>
          <a:p>
            <a:r>
              <a:rPr lang="en-US" dirty="0"/>
              <a:t>HTML Semantics</a:t>
            </a:r>
          </a:p>
          <a:p>
            <a:r>
              <a:rPr lang="en-US" dirty="0"/>
              <a:t>Information Architecture</a:t>
            </a:r>
          </a:p>
          <a:p>
            <a:r>
              <a:rPr lang="en-US" dirty="0"/>
              <a:t>CSS Pseudo-classes</a:t>
            </a:r>
          </a:p>
          <a:p>
            <a:r>
              <a:rPr lang="en-US" dirty="0"/>
              <a:t>Making a </a:t>
            </a:r>
            <a:r>
              <a:rPr lang="en-US" dirty="0" err="1"/>
              <a:t>Nav</a:t>
            </a:r>
            <a:r>
              <a:rPr lang="en-US" dirty="0"/>
              <a:t> bar (CSS float, pseudo-classes, and styling)</a:t>
            </a:r>
          </a:p>
        </p:txBody>
      </p:sp>
    </p:spTree>
    <p:extLst>
      <p:ext uri="{BB962C8B-B14F-4D97-AF65-F5344CB8AC3E}">
        <p14:creationId xmlns:p14="http://schemas.microsoft.com/office/powerpoint/2010/main" val="1968215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Semantics</a:t>
            </a:r>
          </a:p>
        </p:txBody>
      </p:sp>
      <p:sp>
        <p:nvSpPr>
          <p:cNvPr id="3" name="Content Placeholder 2"/>
          <p:cNvSpPr>
            <a:spLocks noGrp="1"/>
          </p:cNvSpPr>
          <p:nvPr>
            <p:ph idx="1"/>
          </p:nvPr>
        </p:nvSpPr>
        <p:spPr>
          <a:xfrm>
            <a:off x="838200" y="1690688"/>
            <a:ext cx="10515600" cy="4351338"/>
          </a:xfrm>
        </p:spPr>
        <p:txBody>
          <a:bodyPr/>
          <a:lstStyle/>
          <a:p>
            <a:pPr marL="0" indent="0">
              <a:spcAft>
                <a:spcPts val="1200"/>
              </a:spcAft>
              <a:buNone/>
            </a:pPr>
            <a:r>
              <a:rPr lang="en-US" dirty="0"/>
              <a:t>The study of the meanings of words and phrases in language</a:t>
            </a:r>
          </a:p>
          <a:p>
            <a:pPr marL="0" indent="0">
              <a:spcAft>
                <a:spcPts val="1200"/>
              </a:spcAft>
              <a:buNone/>
            </a:pPr>
            <a:r>
              <a:rPr lang="en-US" dirty="0"/>
              <a:t>Thus, ‘semantic elements’ are elements with a meaning</a:t>
            </a:r>
          </a:p>
          <a:p>
            <a:pPr marL="0" indent="0">
              <a:spcAft>
                <a:spcPts val="1200"/>
              </a:spcAft>
              <a:buNone/>
            </a:pPr>
            <a:r>
              <a:rPr lang="en-US" dirty="0"/>
              <a:t>Clearly describes meaning to both the browser and the developer</a:t>
            </a:r>
          </a:p>
          <a:p>
            <a:pPr marL="0" indent="0">
              <a:spcAft>
                <a:spcPts val="1200"/>
              </a:spcAft>
              <a:buNone/>
            </a:pPr>
            <a:r>
              <a:rPr lang="en-US" dirty="0"/>
              <a:t>Non-semantic:  &lt;div&gt; and &lt;span&gt; tell nothing about their content</a:t>
            </a:r>
          </a:p>
          <a:p>
            <a:pPr marL="0" indent="0">
              <a:spcAft>
                <a:spcPts val="1200"/>
              </a:spcAft>
              <a:buNone/>
            </a:pPr>
            <a:r>
              <a:rPr lang="en-US" dirty="0"/>
              <a:t>Semantic: &lt;form&gt;, &lt;table&gt;, &lt;img&gt; clearly define their content</a:t>
            </a:r>
          </a:p>
        </p:txBody>
      </p:sp>
    </p:spTree>
    <p:extLst>
      <p:ext uri="{BB962C8B-B14F-4D97-AF65-F5344CB8AC3E}">
        <p14:creationId xmlns:p14="http://schemas.microsoft.com/office/powerpoint/2010/main" val="3581902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Semantic Tags</a:t>
            </a:r>
          </a:p>
        </p:txBody>
      </p:sp>
      <p:sp>
        <p:nvSpPr>
          <p:cNvPr id="3" name="Content Placeholder 2"/>
          <p:cNvSpPr>
            <a:spLocks noGrp="1"/>
          </p:cNvSpPr>
          <p:nvPr>
            <p:ph idx="1"/>
          </p:nvPr>
        </p:nvSpPr>
        <p:spPr>
          <a:xfrm>
            <a:off x="125108" y="1690688"/>
            <a:ext cx="7483603" cy="4351338"/>
          </a:xfrm>
        </p:spPr>
        <p:txBody>
          <a:bodyPr>
            <a:normAutofit/>
          </a:bodyPr>
          <a:lstStyle/>
          <a:p>
            <a:pPr marL="0" indent="0">
              <a:spcAft>
                <a:spcPts val="600"/>
              </a:spcAft>
              <a:buNone/>
            </a:pPr>
            <a:r>
              <a:rPr lang="en-US" dirty="0"/>
              <a:t>HTML5 offers new semantic elements to clearly define different parts of the web page (partial list):</a:t>
            </a:r>
          </a:p>
          <a:p>
            <a:pPr marL="457200" lvl="1" indent="0">
              <a:spcAft>
                <a:spcPts val="600"/>
              </a:spcAft>
              <a:buNone/>
            </a:pPr>
            <a:r>
              <a:rPr lang="en-US" dirty="0"/>
              <a:t>&lt;header&gt;</a:t>
            </a:r>
          </a:p>
          <a:p>
            <a:pPr marL="457200" lvl="1" indent="0">
              <a:spcAft>
                <a:spcPts val="600"/>
              </a:spcAft>
              <a:buNone/>
            </a:pPr>
            <a:r>
              <a:rPr lang="en-US" dirty="0"/>
              <a:t>&lt;nav&gt;</a:t>
            </a:r>
          </a:p>
          <a:p>
            <a:pPr marL="457200" lvl="1" indent="0">
              <a:spcAft>
                <a:spcPts val="600"/>
              </a:spcAft>
              <a:buNone/>
            </a:pPr>
            <a:r>
              <a:rPr lang="en-US" dirty="0"/>
              <a:t>&lt;section&gt;</a:t>
            </a:r>
          </a:p>
          <a:p>
            <a:pPr marL="457200" lvl="1" indent="0">
              <a:spcAft>
                <a:spcPts val="600"/>
              </a:spcAft>
              <a:buNone/>
            </a:pPr>
            <a:r>
              <a:rPr lang="en-US" dirty="0"/>
              <a:t>&lt;article&gt;</a:t>
            </a:r>
          </a:p>
          <a:p>
            <a:pPr marL="457200" lvl="1" indent="0">
              <a:spcAft>
                <a:spcPts val="600"/>
              </a:spcAft>
              <a:buNone/>
            </a:pPr>
            <a:r>
              <a:rPr lang="en-US" dirty="0"/>
              <a:t>&lt;aside&gt;</a:t>
            </a:r>
          </a:p>
          <a:p>
            <a:pPr marL="457200" lvl="1" indent="0">
              <a:spcAft>
                <a:spcPts val="600"/>
              </a:spcAft>
              <a:buNone/>
            </a:pPr>
            <a:r>
              <a:rPr lang="en-US" dirty="0"/>
              <a:t>&lt;footer&gt;</a:t>
            </a:r>
          </a:p>
        </p:txBody>
      </p:sp>
      <p:pic>
        <p:nvPicPr>
          <p:cNvPr id="2050" name="Picture 2" descr="HTML5 Semantic Elemen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5344" y="110782"/>
            <a:ext cx="4371548" cy="5150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88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Header</a:t>
            </a:r>
          </a:p>
        </p:txBody>
      </p:sp>
      <p:sp>
        <p:nvSpPr>
          <p:cNvPr id="3" name="Content Placeholder 2"/>
          <p:cNvSpPr>
            <a:spLocks noGrp="1"/>
          </p:cNvSpPr>
          <p:nvPr>
            <p:ph idx="1"/>
          </p:nvPr>
        </p:nvSpPr>
        <p:spPr>
          <a:xfrm>
            <a:off x="838200" y="1690688"/>
            <a:ext cx="10515600" cy="4351338"/>
          </a:xfrm>
        </p:spPr>
        <p:txBody>
          <a:bodyPr/>
          <a:lstStyle/>
          <a:p>
            <a:pPr marL="0" indent="0">
              <a:spcAft>
                <a:spcPts val="1200"/>
              </a:spcAft>
              <a:buNone/>
            </a:pPr>
            <a:r>
              <a:rPr lang="en-US" dirty="0"/>
              <a:t>The &lt;header&gt; element specifies a header for a document or section</a:t>
            </a:r>
          </a:p>
          <a:p>
            <a:pPr marL="0" indent="0">
              <a:spcAft>
                <a:spcPts val="1200"/>
              </a:spcAft>
              <a:buNone/>
            </a:pPr>
            <a:r>
              <a:rPr lang="en-US" dirty="0"/>
              <a:t>The &lt;header&gt; element should be used as a container for introductory content</a:t>
            </a:r>
          </a:p>
          <a:p>
            <a:pPr marL="0" indent="0">
              <a:spcAft>
                <a:spcPts val="1200"/>
              </a:spcAft>
              <a:buNone/>
            </a:pPr>
            <a:r>
              <a:rPr lang="en-US" dirty="0"/>
              <a:t>You can have several &lt;header&gt; elements in one document</a:t>
            </a:r>
          </a:p>
          <a:p>
            <a:endParaRPr lang="en-US" dirty="0"/>
          </a:p>
        </p:txBody>
      </p:sp>
    </p:spTree>
    <p:extLst>
      <p:ext uri="{BB962C8B-B14F-4D97-AF65-F5344CB8AC3E}">
        <p14:creationId xmlns:p14="http://schemas.microsoft.com/office/powerpoint/2010/main" val="552136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a:t>
            </a:r>
          </a:p>
        </p:txBody>
      </p:sp>
      <p:sp>
        <p:nvSpPr>
          <p:cNvPr id="3" name="Content Placeholder 2"/>
          <p:cNvSpPr>
            <a:spLocks noGrp="1"/>
          </p:cNvSpPr>
          <p:nvPr>
            <p:ph idx="1"/>
          </p:nvPr>
        </p:nvSpPr>
        <p:spPr>
          <a:xfrm>
            <a:off x="838200" y="1690688"/>
            <a:ext cx="10515600" cy="4351338"/>
          </a:xfrm>
        </p:spPr>
        <p:txBody>
          <a:bodyPr/>
          <a:lstStyle/>
          <a:p>
            <a:pPr marL="0" indent="0">
              <a:spcAft>
                <a:spcPts val="1200"/>
              </a:spcAft>
              <a:buNone/>
            </a:pPr>
            <a:r>
              <a:rPr lang="en-US" dirty="0"/>
              <a:t>The &lt;nav&gt; element defines a set of navigation links</a:t>
            </a:r>
          </a:p>
          <a:p>
            <a:pPr marL="0" indent="0">
              <a:spcAft>
                <a:spcPts val="1200"/>
              </a:spcAft>
              <a:buNone/>
            </a:pPr>
            <a:r>
              <a:rPr lang="en-US" dirty="0"/>
              <a:t>The &lt;nav&gt; element is intended for large blocks of navigation links</a:t>
            </a:r>
          </a:p>
          <a:p>
            <a:pPr marL="0" indent="0">
              <a:spcAft>
                <a:spcPts val="1200"/>
              </a:spcAft>
              <a:buNone/>
            </a:pPr>
            <a:r>
              <a:rPr lang="en-US" dirty="0"/>
              <a:t>Not all links in a document should be inside a &lt;nav&gt; element!</a:t>
            </a:r>
          </a:p>
          <a:p>
            <a:pPr marL="0" indent="0">
              <a:spcAft>
                <a:spcPts val="1200"/>
              </a:spcAft>
              <a:buNone/>
            </a:pPr>
            <a:r>
              <a:rPr lang="en-US" dirty="0"/>
              <a:t>&lt;nav&gt; is specifically for intra-site links; absolute links (to resources outside of a given site) should be styled differently</a:t>
            </a:r>
          </a:p>
          <a:p>
            <a:endParaRPr lang="en-US" dirty="0"/>
          </a:p>
        </p:txBody>
      </p:sp>
    </p:spTree>
    <p:extLst>
      <p:ext uri="{BB962C8B-B14F-4D97-AF65-F5344CB8AC3E}">
        <p14:creationId xmlns:p14="http://schemas.microsoft.com/office/powerpoint/2010/main" val="950641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Nav</a:t>
            </a:r>
            <a:endParaRPr lang="en-US" dirty="0"/>
          </a:p>
        </p:txBody>
      </p:sp>
      <p:grpSp>
        <p:nvGrpSpPr>
          <p:cNvPr id="2062" name="Group 2061"/>
          <p:cNvGrpSpPr/>
          <p:nvPr/>
        </p:nvGrpSpPr>
        <p:grpSpPr>
          <a:xfrm>
            <a:off x="4730044" y="0"/>
            <a:ext cx="4944534" cy="5463822"/>
            <a:chOff x="4730044" y="0"/>
            <a:chExt cx="4944534" cy="5463822"/>
          </a:xfrm>
        </p:grpSpPr>
        <p:grpSp>
          <p:nvGrpSpPr>
            <p:cNvPr id="2060" name="Group 2059"/>
            <p:cNvGrpSpPr/>
            <p:nvPr/>
          </p:nvGrpSpPr>
          <p:grpSpPr>
            <a:xfrm>
              <a:off x="4730044" y="0"/>
              <a:ext cx="4944534" cy="5463822"/>
              <a:chOff x="4730044" y="0"/>
              <a:chExt cx="4944534" cy="5463822"/>
            </a:xfrm>
          </p:grpSpPr>
          <p:sp>
            <p:nvSpPr>
              <p:cNvPr id="4" name="Rectangle 3"/>
              <p:cNvSpPr/>
              <p:nvPr/>
            </p:nvSpPr>
            <p:spPr>
              <a:xfrm>
                <a:off x="4730044" y="0"/>
                <a:ext cx="4944534" cy="546382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775200" y="90309"/>
                <a:ext cx="4854222" cy="7507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Header</a:t>
                </a:r>
              </a:p>
            </p:txBody>
          </p:sp>
          <p:sp>
            <p:nvSpPr>
              <p:cNvPr id="6" name="Rectangle 5"/>
              <p:cNvSpPr/>
              <p:nvPr/>
            </p:nvSpPr>
            <p:spPr>
              <a:xfrm>
                <a:off x="4775200" y="913694"/>
                <a:ext cx="4854222" cy="29245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775200" y="1302190"/>
                <a:ext cx="4854222" cy="351816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chemeClr val="bg2">
                        <a:lumMod val="25000"/>
                      </a:schemeClr>
                    </a:solidFill>
                  </a:rPr>
                  <a:t>Lorem ipsum dolor sit </a:t>
                </a:r>
                <a:r>
                  <a:rPr lang="en-US" sz="1400" dirty="0" err="1">
                    <a:solidFill>
                      <a:schemeClr val="bg2">
                        <a:lumMod val="25000"/>
                      </a:schemeClr>
                    </a:solidFill>
                  </a:rPr>
                  <a:t>amet</a:t>
                </a:r>
                <a:r>
                  <a:rPr lang="en-US" sz="1400" dirty="0">
                    <a:solidFill>
                      <a:schemeClr val="bg2">
                        <a:lumMod val="25000"/>
                      </a:schemeClr>
                    </a:solidFill>
                  </a:rPr>
                  <a:t>, gravida </a:t>
                </a:r>
                <a:r>
                  <a:rPr lang="en-US" sz="1400" dirty="0" err="1">
                    <a:solidFill>
                      <a:schemeClr val="bg2">
                        <a:lumMod val="25000"/>
                      </a:schemeClr>
                    </a:solidFill>
                  </a:rPr>
                  <a:t>facilisi</a:t>
                </a:r>
                <a:r>
                  <a:rPr lang="en-US" sz="1400" dirty="0">
                    <a:solidFill>
                      <a:schemeClr val="bg2">
                        <a:lumMod val="25000"/>
                      </a:schemeClr>
                    </a:solidFill>
                  </a:rPr>
                  <a:t> </a:t>
                </a:r>
                <a:r>
                  <a:rPr lang="en-US" sz="1400" dirty="0" err="1">
                    <a:solidFill>
                      <a:schemeClr val="bg2">
                        <a:lumMod val="25000"/>
                      </a:schemeClr>
                    </a:solidFill>
                  </a:rPr>
                  <a:t>orci</a:t>
                </a:r>
                <a:r>
                  <a:rPr lang="en-US" sz="1400" dirty="0">
                    <a:solidFill>
                      <a:schemeClr val="bg2">
                        <a:lumMod val="25000"/>
                      </a:schemeClr>
                    </a:solidFill>
                  </a:rPr>
                  <a:t> </a:t>
                </a:r>
                <a:br>
                  <a:rPr lang="en-US" sz="1400" dirty="0">
                    <a:solidFill>
                      <a:schemeClr val="bg2">
                        <a:lumMod val="25000"/>
                      </a:schemeClr>
                    </a:solidFill>
                  </a:rPr>
                </a:br>
                <a:r>
                  <a:rPr lang="en-US" sz="1400" dirty="0" err="1">
                    <a:solidFill>
                      <a:schemeClr val="bg2">
                        <a:lumMod val="25000"/>
                      </a:schemeClr>
                    </a:solidFill>
                  </a:rPr>
                  <a:t>nulla</a:t>
                </a:r>
                <a:r>
                  <a:rPr lang="en-US" sz="1400" dirty="0">
                    <a:solidFill>
                      <a:schemeClr val="bg2">
                        <a:lumMod val="25000"/>
                      </a:schemeClr>
                    </a:solidFill>
                  </a:rPr>
                  <a:t>. </a:t>
                </a:r>
                <a:r>
                  <a:rPr lang="en-US" sz="1400" dirty="0" err="1">
                    <a:solidFill>
                      <a:schemeClr val="bg2">
                        <a:lumMod val="25000"/>
                      </a:schemeClr>
                    </a:solidFill>
                  </a:rPr>
                  <a:t>Erat</a:t>
                </a:r>
                <a:r>
                  <a:rPr lang="en-US" sz="1400" dirty="0">
                    <a:solidFill>
                      <a:schemeClr val="bg2">
                        <a:lumMod val="25000"/>
                      </a:schemeClr>
                    </a:solidFill>
                  </a:rPr>
                  <a:t> dolor, </a:t>
                </a:r>
                <a:r>
                  <a:rPr lang="en-US" sz="1400" dirty="0" err="1">
                    <a:solidFill>
                      <a:schemeClr val="bg2">
                        <a:lumMod val="25000"/>
                      </a:schemeClr>
                    </a:solidFill>
                  </a:rPr>
                  <a:t>sagittis</a:t>
                </a:r>
                <a:r>
                  <a:rPr lang="en-US" sz="1400" dirty="0">
                    <a:solidFill>
                      <a:schemeClr val="bg2">
                        <a:lumMod val="25000"/>
                      </a:schemeClr>
                    </a:solidFill>
                  </a:rPr>
                  <a:t> </a:t>
                </a:r>
                <a:r>
                  <a:rPr lang="en-US" sz="1400" dirty="0" err="1">
                    <a:solidFill>
                      <a:schemeClr val="bg2">
                        <a:lumMod val="25000"/>
                      </a:schemeClr>
                    </a:solidFill>
                  </a:rPr>
                  <a:t>blandit</a:t>
                </a:r>
                <a:r>
                  <a:rPr lang="en-US" sz="1400" dirty="0">
                    <a:solidFill>
                      <a:schemeClr val="bg2">
                        <a:lumMod val="25000"/>
                      </a:schemeClr>
                    </a:solidFill>
                  </a:rPr>
                  <a:t>, </a:t>
                </a:r>
                <a:r>
                  <a:rPr lang="en-US" sz="1400" dirty="0" err="1">
                    <a:solidFill>
                      <a:schemeClr val="bg2">
                        <a:lumMod val="25000"/>
                      </a:schemeClr>
                    </a:solidFill>
                  </a:rPr>
                  <a:t>maecenas</a:t>
                </a:r>
                <a:r>
                  <a:rPr lang="en-US" sz="1400" dirty="0">
                    <a:solidFill>
                      <a:schemeClr val="bg2">
                        <a:lumMod val="25000"/>
                      </a:schemeClr>
                    </a:solidFill>
                  </a:rPr>
                  <a:t> </a:t>
                </a:r>
                <a:r>
                  <a:rPr lang="en-US" sz="1400" dirty="0" err="1">
                    <a:solidFill>
                      <a:schemeClr val="bg2">
                        <a:lumMod val="25000"/>
                      </a:schemeClr>
                    </a:solidFill>
                  </a:rPr>
                  <a:t>quis</a:t>
                </a:r>
                <a:r>
                  <a:rPr lang="en-US" sz="1400" dirty="0">
                    <a:solidFill>
                      <a:schemeClr val="bg2">
                        <a:lumMod val="25000"/>
                      </a:schemeClr>
                    </a:solidFill>
                  </a:rPr>
                  <a:t> </a:t>
                </a:r>
                <a:br>
                  <a:rPr lang="en-US" sz="1400" dirty="0">
                    <a:solidFill>
                      <a:schemeClr val="bg2">
                        <a:lumMod val="25000"/>
                      </a:schemeClr>
                    </a:solidFill>
                  </a:rPr>
                </a:br>
                <a:r>
                  <a:rPr lang="en-US" sz="1400" dirty="0">
                    <a:solidFill>
                      <a:schemeClr val="bg2">
                        <a:lumMod val="25000"/>
                      </a:schemeClr>
                    </a:solidFill>
                  </a:rPr>
                  <a:t>mi </a:t>
                </a:r>
                <a:r>
                  <a:rPr lang="en-US" sz="1400" dirty="0" err="1">
                    <a:solidFill>
                      <a:schemeClr val="bg2">
                        <a:lumMod val="25000"/>
                      </a:schemeClr>
                    </a:solidFill>
                  </a:rPr>
                  <a:t>suscipit</a:t>
                </a:r>
                <a:r>
                  <a:rPr lang="en-US" sz="1400" dirty="0">
                    <a:solidFill>
                      <a:schemeClr val="bg2">
                        <a:lumMod val="25000"/>
                      </a:schemeClr>
                    </a:solidFill>
                  </a:rPr>
                  <a:t>, </a:t>
                </a:r>
                <a:r>
                  <a:rPr lang="en-US" sz="1400" dirty="0" err="1">
                    <a:solidFill>
                      <a:schemeClr val="bg2">
                        <a:lumMod val="25000"/>
                      </a:schemeClr>
                    </a:solidFill>
                  </a:rPr>
                  <a:t>risus</a:t>
                </a:r>
                <a:r>
                  <a:rPr lang="en-US" sz="1400" dirty="0">
                    <a:solidFill>
                      <a:schemeClr val="bg2">
                        <a:lumMod val="25000"/>
                      </a:schemeClr>
                    </a:solidFill>
                  </a:rPr>
                  <a:t> </a:t>
                </a:r>
                <a:r>
                  <a:rPr lang="en-US" sz="1400" dirty="0" err="1">
                    <a:solidFill>
                      <a:schemeClr val="bg2">
                        <a:lumMod val="25000"/>
                      </a:schemeClr>
                    </a:solidFill>
                  </a:rPr>
                  <a:t>enim</a:t>
                </a:r>
                <a:r>
                  <a:rPr lang="en-US" sz="1400" dirty="0">
                    <a:solidFill>
                      <a:schemeClr val="bg2">
                        <a:lumMod val="25000"/>
                      </a:schemeClr>
                    </a:solidFill>
                  </a:rPr>
                  <a:t> </a:t>
                </a:r>
                <a:r>
                  <a:rPr lang="en-US" sz="1400" dirty="0" err="1">
                    <a:solidFill>
                      <a:schemeClr val="bg2">
                        <a:lumMod val="25000"/>
                      </a:schemeClr>
                    </a:solidFill>
                  </a:rPr>
                  <a:t>tincidunt</a:t>
                </a:r>
                <a:r>
                  <a:rPr lang="en-US" sz="1400" dirty="0">
                    <a:solidFill>
                      <a:schemeClr val="bg2">
                        <a:lumMod val="25000"/>
                      </a:schemeClr>
                    </a:solidFill>
                  </a:rPr>
                  <a:t> </a:t>
                </a:r>
                <a:r>
                  <a:rPr lang="en-US" sz="1400" dirty="0" err="1">
                    <a:solidFill>
                      <a:schemeClr val="bg2">
                        <a:lumMod val="25000"/>
                      </a:schemeClr>
                    </a:solidFill>
                  </a:rPr>
                  <a:t>erat</a:t>
                </a:r>
                <a:r>
                  <a:rPr lang="en-US" sz="1400" dirty="0">
                    <a:solidFill>
                      <a:schemeClr val="bg2">
                        <a:lumMod val="25000"/>
                      </a:schemeClr>
                    </a:solidFill>
                  </a:rPr>
                  <a:t>. </a:t>
                </a:r>
                <a:r>
                  <a:rPr lang="en-US" sz="1400" dirty="0" err="1">
                    <a:solidFill>
                      <a:schemeClr val="bg2">
                        <a:lumMod val="25000"/>
                      </a:schemeClr>
                    </a:solidFill>
                  </a:rPr>
                  <a:t>Eu</a:t>
                </a:r>
                <a:r>
                  <a:rPr lang="en-US" sz="1400" dirty="0">
                    <a:solidFill>
                      <a:schemeClr val="bg2">
                        <a:lumMod val="25000"/>
                      </a:schemeClr>
                    </a:solidFill>
                  </a:rPr>
                  <a:t> </a:t>
                </a:r>
                <a:r>
                  <a:rPr lang="en-US" sz="1400" dirty="0" err="1">
                    <a:solidFill>
                      <a:schemeClr val="bg2">
                        <a:lumMod val="25000"/>
                      </a:schemeClr>
                    </a:solidFill>
                  </a:rPr>
                  <a:t>justo</a:t>
                </a:r>
                <a:r>
                  <a:rPr lang="en-US" sz="1400" dirty="0">
                    <a:solidFill>
                      <a:schemeClr val="bg2">
                        <a:lumMod val="25000"/>
                      </a:schemeClr>
                    </a:solidFill>
                  </a:rPr>
                  <a:t>, </a:t>
                </a:r>
                <a:br>
                  <a:rPr lang="en-US" sz="1400" dirty="0">
                    <a:solidFill>
                      <a:schemeClr val="bg2">
                        <a:lumMod val="25000"/>
                      </a:schemeClr>
                    </a:solidFill>
                  </a:rPr>
                </a:br>
                <a:r>
                  <a:rPr lang="en-US" sz="1400" dirty="0" err="1">
                    <a:solidFill>
                      <a:schemeClr val="bg2">
                        <a:lumMod val="25000"/>
                      </a:schemeClr>
                    </a:solidFill>
                  </a:rPr>
                  <a:t>senectus</a:t>
                </a:r>
                <a:r>
                  <a:rPr lang="en-US" sz="1400" dirty="0">
                    <a:solidFill>
                      <a:schemeClr val="bg2">
                        <a:lumMod val="25000"/>
                      </a:schemeClr>
                    </a:solidFill>
                  </a:rPr>
                  <a:t> </a:t>
                </a:r>
                <a:r>
                  <a:rPr lang="en-US" sz="1400" dirty="0" err="1">
                    <a:solidFill>
                      <a:schemeClr val="bg2">
                        <a:lumMod val="25000"/>
                      </a:schemeClr>
                    </a:solidFill>
                  </a:rPr>
                  <a:t>ut</a:t>
                </a:r>
                <a:r>
                  <a:rPr lang="en-US" sz="1400" dirty="0">
                    <a:solidFill>
                      <a:schemeClr val="bg2">
                        <a:lumMod val="25000"/>
                      </a:schemeClr>
                    </a:solidFill>
                  </a:rPr>
                  <a:t> </a:t>
                </a:r>
                <a:r>
                  <a:rPr lang="en-US" sz="1400" dirty="0" err="1">
                    <a:solidFill>
                      <a:schemeClr val="bg2">
                        <a:lumMod val="25000"/>
                      </a:schemeClr>
                    </a:solidFill>
                  </a:rPr>
                  <a:t>mattis</a:t>
                </a:r>
                <a:r>
                  <a:rPr lang="en-US" sz="1400" dirty="0">
                    <a:solidFill>
                      <a:schemeClr val="bg2">
                        <a:lumMod val="25000"/>
                      </a:schemeClr>
                    </a:solidFill>
                  </a:rPr>
                  <a:t> </a:t>
                </a:r>
                <a:r>
                  <a:rPr lang="en-US" sz="1400" dirty="0" err="1">
                    <a:solidFill>
                      <a:schemeClr val="bg2">
                        <a:lumMod val="25000"/>
                      </a:schemeClr>
                    </a:solidFill>
                  </a:rPr>
                  <a:t>laoreet</a:t>
                </a:r>
                <a:r>
                  <a:rPr lang="en-US" sz="1400" dirty="0">
                    <a:solidFill>
                      <a:schemeClr val="bg2">
                        <a:lumMod val="25000"/>
                      </a:schemeClr>
                    </a:solidFill>
                  </a:rPr>
                  <a:t> et. </a:t>
                </a:r>
                <a:r>
                  <a:rPr lang="en-US" sz="1400" dirty="0" err="1">
                    <a:solidFill>
                      <a:schemeClr val="bg2">
                        <a:lumMod val="25000"/>
                      </a:schemeClr>
                    </a:solidFill>
                  </a:rPr>
                  <a:t>Nec</a:t>
                </a:r>
                <a:r>
                  <a:rPr lang="en-US" sz="1400" dirty="0">
                    <a:solidFill>
                      <a:schemeClr val="bg2">
                        <a:lumMod val="25000"/>
                      </a:schemeClr>
                    </a:solidFill>
                  </a:rPr>
                  <a:t> </a:t>
                </a:r>
                <a:r>
                  <a:rPr lang="en-US" sz="1400" dirty="0" err="1">
                    <a:solidFill>
                      <a:schemeClr val="bg2">
                        <a:lumMod val="25000"/>
                      </a:schemeClr>
                    </a:solidFill>
                  </a:rPr>
                  <a:t>ultricies</a:t>
                </a:r>
                <a:r>
                  <a:rPr lang="en-US" sz="1400" dirty="0">
                    <a:solidFill>
                      <a:schemeClr val="bg2">
                        <a:lumMod val="25000"/>
                      </a:schemeClr>
                    </a:solidFill>
                  </a:rPr>
                  <a:t> </a:t>
                </a:r>
                <a:br>
                  <a:rPr lang="en-US" sz="1400" dirty="0">
                    <a:solidFill>
                      <a:schemeClr val="bg2">
                        <a:lumMod val="25000"/>
                      </a:schemeClr>
                    </a:solidFill>
                  </a:rPr>
                </a:br>
                <a:r>
                  <a:rPr lang="en-US" sz="1400" dirty="0" err="1">
                    <a:solidFill>
                      <a:schemeClr val="bg2">
                        <a:lumMod val="25000"/>
                      </a:schemeClr>
                    </a:solidFill>
                  </a:rPr>
                  <a:t>ultrices</a:t>
                </a:r>
                <a:r>
                  <a:rPr lang="en-US" sz="1400" dirty="0">
                    <a:solidFill>
                      <a:schemeClr val="bg2">
                        <a:lumMod val="25000"/>
                      </a:schemeClr>
                    </a:solidFill>
                  </a:rPr>
                  <a:t> </a:t>
                </a:r>
                <a:r>
                  <a:rPr lang="en-US" sz="1400" dirty="0" err="1">
                    <a:solidFill>
                      <a:schemeClr val="bg2">
                        <a:lumMod val="25000"/>
                      </a:schemeClr>
                    </a:solidFill>
                  </a:rPr>
                  <a:t>iaculis</a:t>
                </a:r>
                <a:r>
                  <a:rPr lang="en-US" sz="1400" dirty="0">
                    <a:solidFill>
                      <a:schemeClr val="bg2">
                        <a:lumMod val="25000"/>
                      </a:schemeClr>
                    </a:solidFill>
                  </a:rPr>
                  <a:t> </a:t>
                </a:r>
                <a:r>
                  <a:rPr lang="en-US" sz="1400" dirty="0">
                    <a:solidFill>
                      <a:srgbClr val="0070C0"/>
                    </a:solidFill>
                  </a:rPr>
                  <a:t>non </a:t>
                </a:r>
                <a:r>
                  <a:rPr lang="en-US" sz="1400" dirty="0" err="1">
                    <a:solidFill>
                      <a:srgbClr val="0070C0"/>
                    </a:solidFill>
                  </a:rPr>
                  <a:t>asperiores</a:t>
                </a:r>
                <a:r>
                  <a:rPr lang="en-US" sz="1400" dirty="0">
                    <a:solidFill>
                      <a:srgbClr val="0070C0"/>
                    </a:solidFill>
                  </a:rPr>
                  <a:t> </a:t>
                </a:r>
                <a:r>
                  <a:rPr lang="en-US" sz="1400" dirty="0" err="1">
                    <a:solidFill>
                      <a:schemeClr val="bg2">
                        <a:lumMod val="25000"/>
                      </a:schemeClr>
                    </a:solidFill>
                  </a:rPr>
                  <a:t>urna</a:t>
                </a:r>
                <a:r>
                  <a:rPr lang="en-US" sz="1400" dirty="0">
                    <a:solidFill>
                      <a:schemeClr val="bg2">
                        <a:lumMod val="25000"/>
                      </a:schemeClr>
                    </a:solidFill>
                  </a:rPr>
                  <a:t>, </a:t>
                </a:r>
                <a:r>
                  <a:rPr lang="en-US" sz="1400" dirty="0" err="1">
                    <a:solidFill>
                      <a:schemeClr val="bg2">
                        <a:lumMod val="25000"/>
                      </a:schemeClr>
                    </a:solidFill>
                  </a:rPr>
                  <a:t>nec</a:t>
                </a:r>
                <a:r>
                  <a:rPr lang="en-US" sz="1400" dirty="0">
                    <a:solidFill>
                      <a:schemeClr val="bg2">
                        <a:lumMod val="25000"/>
                      </a:schemeClr>
                    </a:solidFill>
                  </a:rPr>
                  <a:t> </a:t>
                </a:r>
                <a:r>
                  <a:rPr lang="en-US" sz="1400" dirty="0" err="1">
                    <a:solidFill>
                      <a:schemeClr val="bg2">
                        <a:lumMod val="25000"/>
                      </a:schemeClr>
                    </a:solidFill>
                  </a:rPr>
                  <a:t>ut</a:t>
                </a:r>
                <a:r>
                  <a:rPr lang="en-US" sz="1400" dirty="0">
                    <a:solidFill>
                      <a:schemeClr val="bg2">
                        <a:lumMod val="25000"/>
                      </a:schemeClr>
                    </a:solidFill>
                  </a:rPr>
                  <a:t> dolor </a:t>
                </a:r>
                <a:br>
                  <a:rPr lang="en-US" sz="1400" dirty="0">
                    <a:solidFill>
                      <a:schemeClr val="bg2">
                        <a:lumMod val="25000"/>
                      </a:schemeClr>
                    </a:solidFill>
                  </a:rPr>
                </a:br>
                <a:r>
                  <a:rPr lang="en-US" sz="1400" dirty="0" err="1">
                    <a:solidFill>
                      <a:schemeClr val="bg2">
                        <a:lumMod val="25000"/>
                      </a:schemeClr>
                    </a:solidFill>
                  </a:rPr>
                  <a:t>dignissim</a:t>
                </a:r>
                <a:r>
                  <a:rPr lang="en-US" sz="1400" dirty="0">
                    <a:solidFill>
                      <a:schemeClr val="bg2">
                        <a:lumMod val="25000"/>
                      </a:schemeClr>
                    </a:solidFill>
                  </a:rPr>
                  <a:t>, </a:t>
                </a:r>
                <a:r>
                  <a:rPr lang="en-US" sz="1400" dirty="0" err="1">
                    <a:solidFill>
                      <a:schemeClr val="bg2">
                        <a:lumMod val="25000"/>
                      </a:schemeClr>
                    </a:solidFill>
                  </a:rPr>
                  <a:t>sodales</a:t>
                </a:r>
                <a:r>
                  <a:rPr lang="en-US" sz="1400" dirty="0">
                    <a:solidFill>
                      <a:schemeClr val="bg2">
                        <a:lumMod val="25000"/>
                      </a:schemeClr>
                    </a:solidFill>
                  </a:rPr>
                  <a:t> </a:t>
                </a:r>
                <a:r>
                  <a:rPr lang="en-US" sz="1400" dirty="0" err="1">
                    <a:solidFill>
                      <a:schemeClr val="bg2">
                        <a:lumMod val="25000"/>
                      </a:schemeClr>
                    </a:solidFill>
                  </a:rPr>
                  <a:t>purus</a:t>
                </a:r>
                <a:r>
                  <a:rPr lang="en-US" sz="1400" dirty="0">
                    <a:solidFill>
                      <a:schemeClr val="bg2">
                        <a:lumMod val="25000"/>
                      </a:schemeClr>
                    </a:solidFill>
                  </a:rPr>
                  <a:t> </a:t>
                </a:r>
                <a:r>
                  <a:rPr lang="en-US" sz="1400" dirty="0" err="1">
                    <a:solidFill>
                      <a:schemeClr val="bg2">
                        <a:lumMod val="25000"/>
                      </a:schemeClr>
                    </a:solidFill>
                  </a:rPr>
                  <a:t>pretium</a:t>
                </a:r>
                <a:r>
                  <a:rPr lang="en-US" sz="1400" dirty="0">
                    <a:solidFill>
                      <a:schemeClr val="bg2">
                        <a:lumMod val="25000"/>
                      </a:schemeClr>
                    </a:solidFill>
                  </a:rPr>
                  <a:t> </a:t>
                </a:r>
                <a:r>
                  <a:rPr lang="en-US" sz="1400" dirty="0" err="1">
                    <a:solidFill>
                      <a:schemeClr val="bg2">
                        <a:lumMod val="25000"/>
                      </a:schemeClr>
                    </a:solidFill>
                  </a:rPr>
                  <a:t>eget</a:t>
                </a:r>
                <a:r>
                  <a:rPr lang="en-US" sz="1400" dirty="0">
                    <a:solidFill>
                      <a:schemeClr val="bg2">
                        <a:lumMod val="25000"/>
                      </a:schemeClr>
                    </a:solidFill>
                  </a:rPr>
                  <a:t>, </a:t>
                </a:r>
                <a:r>
                  <a:rPr lang="en-US" sz="1400" dirty="0" err="1">
                    <a:solidFill>
                      <a:schemeClr val="bg2">
                        <a:lumMod val="25000"/>
                      </a:schemeClr>
                    </a:solidFill>
                  </a:rPr>
                  <a:t>wisi</a:t>
                </a:r>
                <a:r>
                  <a:rPr lang="en-US" sz="1400" dirty="0">
                    <a:solidFill>
                      <a:schemeClr val="bg2">
                        <a:lumMod val="25000"/>
                      </a:schemeClr>
                    </a:solidFill>
                  </a:rPr>
                  <a:t> </a:t>
                </a:r>
                <a:br>
                  <a:rPr lang="en-US" sz="1400" dirty="0">
                    <a:solidFill>
                      <a:schemeClr val="bg2">
                        <a:lumMod val="25000"/>
                      </a:schemeClr>
                    </a:solidFill>
                  </a:rPr>
                </a:br>
                <a:r>
                  <a:rPr lang="en-US" sz="1400" dirty="0">
                    <a:solidFill>
                      <a:schemeClr val="bg2">
                        <a:lumMod val="25000"/>
                      </a:schemeClr>
                    </a:solidFill>
                  </a:rPr>
                  <a:t>integer </a:t>
                </a:r>
                <a:r>
                  <a:rPr lang="en-US" sz="1400" dirty="0" err="1">
                    <a:solidFill>
                      <a:schemeClr val="bg2">
                        <a:lumMod val="25000"/>
                      </a:schemeClr>
                    </a:solidFill>
                  </a:rPr>
                  <a:t>molestie</a:t>
                </a:r>
                <a:r>
                  <a:rPr lang="en-US" sz="1400" dirty="0">
                    <a:solidFill>
                      <a:schemeClr val="bg2">
                        <a:lumMod val="25000"/>
                      </a:schemeClr>
                    </a:solidFill>
                  </a:rPr>
                  <a:t> </a:t>
                </a:r>
                <a:r>
                  <a:rPr lang="en-US" sz="1400" dirty="0" err="1">
                    <a:solidFill>
                      <a:schemeClr val="bg2">
                        <a:lumMod val="25000"/>
                      </a:schemeClr>
                    </a:solidFill>
                  </a:rPr>
                  <a:t>arcu</a:t>
                </a:r>
                <a:r>
                  <a:rPr lang="en-US" sz="1400" dirty="0">
                    <a:solidFill>
                      <a:schemeClr val="bg2">
                        <a:lumMod val="25000"/>
                      </a:schemeClr>
                    </a:solidFill>
                  </a:rPr>
                  <a:t> </a:t>
                </a:r>
                <a:r>
                  <a:rPr lang="en-US" sz="1400" dirty="0" err="1">
                    <a:solidFill>
                      <a:schemeClr val="bg2">
                        <a:lumMod val="25000"/>
                      </a:schemeClr>
                    </a:solidFill>
                  </a:rPr>
                  <a:t>platea</a:t>
                </a:r>
                <a:r>
                  <a:rPr lang="en-US" sz="1400" dirty="0">
                    <a:solidFill>
                      <a:schemeClr val="bg2">
                        <a:lumMod val="25000"/>
                      </a:schemeClr>
                    </a:solidFill>
                  </a:rPr>
                  <a:t>, </a:t>
                </a:r>
                <a:r>
                  <a:rPr lang="en-US" sz="1400" dirty="0" err="1">
                    <a:solidFill>
                      <a:schemeClr val="bg2">
                        <a:lumMod val="25000"/>
                      </a:schemeClr>
                    </a:solidFill>
                  </a:rPr>
                  <a:t>urna</a:t>
                </a:r>
                <a:r>
                  <a:rPr lang="en-US" sz="1400" dirty="0">
                    <a:solidFill>
                      <a:schemeClr val="bg2">
                        <a:lumMod val="25000"/>
                      </a:schemeClr>
                    </a:solidFill>
                  </a:rPr>
                  <a:t> </a:t>
                </a:r>
                <a:r>
                  <a:rPr lang="en-US" sz="1400" dirty="0" err="1">
                    <a:solidFill>
                      <a:schemeClr val="bg2">
                        <a:lumMod val="25000"/>
                      </a:schemeClr>
                    </a:solidFill>
                  </a:rPr>
                  <a:t>ut</a:t>
                </a:r>
                <a:r>
                  <a:rPr lang="en-US" sz="1400" dirty="0">
                    <a:solidFill>
                      <a:schemeClr val="bg2">
                        <a:lumMod val="25000"/>
                      </a:schemeClr>
                    </a:solidFill>
                  </a:rPr>
                  <a:t> in ipsum </a:t>
                </a:r>
                <a:br>
                  <a:rPr lang="en-US" sz="1400" dirty="0">
                    <a:solidFill>
                      <a:schemeClr val="bg2">
                        <a:lumMod val="25000"/>
                      </a:schemeClr>
                    </a:solidFill>
                  </a:rPr>
                </a:br>
                <a:r>
                  <a:rPr lang="en-US" sz="1400" dirty="0" err="1">
                    <a:solidFill>
                      <a:schemeClr val="bg2">
                        <a:lumMod val="25000"/>
                      </a:schemeClr>
                    </a:solidFill>
                  </a:rPr>
                  <a:t>laoreet</a:t>
                </a:r>
                <a:r>
                  <a:rPr lang="en-US" sz="1400" dirty="0">
                    <a:solidFill>
                      <a:schemeClr val="bg2">
                        <a:lumMod val="25000"/>
                      </a:schemeClr>
                    </a:solidFill>
                  </a:rPr>
                  <a:t>. </a:t>
                </a:r>
                <a:r>
                  <a:rPr lang="en-US" sz="1400" dirty="0" err="1">
                    <a:solidFill>
                      <a:schemeClr val="bg2">
                        <a:lumMod val="25000"/>
                      </a:schemeClr>
                    </a:solidFill>
                  </a:rPr>
                  <a:t>Aenean</a:t>
                </a:r>
                <a:r>
                  <a:rPr lang="en-US" sz="1400" dirty="0">
                    <a:solidFill>
                      <a:schemeClr val="bg2">
                        <a:lumMod val="25000"/>
                      </a:schemeClr>
                    </a:solidFill>
                  </a:rPr>
                  <a:t> </a:t>
                </a:r>
                <a:r>
                  <a:rPr lang="en-US" sz="1400" dirty="0" err="1">
                    <a:solidFill>
                      <a:schemeClr val="bg2">
                        <a:lumMod val="25000"/>
                      </a:schemeClr>
                    </a:solidFill>
                  </a:rPr>
                  <a:t>fusce</a:t>
                </a:r>
                <a:r>
                  <a:rPr lang="en-US" sz="1400" dirty="0">
                    <a:solidFill>
                      <a:schemeClr val="bg2">
                        <a:lumMod val="25000"/>
                      </a:schemeClr>
                    </a:solidFill>
                  </a:rPr>
                  <a:t> </a:t>
                </a:r>
                <a:r>
                  <a:rPr lang="en-US" sz="1400" dirty="0" err="1">
                    <a:solidFill>
                      <a:schemeClr val="bg2">
                        <a:lumMod val="25000"/>
                      </a:schemeClr>
                    </a:solidFill>
                  </a:rPr>
                  <a:t>donec</a:t>
                </a:r>
                <a:r>
                  <a:rPr lang="en-US" sz="1400" dirty="0">
                    <a:solidFill>
                      <a:schemeClr val="bg2">
                        <a:lumMod val="25000"/>
                      </a:schemeClr>
                    </a:solidFill>
                  </a:rPr>
                  <a:t>, </a:t>
                </a:r>
                <a:r>
                  <a:rPr lang="en-US" sz="1400" dirty="0" err="1">
                    <a:solidFill>
                      <a:schemeClr val="bg2">
                        <a:lumMod val="25000"/>
                      </a:schemeClr>
                    </a:solidFill>
                  </a:rPr>
                  <a:t>arcu</a:t>
                </a:r>
                <a:r>
                  <a:rPr lang="en-US" sz="1400" dirty="0">
                    <a:solidFill>
                      <a:schemeClr val="bg2">
                        <a:lumMod val="25000"/>
                      </a:schemeClr>
                    </a:solidFill>
                  </a:rPr>
                  <a:t> </a:t>
                </a:r>
                <a:r>
                  <a:rPr lang="en-US" sz="1400" dirty="0" err="1">
                    <a:solidFill>
                      <a:schemeClr val="bg2">
                        <a:lumMod val="25000"/>
                      </a:schemeClr>
                    </a:solidFill>
                  </a:rPr>
                  <a:t>elit</a:t>
                </a:r>
                <a:r>
                  <a:rPr lang="en-US" sz="1400" dirty="0">
                    <a:solidFill>
                      <a:schemeClr val="bg2">
                        <a:lumMod val="25000"/>
                      </a:schemeClr>
                    </a:solidFill>
                  </a:rPr>
                  <a:t>, </a:t>
                </a:r>
                <a:r>
                  <a:rPr lang="en-US" sz="1400" dirty="0" err="1">
                    <a:solidFill>
                      <a:schemeClr val="bg2">
                        <a:lumMod val="25000"/>
                      </a:schemeClr>
                    </a:solidFill>
                  </a:rPr>
                  <a:t>placerat</a:t>
                </a:r>
                <a:r>
                  <a:rPr lang="en-US" sz="1400" dirty="0">
                    <a:solidFill>
                      <a:schemeClr val="bg2">
                        <a:lumMod val="25000"/>
                      </a:schemeClr>
                    </a:solidFill>
                  </a:rPr>
                  <a:t> </a:t>
                </a:r>
                <a:r>
                  <a:rPr lang="en-US" sz="1400" dirty="0" err="1">
                    <a:solidFill>
                      <a:schemeClr val="bg2">
                        <a:lumMod val="25000"/>
                      </a:schemeClr>
                    </a:solidFill>
                  </a:rPr>
                  <a:t>arcu</a:t>
                </a:r>
                <a:r>
                  <a:rPr lang="en-US" sz="1400" dirty="0">
                    <a:solidFill>
                      <a:schemeClr val="bg2">
                        <a:lumMod val="25000"/>
                      </a:schemeClr>
                    </a:solidFill>
                  </a:rPr>
                  <a:t> </a:t>
                </a:r>
                <a:r>
                  <a:rPr lang="en-US" sz="1400" dirty="0" err="1">
                    <a:solidFill>
                      <a:schemeClr val="bg2">
                        <a:lumMod val="25000"/>
                      </a:schemeClr>
                    </a:solidFill>
                  </a:rPr>
                  <a:t>laoreet</a:t>
                </a:r>
                <a:r>
                  <a:rPr lang="en-US" sz="1400" dirty="0">
                    <a:solidFill>
                      <a:schemeClr val="bg2">
                        <a:lumMod val="25000"/>
                      </a:schemeClr>
                    </a:solidFill>
                  </a:rPr>
                  <a:t>.</a:t>
                </a:r>
                <a:br>
                  <a:rPr lang="en-US" sz="1400" dirty="0">
                    <a:solidFill>
                      <a:schemeClr val="bg2">
                        <a:lumMod val="25000"/>
                      </a:schemeClr>
                    </a:solidFill>
                  </a:rPr>
                </a:br>
                <a:endParaRPr lang="en-US" sz="1400" dirty="0">
                  <a:solidFill>
                    <a:schemeClr val="bg2">
                      <a:lumMod val="25000"/>
                    </a:schemeClr>
                  </a:solidFill>
                </a:endParaRPr>
              </a:p>
              <a:p>
                <a:r>
                  <a:rPr lang="en-US" sz="1400" dirty="0" err="1">
                    <a:solidFill>
                      <a:schemeClr val="bg2">
                        <a:lumMod val="25000"/>
                      </a:schemeClr>
                    </a:solidFill>
                  </a:rPr>
                  <a:t>Nibh</a:t>
                </a:r>
                <a:r>
                  <a:rPr lang="en-US" sz="1400" dirty="0">
                    <a:solidFill>
                      <a:schemeClr val="bg2">
                        <a:lumMod val="25000"/>
                      </a:schemeClr>
                    </a:solidFill>
                  </a:rPr>
                  <a:t> </a:t>
                </a:r>
                <a:r>
                  <a:rPr lang="en-US" sz="1400" dirty="0" err="1">
                    <a:solidFill>
                      <a:schemeClr val="bg2">
                        <a:lumMod val="25000"/>
                      </a:schemeClr>
                    </a:solidFill>
                  </a:rPr>
                  <a:t>leo</a:t>
                </a:r>
                <a:r>
                  <a:rPr lang="en-US" sz="1400" dirty="0">
                    <a:solidFill>
                      <a:schemeClr val="bg2">
                        <a:lumMod val="25000"/>
                      </a:schemeClr>
                    </a:solidFill>
                  </a:rPr>
                  <a:t> sit dui </a:t>
                </a:r>
                <a:r>
                  <a:rPr lang="en-US" sz="1400" dirty="0" err="1">
                    <a:solidFill>
                      <a:schemeClr val="bg2">
                        <a:lumMod val="25000"/>
                      </a:schemeClr>
                    </a:solidFill>
                  </a:rPr>
                  <a:t>nonummy</a:t>
                </a:r>
                <a:r>
                  <a:rPr lang="en-US" sz="1400" dirty="0">
                    <a:solidFill>
                      <a:schemeClr val="bg2">
                        <a:lumMod val="25000"/>
                      </a:schemeClr>
                    </a:solidFill>
                  </a:rPr>
                  <a:t> </a:t>
                </a:r>
                <a:r>
                  <a:rPr lang="en-US" sz="1400" u="sng" dirty="0">
                    <a:solidFill>
                      <a:srgbClr val="0070C0"/>
                    </a:solidFill>
                  </a:rPr>
                  <a:t>lorem</a:t>
                </a:r>
                <a:r>
                  <a:rPr lang="en-US" sz="1400" dirty="0">
                    <a:solidFill>
                      <a:schemeClr val="bg2">
                        <a:lumMod val="25000"/>
                      </a:schemeClr>
                    </a:solidFill>
                  </a:rPr>
                  <a:t> </a:t>
                </a:r>
                <a:r>
                  <a:rPr lang="en-US" sz="1400" dirty="0" err="1">
                    <a:solidFill>
                      <a:schemeClr val="bg2">
                        <a:lumMod val="25000"/>
                      </a:schemeClr>
                    </a:solidFill>
                  </a:rPr>
                  <a:t>augue</a:t>
                </a:r>
                <a:r>
                  <a:rPr lang="en-US" sz="1400" dirty="0">
                    <a:solidFill>
                      <a:schemeClr val="bg2">
                        <a:lumMod val="25000"/>
                      </a:schemeClr>
                    </a:solidFill>
                  </a:rPr>
                  <a:t>, </a:t>
                </a:r>
                <a:r>
                  <a:rPr lang="en-US" sz="1400" dirty="0" err="1">
                    <a:solidFill>
                      <a:schemeClr val="bg2">
                        <a:lumMod val="25000"/>
                      </a:schemeClr>
                    </a:solidFill>
                  </a:rPr>
                  <a:t>purus</a:t>
                </a:r>
                <a:r>
                  <a:rPr lang="en-US" sz="1400" dirty="0">
                    <a:solidFill>
                      <a:schemeClr val="bg2">
                        <a:lumMod val="25000"/>
                      </a:schemeClr>
                    </a:solidFill>
                  </a:rPr>
                  <a:t> libero </a:t>
                </a:r>
                <a:r>
                  <a:rPr lang="en-US" sz="1400" dirty="0" err="1">
                    <a:solidFill>
                      <a:schemeClr val="bg2">
                        <a:lumMod val="25000"/>
                      </a:schemeClr>
                    </a:solidFill>
                  </a:rPr>
                  <a:t>turpis</a:t>
                </a:r>
                <a:r>
                  <a:rPr lang="en-US" sz="1400" dirty="0">
                    <a:solidFill>
                      <a:schemeClr val="bg2">
                        <a:lumMod val="25000"/>
                      </a:schemeClr>
                    </a:solidFill>
                  </a:rPr>
                  <a:t> integer, at </a:t>
                </a:r>
                <a:r>
                  <a:rPr lang="en-US" sz="1400" dirty="0" err="1">
                    <a:solidFill>
                      <a:schemeClr val="bg2">
                        <a:lumMod val="25000"/>
                      </a:schemeClr>
                    </a:solidFill>
                  </a:rPr>
                  <a:t>erat</a:t>
                </a:r>
                <a:r>
                  <a:rPr lang="en-US" sz="1400" dirty="0">
                    <a:solidFill>
                      <a:schemeClr val="bg2">
                        <a:lumMod val="25000"/>
                      </a:schemeClr>
                    </a:solidFill>
                  </a:rPr>
                  <a:t> </a:t>
                </a:r>
                <a:r>
                  <a:rPr lang="en-US" sz="1400" dirty="0" err="1">
                    <a:solidFill>
                      <a:schemeClr val="bg2">
                        <a:lumMod val="25000"/>
                      </a:schemeClr>
                    </a:solidFill>
                  </a:rPr>
                  <a:t>conubia</a:t>
                </a:r>
                <a:r>
                  <a:rPr lang="en-US" sz="1400" dirty="0">
                    <a:solidFill>
                      <a:schemeClr val="bg2">
                        <a:lumMod val="25000"/>
                      </a:schemeClr>
                    </a:solidFill>
                  </a:rPr>
                  <a:t> </a:t>
                </a:r>
                <a:r>
                  <a:rPr lang="en-US" sz="1400" dirty="0" err="1">
                    <a:solidFill>
                      <a:schemeClr val="bg2">
                        <a:lumMod val="25000"/>
                      </a:schemeClr>
                    </a:solidFill>
                  </a:rPr>
                  <a:t>neque</a:t>
                </a:r>
                <a:r>
                  <a:rPr lang="en-US" sz="1400" dirty="0">
                    <a:solidFill>
                      <a:schemeClr val="bg2">
                        <a:lumMod val="25000"/>
                      </a:schemeClr>
                    </a:solidFill>
                  </a:rPr>
                  <a:t>, </a:t>
                </a:r>
                <a:r>
                  <a:rPr lang="en-US" sz="1400" dirty="0" err="1">
                    <a:solidFill>
                      <a:schemeClr val="bg2">
                        <a:lumMod val="25000"/>
                      </a:schemeClr>
                    </a:solidFill>
                  </a:rPr>
                  <a:t>praesent</a:t>
                </a:r>
                <a:r>
                  <a:rPr lang="en-US" sz="1400" dirty="0">
                    <a:solidFill>
                      <a:schemeClr val="bg2">
                        <a:lumMod val="25000"/>
                      </a:schemeClr>
                    </a:solidFill>
                  </a:rPr>
                  <a:t> </a:t>
                </a:r>
                <a:r>
                  <a:rPr lang="en-US" sz="1400" dirty="0" err="1">
                    <a:solidFill>
                      <a:schemeClr val="bg2">
                        <a:lumMod val="25000"/>
                      </a:schemeClr>
                    </a:solidFill>
                  </a:rPr>
                  <a:t>eleifend</a:t>
                </a:r>
                <a:r>
                  <a:rPr lang="en-US" sz="1400" dirty="0">
                    <a:solidFill>
                      <a:schemeClr val="bg2">
                        <a:lumMod val="25000"/>
                      </a:schemeClr>
                    </a:solidFill>
                  </a:rPr>
                  <a:t> </a:t>
                </a:r>
                <a:r>
                  <a:rPr lang="en-US" sz="1400" dirty="0" err="1">
                    <a:solidFill>
                      <a:schemeClr val="bg2">
                        <a:lumMod val="25000"/>
                      </a:schemeClr>
                    </a:solidFill>
                  </a:rPr>
                  <a:t>placerat</a:t>
                </a:r>
                <a:r>
                  <a:rPr lang="en-US" sz="1400" dirty="0">
                    <a:solidFill>
                      <a:schemeClr val="bg2">
                        <a:lumMod val="25000"/>
                      </a:schemeClr>
                    </a:solidFill>
                  </a:rPr>
                  <a:t> </a:t>
                </a:r>
                <a:r>
                  <a:rPr lang="en-US" sz="1400" dirty="0" err="1">
                    <a:solidFill>
                      <a:schemeClr val="bg2">
                        <a:lumMod val="25000"/>
                      </a:schemeClr>
                    </a:solidFill>
                  </a:rPr>
                  <a:t>ridiculus</a:t>
                </a:r>
                <a:r>
                  <a:rPr lang="en-US" sz="1400" dirty="0">
                    <a:solidFill>
                      <a:schemeClr val="bg2">
                        <a:lumMod val="25000"/>
                      </a:schemeClr>
                    </a:solidFill>
                  </a:rPr>
                  <a:t> magna </a:t>
                </a:r>
                <a:r>
                  <a:rPr lang="en-US" sz="1400" dirty="0" err="1">
                    <a:solidFill>
                      <a:schemeClr val="bg2">
                        <a:lumMod val="25000"/>
                      </a:schemeClr>
                    </a:solidFill>
                  </a:rPr>
                  <a:t>pulvinar</a:t>
                </a:r>
                <a:r>
                  <a:rPr lang="en-US" sz="1400" dirty="0">
                    <a:solidFill>
                      <a:schemeClr val="bg2">
                        <a:lumMod val="25000"/>
                      </a:schemeClr>
                    </a:solidFill>
                  </a:rPr>
                  <a:t> ipsum. Dolor </a:t>
                </a:r>
                <a:r>
                  <a:rPr lang="en-US" sz="1400" dirty="0" err="1">
                    <a:solidFill>
                      <a:schemeClr val="bg2">
                        <a:lumMod val="25000"/>
                      </a:schemeClr>
                    </a:solidFill>
                  </a:rPr>
                  <a:t>odio</a:t>
                </a:r>
                <a:r>
                  <a:rPr lang="en-US" sz="1400" dirty="0">
                    <a:solidFill>
                      <a:schemeClr val="bg2">
                        <a:lumMod val="25000"/>
                      </a:schemeClr>
                    </a:solidFill>
                  </a:rPr>
                  <a:t> </a:t>
                </a:r>
                <a:r>
                  <a:rPr lang="en-US" sz="1400" dirty="0" err="1">
                    <a:solidFill>
                      <a:schemeClr val="bg2">
                        <a:lumMod val="25000"/>
                      </a:schemeClr>
                    </a:solidFill>
                  </a:rPr>
                  <a:t>pretium</a:t>
                </a:r>
                <a:r>
                  <a:rPr lang="en-US" sz="1400" dirty="0">
                    <a:solidFill>
                      <a:schemeClr val="bg2">
                        <a:lumMod val="25000"/>
                      </a:schemeClr>
                    </a:solidFill>
                  </a:rPr>
                  <a:t> </a:t>
                </a:r>
                <a:r>
                  <a:rPr lang="en-US" sz="1400" dirty="0" err="1">
                    <a:solidFill>
                      <a:schemeClr val="bg2">
                        <a:lumMod val="25000"/>
                      </a:schemeClr>
                    </a:solidFill>
                  </a:rPr>
                  <a:t>eiusmod</a:t>
                </a:r>
                <a:r>
                  <a:rPr lang="en-US" sz="1400" dirty="0">
                    <a:solidFill>
                      <a:schemeClr val="bg2">
                        <a:lumMod val="25000"/>
                      </a:schemeClr>
                    </a:solidFill>
                  </a:rPr>
                  <a:t> </a:t>
                </a:r>
                <a:r>
                  <a:rPr lang="en-US" sz="1400" dirty="0" err="1">
                    <a:solidFill>
                      <a:schemeClr val="bg2">
                        <a:lumMod val="25000"/>
                      </a:schemeClr>
                    </a:solidFill>
                  </a:rPr>
                  <a:t>aliquid</a:t>
                </a:r>
                <a:r>
                  <a:rPr lang="en-US" sz="1400" dirty="0">
                    <a:solidFill>
                      <a:schemeClr val="bg2">
                        <a:lumMod val="25000"/>
                      </a:schemeClr>
                    </a:solidFill>
                  </a:rPr>
                  <a:t>. </a:t>
                </a:r>
                <a:r>
                  <a:rPr lang="en-US" sz="1400" dirty="0" err="1">
                    <a:solidFill>
                      <a:schemeClr val="bg2">
                        <a:lumMod val="25000"/>
                      </a:schemeClr>
                    </a:solidFill>
                  </a:rPr>
                  <a:t>Mauris</a:t>
                </a:r>
                <a:r>
                  <a:rPr lang="en-US" sz="1400" dirty="0">
                    <a:solidFill>
                      <a:schemeClr val="bg2">
                        <a:lumMod val="25000"/>
                      </a:schemeClr>
                    </a:solidFill>
                  </a:rPr>
                  <a:t> </a:t>
                </a:r>
                <a:r>
                  <a:rPr lang="en-US" sz="1400" dirty="0" err="1">
                    <a:solidFill>
                      <a:schemeClr val="bg2">
                        <a:lumMod val="25000"/>
                      </a:schemeClr>
                    </a:solidFill>
                  </a:rPr>
                  <a:t>amet</a:t>
                </a:r>
                <a:r>
                  <a:rPr lang="en-US" sz="1400" dirty="0">
                    <a:solidFill>
                      <a:schemeClr val="bg2">
                        <a:lumMod val="25000"/>
                      </a:schemeClr>
                    </a:solidFill>
                  </a:rPr>
                  <a:t> </a:t>
                </a:r>
                <a:r>
                  <a:rPr lang="en-US" sz="1400" dirty="0" err="1">
                    <a:solidFill>
                      <a:schemeClr val="bg2">
                        <a:lumMod val="25000"/>
                      </a:schemeClr>
                    </a:solidFill>
                  </a:rPr>
                  <a:t>voluptatem</a:t>
                </a:r>
                <a:r>
                  <a:rPr lang="en-US" sz="1400" dirty="0">
                    <a:solidFill>
                      <a:schemeClr val="bg2">
                        <a:lumMod val="25000"/>
                      </a:schemeClr>
                    </a:solidFill>
                  </a:rPr>
                  <a:t> gravida, </a:t>
                </a:r>
                <a:r>
                  <a:rPr lang="en-US" sz="1400" dirty="0" err="1">
                    <a:solidFill>
                      <a:schemeClr val="bg2">
                        <a:lumMod val="25000"/>
                      </a:schemeClr>
                    </a:solidFill>
                  </a:rPr>
                  <a:t>ullamcorper</a:t>
                </a:r>
                <a:r>
                  <a:rPr lang="en-US" sz="1400" dirty="0">
                    <a:solidFill>
                      <a:schemeClr val="bg2">
                        <a:lumMod val="25000"/>
                      </a:schemeClr>
                    </a:solidFill>
                  </a:rPr>
                  <a:t> id </a:t>
                </a:r>
                <a:r>
                  <a:rPr lang="en-US" sz="1400" dirty="0" err="1">
                    <a:solidFill>
                      <a:schemeClr val="bg2">
                        <a:lumMod val="25000"/>
                      </a:schemeClr>
                    </a:solidFill>
                  </a:rPr>
                  <a:t>dignissim</a:t>
                </a:r>
                <a:r>
                  <a:rPr lang="en-US" sz="1400" dirty="0">
                    <a:solidFill>
                      <a:schemeClr val="bg2">
                        <a:lumMod val="25000"/>
                      </a:schemeClr>
                    </a:solidFill>
                  </a:rPr>
                  <a:t> </a:t>
                </a:r>
                <a:r>
                  <a:rPr lang="en-US" sz="1400" u="sng" dirty="0" err="1">
                    <a:solidFill>
                      <a:srgbClr val="0070C0"/>
                    </a:solidFill>
                  </a:rPr>
                  <a:t>consequat</a:t>
                </a:r>
                <a:r>
                  <a:rPr lang="en-US" sz="1400" u="sng" dirty="0">
                    <a:solidFill>
                      <a:srgbClr val="0070C0"/>
                    </a:solidFill>
                  </a:rPr>
                  <a:t> </a:t>
                </a:r>
                <a:r>
                  <a:rPr lang="en-US" sz="1400" u="sng" dirty="0" err="1">
                    <a:solidFill>
                      <a:srgbClr val="0070C0"/>
                    </a:solidFill>
                  </a:rPr>
                  <a:t>suscipit</a:t>
                </a:r>
                <a:r>
                  <a:rPr lang="en-US" sz="1400" u="sng" dirty="0">
                    <a:solidFill>
                      <a:srgbClr val="0070C0"/>
                    </a:solidFill>
                  </a:rPr>
                  <a:t>, </a:t>
                </a:r>
                <a:r>
                  <a:rPr lang="en-US" sz="1400" u="sng" dirty="0" err="1">
                    <a:solidFill>
                      <a:srgbClr val="0070C0"/>
                    </a:solidFill>
                  </a:rPr>
                  <a:t>risus</a:t>
                </a:r>
                <a:r>
                  <a:rPr lang="en-US" sz="1400" u="sng" dirty="0">
                    <a:solidFill>
                      <a:srgbClr val="0070C0"/>
                    </a:solidFill>
                  </a:rPr>
                  <a:t> </a:t>
                </a:r>
                <a:r>
                  <a:rPr lang="en-US" sz="1400" dirty="0" err="1">
                    <a:solidFill>
                      <a:schemeClr val="bg2">
                        <a:lumMod val="25000"/>
                      </a:schemeClr>
                    </a:solidFill>
                  </a:rPr>
                  <a:t>pulvinar</a:t>
                </a:r>
                <a:r>
                  <a:rPr lang="en-US" sz="1400" dirty="0">
                    <a:solidFill>
                      <a:schemeClr val="bg2">
                        <a:lumMod val="25000"/>
                      </a:schemeClr>
                    </a:solidFill>
                  </a:rPr>
                  <a:t> </a:t>
                </a:r>
                <a:r>
                  <a:rPr lang="en-US" sz="1400" dirty="0" err="1">
                    <a:solidFill>
                      <a:schemeClr val="bg2">
                        <a:lumMod val="25000"/>
                      </a:schemeClr>
                    </a:solidFill>
                  </a:rPr>
                  <a:t>nam</a:t>
                </a:r>
                <a:r>
                  <a:rPr lang="en-US" sz="1400" dirty="0">
                    <a:solidFill>
                      <a:schemeClr val="bg2">
                        <a:lumMod val="25000"/>
                      </a:schemeClr>
                    </a:solidFill>
                  </a:rPr>
                  <a:t> a </a:t>
                </a:r>
                <a:r>
                  <a:rPr lang="en-US" sz="1400" dirty="0" err="1">
                    <a:solidFill>
                      <a:schemeClr val="bg2">
                        <a:lumMod val="25000"/>
                      </a:schemeClr>
                    </a:solidFill>
                  </a:rPr>
                  <a:t>nam</a:t>
                </a:r>
                <a:r>
                  <a:rPr lang="en-US" sz="1400" dirty="0">
                    <a:solidFill>
                      <a:schemeClr val="bg2">
                        <a:lumMod val="25000"/>
                      </a:schemeClr>
                    </a:solidFill>
                  </a:rPr>
                  <a:t>, et </a:t>
                </a:r>
                <a:r>
                  <a:rPr lang="en-US" sz="1400" dirty="0" err="1">
                    <a:solidFill>
                      <a:schemeClr val="bg2">
                        <a:lumMod val="25000"/>
                      </a:schemeClr>
                    </a:solidFill>
                  </a:rPr>
                  <a:t>viverra</a:t>
                </a:r>
                <a:r>
                  <a:rPr lang="en-US" sz="1400" dirty="0">
                    <a:solidFill>
                      <a:schemeClr val="bg2">
                        <a:lumMod val="25000"/>
                      </a:schemeClr>
                    </a:solidFill>
                  </a:rPr>
                  <a:t> </a:t>
                </a:r>
                <a:r>
                  <a:rPr lang="en-US" sz="1400" dirty="0" err="1">
                    <a:solidFill>
                      <a:schemeClr val="bg2">
                        <a:lumMod val="25000"/>
                      </a:schemeClr>
                    </a:solidFill>
                  </a:rPr>
                  <a:t>sed</a:t>
                </a:r>
                <a:r>
                  <a:rPr lang="en-US" sz="1400" dirty="0">
                    <a:solidFill>
                      <a:schemeClr val="bg2">
                        <a:lumMod val="25000"/>
                      </a:schemeClr>
                    </a:solidFill>
                  </a:rPr>
                  <a:t>, </a:t>
                </a:r>
                <a:r>
                  <a:rPr lang="en-US" sz="1400" dirty="0" err="1">
                    <a:solidFill>
                      <a:schemeClr val="bg2">
                        <a:lumMod val="25000"/>
                      </a:schemeClr>
                    </a:solidFill>
                  </a:rPr>
                  <a:t>anim</a:t>
                </a:r>
                <a:r>
                  <a:rPr lang="en-US" sz="1400" dirty="0">
                    <a:solidFill>
                      <a:schemeClr val="bg2">
                        <a:lumMod val="25000"/>
                      </a:schemeClr>
                    </a:solidFill>
                  </a:rPr>
                  <a:t> </a:t>
                </a:r>
                <a:r>
                  <a:rPr lang="en-US" sz="1400" dirty="0" err="1">
                    <a:solidFill>
                      <a:schemeClr val="bg2">
                        <a:lumMod val="25000"/>
                      </a:schemeClr>
                    </a:solidFill>
                  </a:rPr>
                  <a:t>tincidunt</a:t>
                </a:r>
                <a:r>
                  <a:rPr lang="en-US" sz="1400" dirty="0">
                    <a:solidFill>
                      <a:schemeClr val="bg2">
                        <a:lumMod val="25000"/>
                      </a:schemeClr>
                    </a:solidFill>
                  </a:rPr>
                  <a:t> quam. </a:t>
                </a:r>
                <a:r>
                  <a:rPr lang="en-US" sz="1400" dirty="0" err="1">
                    <a:solidFill>
                      <a:schemeClr val="bg2">
                        <a:lumMod val="25000"/>
                      </a:schemeClr>
                    </a:solidFill>
                  </a:rPr>
                  <a:t>Sed</a:t>
                </a:r>
                <a:r>
                  <a:rPr lang="en-US" sz="1400" dirty="0">
                    <a:solidFill>
                      <a:schemeClr val="bg2">
                        <a:lumMod val="25000"/>
                      </a:schemeClr>
                    </a:solidFill>
                  </a:rPr>
                  <a:t> </a:t>
                </a:r>
                <a:r>
                  <a:rPr lang="en-US" sz="1400" dirty="0" err="1">
                    <a:solidFill>
                      <a:schemeClr val="bg2">
                        <a:lumMod val="25000"/>
                      </a:schemeClr>
                    </a:solidFill>
                  </a:rPr>
                  <a:t>inceptos</a:t>
                </a:r>
                <a:r>
                  <a:rPr lang="en-US" sz="1400" dirty="0">
                    <a:solidFill>
                      <a:schemeClr val="bg2">
                        <a:lumMod val="25000"/>
                      </a:schemeClr>
                    </a:solidFill>
                  </a:rPr>
                  <a:t> </a:t>
                </a:r>
                <a:r>
                  <a:rPr lang="en-US" sz="1400" dirty="0" err="1">
                    <a:solidFill>
                      <a:schemeClr val="bg2">
                        <a:lumMod val="25000"/>
                      </a:schemeClr>
                    </a:solidFill>
                  </a:rPr>
                  <a:t>erat</a:t>
                </a:r>
                <a:r>
                  <a:rPr lang="en-US" sz="1400" dirty="0">
                    <a:solidFill>
                      <a:schemeClr val="bg2">
                        <a:lumMod val="25000"/>
                      </a:schemeClr>
                    </a:solidFill>
                  </a:rPr>
                  <a:t> </a:t>
                </a:r>
                <a:r>
                  <a:rPr lang="en-US" sz="1400" dirty="0" err="1">
                    <a:solidFill>
                      <a:schemeClr val="bg2">
                        <a:lumMod val="25000"/>
                      </a:schemeClr>
                    </a:solidFill>
                  </a:rPr>
                  <a:t>eleifend</a:t>
                </a:r>
                <a:r>
                  <a:rPr lang="en-US" sz="1400" dirty="0">
                    <a:solidFill>
                      <a:schemeClr val="bg2">
                        <a:lumMod val="25000"/>
                      </a:schemeClr>
                    </a:solidFill>
                  </a:rPr>
                  <a:t> tempus, </a:t>
                </a:r>
                <a:r>
                  <a:rPr lang="en-US" sz="1400" dirty="0" err="1">
                    <a:solidFill>
                      <a:schemeClr val="bg2">
                        <a:lumMod val="25000"/>
                      </a:schemeClr>
                    </a:solidFill>
                  </a:rPr>
                  <a:t>augue</a:t>
                </a:r>
                <a:r>
                  <a:rPr lang="en-US" sz="1400" dirty="0">
                    <a:solidFill>
                      <a:schemeClr val="bg2">
                        <a:lumMod val="25000"/>
                      </a:schemeClr>
                    </a:solidFill>
                  </a:rPr>
                  <a:t> </a:t>
                </a:r>
                <a:r>
                  <a:rPr lang="en-US" sz="1400" dirty="0" err="1">
                    <a:solidFill>
                      <a:schemeClr val="bg2">
                        <a:lumMod val="25000"/>
                      </a:schemeClr>
                    </a:solidFill>
                  </a:rPr>
                  <a:t>diam</a:t>
                </a:r>
                <a:r>
                  <a:rPr lang="en-US" sz="1400" dirty="0">
                    <a:solidFill>
                      <a:schemeClr val="bg2">
                        <a:lumMod val="25000"/>
                      </a:schemeClr>
                    </a:solidFill>
                  </a:rPr>
                  <a:t>, </a:t>
                </a:r>
                <a:r>
                  <a:rPr lang="en-US" sz="1400" dirty="0" err="1">
                    <a:solidFill>
                      <a:schemeClr val="bg2">
                        <a:lumMod val="25000"/>
                      </a:schemeClr>
                    </a:solidFill>
                  </a:rPr>
                  <a:t>velit</a:t>
                </a:r>
                <a:r>
                  <a:rPr lang="en-US" sz="1400" dirty="0">
                    <a:solidFill>
                      <a:schemeClr val="bg2">
                        <a:lumMod val="25000"/>
                      </a:schemeClr>
                    </a:solidFill>
                  </a:rPr>
                  <a:t> </a:t>
                </a:r>
                <a:r>
                  <a:rPr lang="en-US" sz="1400" dirty="0" err="1">
                    <a:solidFill>
                      <a:schemeClr val="bg2">
                        <a:lumMod val="25000"/>
                      </a:schemeClr>
                    </a:solidFill>
                  </a:rPr>
                  <a:t>suscipit</a:t>
                </a:r>
                <a:r>
                  <a:rPr lang="en-US" sz="1400" dirty="0">
                    <a:solidFill>
                      <a:schemeClr val="bg2">
                        <a:lumMod val="25000"/>
                      </a:schemeClr>
                    </a:solidFill>
                  </a:rPr>
                  <a:t>, </a:t>
                </a:r>
                <a:r>
                  <a:rPr lang="en-US" sz="1400" dirty="0" err="1">
                    <a:solidFill>
                      <a:schemeClr val="bg2">
                        <a:lumMod val="25000"/>
                      </a:schemeClr>
                    </a:solidFill>
                  </a:rPr>
                  <a:t>platea</a:t>
                </a:r>
                <a:r>
                  <a:rPr lang="en-US" sz="1400" dirty="0">
                    <a:solidFill>
                      <a:schemeClr val="bg2">
                        <a:lumMod val="25000"/>
                      </a:schemeClr>
                    </a:solidFill>
                  </a:rPr>
                  <a:t> </a:t>
                </a:r>
                <a:r>
                  <a:rPr lang="en-US" sz="1400" dirty="0" err="1">
                    <a:solidFill>
                      <a:schemeClr val="bg2">
                        <a:lumMod val="25000"/>
                      </a:schemeClr>
                    </a:solidFill>
                  </a:rPr>
                  <a:t>morbi</a:t>
                </a:r>
                <a:r>
                  <a:rPr lang="en-US" sz="1400" dirty="0">
                    <a:solidFill>
                      <a:schemeClr val="bg2">
                        <a:lumMod val="25000"/>
                      </a:schemeClr>
                    </a:solidFill>
                  </a:rPr>
                  <a:t>.</a:t>
                </a:r>
              </a:p>
            </p:txBody>
          </p:sp>
          <p:sp>
            <p:nvSpPr>
              <p:cNvPr id="8" name="Rectangle 7"/>
              <p:cNvSpPr/>
              <p:nvPr/>
            </p:nvSpPr>
            <p:spPr>
              <a:xfrm>
                <a:off x="4775200" y="4916398"/>
                <a:ext cx="4854222" cy="44582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lumMod val="65000"/>
                        <a:lumOff val="35000"/>
                      </a:schemeClr>
                    </a:solidFill>
                  </a:rPr>
                  <a:t>Footer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p>
            </p:txBody>
          </p:sp>
          <p:sp>
            <p:nvSpPr>
              <p:cNvPr id="10" name="Rounded Rectangle 9"/>
              <p:cNvSpPr/>
              <p:nvPr/>
            </p:nvSpPr>
            <p:spPr>
              <a:xfrm>
                <a:off x="48768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1" name="Rounded Rectangle 10"/>
              <p:cNvSpPr/>
              <p:nvPr/>
            </p:nvSpPr>
            <p:spPr>
              <a:xfrm>
                <a:off x="55880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2" name="Rounded Rectangle 11"/>
              <p:cNvSpPr/>
              <p:nvPr/>
            </p:nvSpPr>
            <p:spPr>
              <a:xfrm>
                <a:off x="62992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3" name="Rounded Rectangle 12"/>
              <p:cNvSpPr/>
              <p:nvPr/>
            </p:nvSpPr>
            <p:spPr>
              <a:xfrm>
                <a:off x="70104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4" name="Rounded Rectangle 13"/>
              <p:cNvSpPr/>
              <p:nvPr/>
            </p:nvSpPr>
            <p:spPr>
              <a:xfrm>
                <a:off x="77216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grpSp>
        <p:pic>
          <p:nvPicPr>
            <p:cNvPr id="2050" name="Picture 2" descr="http://i.imgur.com/ZGGxVA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7645" y="1339389"/>
              <a:ext cx="1166813" cy="1432847"/>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14"/>
          <p:cNvSpPr txBox="1"/>
          <p:nvPr/>
        </p:nvSpPr>
        <p:spPr>
          <a:xfrm>
            <a:off x="482601" y="1722726"/>
            <a:ext cx="2000956" cy="369332"/>
          </a:xfrm>
          <a:prstGeom prst="rect">
            <a:avLst/>
          </a:prstGeom>
          <a:noFill/>
        </p:spPr>
        <p:txBody>
          <a:bodyPr wrap="square" rtlCol="0">
            <a:spAutoFit/>
          </a:bodyPr>
          <a:lstStyle/>
          <a:p>
            <a:pPr algn="ctr"/>
            <a:r>
              <a:rPr lang="en-US" dirty="0"/>
              <a:t>Internal Navigation</a:t>
            </a:r>
          </a:p>
        </p:txBody>
      </p:sp>
      <p:sp>
        <p:nvSpPr>
          <p:cNvPr id="16" name="Rectangle 15"/>
          <p:cNvSpPr/>
          <p:nvPr/>
        </p:nvSpPr>
        <p:spPr>
          <a:xfrm>
            <a:off x="4775200" y="841020"/>
            <a:ext cx="3702756" cy="4611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a:stCxn id="15" idx="3"/>
          </p:cNvCxnSpPr>
          <p:nvPr/>
        </p:nvCxnSpPr>
        <p:spPr>
          <a:xfrm flipV="1">
            <a:off x="2483557" y="1206146"/>
            <a:ext cx="2216679" cy="70124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98311" y="2563747"/>
            <a:ext cx="1590941" cy="369332"/>
          </a:xfrm>
          <a:prstGeom prst="rect">
            <a:avLst/>
          </a:prstGeom>
          <a:noFill/>
        </p:spPr>
        <p:txBody>
          <a:bodyPr wrap="square" rtlCol="0">
            <a:spAutoFit/>
          </a:bodyPr>
          <a:lstStyle/>
          <a:p>
            <a:pPr algn="ctr"/>
            <a:r>
              <a:rPr lang="en-US" dirty="0"/>
              <a:t>External Links</a:t>
            </a:r>
          </a:p>
        </p:txBody>
      </p:sp>
      <p:sp>
        <p:nvSpPr>
          <p:cNvPr id="21" name="Rectangle 20"/>
          <p:cNvSpPr/>
          <p:nvPr/>
        </p:nvSpPr>
        <p:spPr>
          <a:xfrm>
            <a:off x="5901270" y="2166583"/>
            <a:ext cx="1120418" cy="3056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6694312" y="3226415"/>
            <a:ext cx="541866" cy="3056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5554134" y="4090015"/>
            <a:ext cx="1817510" cy="3056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p:cNvCxnSpPr/>
          <p:nvPr/>
        </p:nvCxnSpPr>
        <p:spPr>
          <a:xfrm flipV="1">
            <a:off x="2234408" y="2311400"/>
            <a:ext cx="3599128" cy="44565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234408" y="2757058"/>
            <a:ext cx="4392170" cy="46935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234408" y="2757058"/>
            <a:ext cx="3319726" cy="125093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0112814" y="3056091"/>
            <a:ext cx="1808252" cy="646331"/>
          </a:xfrm>
          <a:prstGeom prst="rect">
            <a:avLst/>
          </a:prstGeom>
          <a:noFill/>
        </p:spPr>
        <p:txBody>
          <a:bodyPr wrap="square" rtlCol="0">
            <a:spAutoFit/>
          </a:bodyPr>
          <a:lstStyle/>
          <a:p>
            <a:pPr algn="ctr"/>
            <a:r>
              <a:rPr lang="en-US" dirty="0"/>
              <a:t>May be either (Usually internal)</a:t>
            </a:r>
          </a:p>
        </p:txBody>
      </p:sp>
      <p:cxnSp>
        <p:nvCxnSpPr>
          <p:cNvPr id="35" name="Straight Arrow Connector 34"/>
          <p:cNvCxnSpPr>
            <a:stCxn id="34" idx="1"/>
          </p:cNvCxnSpPr>
          <p:nvPr/>
        </p:nvCxnSpPr>
        <p:spPr>
          <a:xfrm flipH="1">
            <a:off x="6129338" y="3379257"/>
            <a:ext cx="3983476" cy="166947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34" idx="1"/>
          </p:cNvCxnSpPr>
          <p:nvPr/>
        </p:nvCxnSpPr>
        <p:spPr>
          <a:xfrm flipH="1">
            <a:off x="6694312" y="3379257"/>
            <a:ext cx="3418502" cy="166936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4" idx="1"/>
          </p:cNvCxnSpPr>
          <p:nvPr/>
        </p:nvCxnSpPr>
        <p:spPr>
          <a:xfrm flipH="1">
            <a:off x="7236178" y="3379257"/>
            <a:ext cx="2876636" cy="166936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63" name="TextBox 2062"/>
          <p:cNvSpPr txBox="1"/>
          <p:nvPr/>
        </p:nvSpPr>
        <p:spPr>
          <a:xfrm>
            <a:off x="47718" y="3269935"/>
            <a:ext cx="4366238" cy="1015663"/>
          </a:xfrm>
          <a:prstGeom prst="rect">
            <a:avLst/>
          </a:prstGeom>
          <a:noFill/>
        </p:spPr>
        <p:txBody>
          <a:bodyPr wrap="square" rtlCol="0">
            <a:spAutoFit/>
          </a:bodyPr>
          <a:lstStyle/>
          <a:p>
            <a:r>
              <a:rPr lang="en-US" sz="2000" dirty="0"/>
              <a:t>With CSS – specifically contextual selectors – we can style each different type of link to display differently</a:t>
            </a:r>
          </a:p>
        </p:txBody>
      </p:sp>
    </p:spTree>
    <p:extLst>
      <p:ext uri="{BB962C8B-B14F-4D97-AF65-F5344CB8AC3E}">
        <p14:creationId xmlns:p14="http://schemas.microsoft.com/office/powerpoint/2010/main" val="453529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down)">
                                      <p:cBhvr>
                                        <p:cTn id="11" dur="500"/>
                                        <p:tgtEl>
                                          <p:spTgt spid="1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left)">
                                      <p:cBhvr>
                                        <p:cTn id="24" dur="500"/>
                                        <p:tgtEl>
                                          <p:spTgt spid="24"/>
                                        </p:tgtEl>
                                      </p:cBhvr>
                                    </p:animEffect>
                                  </p:childTnLst>
                                </p:cTn>
                              </p:par>
                              <p:par>
                                <p:cTn id="25" presetID="22" presetClass="entr" presetSubtype="8"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par>
                                <p:cTn id="28" presetID="22" presetClass="entr" presetSubtype="8" fill="hold"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wipe(left)">
                                      <p:cBhvr>
                                        <p:cTn id="30" dur="500"/>
                                        <p:tgtEl>
                                          <p:spTgt spid="29"/>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500"/>
                                        <p:tgtEl>
                                          <p:spTgt spid="34"/>
                                        </p:tgtEl>
                                      </p:cBhvr>
                                    </p:animEffect>
                                  </p:childTnLst>
                                </p:cTn>
                              </p:par>
                            </p:childTnLst>
                          </p:cTn>
                        </p:par>
                        <p:par>
                          <p:cTn id="46" fill="hold">
                            <p:stCondLst>
                              <p:cond delay="500"/>
                            </p:stCondLst>
                            <p:childTnLst>
                              <p:par>
                                <p:cTn id="47" presetID="22" presetClass="entr" presetSubtype="2" fill="hold" nodeType="after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wipe(right)">
                                      <p:cBhvr>
                                        <p:cTn id="49" dur="500"/>
                                        <p:tgtEl>
                                          <p:spTgt spid="35"/>
                                        </p:tgtEl>
                                      </p:cBhvr>
                                    </p:animEffect>
                                  </p:childTnLst>
                                </p:cTn>
                              </p:par>
                              <p:par>
                                <p:cTn id="50" presetID="22" presetClass="entr" presetSubtype="2" fill="hold"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wipe(right)">
                                      <p:cBhvr>
                                        <p:cTn id="52" dur="500"/>
                                        <p:tgtEl>
                                          <p:spTgt spid="38"/>
                                        </p:tgtEl>
                                      </p:cBhvr>
                                    </p:animEffect>
                                  </p:childTnLst>
                                </p:cTn>
                              </p:par>
                              <p:par>
                                <p:cTn id="53" presetID="22" presetClass="entr" presetSubtype="2" fill="hold" nodeType="with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wipe(right)">
                                      <p:cBhvr>
                                        <p:cTn id="55" dur="500"/>
                                        <p:tgtEl>
                                          <p:spTgt spid="4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063"/>
                                        </p:tgtEl>
                                        <p:attrNameLst>
                                          <p:attrName>style.visibility</p:attrName>
                                        </p:attrNameLst>
                                      </p:cBhvr>
                                      <p:to>
                                        <p:strVal val="visible"/>
                                      </p:to>
                                    </p:set>
                                    <p:animEffect transition="in" filter="fade">
                                      <p:cBhvr>
                                        <p:cTn id="60" dur="500"/>
                                        <p:tgtEl>
                                          <p:spTgt spid="2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20" grpId="0"/>
      <p:bldP spid="21" grpId="0" animBg="1"/>
      <p:bldP spid="22" grpId="0" animBg="1"/>
      <p:bldP spid="23" grpId="0" animBg="1"/>
      <p:bldP spid="34" grpId="0"/>
      <p:bldP spid="206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Nav</a:t>
            </a:r>
            <a:endParaRPr lang="en-US" dirty="0"/>
          </a:p>
        </p:txBody>
      </p:sp>
      <p:grpSp>
        <p:nvGrpSpPr>
          <p:cNvPr id="2062" name="Group 2061"/>
          <p:cNvGrpSpPr/>
          <p:nvPr/>
        </p:nvGrpSpPr>
        <p:grpSpPr>
          <a:xfrm>
            <a:off x="4730044" y="0"/>
            <a:ext cx="4944534" cy="5463822"/>
            <a:chOff x="4730044" y="0"/>
            <a:chExt cx="4944534" cy="5463822"/>
          </a:xfrm>
        </p:grpSpPr>
        <p:grpSp>
          <p:nvGrpSpPr>
            <p:cNvPr id="2060" name="Group 2059"/>
            <p:cNvGrpSpPr/>
            <p:nvPr/>
          </p:nvGrpSpPr>
          <p:grpSpPr>
            <a:xfrm>
              <a:off x="4730044" y="0"/>
              <a:ext cx="4944534" cy="5463822"/>
              <a:chOff x="4730044" y="0"/>
              <a:chExt cx="4944534" cy="5463822"/>
            </a:xfrm>
          </p:grpSpPr>
          <p:sp>
            <p:nvSpPr>
              <p:cNvPr id="4" name="Rectangle 3"/>
              <p:cNvSpPr/>
              <p:nvPr/>
            </p:nvSpPr>
            <p:spPr>
              <a:xfrm>
                <a:off x="4730044" y="0"/>
                <a:ext cx="4944534" cy="546382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775200" y="90309"/>
                <a:ext cx="4854222" cy="7507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Header</a:t>
                </a:r>
              </a:p>
            </p:txBody>
          </p:sp>
          <p:sp>
            <p:nvSpPr>
              <p:cNvPr id="6" name="Rectangle 5"/>
              <p:cNvSpPr/>
              <p:nvPr/>
            </p:nvSpPr>
            <p:spPr>
              <a:xfrm>
                <a:off x="4775200" y="913694"/>
                <a:ext cx="4854222" cy="29245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775200" y="1302190"/>
                <a:ext cx="4854222" cy="351816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chemeClr val="bg2">
                        <a:lumMod val="25000"/>
                      </a:schemeClr>
                    </a:solidFill>
                  </a:rPr>
                  <a:t>Lorem ipsum dolor sit </a:t>
                </a:r>
                <a:r>
                  <a:rPr lang="en-US" sz="1400" dirty="0" err="1">
                    <a:solidFill>
                      <a:schemeClr val="bg2">
                        <a:lumMod val="25000"/>
                      </a:schemeClr>
                    </a:solidFill>
                  </a:rPr>
                  <a:t>amet</a:t>
                </a:r>
                <a:r>
                  <a:rPr lang="en-US" sz="1400" dirty="0">
                    <a:solidFill>
                      <a:schemeClr val="bg2">
                        <a:lumMod val="25000"/>
                      </a:schemeClr>
                    </a:solidFill>
                  </a:rPr>
                  <a:t>, gravida </a:t>
                </a:r>
                <a:r>
                  <a:rPr lang="en-US" sz="1400" dirty="0" err="1">
                    <a:solidFill>
                      <a:schemeClr val="bg2">
                        <a:lumMod val="25000"/>
                      </a:schemeClr>
                    </a:solidFill>
                  </a:rPr>
                  <a:t>facilisi</a:t>
                </a:r>
                <a:r>
                  <a:rPr lang="en-US" sz="1400" dirty="0">
                    <a:solidFill>
                      <a:schemeClr val="bg2">
                        <a:lumMod val="25000"/>
                      </a:schemeClr>
                    </a:solidFill>
                  </a:rPr>
                  <a:t> </a:t>
                </a:r>
                <a:r>
                  <a:rPr lang="en-US" sz="1400" dirty="0" err="1">
                    <a:solidFill>
                      <a:schemeClr val="bg2">
                        <a:lumMod val="25000"/>
                      </a:schemeClr>
                    </a:solidFill>
                  </a:rPr>
                  <a:t>orci</a:t>
                </a:r>
                <a:r>
                  <a:rPr lang="en-US" sz="1400" dirty="0">
                    <a:solidFill>
                      <a:schemeClr val="bg2">
                        <a:lumMod val="25000"/>
                      </a:schemeClr>
                    </a:solidFill>
                  </a:rPr>
                  <a:t> </a:t>
                </a:r>
                <a:br>
                  <a:rPr lang="en-US" sz="1400" dirty="0">
                    <a:solidFill>
                      <a:schemeClr val="bg2">
                        <a:lumMod val="25000"/>
                      </a:schemeClr>
                    </a:solidFill>
                  </a:rPr>
                </a:br>
                <a:r>
                  <a:rPr lang="en-US" sz="1400" dirty="0" err="1">
                    <a:solidFill>
                      <a:schemeClr val="bg2">
                        <a:lumMod val="25000"/>
                      </a:schemeClr>
                    </a:solidFill>
                  </a:rPr>
                  <a:t>nulla</a:t>
                </a:r>
                <a:r>
                  <a:rPr lang="en-US" sz="1400" dirty="0">
                    <a:solidFill>
                      <a:schemeClr val="bg2">
                        <a:lumMod val="25000"/>
                      </a:schemeClr>
                    </a:solidFill>
                  </a:rPr>
                  <a:t>. </a:t>
                </a:r>
                <a:r>
                  <a:rPr lang="en-US" sz="1400" dirty="0" err="1">
                    <a:solidFill>
                      <a:schemeClr val="bg2">
                        <a:lumMod val="25000"/>
                      </a:schemeClr>
                    </a:solidFill>
                  </a:rPr>
                  <a:t>Erat</a:t>
                </a:r>
                <a:r>
                  <a:rPr lang="en-US" sz="1400" dirty="0">
                    <a:solidFill>
                      <a:schemeClr val="bg2">
                        <a:lumMod val="25000"/>
                      </a:schemeClr>
                    </a:solidFill>
                  </a:rPr>
                  <a:t> dolor, </a:t>
                </a:r>
                <a:r>
                  <a:rPr lang="en-US" sz="1400" dirty="0" err="1">
                    <a:solidFill>
                      <a:schemeClr val="bg2">
                        <a:lumMod val="25000"/>
                      </a:schemeClr>
                    </a:solidFill>
                  </a:rPr>
                  <a:t>sagittis</a:t>
                </a:r>
                <a:r>
                  <a:rPr lang="en-US" sz="1400" dirty="0">
                    <a:solidFill>
                      <a:schemeClr val="bg2">
                        <a:lumMod val="25000"/>
                      </a:schemeClr>
                    </a:solidFill>
                  </a:rPr>
                  <a:t> </a:t>
                </a:r>
                <a:r>
                  <a:rPr lang="en-US" sz="1400" dirty="0" err="1">
                    <a:solidFill>
                      <a:schemeClr val="bg2">
                        <a:lumMod val="25000"/>
                      </a:schemeClr>
                    </a:solidFill>
                  </a:rPr>
                  <a:t>blandit</a:t>
                </a:r>
                <a:r>
                  <a:rPr lang="en-US" sz="1400" dirty="0">
                    <a:solidFill>
                      <a:schemeClr val="bg2">
                        <a:lumMod val="25000"/>
                      </a:schemeClr>
                    </a:solidFill>
                  </a:rPr>
                  <a:t>, </a:t>
                </a:r>
                <a:r>
                  <a:rPr lang="en-US" sz="1400" dirty="0" err="1">
                    <a:solidFill>
                      <a:schemeClr val="bg2">
                        <a:lumMod val="25000"/>
                      </a:schemeClr>
                    </a:solidFill>
                  </a:rPr>
                  <a:t>maecenas</a:t>
                </a:r>
                <a:r>
                  <a:rPr lang="en-US" sz="1400" dirty="0">
                    <a:solidFill>
                      <a:schemeClr val="bg2">
                        <a:lumMod val="25000"/>
                      </a:schemeClr>
                    </a:solidFill>
                  </a:rPr>
                  <a:t> </a:t>
                </a:r>
                <a:r>
                  <a:rPr lang="en-US" sz="1400" dirty="0" err="1">
                    <a:solidFill>
                      <a:schemeClr val="bg2">
                        <a:lumMod val="25000"/>
                      </a:schemeClr>
                    </a:solidFill>
                  </a:rPr>
                  <a:t>quis</a:t>
                </a:r>
                <a:r>
                  <a:rPr lang="en-US" sz="1400" dirty="0">
                    <a:solidFill>
                      <a:schemeClr val="bg2">
                        <a:lumMod val="25000"/>
                      </a:schemeClr>
                    </a:solidFill>
                  </a:rPr>
                  <a:t> </a:t>
                </a:r>
                <a:br>
                  <a:rPr lang="en-US" sz="1400" dirty="0">
                    <a:solidFill>
                      <a:schemeClr val="bg2">
                        <a:lumMod val="25000"/>
                      </a:schemeClr>
                    </a:solidFill>
                  </a:rPr>
                </a:br>
                <a:r>
                  <a:rPr lang="en-US" sz="1400" dirty="0">
                    <a:solidFill>
                      <a:schemeClr val="bg2">
                        <a:lumMod val="25000"/>
                      </a:schemeClr>
                    </a:solidFill>
                  </a:rPr>
                  <a:t>mi </a:t>
                </a:r>
                <a:r>
                  <a:rPr lang="en-US" sz="1400" dirty="0" err="1">
                    <a:solidFill>
                      <a:schemeClr val="bg2">
                        <a:lumMod val="25000"/>
                      </a:schemeClr>
                    </a:solidFill>
                  </a:rPr>
                  <a:t>suscipit</a:t>
                </a:r>
                <a:r>
                  <a:rPr lang="en-US" sz="1400" dirty="0">
                    <a:solidFill>
                      <a:schemeClr val="bg2">
                        <a:lumMod val="25000"/>
                      </a:schemeClr>
                    </a:solidFill>
                  </a:rPr>
                  <a:t>, </a:t>
                </a:r>
                <a:r>
                  <a:rPr lang="en-US" sz="1400" dirty="0" err="1">
                    <a:solidFill>
                      <a:schemeClr val="bg2">
                        <a:lumMod val="25000"/>
                      </a:schemeClr>
                    </a:solidFill>
                  </a:rPr>
                  <a:t>risus</a:t>
                </a:r>
                <a:r>
                  <a:rPr lang="en-US" sz="1400" dirty="0">
                    <a:solidFill>
                      <a:schemeClr val="bg2">
                        <a:lumMod val="25000"/>
                      </a:schemeClr>
                    </a:solidFill>
                  </a:rPr>
                  <a:t> </a:t>
                </a:r>
                <a:r>
                  <a:rPr lang="en-US" sz="1400" dirty="0" err="1">
                    <a:solidFill>
                      <a:schemeClr val="bg2">
                        <a:lumMod val="25000"/>
                      </a:schemeClr>
                    </a:solidFill>
                  </a:rPr>
                  <a:t>enim</a:t>
                </a:r>
                <a:r>
                  <a:rPr lang="en-US" sz="1400" dirty="0">
                    <a:solidFill>
                      <a:schemeClr val="bg2">
                        <a:lumMod val="25000"/>
                      </a:schemeClr>
                    </a:solidFill>
                  </a:rPr>
                  <a:t> </a:t>
                </a:r>
                <a:r>
                  <a:rPr lang="en-US" sz="1400" dirty="0" err="1">
                    <a:solidFill>
                      <a:schemeClr val="bg2">
                        <a:lumMod val="25000"/>
                      </a:schemeClr>
                    </a:solidFill>
                  </a:rPr>
                  <a:t>tincidunt</a:t>
                </a:r>
                <a:r>
                  <a:rPr lang="en-US" sz="1400" dirty="0">
                    <a:solidFill>
                      <a:schemeClr val="bg2">
                        <a:lumMod val="25000"/>
                      </a:schemeClr>
                    </a:solidFill>
                  </a:rPr>
                  <a:t> </a:t>
                </a:r>
                <a:r>
                  <a:rPr lang="en-US" sz="1400" dirty="0" err="1">
                    <a:solidFill>
                      <a:schemeClr val="bg2">
                        <a:lumMod val="25000"/>
                      </a:schemeClr>
                    </a:solidFill>
                  </a:rPr>
                  <a:t>erat</a:t>
                </a:r>
                <a:r>
                  <a:rPr lang="en-US" sz="1400" dirty="0">
                    <a:solidFill>
                      <a:schemeClr val="bg2">
                        <a:lumMod val="25000"/>
                      </a:schemeClr>
                    </a:solidFill>
                  </a:rPr>
                  <a:t>. </a:t>
                </a:r>
                <a:r>
                  <a:rPr lang="en-US" sz="1400" dirty="0" err="1">
                    <a:solidFill>
                      <a:schemeClr val="bg2">
                        <a:lumMod val="25000"/>
                      </a:schemeClr>
                    </a:solidFill>
                  </a:rPr>
                  <a:t>Eu</a:t>
                </a:r>
                <a:r>
                  <a:rPr lang="en-US" sz="1400" dirty="0">
                    <a:solidFill>
                      <a:schemeClr val="bg2">
                        <a:lumMod val="25000"/>
                      </a:schemeClr>
                    </a:solidFill>
                  </a:rPr>
                  <a:t> </a:t>
                </a:r>
                <a:r>
                  <a:rPr lang="en-US" sz="1400" dirty="0" err="1">
                    <a:solidFill>
                      <a:schemeClr val="bg2">
                        <a:lumMod val="25000"/>
                      </a:schemeClr>
                    </a:solidFill>
                  </a:rPr>
                  <a:t>justo</a:t>
                </a:r>
                <a:r>
                  <a:rPr lang="en-US" sz="1400" dirty="0">
                    <a:solidFill>
                      <a:schemeClr val="bg2">
                        <a:lumMod val="25000"/>
                      </a:schemeClr>
                    </a:solidFill>
                  </a:rPr>
                  <a:t>, </a:t>
                </a:r>
                <a:br>
                  <a:rPr lang="en-US" sz="1400" dirty="0">
                    <a:solidFill>
                      <a:schemeClr val="bg2">
                        <a:lumMod val="25000"/>
                      </a:schemeClr>
                    </a:solidFill>
                  </a:rPr>
                </a:br>
                <a:r>
                  <a:rPr lang="en-US" sz="1400" dirty="0" err="1">
                    <a:solidFill>
                      <a:schemeClr val="bg2">
                        <a:lumMod val="25000"/>
                      </a:schemeClr>
                    </a:solidFill>
                  </a:rPr>
                  <a:t>senectus</a:t>
                </a:r>
                <a:r>
                  <a:rPr lang="en-US" sz="1400" dirty="0">
                    <a:solidFill>
                      <a:schemeClr val="bg2">
                        <a:lumMod val="25000"/>
                      </a:schemeClr>
                    </a:solidFill>
                  </a:rPr>
                  <a:t> </a:t>
                </a:r>
                <a:r>
                  <a:rPr lang="en-US" sz="1400" dirty="0" err="1">
                    <a:solidFill>
                      <a:schemeClr val="bg2">
                        <a:lumMod val="25000"/>
                      </a:schemeClr>
                    </a:solidFill>
                  </a:rPr>
                  <a:t>ut</a:t>
                </a:r>
                <a:r>
                  <a:rPr lang="en-US" sz="1400" dirty="0">
                    <a:solidFill>
                      <a:schemeClr val="bg2">
                        <a:lumMod val="25000"/>
                      </a:schemeClr>
                    </a:solidFill>
                  </a:rPr>
                  <a:t> </a:t>
                </a:r>
                <a:r>
                  <a:rPr lang="en-US" sz="1400" dirty="0" err="1">
                    <a:solidFill>
                      <a:schemeClr val="bg2">
                        <a:lumMod val="25000"/>
                      </a:schemeClr>
                    </a:solidFill>
                  </a:rPr>
                  <a:t>mattis</a:t>
                </a:r>
                <a:r>
                  <a:rPr lang="en-US" sz="1400" dirty="0">
                    <a:solidFill>
                      <a:schemeClr val="bg2">
                        <a:lumMod val="25000"/>
                      </a:schemeClr>
                    </a:solidFill>
                  </a:rPr>
                  <a:t> </a:t>
                </a:r>
                <a:r>
                  <a:rPr lang="en-US" sz="1400" dirty="0" err="1">
                    <a:solidFill>
                      <a:schemeClr val="bg2">
                        <a:lumMod val="25000"/>
                      </a:schemeClr>
                    </a:solidFill>
                  </a:rPr>
                  <a:t>laoreet</a:t>
                </a:r>
                <a:r>
                  <a:rPr lang="en-US" sz="1400" dirty="0">
                    <a:solidFill>
                      <a:schemeClr val="bg2">
                        <a:lumMod val="25000"/>
                      </a:schemeClr>
                    </a:solidFill>
                  </a:rPr>
                  <a:t> et. </a:t>
                </a:r>
                <a:r>
                  <a:rPr lang="en-US" sz="1400" dirty="0" err="1">
                    <a:solidFill>
                      <a:schemeClr val="bg2">
                        <a:lumMod val="25000"/>
                      </a:schemeClr>
                    </a:solidFill>
                  </a:rPr>
                  <a:t>Nec</a:t>
                </a:r>
                <a:r>
                  <a:rPr lang="en-US" sz="1400" dirty="0">
                    <a:solidFill>
                      <a:schemeClr val="bg2">
                        <a:lumMod val="25000"/>
                      </a:schemeClr>
                    </a:solidFill>
                  </a:rPr>
                  <a:t> </a:t>
                </a:r>
                <a:r>
                  <a:rPr lang="en-US" sz="1400" dirty="0" err="1">
                    <a:solidFill>
                      <a:schemeClr val="bg2">
                        <a:lumMod val="25000"/>
                      </a:schemeClr>
                    </a:solidFill>
                  </a:rPr>
                  <a:t>ultricies</a:t>
                </a:r>
                <a:r>
                  <a:rPr lang="en-US" sz="1400" dirty="0">
                    <a:solidFill>
                      <a:schemeClr val="bg2">
                        <a:lumMod val="25000"/>
                      </a:schemeClr>
                    </a:solidFill>
                  </a:rPr>
                  <a:t> </a:t>
                </a:r>
                <a:br>
                  <a:rPr lang="en-US" sz="1400" dirty="0">
                    <a:solidFill>
                      <a:schemeClr val="bg2">
                        <a:lumMod val="25000"/>
                      </a:schemeClr>
                    </a:solidFill>
                  </a:rPr>
                </a:br>
                <a:r>
                  <a:rPr lang="en-US" sz="1400" dirty="0" err="1">
                    <a:solidFill>
                      <a:schemeClr val="bg2">
                        <a:lumMod val="25000"/>
                      </a:schemeClr>
                    </a:solidFill>
                  </a:rPr>
                  <a:t>ultrices</a:t>
                </a:r>
                <a:r>
                  <a:rPr lang="en-US" sz="1400" dirty="0">
                    <a:solidFill>
                      <a:schemeClr val="bg2">
                        <a:lumMod val="25000"/>
                      </a:schemeClr>
                    </a:solidFill>
                  </a:rPr>
                  <a:t> </a:t>
                </a:r>
                <a:r>
                  <a:rPr lang="en-US" sz="1400" dirty="0" err="1">
                    <a:solidFill>
                      <a:schemeClr val="bg2">
                        <a:lumMod val="25000"/>
                      </a:schemeClr>
                    </a:solidFill>
                  </a:rPr>
                  <a:t>iaculis</a:t>
                </a:r>
                <a:r>
                  <a:rPr lang="en-US" sz="1400" dirty="0">
                    <a:solidFill>
                      <a:schemeClr val="bg2">
                        <a:lumMod val="25000"/>
                      </a:schemeClr>
                    </a:solidFill>
                  </a:rPr>
                  <a:t> </a:t>
                </a:r>
                <a:r>
                  <a:rPr lang="en-US" sz="1400" dirty="0">
                    <a:solidFill>
                      <a:srgbClr val="0070C0"/>
                    </a:solidFill>
                  </a:rPr>
                  <a:t>non </a:t>
                </a:r>
                <a:r>
                  <a:rPr lang="en-US" sz="1400" dirty="0" err="1">
                    <a:solidFill>
                      <a:srgbClr val="0070C0"/>
                    </a:solidFill>
                  </a:rPr>
                  <a:t>asperiores</a:t>
                </a:r>
                <a:r>
                  <a:rPr lang="en-US" sz="1400" dirty="0">
                    <a:solidFill>
                      <a:srgbClr val="0070C0"/>
                    </a:solidFill>
                  </a:rPr>
                  <a:t> </a:t>
                </a:r>
                <a:r>
                  <a:rPr lang="en-US" sz="1400" dirty="0" err="1">
                    <a:solidFill>
                      <a:schemeClr val="bg2">
                        <a:lumMod val="25000"/>
                      </a:schemeClr>
                    </a:solidFill>
                  </a:rPr>
                  <a:t>urna</a:t>
                </a:r>
                <a:r>
                  <a:rPr lang="en-US" sz="1400" dirty="0">
                    <a:solidFill>
                      <a:schemeClr val="bg2">
                        <a:lumMod val="25000"/>
                      </a:schemeClr>
                    </a:solidFill>
                  </a:rPr>
                  <a:t>, </a:t>
                </a:r>
                <a:r>
                  <a:rPr lang="en-US" sz="1400" dirty="0" err="1">
                    <a:solidFill>
                      <a:schemeClr val="bg2">
                        <a:lumMod val="25000"/>
                      </a:schemeClr>
                    </a:solidFill>
                  </a:rPr>
                  <a:t>nec</a:t>
                </a:r>
                <a:r>
                  <a:rPr lang="en-US" sz="1400" dirty="0">
                    <a:solidFill>
                      <a:schemeClr val="bg2">
                        <a:lumMod val="25000"/>
                      </a:schemeClr>
                    </a:solidFill>
                  </a:rPr>
                  <a:t> </a:t>
                </a:r>
                <a:r>
                  <a:rPr lang="en-US" sz="1400" dirty="0" err="1">
                    <a:solidFill>
                      <a:schemeClr val="bg2">
                        <a:lumMod val="25000"/>
                      </a:schemeClr>
                    </a:solidFill>
                  </a:rPr>
                  <a:t>ut</a:t>
                </a:r>
                <a:r>
                  <a:rPr lang="en-US" sz="1400" dirty="0">
                    <a:solidFill>
                      <a:schemeClr val="bg2">
                        <a:lumMod val="25000"/>
                      </a:schemeClr>
                    </a:solidFill>
                  </a:rPr>
                  <a:t> dolor </a:t>
                </a:r>
                <a:br>
                  <a:rPr lang="en-US" sz="1400" dirty="0">
                    <a:solidFill>
                      <a:schemeClr val="bg2">
                        <a:lumMod val="25000"/>
                      </a:schemeClr>
                    </a:solidFill>
                  </a:rPr>
                </a:br>
                <a:r>
                  <a:rPr lang="en-US" sz="1400" dirty="0" err="1">
                    <a:solidFill>
                      <a:schemeClr val="bg2">
                        <a:lumMod val="25000"/>
                      </a:schemeClr>
                    </a:solidFill>
                  </a:rPr>
                  <a:t>dignissim</a:t>
                </a:r>
                <a:r>
                  <a:rPr lang="en-US" sz="1400" dirty="0">
                    <a:solidFill>
                      <a:schemeClr val="bg2">
                        <a:lumMod val="25000"/>
                      </a:schemeClr>
                    </a:solidFill>
                  </a:rPr>
                  <a:t>, </a:t>
                </a:r>
                <a:r>
                  <a:rPr lang="en-US" sz="1400" dirty="0" err="1">
                    <a:solidFill>
                      <a:schemeClr val="bg2">
                        <a:lumMod val="25000"/>
                      </a:schemeClr>
                    </a:solidFill>
                  </a:rPr>
                  <a:t>sodales</a:t>
                </a:r>
                <a:r>
                  <a:rPr lang="en-US" sz="1400" dirty="0">
                    <a:solidFill>
                      <a:schemeClr val="bg2">
                        <a:lumMod val="25000"/>
                      </a:schemeClr>
                    </a:solidFill>
                  </a:rPr>
                  <a:t> </a:t>
                </a:r>
                <a:r>
                  <a:rPr lang="en-US" sz="1400" dirty="0" err="1">
                    <a:solidFill>
                      <a:schemeClr val="bg2">
                        <a:lumMod val="25000"/>
                      </a:schemeClr>
                    </a:solidFill>
                  </a:rPr>
                  <a:t>purus</a:t>
                </a:r>
                <a:r>
                  <a:rPr lang="en-US" sz="1400" dirty="0">
                    <a:solidFill>
                      <a:schemeClr val="bg2">
                        <a:lumMod val="25000"/>
                      </a:schemeClr>
                    </a:solidFill>
                  </a:rPr>
                  <a:t> </a:t>
                </a:r>
                <a:r>
                  <a:rPr lang="en-US" sz="1400" dirty="0" err="1">
                    <a:solidFill>
                      <a:schemeClr val="bg2">
                        <a:lumMod val="25000"/>
                      </a:schemeClr>
                    </a:solidFill>
                  </a:rPr>
                  <a:t>pretium</a:t>
                </a:r>
                <a:r>
                  <a:rPr lang="en-US" sz="1400" dirty="0">
                    <a:solidFill>
                      <a:schemeClr val="bg2">
                        <a:lumMod val="25000"/>
                      </a:schemeClr>
                    </a:solidFill>
                  </a:rPr>
                  <a:t> </a:t>
                </a:r>
                <a:r>
                  <a:rPr lang="en-US" sz="1400" dirty="0" err="1">
                    <a:solidFill>
                      <a:schemeClr val="bg2">
                        <a:lumMod val="25000"/>
                      </a:schemeClr>
                    </a:solidFill>
                  </a:rPr>
                  <a:t>eget</a:t>
                </a:r>
                <a:r>
                  <a:rPr lang="en-US" sz="1400" dirty="0">
                    <a:solidFill>
                      <a:schemeClr val="bg2">
                        <a:lumMod val="25000"/>
                      </a:schemeClr>
                    </a:solidFill>
                  </a:rPr>
                  <a:t>, </a:t>
                </a:r>
                <a:r>
                  <a:rPr lang="en-US" sz="1400" dirty="0" err="1">
                    <a:solidFill>
                      <a:schemeClr val="bg2">
                        <a:lumMod val="25000"/>
                      </a:schemeClr>
                    </a:solidFill>
                  </a:rPr>
                  <a:t>wisi</a:t>
                </a:r>
                <a:r>
                  <a:rPr lang="en-US" sz="1400" dirty="0">
                    <a:solidFill>
                      <a:schemeClr val="bg2">
                        <a:lumMod val="25000"/>
                      </a:schemeClr>
                    </a:solidFill>
                  </a:rPr>
                  <a:t> </a:t>
                </a:r>
                <a:br>
                  <a:rPr lang="en-US" sz="1400" dirty="0">
                    <a:solidFill>
                      <a:schemeClr val="bg2">
                        <a:lumMod val="25000"/>
                      </a:schemeClr>
                    </a:solidFill>
                  </a:rPr>
                </a:br>
                <a:r>
                  <a:rPr lang="en-US" sz="1400" dirty="0">
                    <a:solidFill>
                      <a:schemeClr val="bg2">
                        <a:lumMod val="25000"/>
                      </a:schemeClr>
                    </a:solidFill>
                  </a:rPr>
                  <a:t>integer </a:t>
                </a:r>
                <a:r>
                  <a:rPr lang="en-US" sz="1400" dirty="0" err="1">
                    <a:solidFill>
                      <a:schemeClr val="bg2">
                        <a:lumMod val="25000"/>
                      </a:schemeClr>
                    </a:solidFill>
                  </a:rPr>
                  <a:t>molestie</a:t>
                </a:r>
                <a:r>
                  <a:rPr lang="en-US" sz="1400" dirty="0">
                    <a:solidFill>
                      <a:schemeClr val="bg2">
                        <a:lumMod val="25000"/>
                      </a:schemeClr>
                    </a:solidFill>
                  </a:rPr>
                  <a:t> </a:t>
                </a:r>
                <a:r>
                  <a:rPr lang="en-US" sz="1400" dirty="0" err="1">
                    <a:solidFill>
                      <a:schemeClr val="bg2">
                        <a:lumMod val="25000"/>
                      </a:schemeClr>
                    </a:solidFill>
                  </a:rPr>
                  <a:t>arcu</a:t>
                </a:r>
                <a:r>
                  <a:rPr lang="en-US" sz="1400" dirty="0">
                    <a:solidFill>
                      <a:schemeClr val="bg2">
                        <a:lumMod val="25000"/>
                      </a:schemeClr>
                    </a:solidFill>
                  </a:rPr>
                  <a:t> </a:t>
                </a:r>
                <a:r>
                  <a:rPr lang="en-US" sz="1400" dirty="0" err="1">
                    <a:solidFill>
                      <a:schemeClr val="bg2">
                        <a:lumMod val="25000"/>
                      </a:schemeClr>
                    </a:solidFill>
                  </a:rPr>
                  <a:t>platea</a:t>
                </a:r>
                <a:r>
                  <a:rPr lang="en-US" sz="1400" dirty="0">
                    <a:solidFill>
                      <a:schemeClr val="bg2">
                        <a:lumMod val="25000"/>
                      </a:schemeClr>
                    </a:solidFill>
                  </a:rPr>
                  <a:t>, </a:t>
                </a:r>
                <a:r>
                  <a:rPr lang="en-US" sz="1400" dirty="0" err="1">
                    <a:solidFill>
                      <a:schemeClr val="bg2">
                        <a:lumMod val="25000"/>
                      </a:schemeClr>
                    </a:solidFill>
                  </a:rPr>
                  <a:t>urna</a:t>
                </a:r>
                <a:r>
                  <a:rPr lang="en-US" sz="1400" dirty="0">
                    <a:solidFill>
                      <a:schemeClr val="bg2">
                        <a:lumMod val="25000"/>
                      </a:schemeClr>
                    </a:solidFill>
                  </a:rPr>
                  <a:t> </a:t>
                </a:r>
                <a:r>
                  <a:rPr lang="en-US" sz="1400" dirty="0" err="1">
                    <a:solidFill>
                      <a:schemeClr val="bg2">
                        <a:lumMod val="25000"/>
                      </a:schemeClr>
                    </a:solidFill>
                  </a:rPr>
                  <a:t>ut</a:t>
                </a:r>
                <a:r>
                  <a:rPr lang="en-US" sz="1400" dirty="0">
                    <a:solidFill>
                      <a:schemeClr val="bg2">
                        <a:lumMod val="25000"/>
                      </a:schemeClr>
                    </a:solidFill>
                  </a:rPr>
                  <a:t> in ipsum </a:t>
                </a:r>
                <a:br>
                  <a:rPr lang="en-US" sz="1400" dirty="0">
                    <a:solidFill>
                      <a:schemeClr val="bg2">
                        <a:lumMod val="25000"/>
                      </a:schemeClr>
                    </a:solidFill>
                  </a:rPr>
                </a:br>
                <a:r>
                  <a:rPr lang="en-US" sz="1400" dirty="0" err="1">
                    <a:solidFill>
                      <a:schemeClr val="bg2">
                        <a:lumMod val="25000"/>
                      </a:schemeClr>
                    </a:solidFill>
                  </a:rPr>
                  <a:t>laoreet</a:t>
                </a:r>
                <a:r>
                  <a:rPr lang="en-US" sz="1400" dirty="0">
                    <a:solidFill>
                      <a:schemeClr val="bg2">
                        <a:lumMod val="25000"/>
                      </a:schemeClr>
                    </a:solidFill>
                  </a:rPr>
                  <a:t>. </a:t>
                </a:r>
                <a:r>
                  <a:rPr lang="en-US" sz="1400" dirty="0" err="1">
                    <a:solidFill>
                      <a:schemeClr val="bg2">
                        <a:lumMod val="25000"/>
                      </a:schemeClr>
                    </a:solidFill>
                  </a:rPr>
                  <a:t>Aenean</a:t>
                </a:r>
                <a:r>
                  <a:rPr lang="en-US" sz="1400" dirty="0">
                    <a:solidFill>
                      <a:schemeClr val="bg2">
                        <a:lumMod val="25000"/>
                      </a:schemeClr>
                    </a:solidFill>
                  </a:rPr>
                  <a:t> </a:t>
                </a:r>
                <a:r>
                  <a:rPr lang="en-US" sz="1400" dirty="0" err="1">
                    <a:solidFill>
                      <a:schemeClr val="bg2">
                        <a:lumMod val="25000"/>
                      </a:schemeClr>
                    </a:solidFill>
                  </a:rPr>
                  <a:t>fusce</a:t>
                </a:r>
                <a:r>
                  <a:rPr lang="en-US" sz="1400" dirty="0">
                    <a:solidFill>
                      <a:schemeClr val="bg2">
                        <a:lumMod val="25000"/>
                      </a:schemeClr>
                    </a:solidFill>
                  </a:rPr>
                  <a:t> </a:t>
                </a:r>
                <a:r>
                  <a:rPr lang="en-US" sz="1400" dirty="0" err="1">
                    <a:solidFill>
                      <a:schemeClr val="bg2">
                        <a:lumMod val="25000"/>
                      </a:schemeClr>
                    </a:solidFill>
                  </a:rPr>
                  <a:t>donec</a:t>
                </a:r>
                <a:r>
                  <a:rPr lang="en-US" sz="1400" dirty="0">
                    <a:solidFill>
                      <a:schemeClr val="bg2">
                        <a:lumMod val="25000"/>
                      </a:schemeClr>
                    </a:solidFill>
                  </a:rPr>
                  <a:t>, </a:t>
                </a:r>
                <a:r>
                  <a:rPr lang="en-US" sz="1400" dirty="0" err="1">
                    <a:solidFill>
                      <a:schemeClr val="bg2">
                        <a:lumMod val="25000"/>
                      </a:schemeClr>
                    </a:solidFill>
                  </a:rPr>
                  <a:t>arcu</a:t>
                </a:r>
                <a:r>
                  <a:rPr lang="en-US" sz="1400" dirty="0">
                    <a:solidFill>
                      <a:schemeClr val="bg2">
                        <a:lumMod val="25000"/>
                      </a:schemeClr>
                    </a:solidFill>
                  </a:rPr>
                  <a:t> </a:t>
                </a:r>
                <a:r>
                  <a:rPr lang="en-US" sz="1400" dirty="0" err="1">
                    <a:solidFill>
                      <a:schemeClr val="bg2">
                        <a:lumMod val="25000"/>
                      </a:schemeClr>
                    </a:solidFill>
                  </a:rPr>
                  <a:t>elit</a:t>
                </a:r>
                <a:r>
                  <a:rPr lang="en-US" sz="1400" dirty="0">
                    <a:solidFill>
                      <a:schemeClr val="bg2">
                        <a:lumMod val="25000"/>
                      </a:schemeClr>
                    </a:solidFill>
                  </a:rPr>
                  <a:t>, </a:t>
                </a:r>
                <a:r>
                  <a:rPr lang="en-US" sz="1400" dirty="0" err="1">
                    <a:solidFill>
                      <a:schemeClr val="bg2">
                        <a:lumMod val="25000"/>
                      </a:schemeClr>
                    </a:solidFill>
                  </a:rPr>
                  <a:t>placerat</a:t>
                </a:r>
                <a:r>
                  <a:rPr lang="en-US" sz="1400" dirty="0">
                    <a:solidFill>
                      <a:schemeClr val="bg2">
                        <a:lumMod val="25000"/>
                      </a:schemeClr>
                    </a:solidFill>
                  </a:rPr>
                  <a:t> </a:t>
                </a:r>
                <a:r>
                  <a:rPr lang="en-US" sz="1400" dirty="0" err="1">
                    <a:solidFill>
                      <a:schemeClr val="bg2">
                        <a:lumMod val="25000"/>
                      </a:schemeClr>
                    </a:solidFill>
                  </a:rPr>
                  <a:t>arcu</a:t>
                </a:r>
                <a:r>
                  <a:rPr lang="en-US" sz="1400" dirty="0">
                    <a:solidFill>
                      <a:schemeClr val="bg2">
                        <a:lumMod val="25000"/>
                      </a:schemeClr>
                    </a:solidFill>
                  </a:rPr>
                  <a:t> </a:t>
                </a:r>
                <a:r>
                  <a:rPr lang="en-US" sz="1400" dirty="0" err="1">
                    <a:solidFill>
                      <a:schemeClr val="bg2">
                        <a:lumMod val="25000"/>
                      </a:schemeClr>
                    </a:solidFill>
                  </a:rPr>
                  <a:t>laoreet</a:t>
                </a:r>
                <a:r>
                  <a:rPr lang="en-US" sz="1400" dirty="0">
                    <a:solidFill>
                      <a:schemeClr val="bg2">
                        <a:lumMod val="25000"/>
                      </a:schemeClr>
                    </a:solidFill>
                  </a:rPr>
                  <a:t>.</a:t>
                </a:r>
                <a:br>
                  <a:rPr lang="en-US" sz="1400" dirty="0">
                    <a:solidFill>
                      <a:schemeClr val="bg2">
                        <a:lumMod val="25000"/>
                      </a:schemeClr>
                    </a:solidFill>
                  </a:rPr>
                </a:br>
                <a:endParaRPr lang="en-US" sz="1400" dirty="0">
                  <a:solidFill>
                    <a:schemeClr val="bg2">
                      <a:lumMod val="25000"/>
                    </a:schemeClr>
                  </a:solidFill>
                </a:endParaRPr>
              </a:p>
              <a:p>
                <a:r>
                  <a:rPr lang="en-US" sz="1400" dirty="0" err="1">
                    <a:solidFill>
                      <a:schemeClr val="bg2">
                        <a:lumMod val="25000"/>
                      </a:schemeClr>
                    </a:solidFill>
                  </a:rPr>
                  <a:t>Nibh</a:t>
                </a:r>
                <a:r>
                  <a:rPr lang="en-US" sz="1400" dirty="0">
                    <a:solidFill>
                      <a:schemeClr val="bg2">
                        <a:lumMod val="25000"/>
                      </a:schemeClr>
                    </a:solidFill>
                  </a:rPr>
                  <a:t> </a:t>
                </a:r>
                <a:r>
                  <a:rPr lang="en-US" sz="1400" dirty="0" err="1">
                    <a:solidFill>
                      <a:schemeClr val="bg2">
                        <a:lumMod val="25000"/>
                      </a:schemeClr>
                    </a:solidFill>
                  </a:rPr>
                  <a:t>leo</a:t>
                </a:r>
                <a:r>
                  <a:rPr lang="en-US" sz="1400" dirty="0">
                    <a:solidFill>
                      <a:schemeClr val="bg2">
                        <a:lumMod val="25000"/>
                      </a:schemeClr>
                    </a:solidFill>
                  </a:rPr>
                  <a:t> sit dui </a:t>
                </a:r>
                <a:r>
                  <a:rPr lang="en-US" sz="1400" dirty="0" err="1">
                    <a:solidFill>
                      <a:schemeClr val="bg2">
                        <a:lumMod val="25000"/>
                      </a:schemeClr>
                    </a:solidFill>
                  </a:rPr>
                  <a:t>nonummy</a:t>
                </a:r>
                <a:r>
                  <a:rPr lang="en-US" sz="1400" dirty="0">
                    <a:solidFill>
                      <a:schemeClr val="bg2">
                        <a:lumMod val="25000"/>
                      </a:schemeClr>
                    </a:solidFill>
                  </a:rPr>
                  <a:t> </a:t>
                </a:r>
                <a:r>
                  <a:rPr lang="en-US" sz="1400" u="sng" dirty="0">
                    <a:solidFill>
                      <a:srgbClr val="0070C0"/>
                    </a:solidFill>
                  </a:rPr>
                  <a:t>lorem</a:t>
                </a:r>
                <a:r>
                  <a:rPr lang="en-US" sz="1400" dirty="0">
                    <a:solidFill>
                      <a:schemeClr val="bg2">
                        <a:lumMod val="25000"/>
                      </a:schemeClr>
                    </a:solidFill>
                  </a:rPr>
                  <a:t> </a:t>
                </a:r>
                <a:r>
                  <a:rPr lang="en-US" sz="1400" dirty="0" err="1">
                    <a:solidFill>
                      <a:schemeClr val="bg2">
                        <a:lumMod val="25000"/>
                      </a:schemeClr>
                    </a:solidFill>
                  </a:rPr>
                  <a:t>augue</a:t>
                </a:r>
                <a:r>
                  <a:rPr lang="en-US" sz="1400" dirty="0">
                    <a:solidFill>
                      <a:schemeClr val="bg2">
                        <a:lumMod val="25000"/>
                      </a:schemeClr>
                    </a:solidFill>
                  </a:rPr>
                  <a:t>, </a:t>
                </a:r>
                <a:r>
                  <a:rPr lang="en-US" sz="1400" dirty="0" err="1">
                    <a:solidFill>
                      <a:schemeClr val="bg2">
                        <a:lumMod val="25000"/>
                      </a:schemeClr>
                    </a:solidFill>
                  </a:rPr>
                  <a:t>purus</a:t>
                </a:r>
                <a:r>
                  <a:rPr lang="en-US" sz="1400" dirty="0">
                    <a:solidFill>
                      <a:schemeClr val="bg2">
                        <a:lumMod val="25000"/>
                      </a:schemeClr>
                    </a:solidFill>
                  </a:rPr>
                  <a:t> libero </a:t>
                </a:r>
                <a:r>
                  <a:rPr lang="en-US" sz="1400" dirty="0" err="1">
                    <a:solidFill>
                      <a:schemeClr val="bg2">
                        <a:lumMod val="25000"/>
                      </a:schemeClr>
                    </a:solidFill>
                  </a:rPr>
                  <a:t>turpis</a:t>
                </a:r>
                <a:r>
                  <a:rPr lang="en-US" sz="1400" dirty="0">
                    <a:solidFill>
                      <a:schemeClr val="bg2">
                        <a:lumMod val="25000"/>
                      </a:schemeClr>
                    </a:solidFill>
                  </a:rPr>
                  <a:t> integer, at </a:t>
                </a:r>
                <a:r>
                  <a:rPr lang="en-US" sz="1400" dirty="0" err="1">
                    <a:solidFill>
                      <a:schemeClr val="bg2">
                        <a:lumMod val="25000"/>
                      </a:schemeClr>
                    </a:solidFill>
                  </a:rPr>
                  <a:t>erat</a:t>
                </a:r>
                <a:r>
                  <a:rPr lang="en-US" sz="1400" dirty="0">
                    <a:solidFill>
                      <a:schemeClr val="bg2">
                        <a:lumMod val="25000"/>
                      </a:schemeClr>
                    </a:solidFill>
                  </a:rPr>
                  <a:t> </a:t>
                </a:r>
                <a:r>
                  <a:rPr lang="en-US" sz="1400" dirty="0" err="1">
                    <a:solidFill>
                      <a:schemeClr val="bg2">
                        <a:lumMod val="25000"/>
                      </a:schemeClr>
                    </a:solidFill>
                  </a:rPr>
                  <a:t>conubia</a:t>
                </a:r>
                <a:r>
                  <a:rPr lang="en-US" sz="1400" dirty="0">
                    <a:solidFill>
                      <a:schemeClr val="bg2">
                        <a:lumMod val="25000"/>
                      </a:schemeClr>
                    </a:solidFill>
                  </a:rPr>
                  <a:t> </a:t>
                </a:r>
                <a:r>
                  <a:rPr lang="en-US" sz="1400" dirty="0" err="1">
                    <a:solidFill>
                      <a:schemeClr val="bg2">
                        <a:lumMod val="25000"/>
                      </a:schemeClr>
                    </a:solidFill>
                  </a:rPr>
                  <a:t>neque</a:t>
                </a:r>
                <a:r>
                  <a:rPr lang="en-US" sz="1400" dirty="0">
                    <a:solidFill>
                      <a:schemeClr val="bg2">
                        <a:lumMod val="25000"/>
                      </a:schemeClr>
                    </a:solidFill>
                  </a:rPr>
                  <a:t>, </a:t>
                </a:r>
                <a:r>
                  <a:rPr lang="en-US" sz="1400" dirty="0" err="1">
                    <a:solidFill>
                      <a:schemeClr val="bg2">
                        <a:lumMod val="25000"/>
                      </a:schemeClr>
                    </a:solidFill>
                  </a:rPr>
                  <a:t>praesent</a:t>
                </a:r>
                <a:r>
                  <a:rPr lang="en-US" sz="1400" dirty="0">
                    <a:solidFill>
                      <a:schemeClr val="bg2">
                        <a:lumMod val="25000"/>
                      </a:schemeClr>
                    </a:solidFill>
                  </a:rPr>
                  <a:t> </a:t>
                </a:r>
                <a:r>
                  <a:rPr lang="en-US" sz="1400" dirty="0" err="1">
                    <a:solidFill>
                      <a:schemeClr val="bg2">
                        <a:lumMod val="25000"/>
                      </a:schemeClr>
                    </a:solidFill>
                  </a:rPr>
                  <a:t>eleifend</a:t>
                </a:r>
                <a:r>
                  <a:rPr lang="en-US" sz="1400" dirty="0">
                    <a:solidFill>
                      <a:schemeClr val="bg2">
                        <a:lumMod val="25000"/>
                      </a:schemeClr>
                    </a:solidFill>
                  </a:rPr>
                  <a:t> </a:t>
                </a:r>
                <a:r>
                  <a:rPr lang="en-US" sz="1400" dirty="0" err="1">
                    <a:solidFill>
                      <a:schemeClr val="bg2">
                        <a:lumMod val="25000"/>
                      </a:schemeClr>
                    </a:solidFill>
                  </a:rPr>
                  <a:t>placerat</a:t>
                </a:r>
                <a:r>
                  <a:rPr lang="en-US" sz="1400" dirty="0">
                    <a:solidFill>
                      <a:schemeClr val="bg2">
                        <a:lumMod val="25000"/>
                      </a:schemeClr>
                    </a:solidFill>
                  </a:rPr>
                  <a:t> </a:t>
                </a:r>
                <a:r>
                  <a:rPr lang="en-US" sz="1400" dirty="0" err="1">
                    <a:solidFill>
                      <a:schemeClr val="bg2">
                        <a:lumMod val="25000"/>
                      </a:schemeClr>
                    </a:solidFill>
                  </a:rPr>
                  <a:t>ridiculus</a:t>
                </a:r>
                <a:r>
                  <a:rPr lang="en-US" sz="1400" dirty="0">
                    <a:solidFill>
                      <a:schemeClr val="bg2">
                        <a:lumMod val="25000"/>
                      </a:schemeClr>
                    </a:solidFill>
                  </a:rPr>
                  <a:t> magna </a:t>
                </a:r>
                <a:r>
                  <a:rPr lang="en-US" sz="1400" dirty="0" err="1">
                    <a:solidFill>
                      <a:schemeClr val="bg2">
                        <a:lumMod val="25000"/>
                      </a:schemeClr>
                    </a:solidFill>
                  </a:rPr>
                  <a:t>pulvinar</a:t>
                </a:r>
                <a:r>
                  <a:rPr lang="en-US" sz="1400" dirty="0">
                    <a:solidFill>
                      <a:schemeClr val="bg2">
                        <a:lumMod val="25000"/>
                      </a:schemeClr>
                    </a:solidFill>
                  </a:rPr>
                  <a:t> ipsum. Dolor </a:t>
                </a:r>
                <a:r>
                  <a:rPr lang="en-US" sz="1400" dirty="0" err="1">
                    <a:solidFill>
                      <a:schemeClr val="bg2">
                        <a:lumMod val="25000"/>
                      </a:schemeClr>
                    </a:solidFill>
                  </a:rPr>
                  <a:t>odio</a:t>
                </a:r>
                <a:r>
                  <a:rPr lang="en-US" sz="1400" dirty="0">
                    <a:solidFill>
                      <a:schemeClr val="bg2">
                        <a:lumMod val="25000"/>
                      </a:schemeClr>
                    </a:solidFill>
                  </a:rPr>
                  <a:t> </a:t>
                </a:r>
                <a:r>
                  <a:rPr lang="en-US" sz="1400" dirty="0" err="1">
                    <a:solidFill>
                      <a:schemeClr val="bg2">
                        <a:lumMod val="25000"/>
                      </a:schemeClr>
                    </a:solidFill>
                  </a:rPr>
                  <a:t>pretium</a:t>
                </a:r>
                <a:r>
                  <a:rPr lang="en-US" sz="1400" dirty="0">
                    <a:solidFill>
                      <a:schemeClr val="bg2">
                        <a:lumMod val="25000"/>
                      </a:schemeClr>
                    </a:solidFill>
                  </a:rPr>
                  <a:t> </a:t>
                </a:r>
                <a:r>
                  <a:rPr lang="en-US" sz="1400" dirty="0" err="1">
                    <a:solidFill>
                      <a:schemeClr val="bg2">
                        <a:lumMod val="25000"/>
                      </a:schemeClr>
                    </a:solidFill>
                  </a:rPr>
                  <a:t>eiusmod</a:t>
                </a:r>
                <a:r>
                  <a:rPr lang="en-US" sz="1400" dirty="0">
                    <a:solidFill>
                      <a:schemeClr val="bg2">
                        <a:lumMod val="25000"/>
                      </a:schemeClr>
                    </a:solidFill>
                  </a:rPr>
                  <a:t> </a:t>
                </a:r>
                <a:r>
                  <a:rPr lang="en-US" sz="1400" dirty="0" err="1">
                    <a:solidFill>
                      <a:schemeClr val="bg2">
                        <a:lumMod val="25000"/>
                      </a:schemeClr>
                    </a:solidFill>
                  </a:rPr>
                  <a:t>aliquid</a:t>
                </a:r>
                <a:r>
                  <a:rPr lang="en-US" sz="1400" dirty="0">
                    <a:solidFill>
                      <a:schemeClr val="bg2">
                        <a:lumMod val="25000"/>
                      </a:schemeClr>
                    </a:solidFill>
                  </a:rPr>
                  <a:t>. </a:t>
                </a:r>
                <a:r>
                  <a:rPr lang="en-US" sz="1400" dirty="0" err="1">
                    <a:solidFill>
                      <a:schemeClr val="bg2">
                        <a:lumMod val="25000"/>
                      </a:schemeClr>
                    </a:solidFill>
                  </a:rPr>
                  <a:t>Mauris</a:t>
                </a:r>
                <a:r>
                  <a:rPr lang="en-US" sz="1400" dirty="0">
                    <a:solidFill>
                      <a:schemeClr val="bg2">
                        <a:lumMod val="25000"/>
                      </a:schemeClr>
                    </a:solidFill>
                  </a:rPr>
                  <a:t> </a:t>
                </a:r>
                <a:r>
                  <a:rPr lang="en-US" sz="1400" dirty="0" err="1">
                    <a:solidFill>
                      <a:schemeClr val="bg2">
                        <a:lumMod val="25000"/>
                      </a:schemeClr>
                    </a:solidFill>
                  </a:rPr>
                  <a:t>amet</a:t>
                </a:r>
                <a:r>
                  <a:rPr lang="en-US" sz="1400" dirty="0">
                    <a:solidFill>
                      <a:schemeClr val="bg2">
                        <a:lumMod val="25000"/>
                      </a:schemeClr>
                    </a:solidFill>
                  </a:rPr>
                  <a:t> </a:t>
                </a:r>
                <a:r>
                  <a:rPr lang="en-US" sz="1400" dirty="0" err="1">
                    <a:solidFill>
                      <a:schemeClr val="bg2">
                        <a:lumMod val="25000"/>
                      </a:schemeClr>
                    </a:solidFill>
                  </a:rPr>
                  <a:t>voluptatem</a:t>
                </a:r>
                <a:r>
                  <a:rPr lang="en-US" sz="1400" dirty="0">
                    <a:solidFill>
                      <a:schemeClr val="bg2">
                        <a:lumMod val="25000"/>
                      </a:schemeClr>
                    </a:solidFill>
                  </a:rPr>
                  <a:t> gravida, </a:t>
                </a:r>
                <a:r>
                  <a:rPr lang="en-US" sz="1400" dirty="0" err="1">
                    <a:solidFill>
                      <a:schemeClr val="bg2">
                        <a:lumMod val="25000"/>
                      </a:schemeClr>
                    </a:solidFill>
                  </a:rPr>
                  <a:t>ullamcorper</a:t>
                </a:r>
                <a:r>
                  <a:rPr lang="en-US" sz="1400" dirty="0">
                    <a:solidFill>
                      <a:schemeClr val="bg2">
                        <a:lumMod val="25000"/>
                      </a:schemeClr>
                    </a:solidFill>
                  </a:rPr>
                  <a:t> id </a:t>
                </a:r>
                <a:r>
                  <a:rPr lang="en-US" sz="1400" dirty="0" err="1">
                    <a:solidFill>
                      <a:schemeClr val="bg2">
                        <a:lumMod val="25000"/>
                      </a:schemeClr>
                    </a:solidFill>
                  </a:rPr>
                  <a:t>dignissim</a:t>
                </a:r>
                <a:r>
                  <a:rPr lang="en-US" sz="1400" dirty="0">
                    <a:solidFill>
                      <a:schemeClr val="bg2">
                        <a:lumMod val="25000"/>
                      </a:schemeClr>
                    </a:solidFill>
                  </a:rPr>
                  <a:t> </a:t>
                </a:r>
                <a:r>
                  <a:rPr lang="en-US" sz="1400" u="sng" dirty="0" err="1">
                    <a:solidFill>
                      <a:srgbClr val="0070C0"/>
                    </a:solidFill>
                  </a:rPr>
                  <a:t>consequat</a:t>
                </a:r>
                <a:r>
                  <a:rPr lang="en-US" sz="1400" u="sng" dirty="0">
                    <a:solidFill>
                      <a:srgbClr val="0070C0"/>
                    </a:solidFill>
                  </a:rPr>
                  <a:t> </a:t>
                </a:r>
                <a:r>
                  <a:rPr lang="en-US" sz="1400" u="sng" dirty="0" err="1">
                    <a:solidFill>
                      <a:srgbClr val="0070C0"/>
                    </a:solidFill>
                  </a:rPr>
                  <a:t>suscipit</a:t>
                </a:r>
                <a:r>
                  <a:rPr lang="en-US" sz="1400" u="sng" dirty="0">
                    <a:solidFill>
                      <a:srgbClr val="0070C0"/>
                    </a:solidFill>
                  </a:rPr>
                  <a:t>, </a:t>
                </a:r>
                <a:r>
                  <a:rPr lang="en-US" sz="1400" u="sng" dirty="0" err="1">
                    <a:solidFill>
                      <a:srgbClr val="0070C0"/>
                    </a:solidFill>
                  </a:rPr>
                  <a:t>risus</a:t>
                </a:r>
                <a:r>
                  <a:rPr lang="en-US" sz="1400" u="sng" dirty="0">
                    <a:solidFill>
                      <a:srgbClr val="0070C0"/>
                    </a:solidFill>
                  </a:rPr>
                  <a:t> </a:t>
                </a:r>
                <a:r>
                  <a:rPr lang="en-US" sz="1400" dirty="0" err="1">
                    <a:solidFill>
                      <a:schemeClr val="bg2">
                        <a:lumMod val="25000"/>
                      </a:schemeClr>
                    </a:solidFill>
                  </a:rPr>
                  <a:t>pulvinar</a:t>
                </a:r>
                <a:r>
                  <a:rPr lang="en-US" sz="1400" dirty="0">
                    <a:solidFill>
                      <a:schemeClr val="bg2">
                        <a:lumMod val="25000"/>
                      </a:schemeClr>
                    </a:solidFill>
                  </a:rPr>
                  <a:t> </a:t>
                </a:r>
                <a:r>
                  <a:rPr lang="en-US" sz="1400" dirty="0" err="1">
                    <a:solidFill>
                      <a:schemeClr val="bg2">
                        <a:lumMod val="25000"/>
                      </a:schemeClr>
                    </a:solidFill>
                  </a:rPr>
                  <a:t>nam</a:t>
                </a:r>
                <a:r>
                  <a:rPr lang="en-US" sz="1400" dirty="0">
                    <a:solidFill>
                      <a:schemeClr val="bg2">
                        <a:lumMod val="25000"/>
                      </a:schemeClr>
                    </a:solidFill>
                  </a:rPr>
                  <a:t> a </a:t>
                </a:r>
                <a:r>
                  <a:rPr lang="en-US" sz="1400" dirty="0" err="1">
                    <a:solidFill>
                      <a:schemeClr val="bg2">
                        <a:lumMod val="25000"/>
                      </a:schemeClr>
                    </a:solidFill>
                  </a:rPr>
                  <a:t>nam</a:t>
                </a:r>
                <a:r>
                  <a:rPr lang="en-US" sz="1400" dirty="0">
                    <a:solidFill>
                      <a:schemeClr val="bg2">
                        <a:lumMod val="25000"/>
                      </a:schemeClr>
                    </a:solidFill>
                  </a:rPr>
                  <a:t>, et </a:t>
                </a:r>
                <a:r>
                  <a:rPr lang="en-US" sz="1400" dirty="0" err="1">
                    <a:solidFill>
                      <a:schemeClr val="bg2">
                        <a:lumMod val="25000"/>
                      </a:schemeClr>
                    </a:solidFill>
                  </a:rPr>
                  <a:t>viverra</a:t>
                </a:r>
                <a:r>
                  <a:rPr lang="en-US" sz="1400" dirty="0">
                    <a:solidFill>
                      <a:schemeClr val="bg2">
                        <a:lumMod val="25000"/>
                      </a:schemeClr>
                    </a:solidFill>
                  </a:rPr>
                  <a:t> </a:t>
                </a:r>
                <a:r>
                  <a:rPr lang="en-US" sz="1400" dirty="0" err="1">
                    <a:solidFill>
                      <a:schemeClr val="bg2">
                        <a:lumMod val="25000"/>
                      </a:schemeClr>
                    </a:solidFill>
                  </a:rPr>
                  <a:t>sed</a:t>
                </a:r>
                <a:r>
                  <a:rPr lang="en-US" sz="1400" dirty="0">
                    <a:solidFill>
                      <a:schemeClr val="bg2">
                        <a:lumMod val="25000"/>
                      </a:schemeClr>
                    </a:solidFill>
                  </a:rPr>
                  <a:t>, </a:t>
                </a:r>
                <a:r>
                  <a:rPr lang="en-US" sz="1400" dirty="0" err="1">
                    <a:solidFill>
                      <a:schemeClr val="bg2">
                        <a:lumMod val="25000"/>
                      </a:schemeClr>
                    </a:solidFill>
                  </a:rPr>
                  <a:t>anim</a:t>
                </a:r>
                <a:r>
                  <a:rPr lang="en-US" sz="1400" dirty="0">
                    <a:solidFill>
                      <a:schemeClr val="bg2">
                        <a:lumMod val="25000"/>
                      </a:schemeClr>
                    </a:solidFill>
                  </a:rPr>
                  <a:t> </a:t>
                </a:r>
                <a:r>
                  <a:rPr lang="en-US" sz="1400" dirty="0" err="1">
                    <a:solidFill>
                      <a:schemeClr val="bg2">
                        <a:lumMod val="25000"/>
                      </a:schemeClr>
                    </a:solidFill>
                  </a:rPr>
                  <a:t>tincidunt</a:t>
                </a:r>
                <a:r>
                  <a:rPr lang="en-US" sz="1400" dirty="0">
                    <a:solidFill>
                      <a:schemeClr val="bg2">
                        <a:lumMod val="25000"/>
                      </a:schemeClr>
                    </a:solidFill>
                  </a:rPr>
                  <a:t> quam. </a:t>
                </a:r>
                <a:r>
                  <a:rPr lang="en-US" sz="1400" dirty="0" err="1">
                    <a:solidFill>
                      <a:schemeClr val="bg2">
                        <a:lumMod val="25000"/>
                      </a:schemeClr>
                    </a:solidFill>
                  </a:rPr>
                  <a:t>Sed</a:t>
                </a:r>
                <a:r>
                  <a:rPr lang="en-US" sz="1400" dirty="0">
                    <a:solidFill>
                      <a:schemeClr val="bg2">
                        <a:lumMod val="25000"/>
                      </a:schemeClr>
                    </a:solidFill>
                  </a:rPr>
                  <a:t> </a:t>
                </a:r>
                <a:r>
                  <a:rPr lang="en-US" sz="1400" dirty="0" err="1">
                    <a:solidFill>
                      <a:schemeClr val="bg2">
                        <a:lumMod val="25000"/>
                      </a:schemeClr>
                    </a:solidFill>
                  </a:rPr>
                  <a:t>inceptos</a:t>
                </a:r>
                <a:r>
                  <a:rPr lang="en-US" sz="1400" dirty="0">
                    <a:solidFill>
                      <a:schemeClr val="bg2">
                        <a:lumMod val="25000"/>
                      </a:schemeClr>
                    </a:solidFill>
                  </a:rPr>
                  <a:t> </a:t>
                </a:r>
                <a:r>
                  <a:rPr lang="en-US" sz="1400" dirty="0" err="1">
                    <a:solidFill>
                      <a:schemeClr val="bg2">
                        <a:lumMod val="25000"/>
                      </a:schemeClr>
                    </a:solidFill>
                  </a:rPr>
                  <a:t>erat</a:t>
                </a:r>
                <a:r>
                  <a:rPr lang="en-US" sz="1400" dirty="0">
                    <a:solidFill>
                      <a:schemeClr val="bg2">
                        <a:lumMod val="25000"/>
                      </a:schemeClr>
                    </a:solidFill>
                  </a:rPr>
                  <a:t> </a:t>
                </a:r>
                <a:r>
                  <a:rPr lang="en-US" sz="1400" dirty="0" err="1">
                    <a:solidFill>
                      <a:schemeClr val="bg2">
                        <a:lumMod val="25000"/>
                      </a:schemeClr>
                    </a:solidFill>
                  </a:rPr>
                  <a:t>eleifend</a:t>
                </a:r>
                <a:r>
                  <a:rPr lang="en-US" sz="1400" dirty="0">
                    <a:solidFill>
                      <a:schemeClr val="bg2">
                        <a:lumMod val="25000"/>
                      </a:schemeClr>
                    </a:solidFill>
                  </a:rPr>
                  <a:t> tempus, </a:t>
                </a:r>
                <a:r>
                  <a:rPr lang="en-US" sz="1400" dirty="0" err="1">
                    <a:solidFill>
                      <a:schemeClr val="bg2">
                        <a:lumMod val="25000"/>
                      </a:schemeClr>
                    </a:solidFill>
                  </a:rPr>
                  <a:t>augue</a:t>
                </a:r>
                <a:r>
                  <a:rPr lang="en-US" sz="1400" dirty="0">
                    <a:solidFill>
                      <a:schemeClr val="bg2">
                        <a:lumMod val="25000"/>
                      </a:schemeClr>
                    </a:solidFill>
                  </a:rPr>
                  <a:t> </a:t>
                </a:r>
                <a:r>
                  <a:rPr lang="en-US" sz="1400" dirty="0" err="1">
                    <a:solidFill>
                      <a:schemeClr val="bg2">
                        <a:lumMod val="25000"/>
                      </a:schemeClr>
                    </a:solidFill>
                  </a:rPr>
                  <a:t>diam</a:t>
                </a:r>
                <a:r>
                  <a:rPr lang="en-US" sz="1400" dirty="0">
                    <a:solidFill>
                      <a:schemeClr val="bg2">
                        <a:lumMod val="25000"/>
                      </a:schemeClr>
                    </a:solidFill>
                  </a:rPr>
                  <a:t>, </a:t>
                </a:r>
                <a:r>
                  <a:rPr lang="en-US" sz="1400" dirty="0" err="1">
                    <a:solidFill>
                      <a:schemeClr val="bg2">
                        <a:lumMod val="25000"/>
                      </a:schemeClr>
                    </a:solidFill>
                  </a:rPr>
                  <a:t>velit</a:t>
                </a:r>
                <a:r>
                  <a:rPr lang="en-US" sz="1400" dirty="0">
                    <a:solidFill>
                      <a:schemeClr val="bg2">
                        <a:lumMod val="25000"/>
                      </a:schemeClr>
                    </a:solidFill>
                  </a:rPr>
                  <a:t> </a:t>
                </a:r>
                <a:r>
                  <a:rPr lang="en-US" sz="1400" dirty="0" err="1">
                    <a:solidFill>
                      <a:schemeClr val="bg2">
                        <a:lumMod val="25000"/>
                      </a:schemeClr>
                    </a:solidFill>
                  </a:rPr>
                  <a:t>suscipit</a:t>
                </a:r>
                <a:r>
                  <a:rPr lang="en-US" sz="1400" dirty="0">
                    <a:solidFill>
                      <a:schemeClr val="bg2">
                        <a:lumMod val="25000"/>
                      </a:schemeClr>
                    </a:solidFill>
                  </a:rPr>
                  <a:t>, </a:t>
                </a:r>
                <a:r>
                  <a:rPr lang="en-US" sz="1400" dirty="0" err="1">
                    <a:solidFill>
                      <a:schemeClr val="bg2">
                        <a:lumMod val="25000"/>
                      </a:schemeClr>
                    </a:solidFill>
                  </a:rPr>
                  <a:t>platea</a:t>
                </a:r>
                <a:r>
                  <a:rPr lang="en-US" sz="1400" dirty="0">
                    <a:solidFill>
                      <a:schemeClr val="bg2">
                        <a:lumMod val="25000"/>
                      </a:schemeClr>
                    </a:solidFill>
                  </a:rPr>
                  <a:t> </a:t>
                </a:r>
                <a:r>
                  <a:rPr lang="en-US" sz="1400" dirty="0" err="1">
                    <a:solidFill>
                      <a:schemeClr val="bg2">
                        <a:lumMod val="25000"/>
                      </a:schemeClr>
                    </a:solidFill>
                  </a:rPr>
                  <a:t>morbi</a:t>
                </a:r>
                <a:r>
                  <a:rPr lang="en-US" sz="1400" dirty="0">
                    <a:solidFill>
                      <a:schemeClr val="bg2">
                        <a:lumMod val="25000"/>
                      </a:schemeClr>
                    </a:solidFill>
                  </a:rPr>
                  <a:t>.</a:t>
                </a:r>
              </a:p>
            </p:txBody>
          </p:sp>
          <p:sp>
            <p:nvSpPr>
              <p:cNvPr id="8" name="Rectangle 7"/>
              <p:cNvSpPr/>
              <p:nvPr/>
            </p:nvSpPr>
            <p:spPr>
              <a:xfrm>
                <a:off x="4775200" y="4916398"/>
                <a:ext cx="4854222" cy="44582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lumMod val="65000"/>
                        <a:lumOff val="35000"/>
                      </a:schemeClr>
                    </a:solidFill>
                  </a:rPr>
                  <a:t>Footer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p>
            </p:txBody>
          </p:sp>
          <p:sp>
            <p:nvSpPr>
              <p:cNvPr id="10" name="Rounded Rectangle 9"/>
              <p:cNvSpPr/>
              <p:nvPr/>
            </p:nvSpPr>
            <p:spPr>
              <a:xfrm>
                <a:off x="48768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1" name="Rounded Rectangle 10"/>
              <p:cNvSpPr/>
              <p:nvPr/>
            </p:nvSpPr>
            <p:spPr>
              <a:xfrm>
                <a:off x="55880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2" name="Rounded Rectangle 11"/>
              <p:cNvSpPr/>
              <p:nvPr/>
            </p:nvSpPr>
            <p:spPr>
              <a:xfrm>
                <a:off x="62992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3" name="Rounded Rectangle 12"/>
              <p:cNvSpPr/>
              <p:nvPr/>
            </p:nvSpPr>
            <p:spPr>
              <a:xfrm>
                <a:off x="70104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4" name="Rounded Rectangle 13"/>
              <p:cNvSpPr/>
              <p:nvPr/>
            </p:nvSpPr>
            <p:spPr>
              <a:xfrm>
                <a:off x="7721601" y="945732"/>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grpSp>
        <p:pic>
          <p:nvPicPr>
            <p:cNvPr id="2050" name="Picture 2" descr="http://i.imgur.com/ZGGxVA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7645" y="1339389"/>
              <a:ext cx="1166813" cy="1432847"/>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Rectangle 15"/>
          <p:cNvSpPr/>
          <p:nvPr/>
        </p:nvSpPr>
        <p:spPr>
          <a:xfrm>
            <a:off x="4775200" y="841020"/>
            <a:ext cx="3702756" cy="4611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p:cNvCxnSpPr/>
          <p:nvPr/>
        </p:nvCxnSpPr>
        <p:spPr>
          <a:xfrm flipV="1">
            <a:off x="2247900" y="1206146"/>
            <a:ext cx="2452336" cy="126612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63" name="TextBox 2062"/>
          <p:cNvSpPr txBox="1"/>
          <p:nvPr/>
        </p:nvSpPr>
        <p:spPr>
          <a:xfrm>
            <a:off x="153681" y="1688312"/>
            <a:ext cx="4366238" cy="2554545"/>
          </a:xfrm>
          <a:prstGeom prst="rect">
            <a:avLst/>
          </a:prstGeom>
          <a:noFill/>
        </p:spPr>
        <p:txBody>
          <a:bodyPr wrap="square" rtlCol="0">
            <a:spAutoFit/>
          </a:bodyPr>
          <a:lstStyle/>
          <a:p>
            <a:r>
              <a:rPr lang="en-US" sz="2000" dirty="0"/>
              <a:t>For Example:</a:t>
            </a:r>
          </a:p>
          <a:p>
            <a:endParaRPr lang="en-US" sz="2000" dirty="0"/>
          </a:p>
          <a:p>
            <a:r>
              <a:rPr lang="en-US" sz="2000" dirty="0">
                <a:solidFill>
                  <a:srgbClr val="0070C0"/>
                </a:solidFill>
              </a:rPr>
              <a:t>nav a</a:t>
            </a:r>
            <a:r>
              <a:rPr lang="en-US" sz="2000" dirty="0"/>
              <a:t> {</a:t>
            </a:r>
          </a:p>
          <a:p>
            <a:r>
              <a:rPr lang="en-US" sz="2000" dirty="0"/>
              <a:t>   </a:t>
            </a:r>
            <a:r>
              <a:rPr lang="en-US" sz="2000" dirty="0">
                <a:solidFill>
                  <a:srgbClr val="0070C0"/>
                </a:solidFill>
              </a:rPr>
              <a:t>background-color</a:t>
            </a:r>
            <a:r>
              <a:rPr lang="en-US" sz="2000" dirty="0"/>
              <a:t>: lightblue;</a:t>
            </a:r>
            <a:br>
              <a:rPr lang="en-US" sz="2000" dirty="0"/>
            </a:br>
            <a:r>
              <a:rPr lang="en-US" sz="2000" dirty="0"/>
              <a:t>   </a:t>
            </a:r>
            <a:r>
              <a:rPr lang="en-US" sz="2000" dirty="0">
                <a:solidFill>
                  <a:srgbClr val="0070C0"/>
                </a:solidFill>
              </a:rPr>
              <a:t>border</a:t>
            </a:r>
            <a:r>
              <a:rPr lang="en-US" sz="2000" dirty="0"/>
              <a:t>: 1px solid black;</a:t>
            </a:r>
            <a:br>
              <a:rPr lang="en-US" sz="2000" dirty="0"/>
            </a:br>
            <a:r>
              <a:rPr lang="en-US" sz="2000" dirty="0"/>
              <a:t>   </a:t>
            </a:r>
            <a:r>
              <a:rPr lang="en-US" sz="2000" dirty="0">
                <a:solidFill>
                  <a:srgbClr val="0070C0"/>
                </a:solidFill>
              </a:rPr>
              <a:t>color</a:t>
            </a:r>
            <a:r>
              <a:rPr lang="en-US" sz="2000" dirty="0"/>
              <a:t>: white;</a:t>
            </a:r>
            <a:br>
              <a:rPr lang="en-US" sz="2000" dirty="0"/>
            </a:br>
            <a:r>
              <a:rPr lang="en-US" sz="2000" dirty="0"/>
              <a:t>   </a:t>
            </a:r>
            <a:r>
              <a:rPr lang="en-US" sz="2000" dirty="0">
                <a:solidFill>
                  <a:srgbClr val="0070C0"/>
                </a:solidFill>
              </a:rPr>
              <a:t>border-radius</a:t>
            </a:r>
            <a:r>
              <a:rPr lang="en-US" sz="2000" dirty="0"/>
              <a:t>: 3px;</a:t>
            </a:r>
            <a:br>
              <a:rPr lang="en-US" sz="2000" dirty="0"/>
            </a:br>
            <a:r>
              <a:rPr lang="en-US" sz="2000" dirty="0"/>
              <a:t>}</a:t>
            </a:r>
          </a:p>
        </p:txBody>
      </p:sp>
      <p:sp>
        <p:nvSpPr>
          <p:cNvPr id="9" name="TextBox 8"/>
          <p:cNvSpPr txBox="1"/>
          <p:nvPr/>
        </p:nvSpPr>
        <p:spPr>
          <a:xfrm>
            <a:off x="9731023" y="465664"/>
            <a:ext cx="2397721" cy="2246769"/>
          </a:xfrm>
          <a:prstGeom prst="rect">
            <a:avLst/>
          </a:prstGeom>
          <a:noFill/>
        </p:spPr>
        <p:txBody>
          <a:bodyPr wrap="square" rtlCol="0">
            <a:spAutoFit/>
          </a:bodyPr>
          <a:lstStyle/>
          <a:p>
            <a:r>
              <a:rPr lang="en-US" sz="2000" dirty="0"/>
              <a:t>Remember what</a:t>
            </a:r>
          </a:p>
          <a:p>
            <a:endParaRPr lang="en-US" sz="2000" dirty="0"/>
          </a:p>
          <a:p>
            <a:pPr algn="ctr"/>
            <a:r>
              <a:rPr lang="en-US" sz="2000" dirty="0" err="1">
                <a:solidFill>
                  <a:srgbClr val="0070C0"/>
                </a:solidFill>
              </a:rPr>
              <a:t>nav</a:t>
            </a:r>
            <a:r>
              <a:rPr lang="en-US" sz="2000" dirty="0">
                <a:solidFill>
                  <a:srgbClr val="0070C0"/>
                </a:solidFill>
              </a:rPr>
              <a:t> a</a:t>
            </a:r>
          </a:p>
          <a:p>
            <a:endParaRPr lang="en-US" sz="2000" dirty="0"/>
          </a:p>
          <a:p>
            <a:endParaRPr lang="en-US" sz="2000" dirty="0"/>
          </a:p>
          <a:p>
            <a:r>
              <a:rPr lang="en-US" sz="2000" dirty="0"/>
              <a:t>the space between</a:t>
            </a:r>
            <a:br>
              <a:rPr lang="en-US" sz="2000" dirty="0"/>
            </a:br>
            <a:r>
              <a:rPr lang="en-US" sz="2000" dirty="0"/>
              <a:t>‘</a:t>
            </a:r>
            <a:r>
              <a:rPr lang="en-US" sz="2000" dirty="0" err="1"/>
              <a:t>nav</a:t>
            </a:r>
            <a:r>
              <a:rPr lang="en-US" sz="2000" dirty="0"/>
              <a:t>’ and ‘a’ does?</a:t>
            </a:r>
          </a:p>
        </p:txBody>
      </p:sp>
      <p:cxnSp>
        <p:nvCxnSpPr>
          <p:cNvPr id="33" name="Straight Arrow Connector 32"/>
          <p:cNvCxnSpPr/>
          <p:nvPr/>
        </p:nvCxnSpPr>
        <p:spPr>
          <a:xfrm flipV="1">
            <a:off x="11056883" y="1339389"/>
            <a:ext cx="0" cy="71642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6877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63"/>
                                        </p:tgtEl>
                                        <p:attrNameLst>
                                          <p:attrName>style.visibility</p:attrName>
                                        </p:attrNameLst>
                                      </p:cBhvr>
                                      <p:to>
                                        <p:strVal val="visible"/>
                                      </p:to>
                                    </p:set>
                                    <p:animEffect transition="in" filter="fade">
                                      <p:cBhvr>
                                        <p:cTn id="7" dur="500"/>
                                        <p:tgtEl>
                                          <p:spTgt spid="206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down)">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wipe(down)">
                                      <p:cBhvr>
                                        <p:cTn id="2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3"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a:t>
            </a:r>
          </a:p>
        </p:txBody>
      </p:sp>
      <p:sp>
        <p:nvSpPr>
          <p:cNvPr id="3" name="Content Placeholder 2"/>
          <p:cNvSpPr>
            <a:spLocks noGrp="1"/>
          </p:cNvSpPr>
          <p:nvPr>
            <p:ph idx="1"/>
          </p:nvPr>
        </p:nvSpPr>
        <p:spPr>
          <a:xfrm>
            <a:off x="838200" y="1690688"/>
            <a:ext cx="10515600" cy="4351338"/>
          </a:xfrm>
        </p:spPr>
        <p:txBody>
          <a:bodyPr/>
          <a:lstStyle/>
          <a:p>
            <a:pPr marL="0" indent="0">
              <a:spcAft>
                <a:spcPts val="1200"/>
              </a:spcAft>
              <a:buNone/>
            </a:pPr>
            <a:r>
              <a:rPr lang="en-US" dirty="0"/>
              <a:t>The &lt;section&gt; element defines a section in a document</a:t>
            </a:r>
          </a:p>
          <a:p>
            <a:pPr marL="0" indent="0">
              <a:spcAft>
                <a:spcPts val="1200"/>
              </a:spcAft>
              <a:buNone/>
            </a:pPr>
            <a:r>
              <a:rPr lang="en-US" dirty="0"/>
              <a:t>According to W3C's HTML5 documentation: "A section is a thematic grouping of content, typically with a heading"</a:t>
            </a:r>
          </a:p>
          <a:p>
            <a:pPr marL="0" indent="0">
              <a:spcAft>
                <a:spcPts val="1200"/>
              </a:spcAft>
              <a:buNone/>
            </a:pPr>
            <a:r>
              <a:rPr lang="en-US" dirty="0"/>
              <a:t>A Web site's home page could be split into sections for introduction, content, and contact information</a:t>
            </a:r>
          </a:p>
        </p:txBody>
      </p:sp>
    </p:spTree>
    <p:extLst>
      <p:ext uri="{BB962C8B-B14F-4D97-AF65-F5344CB8AC3E}">
        <p14:creationId xmlns:p14="http://schemas.microsoft.com/office/powerpoint/2010/main" val="2298857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a:t>
            </a:r>
          </a:p>
        </p:txBody>
      </p:sp>
      <p:sp>
        <p:nvSpPr>
          <p:cNvPr id="3" name="Content Placeholder 2"/>
          <p:cNvSpPr>
            <a:spLocks noGrp="1"/>
          </p:cNvSpPr>
          <p:nvPr>
            <p:ph idx="1"/>
          </p:nvPr>
        </p:nvSpPr>
        <p:spPr>
          <a:xfrm>
            <a:off x="838200" y="1689542"/>
            <a:ext cx="5411771" cy="4351338"/>
          </a:xfrm>
        </p:spPr>
        <p:txBody>
          <a:bodyPr>
            <a:normAutofit/>
          </a:bodyPr>
          <a:lstStyle/>
          <a:p>
            <a:pPr marL="0" indent="0">
              <a:spcAft>
                <a:spcPts val="1200"/>
              </a:spcAft>
              <a:buNone/>
            </a:pPr>
            <a:r>
              <a:rPr lang="en-US" sz="2400" dirty="0"/>
              <a:t>A page may be divided into a number of sections, each with a logical theme</a:t>
            </a:r>
          </a:p>
          <a:p>
            <a:pPr marL="0" indent="0">
              <a:spcAft>
                <a:spcPts val="1200"/>
              </a:spcAft>
              <a:buNone/>
            </a:pPr>
            <a:r>
              <a:rPr lang="en-US" sz="2400" dirty="0"/>
              <a:t>Alternatively, a page may have one section with a number of headers that divide them logically</a:t>
            </a:r>
          </a:p>
        </p:txBody>
      </p:sp>
      <p:grpSp>
        <p:nvGrpSpPr>
          <p:cNvPr id="24" name="Group 23"/>
          <p:cNvGrpSpPr/>
          <p:nvPr/>
        </p:nvGrpSpPr>
        <p:grpSpPr>
          <a:xfrm>
            <a:off x="6483430" y="150829"/>
            <a:ext cx="5082774" cy="6070862"/>
            <a:chOff x="6483430" y="150829"/>
            <a:chExt cx="5082774" cy="6070862"/>
          </a:xfrm>
        </p:grpSpPr>
        <p:sp>
          <p:nvSpPr>
            <p:cNvPr id="7" name="Rectangle 6"/>
            <p:cNvSpPr/>
            <p:nvPr/>
          </p:nvSpPr>
          <p:spPr>
            <a:xfrm>
              <a:off x="6483430" y="150829"/>
              <a:ext cx="4944534" cy="60708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528586" y="241138"/>
              <a:ext cx="4854222" cy="7507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Header</a:t>
              </a:r>
            </a:p>
          </p:txBody>
        </p:sp>
        <p:sp>
          <p:nvSpPr>
            <p:cNvPr id="9" name="Rectangle 8"/>
            <p:cNvSpPr/>
            <p:nvPr/>
          </p:nvSpPr>
          <p:spPr>
            <a:xfrm>
              <a:off x="6528586" y="1064523"/>
              <a:ext cx="4854222" cy="29245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528586" y="5700701"/>
              <a:ext cx="4854222" cy="44582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lumMod val="65000"/>
                      <a:lumOff val="35000"/>
                    </a:schemeClr>
                  </a:solidFill>
                </a:rPr>
                <a:t>Footer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p>
          </p:txBody>
        </p:sp>
        <p:sp>
          <p:nvSpPr>
            <p:cNvPr id="12" name="Rounded Rectangle 11"/>
            <p:cNvSpPr/>
            <p:nvPr/>
          </p:nvSpPr>
          <p:spPr>
            <a:xfrm>
              <a:off x="66301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3" name="Rounded Rectangle 12"/>
            <p:cNvSpPr/>
            <p:nvPr/>
          </p:nvSpPr>
          <p:spPr>
            <a:xfrm>
              <a:off x="73413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4" name="Rounded Rectangle 13"/>
            <p:cNvSpPr/>
            <p:nvPr/>
          </p:nvSpPr>
          <p:spPr>
            <a:xfrm>
              <a:off x="80525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5" name="Rounded Rectangle 14"/>
            <p:cNvSpPr/>
            <p:nvPr/>
          </p:nvSpPr>
          <p:spPr>
            <a:xfrm>
              <a:off x="87637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6" name="Rounded Rectangle 15"/>
            <p:cNvSpPr/>
            <p:nvPr/>
          </p:nvSpPr>
          <p:spPr>
            <a:xfrm>
              <a:off x="94749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7" name="Rectangle 16"/>
            <p:cNvSpPr/>
            <p:nvPr/>
          </p:nvSpPr>
          <p:spPr>
            <a:xfrm>
              <a:off x="6528586" y="1429650"/>
              <a:ext cx="4854222" cy="209597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Section</a:t>
              </a:r>
            </a:p>
          </p:txBody>
        </p:sp>
        <p:sp>
          <p:nvSpPr>
            <p:cNvPr id="10" name="Rectangle 9"/>
            <p:cNvSpPr/>
            <p:nvPr/>
          </p:nvSpPr>
          <p:spPr>
            <a:xfrm>
              <a:off x="6618898" y="2237488"/>
              <a:ext cx="4660666" cy="11561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lumMod val="25000"/>
                    </a:schemeClr>
                  </a:solidFill>
                </a:rPr>
                <a:t>Lorem ipsum dolor sit </a:t>
              </a:r>
              <a:r>
                <a:rPr lang="en-US" sz="1100" dirty="0" err="1">
                  <a:solidFill>
                    <a:schemeClr val="bg2">
                      <a:lumMod val="25000"/>
                    </a:schemeClr>
                  </a:solidFill>
                </a:rPr>
                <a:t>amet</a:t>
              </a:r>
              <a:r>
                <a:rPr lang="en-US" sz="1100" dirty="0">
                  <a:solidFill>
                    <a:schemeClr val="bg2">
                      <a:lumMod val="25000"/>
                    </a:schemeClr>
                  </a:solidFill>
                </a:rPr>
                <a:t>, gravida </a:t>
              </a:r>
              <a:r>
                <a:rPr lang="en-US" sz="1100" dirty="0" err="1">
                  <a:solidFill>
                    <a:schemeClr val="bg2">
                      <a:lumMod val="25000"/>
                    </a:schemeClr>
                  </a:solidFill>
                </a:rPr>
                <a:t>facilisi</a:t>
              </a:r>
              <a:r>
                <a:rPr lang="en-US" sz="1100" dirty="0">
                  <a:solidFill>
                    <a:schemeClr val="bg2">
                      <a:lumMod val="25000"/>
                    </a:schemeClr>
                  </a:solidFill>
                </a:rPr>
                <a:t> </a:t>
              </a:r>
              <a:r>
                <a:rPr lang="en-US" sz="1100" dirty="0" err="1">
                  <a:solidFill>
                    <a:schemeClr val="bg2">
                      <a:lumMod val="25000"/>
                    </a:schemeClr>
                  </a:solidFill>
                </a:rPr>
                <a:t>orci</a:t>
              </a:r>
              <a:r>
                <a:rPr lang="en-US" sz="1100" dirty="0">
                  <a:solidFill>
                    <a:schemeClr val="bg2">
                      <a:lumMod val="25000"/>
                    </a:schemeClr>
                  </a:solidFill>
                </a:rPr>
                <a:t> </a:t>
              </a:r>
              <a:r>
                <a:rPr lang="en-US" sz="1100" dirty="0" err="1">
                  <a:solidFill>
                    <a:schemeClr val="bg2">
                      <a:lumMod val="25000"/>
                    </a:schemeClr>
                  </a:solidFill>
                </a:rPr>
                <a:t>nulla</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dolor, </a:t>
              </a:r>
              <a:br>
                <a:rPr lang="en-US" sz="1100" dirty="0">
                  <a:solidFill>
                    <a:schemeClr val="bg2">
                      <a:lumMod val="25000"/>
                    </a:schemeClr>
                  </a:solidFill>
                </a:rPr>
              </a:br>
              <a:r>
                <a:rPr lang="en-US" sz="1100" dirty="0" err="1">
                  <a:solidFill>
                    <a:schemeClr val="bg2">
                      <a:lumMod val="25000"/>
                    </a:schemeClr>
                  </a:solidFill>
                </a:rPr>
                <a:t>sagittis</a:t>
              </a:r>
              <a:r>
                <a:rPr lang="en-US" sz="1100" dirty="0">
                  <a:solidFill>
                    <a:schemeClr val="bg2">
                      <a:lumMod val="25000"/>
                    </a:schemeClr>
                  </a:solidFill>
                </a:rPr>
                <a:t> </a:t>
              </a:r>
              <a:r>
                <a:rPr lang="en-US" sz="1100" dirty="0" err="1">
                  <a:solidFill>
                    <a:schemeClr val="bg2">
                      <a:lumMod val="25000"/>
                    </a:schemeClr>
                  </a:solidFill>
                </a:rPr>
                <a:t>blandit</a:t>
              </a:r>
              <a:r>
                <a:rPr lang="en-US" sz="1100" dirty="0">
                  <a:solidFill>
                    <a:schemeClr val="bg2">
                      <a:lumMod val="25000"/>
                    </a:schemeClr>
                  </a:solidFill>
                </a:rPr>
                <a:t>, </a:t>
              </a:r>
              <a:r>
                <a:rPr lang="en-US" sz="1100" dirty="0" err="1">
                  <a:solidFill>
                    <a:schemeClr val="bg2">
                      <a:lumMod val="25000"/>
                    </a:schemeClr>
                  </a:solidFill>
                </a:rPr>
                <a:t>maecenas</a:t>
              </a:r>
              <a:r>
                <a:rPr lang="en-US" sz="1100" dirty="0">
                  <a:solidFill>
                    <a:schemeClr val="bg2">
                      <a:lumMod val="25000"/>
                    </a:schemeClr>
                  </a:solidFill>
                </a:rPr>
                <a:t> </a:t>
              </a:r>
              <a:r>
                <a:rPr lang="en-US" sz="1100" dirty="0" err="1">
                  <a:solidFill>
                    <a:schemeClr val="bg2">
                      <a:lumMod val="25000"/>
                    </a:schemeClr>
                  </a:solidFill>
                </a:rPr>
                <a:t>quis</a:t>
              </a:r>
              <a:r>
                <a:rPr lang="en-US" sz="1100" dirty="0">
                  <a:solidFill>
                    <a:schemeClr val="bg2">
                      <a:lumMod val="25000"/>
                    </a:schemeClr>
                  </a:solidFill>
                </a:rPr>
                <a:t> mi </a:t>
              </a:r>
              <a:r>
                <a:rPr lang="en-US" sz="1100" dirty="0" err="1">
                  <a:solidFill>
                    <a:schemeClr val="bg2">
                      <a:lumMod val="25000"/>
                    </a:schemeClr>
                  </a:solidFill>
                </a:rPr>
                <a:t>suscipit</a:t>
              </a:r>
              <a:r>
                <a:rPr lang="en-US" sz="1100" dirty="0">
                  <a:solidFill>
                    <a:schemeClr val="bg2">
                      <a:lumMod val="25000"/>
                    </a:schemeClr>
                  </a:solidFill>
                </a:rPr>
                <a:t>, </a:t>
              </a:r>
              <a:r>
                <a:rPr lang="en-US" sz="1100" dirty="0" err="1">
                  <a:solidFill>
                    <a:schemeClr val="bg2">
                      <a:lumMod val="25000"/>
                    </a:schemeClr>
                  </a:solidFill>
                </a:rPr>
                <a:t>risus</a:t>
              </a:r>
              <a:r>
                <a:rPr lang="en-US" sz="1100" dirty="0">
                  <a:solidFill>
                    <a:schemeClr val="bg2">
                      <a:lumMod val="25000"/>
                    </a:schemeClr>
                  </a:solidFill>
                </a:rPr>
                <a:t> </a:t>
              </a:r>
              <a:r>
                <a:rPr lang="en-US" sz="1100" dirty="0" err="1">
                  <a:solidFill>
                    <a:schemeClr val="bg2">
                      <a:lumMod val="25000"/>
                    </a:schemeClr>
                  </a:solidFill>
                </a:rPr>
                <a:t>enim</a:t>
              </a:r>
              <a:r>
                <a:rPr lang="en-US" sz="1100" dirty="0">
                  <a:solidFill>
                    <a:schemeClr val="bg2">
                      <a:lumMod val="25000"/>
                    </a:schemeClr>
                  </a:solidFill>
                </a:rPr>
                <a:t> </a:t>
              </a:r>
              <a:r>
                <a:rPr lang="en-US" sz="1100" dirty="0" err="1">
                  <a:solidFill>
                    <a:schemeClr val="bg2">
                      <a:lumMod val="25000"/>
                    </a:schemeClr>
                  </a:solidFill>
                </a:rPr>
                <a:t>tincidunt</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Eu</a:t>
              </a:r>
              <a:r>
                <a:rPr lang="en-US" sz="1100" dirty="0">
                  <a:solidFill>
                    <a:schemeClr val="bg2">
                      <a:lumMod val="25000"/>
                    </a:schemeClr>
                  </a:solidFill>
                </a:rPr>
                <a:t> </a:t>
              </a:r>
              <a:r>
                <a:rPr lang="en-US" sz="1100" dirty="0" err="1">
                  <a:solidFill>
                    <a:schemeClr val="bg2">
                      <a:lumMod val="25000"/>
                    </a:schemeClr>
                  </a:solidFill>
                </a:rPr>
                <a:t>justo</a:t>
              </a:r>
              <a:r>
                <a:rPr lang="en-US" sz="1100" dirty="0">
                  <a:solidFill>
                    <a:schemeClr val="bg2">
                      <a:lumMod val="25000"/>
                    </a:schemeClr>
                  </a:solidFill>
                </a:rPr>
                <a:t>, </a:t>
              </a:r>
              <a:r>
                <a:rPr lang="en-US" sz="1100" dirty="0" err="1">
                  <a:solidFill>
                    <a:schemeClr val="bg2">
                      <a:lumMod val="25000"/>
                    </a:schemeClr>
                  </a:solidFill>
                </a:rPr>
                <a:t>senectus</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a:t>
              </a:r>
              <a:r>
                <a:rPr lang="en-US" sz="1100" dirty="0" err="1">
                  <a:solidFill>
                    <a:schemeClr val="bg2">
                      <a:lumMod val="25000"/>
                    </a:schemeClr>
                  </a:solidFill>
                </a:rPr>
                <a:t>mattis</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 et.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ultricies</a:t>
              </a:r>
              <a:r>
                <a:rPr lang="en-US" sz="1100" dirty="0">
                  <a:solidFill>
                    <a:schemeClr val="bg2">
                      <a:lumMod val="25000"/>
                    </a:schemeClr>
                  </a:solidFill>
                </a:rPr>
                <a:t> </a:t>
              </a:r>
              <a:r>
                <a:rPr lang="en-US" sz="1100" dirty="0" err="1">
                  <a:solidFill>
                    <a:schemeClr val="bg2">
                      <a:lumMod val="25000"/>
                    </a:schemeClr>
                  </a:solidFill>
                </a:rPr>
                <a:t>ultrices</a:t>
              </a:r>
              <a:r>
                <a:rPr lang="en-US" sz="1100" dirty="0">
                  <a:solidFill>
                    <a:schemeClr val="bg2">
                      <a:lumMod val="25000"/>
                    </a:schemeClr>
                  </a:solidFill>
                </a:rPr>
                <a:t> </a:t>
              </a:r>
              <a:r>
                <a:rPr lang="en-US" sz="1100" dirty="0" err="1">
                  <a:solidFill>
                    <a:schemeClr val="bg2">
                      <a:lumMod val="25000"/>
                    </a:schemeClr>
                  </a:solidFill>
                </a:rPr>
                <a:t>iaculis</a:t>
              </a:r>
              <a:r>
                <a:rPr lang="en-US" sz="1100" dirty="0">
                  <a:solidFill>
                    <a:schemeClr val="bg2">
                      <a:lumMod val="25000"/>
                    </a:schemeClr>
                  </a:solidFill>
                </a:rPr>
                <a:t> </a:t>
              </a:r>
              <a:br>
                <a:rPr lang="en-US" sz="1100" dirty="0">
                  <a:solidFill>
                    <a:schemeClr val="bg2">
                      <a:lumMod val="25000"/>
                    </a:schemeClr>
                  </a:solidFill>
                </a:rPr>
              </a:br>
              <a:r>
                <a:rPr lang="en-US" sz="1100" dirty="0">
                  <a:solidFill>
                    <a:srgbClr val="0070C0"/>
                  </a:solidFill>
                </a:rPr>
                <a:t>non </a:t>
              </a:r>
              <a:r>
                <a:rPr lang="en-US" sz="1100" dirty="0" err="1">
                  <a:solidFill>
                    <a:srgbClr val="0070C0"/>
                  </a:solidFill>
                </a:rPr>
                <a:t>asperiores</a:t>
              </a:r>
              <a:r>
                <a:rPr lang="en-US" sz="1100" dirty="0">
                  <a:solidFill>
                    <a:srgbClr val="0070C0"/>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dolor </a:t>
              </a:r>
              <a:r>
                <a:rPr lang="en-US" sz="1100" dirty="0" err="1">
                  <a:solidFill>
                    <a:schemeClr val="bg2">
                      <a:lumMod val="25000"/>
                    </a:schemeClr>
                  </a:solidFill>
                </a:rPr>
                <a:t>dignissim</a:t>
              </a:r>
              <a:r>
                <a:rPr lang="en-US" sz="1100" dirty="0">
                  <a:solidFill>
                    <a:schemeClr val="bg2">
                      <a:lumMod val="25000"/>
                    </a:schemeClr>
                  </a:solidFill>
                </a:rPr>
                <a:t>, </a:t>
              </a:r>
              <a:r>
                <a:rPr lang="en-US" sz="1100" dirty="0" err="1">
                  <a:solidFill>
                    <a:schemeClr val="bg2">
                      <a:lumMod val="25000"/>
                    </a:schemeClr>
                  </a:solidFill>
                </a:rPr>
                <a:t>sodales</a:t>
              </a:r>
              <a:r>
                <a:rPr lang="en-US" sz="1100" dirty="0">
                  <a:solidFill>
                    <a:schemeClr val="bg2">
                      <a:lumMod val="25000"/>
                    </a:schemeClr>
                  </a:solidFill>
                </a:rPr>
                <a:t> </a:t>
              </a:r>
              <a:r>
                <a:rPr lang="en-US" sz="1100" dirty="0" err="1">
                  <a:solidFill>
                    <a:schemeClr val="bg2">
                      <a:lumMod val="25000"/>
                    </a:schemeClr>
                  </a:solidFill>
                </a:rPr>
                <a:t>purus</a:t>
              </a:r>
              <a:r>
                <a:rPr lang="en-US" sz="1100" dirty="0">
                  <a:solidFill>
                    <a:schemeClr val="bg2">
                      <a:lumMod val="25000"/>
                    </a:schemeClr>
                  </a:solidFill>
                </a:rPr>
                <a:t> </a:t>
              </a:r>
              <a:r>
                <a:rPr lang="en-US" sz="1100" dirty="0" err="1">
                  <a:solidFill>
                    <a:schemeClr val="bg2">
                      <a:lumMod val="25000"/>
                    </a:schemeClr>
                  </a:solidFill>
                </a:rPr>
                <a:t>pretium</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eget</a:t>
              </a:r>
              <a:r>
                <a:rPr lang="en-US" sz="1100" dirty="0">
                  <a:solidFill>
                    <a:schemeClr val="bg2">
                      <a:lumMod val="25000"/>
                    </a:schemeClr>
                  </a:solidFill>
                </a:rPr>
                <a:t>, </a:t>
              </a:r>
              <a:r>
                <a:rPr lang="en-US" sz="1100" dirty="0" err="1">
                  <a:solidFill>
                    <a:schemeClr val="bg2">
                      <a:lumMod val="25000"/>
                    </a:schemeClr>
                  </a:solidFill>
                </a:rPr>
                <a:t>wisi</a:t>
              </a:r>
              <a:r>
                <a:rPr lang="en-US" sz="1100" dirty="0">
                  <a:solidFill>
                    <a:schemeClr val="bg2">
                      <a:lumMod val="25000"/>
                    </a:schemeClr>
                  </a:solidFill>
                </a:rPr>
                <a:t> integer </a:t>
              </a:r>
              <a:r>
                <a:rPr lang="en-US" sz="1100" dirty="0" err="1">
                  <a:solidFill>
                    <a:schemeClr val="bg2">
                      <a:lumMod val="25000"/>
                    </a:schemeClr>
                  </a:solidFill>
                </a:rPr>
                <a:t>molestie</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platea</a:t>
              </a:r>
              <a:r>
                <a:rPr lang="en-US" sz="1100" dirty="0">
                  <a:solidFill>
                    <a:schemeClr val="bg2">
                      <a:lumMod val="25000"/>
                    </a:schemeClr>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in ipsum </a:t>
              </a:r>
              <a:r>
                <a:rPr lang="en-US" sz="1100" dirty="0" err="1">
                  <a:solidFill>
                    <a:schemeClr val="bg2">
                      <a:lumMod val="25000"/>
                    </a:schemeClr>
                  </a:solidFill>
                </a:rPr>
                <a:t>laoreet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Aenean</a:t>
              </a:r>
              <a:r>
                <a:rPr lang="en-US" sz="1100" dirty="0">
                  <a:solidFill>
                    <a:schemeClr val="bg2">
                      <a:lumMod val="25000"/>
                    </a:schemeClr>
                  </a:solidFill>
                </a:rPr>
                <a:t> </a:t>
              </a:r>
              <a:r>
                <a:rPr lang="en-US" sz="1100" dirty="0" err="1">
                  <a:solidFill>
                    <a:schemeClr val="bg2">
                      <a:lumMod val="25000"/>
                    </a:schemeClr>
                  </a:solidFill>
                </a:rPr>
                <a:t>fusce</a:t>
              </a:r>
              <a:r>
                <a:rPr lang="en-US" sz="1100" dirty="0">
                  <a:solidFill>
                    <a:schemeClr val="bg2">
                      <a:lumMod val="25000"/>
                    </a:schemeClr>
                  </a:solidFill>
                </a:rPr>
                <a:t> </a:t>
              </a:r>
              <a:r>
                <a:rPr lang="en-US" sz="1100" dirty="0" err="1">
                  <a:solidFill>
                    <a:schemeClr val="bg2">
                      <a:lumMod val="25000"/>
                    </a:schemeClr>
                  </a:solidFill>
                </a:rPr>
                <a:t>donec</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elit</a:t>
              </a:r>
              <a:r>
                <a:rPr lang="en-US" sz="1100" dirty="0">
                  <a:solidFill>
                    <a:schemeClr val="bg2">
                      <a:lumMod val="25000"/>
                    </a:schemeClr>
                  </a:solidFill>
                </a:rPr>
                <a:t>, </a:t>
              </a:r>
              <a:r>
                <a:rPr lang="en-US" sz="1100" dirty="0" err="1">
                  <a:solidFill>
                    <a:schemeClr val="bg2">
                      <a:lumMod val="25000"/>
                    </a:schemeClr>
                  </a:solidFill>
                </a:rPr>
                <a:t>placerat</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a:t>
              </a:r>
              <a:br>
                <a:rPr lang="en-US" sz="1100" dirty="0">
                  <a:solidFill>
                    <a:schemeClr val="bg2">
                      <a:lumMod val="25000"/>
                    </a:schemeClr>
                  </a:solidFill>
                </a:rPr>
              </a:br>
              <a:endParaRPr lang="en-US" sz="1100" dirty="0">
                <a:solidFill>
                  <a:schemeClr val="bg2">
                    <a:lumMod val="25000"/>
                  </a:schemeClr>
                </a:solidFill>
              </a:endParaRPr>
            </a:p>
          </p:txBody>
        </p:sp>
        <p:pic>
          <p:nvPicPr>
            <p:cNvPr id="6" name="Picture 2" descr="http://i.imgur.com/ZGGxVA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4009" y="2229586"/>
              <a:ext cx="655555" cy="80502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p:cNvSpPr/>
            <p:nvPr/>
          </p:nvSpPr>
          <p:spPr>
            <a:xfrm>
              <a:off x="6618898" y="1749902"/>
              <a:ext cx="4660666" cy="4149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Header</a:t>
              </a:r>
            </a:p>
          </p:txBody>
        </p:sp>
        <p:grpSp>
          <p:nvGrpSpPr>
            <p:cNvPr id="23" name="Group 22"/>
            <p:cNvGrpSpPr/>
            <p:nvPr/>
          </p:nvGrpSpPr>
          <p:grpSpPr>
            <a:xfrm>
              <a:off x="6528586" y="3565175"/>
              <a:ext cx="4854222" cy="2095976"/>
              <a:chOff x="6680986" y="1582050"/>
              <a:chExt cx="4854222" cy="2095976"/>
            </a:xfrm>
          </p:grpSpPr>
          <p:sp>
            <p:nvSpPr>
              <p:cNvPr id="19" name="Rectangle 18"/>
              <p:cNvSpPr/>
              <p:nvPr/>
            </p:nvSpPr>
            <p:spPr>
              <a:xfrm>
                <a:off x="6680986" y="1582050"/>
                <a:ext cx="4854222" cy="209597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Section</a:t>
                </a:r>
              </a:p>
            </p:txBody>
          </p:sp>
          <p:sp>
            <p:nvSpPr>
              <p:cNvPr id="20" name="Rectangle 19"/>
              <p:cNvSpPr/>
              <p:nvPr/>
            </p:nvSpPr>
            <p:spPr>
              <a:xfrm>
                <a:off x="6771298" y="2389888"/>
                <a:ext cx="4660666" cy="11561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lumMod val="25000"/>
                      </a:schemeClr>
                    </a:solidFill>
                  </a:rPr>
                  <a:t>Lorem ipsum dolor sit </a:t>
                </a:r>
                <a:r>
                  <a:rPr lang="en-US" sz="1100" dirty="0" err="1">
                    <a:solidFill>
                      <a:schemeClr val="bg2">
                        <a:lumMod val="25000"/>
                      </a:schemeClr>
                    </a:solidFill>
                  </a:rPr>
                  <a:t>amet</a:t>
                </a:r>
                <a:r>
                  <a:rPr lang="en-US" sz="1100" dirty="0">
                    <a:solidFill>
                      <a:schemeClr val="bg2">
                        <a:lumMod val="25000"/>
                      </a:schemeClr>
                    </a:solidFill>
                  </a:rPr>
                  <a:t>, gravida </a:t>
                </a:r>
                <a:r>
                  <a:rPr lang="en-US" sz="1100" dirty="0" err="1">
                    <a:solidFill>
                      <a:schemeClr val="bg2">
                        <a:lumMod val="25000"/>
                      </a:schemeClr>
                    </a:solidFill>
                  </a:rPr>
                  <a:t>facilisi</a:t>
                </a:r>
                <a:r>
                  <a:rPr lang="en-US" sz="1100" dirty="0">
                    <a:solidFill>
                      <a:schemeClr val="bg2">
                        <a:lumMod val="25000"/>
                      </a:schemeClr>
                    </a:solidFill>
                  </a:rPr>
                  <a:t> </a:t>
                </a:r>
                <a:r>
                  <a:rPr lang="en-US" sz="1100" dirty="0" err="1">
                    <a:solidFill>
                      <a:schemeClr val="bg2">
                        <a:lumMod val="25000"/>
                      </a:schemeClr>
                    </a:solidFill>
                  </a:rPr>
                  <a:t>orci</a:t>
                </a:r>
                <a:r>
                  <a:rPr lang="en-US" sz="1100" dirty="0">
                    <a:solidFill>
                      <a:schemeClr val="bg2">
                        <a:lumMod val="25000"/>
                      </a:schemeClr>
                    </a:solidFill>
                  </a:rPr>
                  <a:t> </a:t>
                </a:r>
                <a:r>
                  <a:rPr lang="en-US" sz="1100" dirty="0" err="1">
                    <a:solidFill>
                      <a:schemeClr val="bg2">
                        <a:lumMod val="25000"/>
                      </a:schemeClr>
                    </a:solidFill>
                  </a:rPr>
                  <a:t>nulla</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dolor, </a:t>
                </a:r>
                <a:br>
                  <a:rPr lang="en-US" sz="1100" dirty="0">
                    <a:solidFill>
                      <a:schemeClr val="bg2">
                        <a:lumMod val="25000"/>
                      </a:schemeClr>
                    </a:solidFill>
                  </a:rPr>
                </a:br>
                <a:r>
                  <a:rPr lang="en-US" sz="1100" dirty="0" err="1">
                    <a:solidFill>
                      <a:schemeClr val="bg2">
                        <a:lumMod val="25000"/>
                      </a:schemeClr>
                    </a:solidFill>
                  </a:rPr>
                  <a:t>sagittis</a:t>
                </a:r>
                <a:r>
                  <a:rPr lang="en-US" sz="1100" dirty="0">
                    <a:solidFill>
                      <a:schemeClr val="bg2">
                        <a:lumMod val="25000"/>
                      </a:schemeClr>
                    </a:solidFill>
                  </a:rPr>
                  <a:t> </a:t>
                </a:r>
                <a:r>
                  <a:rPr lang="en-US" sz="1100" dirty="0" err="1">
                    <a:solidFill>
                      <a:schemeClr val="bg2">
                        <a:lumMod val="25000"/>
                      </a:schemeClr>
                    </a:solidFill>
                  </a:rPr>
                  <a:t>blandit</a:t>
                </a:r>
                <a:r>
                  <a:rPr lang="en-US" sz="1100" dirty="0">
                    <a:solidFill>
                      <a:schemeClr val="bg2">
                        <a:lumMod val="25000"/>
                      </a:schemeClr>
                    </a:solidFill>
                  </a:rPr>
                  <a:t>, </a:t>
                </a:r>
                <a:r>
                  <a:rPr lang="en-US" sz="1100" dirty="0" err="1">
                    <a:solidFill>
                      <a:schemeClr val="bg2">
                        <a:lumMod val="25000"/>
                      </a:schemeClr>
                    </a:solidFill>
                  </a:rPr>
                  <a:t>maecenas</a:t>
                </a:r>
                <a:r>
                  <a:rPr lang="en-US" sz="1100" dirty="0">
                    <a:solidFill>
                      <a:schemeClr val="bg2">
                        <a:lumMod val="25000"/>
                      </a:schemeClr>
                    </a:solidFill>
                  </a:rPr>
                  <a:t> </a:t>
                </a:r>
                <a:r>
                  <a:rPr lang="en-US" sz="1100" dirty="0" err="1">
                    <a:solidFill>
                      <a:schemeClr val="bg2">
                        <a:lumMod val="25000"/>
                      </a:schemeClr>
                    </a:solidFill>
                  </a:rPr>
                  <a:t>quis</a:t>
                </a:r>
                <a:r>
                  <a:rPr lang="en-US" sz="1100" dirty="0">
                    <a:solidFill>
                      <a:schemeClr val="bg2">
                        <a:lumMod val="25000"/>
                      </a:schemeClr>
                    </a:solidFill>
                  </a:rPr>
                  <a:t> mi </a:t>
                </a:r>
                <a:r>
                  <a:rPr lang="en-US" sz="1100" dirty="0" err="1">
                    <a:solidFill>
                      <a:schemeClr val="bg2">
                        <a:lumMod val="25000"/>
                      </a:schemeClr>
                    </a:solidFill>
                  </a:rPr>
                  <a:t>suscipit</a:t>
                </a:r>
                <a:r>
                  <a:rPr lang="en-US" sz="1100" dirty="0">
                    <a:solidFill>
                      <a:schemeClr val="bg2">
                        <a:lumMod val="25000"/>
                      </a:schemeClr>
                    </a:solidFill>
                  </a:rPr>
                  <a:t>, </a:t>
                </a:r>
                <a:r>
                  <a:rPr lang="en-US" sz="1100" dirty="0" err="1">
                    <a:solidFill>
                      <a:schemeClr val="bg2">
                        <a:lumMod val="25000"/>
                      </a:schemeClr>
                    </a:solidFill>
                  </a:rPr>
                  <a:t>risus</a:t>
                </a:r>
                <a:r>
                  <a:rPr lang="en-US" sz="1100" dirty="0">
                    <a:solidFill>
                      <a:schemeClr val="bg2">
                        <a:lumMod val="25000"/>
                      </a:schemeClr>
                    </a:solidFill>
                  </a:rPr>
                  <a:t> </a:t>
                </a:r>
                <a:r>
                  <a:rPr lang="en-US" sz="1100" dirty="0" err="1">
                    <a:solidFill>
                      <a:schemeClr val="bg2">
                        <a:lumMod val="25000"/>
                      </a:schemeClr>
                    </a:solidFill>
                  </a:rPr>
                  <a:t>enim</a:t>
                </a:r>
                <a:r>
                  <a:rPr lang="en-US" sz="1100" dirty="0">
                    <a:solidFill>
                      <a:schemeClr val="bg2">
                        <a:lumMod val="25000"/>
                      </a:schemeClr>
                    </a:solidFill>
                  </a:rPr>
                  <a:t> </a:t>
                </a:r>
                <a:r>
                  <a:rPr lang="en-US" sz="1100" dirty="0" err="1">
                    <a:solidFill>
                      <a:schemeClr val="bg2">
                        <a:lumMod val="25000"/>
                      </a:schemeClr>
                    </a:solidFill>
                  </a:rPr>
                  <a:t>tincidunt</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Eu</a:t>
                </a:r>
                <a:r>
                  <a:rPr lang="en-US" sz="1100" dirty="0">
                    <a:solidFill>
                      <a:schemeClr val="bg2">
                        <a:lumMod val="25000"/>
                      </a:schemeClr>
                    </a:solidFill>
                  </a:rPr>
                  <a:t> </a:t>
                </a:r>
                <a:r>
                  <a:rPr lang="en-US" sz="1100" dirty="0" err="1">
                    <a:solidFill>
                      <a:schemeClr val="bg2">
                        <a:lumMod val="25000"/>
                      </a:schemeClr>
                    </a:solidFill>
                  </a:rPr>
                  <a:t>justo</a:t>
                </a:r>
                <a:r>
                  <a:rPr lang="en-US" sz="1100" dirty="0">
                    <a:solidFill>
                      <a:schemeClr val="bg2">
                        <a:lumMod val="25000"/>
                      </a:schemeClr>
                    </a:solidFill>
                  </a:rPr>
                  <a:t>, </a:t>
                </a:r>
                <a:r>
                  <a:rPr lang="en-US" sz="1100" dirty="0" err="1">
                    <a:solidFill>
                      <a:schemeClr val="bg2">
                        <a:lumMod val="25000"/>
                      </a:schemeClr>
                    </a:solidFill>
                  </a:rPr>
                  <a:t>senectus</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a:t>
                </a:r>
                <a:r>
                  <a:rPr lang="en-US" sz="1100" dirty="0" err="1">
                    <a:solidFill>
                      <a:schemeClr val="bg2">
                        <a:lumMod val="25000"/>
                      </a:schemeClr>
                    </a:solidFill>
                  </a:rPr>
                  <a:t>mattis</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 et.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ultricies</a:t>
                </a:r>
                <a:r>
                  <a:rPr lang="en-US" sz="1100" dirty="0">
                    <a:solidFill>
                      <a:schemeClr val="bg2">
                        <a:lumMod val="25000"/>
                      </a:schemeClr>
                    </a:solidFill>
                  </a:rPr>
                  <a:t> </a:t>
                </a:r>
                <a:r>
                  <a:rPr lang="en-US" sz="1100" dirty="0" err="1">
                    <a:solidFill>
                      <a:schemeClr val="bg2">
                        <a:lumMod val="25000"/>
                      </a:schemeClr>
                    </a:solidFill>
                  </a:rPr>
                  <a:t>ultrices</a:t>
                </a:r>
                <a:r>
                  <a:rPr lang="en-US" sz="1100" dirty="0">
                    <a:solidFill>
                      <a:schemeClr val="bg2">
                        <a:lumMod val="25000"/>
                      </a:schemeClr>
                    </a:solidFill>
                  </a:rPr>
                  <a:t> </a:t>
                </a:r>
                <a:r>
                  <a:rPr lang="en-US" sz="1100" dirty="0" err="1">
                    <a:solidFill>
                      <a:schemeClr val="bg2">
                        <a:lumMod val="25000"/>
                      </a:schemeClr>
                    </a:solidFill>
                  </a:rPr>
                  <a:t>iaculis</a:t>
                </a:r>
                <a:r>
                  <a:rPr lang="en-US" sz="1100" dirty="0">
                    <a:solidFill>
                      <a:schemeClr val="bg2">
                        <a:lumMod val="25000"/>
                      </a:schemeClr>
                    </a:solidFill>
                  </a:rPr>
                  <a:t> </a:t>
                </a:r>
                <a:br>
                  <a:rPr lang="en-US" sz="1100" dirty="0">
                    <a:solidFill>
                      <a:schemeClr val="bg2">
                        <a:lumMod val="25000"/>
                      </a:schemeClr>
                    </a:solidFill>
                  </a:rPr>
                </a:br>
                <a:r>
                  <a:rPr lang="en-US" sz="1100" dirty="0">
                    <a:solidFill>
                      <a:srgbClr val="0070C0"/>
                    </a:solidFill>
                  </a:rPr>
                  <a:t>non </a:t>
                </a:r>
                <a:r>
                  <a:rPr lang="en-US" sz="1100" dirty="0" err="1">
                    <a:solidFill>
                      <a:srgbClr val="0070C0"/>
                    </a:solidFill>
                  </a:rPr>
                  <a:t>asperiores</a:t>
                </a:r>
                <a:r>
                  <a:rPr lang="en-US" sz="1100" dirty="0">
                    <a:solidFill>
                      <a:srgbClr val="0070C0"/>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dolor </a:t>
                </a:r>
                <a:r>
                  <a:rPr lang="en-US" sz="1100" dirty="0" err="1">
                    <a:solidFill>
                      <a:schemeClr val="bg2">
                        <a:lumMod val="25000"/>
                      </a:schemeClr>
                    </a:solidFill>
                  </a:rPr>
                  <a:t>dignissim</a:t>
                </a:r>
                <a:r>
                  <a:rPr lang="en-US" sz="1100" dirty="0">
                    <a:solidFill>
                      <a:schemeClr val="bg2">
                        <a:lumMod val="25000"/>
                      </a:schemeClr>
                    </a:solidFill>
                  </a:rPr>
                  <a:t>, </a:t>
                </a:r>
                <a:r>
                  <a:rPr lang="en-US" sz="1100" dirty="0" err="1">
                    <a:solidFill>
                      <a:schemeClr val="bg2">
                        <a:lumMod val="25000"/>
                      </a:schemeClr>
                    </a:solidFill>
                  </a:rPr>
                  <a:t>sodales</a:t>
                </a:r>
                <a:r>
                  <a:rPr lang="en-US" sz="1100" dirty="0">
                    <a:solidFill>
                      <a:schemeClr val="bg2">
                        <a:lumMod val="25000"/>
                      </a:schemeClr>
                    </a:solidFill>
                  </a:rPr>
                  <a:t> </a:t>
                </a:r>
                <a:r>
                  <a:rPr lang="en-US" sz="1100" dirty="0" err="1">
                    <a:solidFill>
                      <a:schemeClr val="bg2">
                        <a:lumMod val="25000"/>
                      </a:schemeClr>
                    </a:solidFill>
                  </a:rPr>
                  <a:t>purus</a:t>
                </a:r>
                <a:r>
                  <a:rPr lang="en-US" sz="1100" dirty="0">
                    <a:solidFill>
                      <a:schemeClr val="bg2">
                        <a:lumMod val="25000"/>
                      </a:schemeClr>
                    </a:solidFill>
                  </a:rPr>
                  <a:t> </a:t>
                </a:r>
                <a:r>
                  <a:rPr lang="en-US" sz="1100" dirty="0" err="1">
                    <a:solidFill>
                      <a:schemeClr val="bg2">
                        <a:lumMod val="25000"/>
                      </a:schemeClr>
                    </a:solidFill>
                  </a:rPr>
                  <a:t>pretium</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eget</a:t>
                </a:r>
                <a:r>
                  <a:rPr lang="en-US" sz="1100" dirty="0">
                    <a:solidFill>
                      <a:schemeClr val="bg2">
                        <a:lumMod val="25000"/>
                      </a:schemeClr>
                    </a:solidFill>
                  </a:rPr>
                  <a:t>, </a:t>
                </a:r>
                <a:r>
                  <a:rPr lang="en-US" sz="1100" dirty="0" err="1">
                    <a:solidFill>
                      <a:schemeClr val="bg2">
                        <a:lumMod val="25000"/>
                      </a:schemeClr>
                    </a:solidFill>
                  </a:rPr>
                  <a:t>wisi</a:t>
                </a:r>
                <a:r>
                  <a:rPr lang="en-US" sz="1100" dirty="0">
                    <a:solidFill>
                      <a:schemeClr val="bg2">
                        <a:lumMod val="25000"/>
                      </a:schemeClr>
                    </a:solidFill>
                  </a:rPr>
                  <a:t> integer </a:t>
                </a:r>
                <a:r>
                  <a:rPr lang="en-US" sz="1100" dirty="0" err="1">
                    <a:solidFill>
                      <a:schemeClr val="bg2">
                        <a:lumMod val="25000"/>
                      </a:schemeClr>
                    </a:solidFill>
                  </a:rPr>
                  <a:t>molestie</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platea</a:t>
                </a:r>
                <a:r>
                  <a:rPr lang="en-US" sz="1100" dirty="0">
                    <a:solidFill>
                      <a:schemeClr val="bg2">
                        <a:lumMod val="25000"/>
                      </a:schemeClr>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in ipsum </a:t>
                </a:r>
                <a:r>
                  <a:rPr lang="en-US" sz="1100" dirty="0" err="1">
                    <a:solidFill>
                      <a:schemeClr val="bg2">
                        <a:lumMod val="25000"/>
                      </a:schemeClr>
                    </a:solidFill>
                  </a:rPr>
                  <a:t>laoreet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Aenean</a:t>
                </a:r>
                <a:r>
                  <a:rPr lang="en-US" sz="1100" dirty="0">
                    <a:solidFill>
                      <a:schemeClr val="bg2">
                        <a:lumMod val="25000"/>
                      </a:schemeClr>
                    </a:solidFill>
                  </a:rPr>
                  <a:t> </a:t>
                </a:r>
                <a:r>
                  <a:rPr lang="en-US" sz="1100" dirty="0" err="1">
                    <a:solidFill>
                      <a:schemeClr val="bg2">
                        <a:lumMod val="25000"/>
                      </a:schemeClr>
                    </a:solidFill>
                  </a:rPr>
                  <a:t>fusce</a:t>
                </a:r>
                <a:r>
                  <a:rPr lang="en-US" sz="1100" dirty="0">
                    <a:solidFill>
                      <a:schemeClr val="bg2">
                        <a:lumMod val="25000"/>
                      </a:schemeClr>
                    </a:solidFill>
                  </a:rPr>
                  <a:t> </a:t>
                </a:r>
                <a:r>
                  <a:rPr lang="en-US" sz="1100" dirty="0" err="1">
                    <a:solidFill>
                      <a:schemeClr val="bg2">
                        <a:lumMod val="25000"/>
                      </a:schemeClr>
                    </a:solidFill>
                  </a:rPr>
                  <a:t>donec</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elit</a:t>
                </a:r>
                <a:r>
                  <a:rPr lang="en-US" sz="1100" dirty="0">
                    <a:solidFill>
                      <a:schemeClr val="bg2">
                        <a:lumMod val="25000"/>
                      </a:schemeClr>
                    </a:solidFill>
                  </a:rPr>
                  <a:t>, </a:t>
                </a:r>
                <a:r>
                  <a:rPr lang="en-US" sz="1100" dirty="0" err="1">
                    <a:solidFill>
                      <a:schemeClr val="bg2">
                        <a:lumMod val="25000"/>
                      </a:schemeClr>
                    </a:solidFill>
                  </a:rPr>
                  <a:t>placerat</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a:t>
                </a:r>
                <a:br>
                  <a:rPr lang="en-US" sz="1100" dirty="0">
                    <a:solidFill>
                      <a:schemeClr val="bg2">
                        <a:lumMod val="25000"/>
                      </a:schemeClr>
                    </a:solidFill>
                  </a:rPr>
                </a:br>
                <a:endParaRPr lang="en-US" sz="1100" dirty="0">
                  <a:solidFill>
                    <a:schemeClr val="bg2">
                      <a:lumMod val="25000"/>
                    </a:schemeClr>
                  </a:solidFill>
                </a:endParaRPr>
              </a:p>
            </p:txBody>
          </p:sp>
          <p:sp>
            <p:nvSpPr>
              <p:cNvPr id="22" name="Rectangle 21"/>
              <p:cNvSpPr/>
              <p:nvPr/>
            </p:nvSpPr>
            <p:spPr>
              <a:xfrm>
                <a:off x="6771298" y="1902302"/>
                <a:ext cx="4660666" cy="4149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Header</a:t>
                </a:r>
              </a:p>
            </p:txBody>
          </p:sp>
        </p:grpSp>
        <p:pic>
          <p:nvPicPr>
            <p:cNvPr id="2050" name="Picture 2" descr="http://freevectorlogo.net/wp-content/uploads/2013/06/world-of-warcraft-horde-vector-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37367" y="4340852"/>
              <a:ext cx="1228837" cy="122883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4132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Article</a:t>
            </a:r>
          </a:p>
        </p:txBody>
      </p:sp>
      <p:sp>
        <p:nvSpPr>
          <p:cNvPr id="3" name="Content Placeholder 2"/>
          <p:cNvSpPr>
            <a:spLocks noGrp="1"/>
          </p:cNvSpPr>
          <p:nvPr>
            <p:ph idx="1"/>
          </p:nvPr>
        </p:nvSpPr>
        <p:spPr>
          <a:xfrm>
            <a:off x="838200" y="1690688"/>
            <a:ext cx="10515600" cy="4351338"/>
          </a:xfrm>
        </p:spPr>
        <p:txBody>
          <a:bodyPr>
            <a:normAutofit/>
          </a:bodyPr>
          <a:lstStyle/>
          <a:p>
            <a:pPr marL="0" indent="0">
              <a:spcAft>
                <a:spcPts val="1200"/>
              </a:spcAft>
              <a:buNone/>
            </a:pPr>
            <a:r>
              <a:rPr lang="en-US" dirty="0"/>
              <a:t>The &lt;article&gt; element specifies independent, self-contained content</a:t>
            </a:r>
          </a:p>
          <a:p>
            <a:pPr marL="0" indent="0">
              <a:spcAft>
                <a:spcPts val="1200"/>
              </a:spcAft>
              <a:buNone/>
            </a:pPr>
            <a:r>
              <a:rPr lang="en-US" dirty="0"/>
              <a:t>An article should make sense on its own, and it should be possible to read it independently from the rest of the web site</a:t>
            </a:r>
          </a:p>
          <a:p>
            <a:pPr marL="0" indent="0">
              <a:spcAft>
                <a:spcPts val="1200"/>
              </a:spcAft>
              <a:buNone/>
            </a:pPr>
            <a:r>
              <a:rPr lang="en-US" dirty="0"/>
              <a:t>Examples of where an &lt;article&gt; element can be used:</a:t>
            </a:r>
          </a:p>
          <a:p>
            <a:pPr marL="457200" lvl="1" indent="0">
              <a:spcAft>
                <a:spcPts val="600"/>
              </a:spcAft>
              <a:buNone/>
            </a:pPr>
            <a:r>
              <a:rPr lang="en-US" dirty="0"/>
              <a:t>Forum post</a:t>
            </a:r>
          </a:p>
          <a:p>
            <a:pPr marL="457200" lvl="1" indent="0">
              <a:spcAft>
                <a:spcPts val="600"/>
              </a:spcAft>
              <a:buNone/>
            </a:pPr>
            <a:r>
              <a:rPr lang="en-US" dirty="0"/>
              <a:t>Blog post</a:t>
            </a:r>
          </a:p>
          <a:p>
            <a:pPr marL="457200" lvl="1" indent="0">
              <a:spcAft>
                <a:spcPts val="600"/>
              </a:spcAft>
              <a:buNone/>
            </a:pPr>
            <a:r>
              <a:rPr lang="en-US" dirty="0"/>
              <a:t>Newspaper article</a:t>
            </a:r>
          </a:p>
        </p:txBody>
      </p:sp>
    </p:spTree>
    <p:extLst>
      <p:ext uri="{BB962C8B-B14F-4D97-AF65-F5344CB8AC3E}">
        <p14:creationId xmlns:p14="http://schemas.microsoft.com/office/powerpoint/2010/main" val="695067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Article</a:t>
            </a:r>
          </a:p>
        </p:txBody>
      </p:sp>
      <p:sp>
        <p:nvSpPr>
          <p:cNvPr id="3" name="Content Placeholder 2"/>
          <p:cNvSpPr>
            <a:spLocks noGrp="1"/>
          </p:cNvSpPr>
          <p:nvPr>
            <p:ph idx="1"/>
          </p:nvPr>
        </p:nvSpPr>
        <p:spPr>
          <a:xfrm>
            <a:off x="838200" y="1690688"/>
            <a:ext cx="5317503" cy="4351338"/>
          </a:xfrm>
        </p:spPr>
        <p:txBody>
          <a:bodyPr>
            <a:normAutofit/>
          </a:bodyPr>
          <a:lstStyle/>
          <a:p>
            <a:pPr marL="0" indent="0">
              <a:spcAft>
                <a:spcPts val="1200"/>
              </a:spcAft>
              <a:buNone/>
            </a:pPr>
            <a:r>
              <a:rPr lang="en-US" dirty="0"/>
              <a:t>An article can be used in a similar fashion as a section, with similar properties</a:t>
            </a:r>
          </a:p>
        </p:txBody>
      </p:sp>
      <p:grpSp>
        <p:nvGrpSpPr>
          <p:cNvPr id="4" name="Group 3"/>
          <p:cNvGrpSpPr/>
          <p:nvPr/>
        </p:nvGrpSpPr>
        <p:grpSpPr>
          <a:xfrm>
            <a:off x="6483430" y="150829"/>
            <a:ext cx="5082774" cy="6070862"/>
            <a:chOff x="6483430" y="150829"/>
            <a:chExt cx="5082774" cy="6070862"/>
          </a:xfrm>
        </p:grpSpPr>
        <p:sp>
          <p:nvSpPr>
            <p:cNvPr id="5" name="Rectangle 4"/>
            <p:cNvSpPr/>
            <p:nvPr/>
          </p:nvSpPr>
          <p:spPr>
            <a:xfrm>
              <a:off x="6483430" y="150829"/>
              <a:ext cx="4944534" cy="60708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528586" y="241138"/>
              <a:ext cx="4854222" cy="7507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Header</a:t>
              </a:r>
            </a:p>
          </p:txBody>
        </p:sp>
        <p:sp>
          <p:nvSpPr>
            <p:cNvPr id="7" name="Rectangle 6"/>
            <p:cNvSpPr/>
            <p:nvPr/>
          </p:nvSpPr>
          <p:spPr>
            <a:xfrm>
              <a:off x="6528586" y="1064523"/>
              <a:ext cx="4854222" cy="29245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528586" y="5700701"/>
              <a:ext cx="4854222" cy="44582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lumMod val="65000"/>
                      <a:lumOff val="35000"/>
                    </a:schemeClr>
                  </a:solidFill>
                </a:rPr>
                <a:t>Footer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p>
          </p:txBody>
        </p:sp>
        <p:sp>
          <p:nvSpPr>
            <p:cNvPr id="9" name="Rounded Rectangle 8"/>
            <p:cNvSpPr/>
            <p:nvPr/>
          </p:nvSpPr>
          <p:spPr>
            <a:xfrm>
              <a:off x="66301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0" name="Rounded Rectangle 9"/>
            <p:cNvSpPr/>
            <p:nvPr/>
          </p:nvSpPr>
          <p:spPr>
            <a:xfrm>
              <a:off x="73413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1" name="Rounded Rectangle 10"/>
            <p:cNvSpPr/>
            <p:nvPr/>
          </p:nvSpPr>
          <p:spPr>
            <a:xfrm>
              <a:off x="80525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2" name="Rounded Rectangle 11"/>
            <p:cNvSpPr/>
            <p:nvPr/>
          </p:nvSpPr>
          <p:spPr>
            <a:xfrm>
              <a:off x="87637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3" name="Rounded Rectangle 12"/>
            <p:cNvSpPr/>
            <p:nvPr/>
          </p:nvSpPr>
          <p:spPr>
            <a:xfrm>
              <a:off x="94749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4" name="Rectangle 13"/>
            <p:cNvSpPr/>
            <p:nvPr/>
          </p:nvSpPr>
          <p:spPr>
            <a:xfrm>
              <a:off x="6528586" y="1429650"/>
              <a:ext cx="4854222" cy="209597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Article</a:t>
              </a:r>
            </a:p>
          </p:txBody>
        </p:sp>
        <p:sp>
          <p:nvSpPr>
            <p:cNvPr id="15" name="Rectangle 14"/>
            <p:cNvSpPr/>
            <p:nvPr/>
          </p:nvSpPr>
          <p:spPr>
            <a:xfrm>
              <a:off x="6618898" y="2237488"/>
              <a:ext cx="4660666" cy="11561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lumMod val="25000"/>
                    </a:schemeClr>
                  </a:solidFill>
                </a:rPr>
                <a:t>Lorem ipsum dolor sit </a:t>
              </a:r>
              <a:r>
                <a:rPr lang="en-US" sz="1100" dirty="0" err="1">
                  <a:solidFill>
                    <a:schemeClr val="bg2">
                      <a:lumMod val="25000"/>
                    </a:schemeClr>
                  </a:solidFill>
                </a:rPr>
                <a:t>amet</a:t>
              </a:r>
              <a:r>
                <a:rPr lang="en-US" sz="1100" dirty="0">
                  <a:solidFill>
                    <a:schemeClr val="bg2">
                      <a:lumMod val="25000"/>
                    </a:schemeClr>
                  </a:solidFill>
                </a:rPr>
                <a:t>, gravida </a:t>
              </a:r>
              <a:r>
                <a:rPr lang="en-US" sz="1100" dirty="0" err="1">
                  <a:solidFill>
                    <a:schemeClr val="bg2">
                      <a:lumMod val="25000"/>
                    </a:schemeClr>
                  </a:solidFill>
                </a:rPr>
                <a:t>facilisi</a:t>
              </a:r>
              <a:r>
                <a:rPr lang="en-US" sz="1100" dirty="0">
                  <a:solidFill>
                    <a:schemeClr val="bg2">
                      <a:lumMod val="25000"/>
                    </a:schemeClr>
                  </a:solidFill>
                </a:rPr>
                <a:t> </a:t>
              </a:r>
              <a:r>
                <a:rPr lang="en-US" sz="1100" dirty="0" err="1">
                  <a:solidFill>
                    <a:schemeClr val="bg2">
                      <a:lumMod val="25000"/>
                    </a:schemeClr>
                  </a:solidFill>
                </a:rPr>
                <a:t>orci</a:t>
              </a:r>
              <a:r>
                <a:rPr lang="en-US" sz="1100" dirty="0">
                  <a:solidFill>
                    <a:schemeClr val="bg2">
                      <a:lumMod val="25000"/>
                    </a:schemeClr>
                  </a:solidFill>
                </a:rPr>
                <a:t> </a:t>
              </a:r>
              <a:r>
                <a:rPr lang="en-US" sz="1100" dirty="0" err="1">
                  <a:solidFill>
                    <a:schemeClr val="bg2">
                      <a:lumMod val="25000"/>
                    </a:schemeClr>
                  </a:solidFill>
                </a:rPr>
                <a:t>nulla</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dolor, </a:t>
              </a:r>
              <a:br>
                <a:rPr lang="en-US" sz="1100" dirty="0">
                  <a:solidFill>
                    <a:schemeClr val="bg2">
                      <a:lumMod val="25000"/>
                    </a:schemeClr>
                  </a:solidFill>
                </a:rPr>
              </a:br>
              <a:r>
                <a:rPr lang="en-US" sz="1100" dirty="0" err="1">
                  <a:solidFill>
                    <a:schemeClr val="bg2">
                      <a:lumMod val="25000"/>
                    </a:schemeClr>
                  </a:solidFill>
                </a:rPr>
                <a:t>sagittis</a:t>
              </a:r>
              <a:r>
                <a:rPr lang="en-US" sz="1100" dirty="0">
                  <a:solidFill>
                    <a:schemeClr val="bg2">
                      <a:lumMod val="25000"/>
                    </a:schemeClr>
                  </a:solidFill>
                </a:rPr>
                <a:t> </a:t>
              </a:r>
              <a:r>
                <a:rPr lang="en-US" sz="1100" dirty="0" err="1">
                  <a:solidFill>
                    <a:schemeClr val="bg2">
                      <a:lumMod val="25000"/>
                    </a:schemeClr>
                  </a:solidFill>
                </a:rPr>
                <a:t>blandit</a:t>
              </a:r>
              <a:r>
                <a:rPr lang="en-US" sz="1100" dirty="0">
                  <a:solidFill>
                    <a:schemeClr val="bg2">
                      <a:lumMod val="25000"/>
                    </a:schemeClr>
                  </a:solidFill>
                </a:rPr>
                <a:t>, </a:t>
              </a:r>
              <a:r>
                <a:rPr lang="en-US" sz="1100" dirty="0" err="1">
                  <a:solidFill>
                    <a:schemeClr val="bg2">
                      <a:lumMod val="25000"/>
                    </a:schemeClr>
                  </a:solidFill>
                </a:rPr>
                <a:t>maecenas</a:t>
              </a:r>
              <a:r>
                <a:rPr lang="en-US" sz="1100" dirty="0">
                  <a:solidFill>
                    <a:schemeClr val="bg2">
                      <a:lumMod val="25000"/>
                    </a:schemeClr>
                  </a:solidFill>
                </a:rPr>
                <a:t> </a:t>
              </a:r>
              <a:r>
                <a:rPr lang="en-US" sz="1100" dirty="0" err="1">
                  <a:solidFill>
                    <a:schemeClr val="bg2">
                      <a:lumMod val="25000"/>
                    </a:schemeClr>
                  </a:solidFill>
                </a:rPr>
                <a:t>quis</a:t>
              </a:r>
              <a:r>
                <a:rPr lang="en-US" sz="1100" dirty="0">
                  <a:solidFill>
                    <a:schemeClr val="bg2">
                      <a:lumMod val="25000"/>
                    </a:schemeClr>
                  </a:solidFill>
                </a:rPr>
                <a:t> mi </a:t>
              </a:r>
              <a:r>
                <a:rPr lang="en-US" sz="1100" dirty="0" err="1">
                  <a:solidFill>
                    <a:schemeClr val="bg2">
                      <a:lumMod val="25000"/>
                    </a:schemeClr>
                  </a:solidFill>
                </a:rPr>
                <a:t>suscipit</a:t>
              </a:r>
              <a:r>
                <a:rPr lang="en-US" sz="1100" dirty="0">
                  <a:solidFill>
                    <a:schemeClr val="bg2">
                      <a:lumMod val="25000"/>
                    </a:schemeClr>
                  </a:solidFill>
                </a:rPr>
                <a:t>, </a:t>
              </a:r>
              <a:r>
                <a:rPr lang="en-US" sz="1100" dirty="0" err="1">
                  <a:solidFill>
                    <a:schemeClr val="bg2">
                      <a:lumMod val="25000"/>
                    </a:schemeClr>
                  </a:solidFill>
                </a:rPr>
                <a:t>risus</a:t>
              </a:r>
              <a:r>
                <a:rPr lang="en-US" sz="1100" dirty="0">
                  <a:solidFill>
                    <a:schemeClr val="bg2">
                      <a:lumMod val="25000"/>
                    </a:schemeClr>
                  </a:solidFill>
                </a:rPr>
                <a:t> </a:t>
              </a:r>
              <a:r>
                <a:rPr lang="en-US" sz="1100" dirty="0" err="1">
                  <a:solidFill>
                    <a:schemeClr val="bg2">
                      <a:lumMod val="25000"/>
                    </a:schemeClr>
                  </a:solidFill>
                </a:rPr>
                <a:t>enim</a:t>
              </a:r>
              <a:r>
                <a:rPr lang="en-US" sz="1100" dirty="0">
                  <a:solidFill>
                    <a:schemeClr val="bg2">
                      <a:lumMod val="25000"/>
                    </a:schemeClr>
                  </a:solidFill>
                </a:rPr>
                <a:t> </a:t>
              </a:r>
              <a:r>
                <a:rPr lang="en-US" sz="1100" dirty="0" err="1">
                  <a:solidFill>
                    <a:schemeClr val="bg2">
                      <a:lumMod val="25000"/>
                    </a:schemeClr>
                  </a:solidFill>
                </a:rPr>
                <a:t>tincidunt</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Eu</a:t>
              </a:r>
              <a:r>
                <a:rPr lang="en-US" sz="1100" dirty="0">
                  <a:solidFill>
                    <a:schemeClr val="bg2">
                      <a:lumMod val="25000"/>
                    </a:schemeClr>
                  </a:solidFill>
                </a:rPr>
                <a:t> </a:t>
              </a:r>
              <a:r>
                <a:rPr lang="en-US" sz="1100" dirty="0" err="1">
                  <a:solidFill>
                    <a:schemeClr val="bg2">
                      <a:lumMod val="25000"/>
                    </a:schemeClr>
                  </a:solidFill>
                </a:rPr>
                <a:t>justo</a:t>
              </a:r>
              <a:r>
                <a:rPr lang="en-US" sz="1100" dirty="0">
                  <a:solidFill>
                    <a:schemeClr val="bg2">
                      <a:lumMod val="25000"/>
                    </a:schemeClr>
                  </a:solidFill>
                </a:rPr>
                <a:t>, </a:t>
              </a:r>
              <a:r>
                <a:rPr lang="en-US" sz="1100" dirty="0" err="1">
                  <a:solidFill>
                    <a:schemeClr val="bg2">
                      <a:lumMod val="25000"/>
                    </a:schemeClr>
                  </a:solidFill>
                </a:rPr>
                <a:t>senectus</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a:t>
              </a:r>
              <a:r>
                <a:rPr lang="en-US" sz="1100" dirty="0" err="1">
                  <a:solidFill>
                    <a:schemeClr val="bg2">
                      <a:lumMod val="25000"/>
                    </a:schemeClr>
                  </a:solidFill>
                </a:rPr>
                <a:t>mattis</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 et.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ultricies</a:t>
              </a:r>
              <a:r>
                <a:rPr lang="en-US" sz="1100" dirty="0">
                  <a:solidFill>
                    <a:schemeClr val="bg2">
                      <a:lumMod val="25000"/>
                    </a:schemeClr>
                  </a:solidFill>
                </a:rPr>
                <a:t> </a:t>
              </a:r>
              <a:r>
                <a:rPr lang="en-US" sz="1100" dirty="0" err="1">
                  <a:solidFill>
                    <a:schemeClr val="bg2">
                      <a:lumMod val="25000"/>
                    </a:schemeClr>
                  </a:solidFill>
                </a:rPr>
                <a:t>ultrices</a:t>
              </a:r>
              <a:r>
                <a:rPr lang="en-US" sz="1100" dirty="0">
                  <a:solidFill>
                    <a:schemeClr val="bg2">
                      <a:lumMod val="25000"/>
                    </a:schemeClr>
                  </a:solidFill>
                </a:rPr>
                <a:t> </a:t>
              </a:r>
              <a:r>
                <a:rPr lang="en-US" sz="1100" dirty="0" err="1">
                  <a:solidFill>
                    <a:schemeClr val="bg2">
                      <a:lumMod val="25000"/>
                    </a:schemeClr>
                  </a:solidFill>
                </a:rPr>
                <a:t>iaculis</a:t>
              </a:r>
              <a:r>
                <a:rPr lang="en-US" sz="1100" dirty="0">
                  <a:solidFill>
                    <a:schemeClr val="bg2">
                      <a:lumMod val="25000"/>
                    </a:schemeClr>
                  </a:solidFill>
                </a:rPr>
                <a:t> </a:t>
              </a:r>
              <a:br>
                <a:rPr lang="en-US" sz="1100" dirty="0">
                  <a:solidFill>
                    <a:schemeClr val="bg2">
                      <a:lumMod val="25000"/>
                    </a:schemeClr>
                  </a:solidFill>
                </a:rPr>
              </a:br>
              <a:r>
                <a:rPr lang="en-US" sz="1100" dirty="0">
                  <a:solidFill>
                    <a:srgbClr val="0070C0"/>
                  </a:solidFill>
                </a:rPr>
                <a:t>non </a:t>
              </a:r>
              <a:r>
                <a:rPr lang="en-US" sz="1100" dirty="0" err="1">
                  <a:solidFill>
                    <a:srgbClr val="0070C0"/>
                  </a:solidFill>
                </a:rPr>
                <a:t>asperiores</a:t>
              </a:r>
              <a:r>
                <a:rPr lang="en-US" sz="1100" dirty="0">
                  <a:solidFill>
                    <a:srgbClr val="0070C0"/>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dolor </a:t>
              </a:r>
              <a:r>
                <a:rPr lang="en-US" sz="1100" dirty="0" err="1">
                  <a:solidFill>
                    <a:schemeClr val="bg2">
                      <a:lumMod val="25000"/>
                    </a:schemeClr>
                  </a:solidFill>
                </a:rPr>
                <a:t>dignissim</a:t>
              </a:r>
              <a:r>
                <a:rPr lang="en-US" sz="1100" dirty="0">
                  <a:solidFill>
                    <a:schemeClr val="bg2">
                      <a:lumMod val="25000"/>
                    </a:schemeClr>
                  </a:solidFill>
                </a:rPr>
                <a:t>, </a:t>
              </a:r>
              <a:r>
                <a:rPr lang="en-US" sz="1100" dirty="0" err="1">
                  <a:solidFill>
                    <a:schemeClr val="bg2">
                      <a:lumMod val="25000"/>
                    </a:schemeClr>
                  </a:solidFill>
                </a:rPr>
                <a:t>sodales</a:t>
              </a:r>
              <a:r>
                <a:rPr lang="en-US" sz="1100" dirty="0">
                  <a:solidFill>
                    <a:schemeClr val="bg2">
                      <a:lumMod val="25000"/>
                    </a:schemeClr>
                  </a:solidFill>
                </a:rPr>
                <a:t> </a:t>
              </a:r>
              <a:r>
                <a:rPr lang="en-US" sz="1100" dirty="0" err="1">
                  <a:solidFill>
                    <a:schemeClr val="bg2">
                      <a:lumMod val="25000"/>
                    </a:schemeClr>
                  </a:solidFill>
                </a:rPr>
                <a:t>purus</a:t>
              </a:r>
              <a:r>
                <a:rPr lang="en-US" sz="1100" dirty="0">
                  <a:solidFill>
                    <a:schemeClr val="bg2">
                      <a:lumMod val="25000"/>
                    </a:schemeClr>
                  </a:solidFill>
                </a:rPr>
                <a:t> </a:t>
              </a:r>
              <a:r>
                <a:rPr lang="en-US" sz="1100" dirty="0" err="1">
                  <a:solidFill>
                    <a:schemeClr val="bg2">
                      <a:lumMod val="25000"/>
                    </a:schemeClr>
                  </a:solidFill>
                </a:rPr>
                <a:t>pretium</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eget</a:t>
              </a:r>
              <a:r>
                <a:rPr lang="en-US" sz="1100" dirty="0">
                  <a:solidFill>
                    <a:schemeClr val="bg2">
                      <a:lumMod val="25000"/>
                    </a:schemeClr>
                  </a:solidFill>
                </a:rPr>
                <a:t>, </a:t>
              </a:r>
              <a:r>
                <a:rPr lang="en-US" sz="1100" dirty="0" err="1">
                  <a:solidFill>
                    <a:schemeClr val="bg2">
                      <a:lumMod val="25000"/>
                    </a:schemeClr>
                  </a:solidFill>
                </a:rPr>
                <a:t>wisi</a:t>
              </a:r>
              <a:r>
                <a:rPr lang="en-US" sz="1100" dirty="0">
                  <a:solidFill>
                    <a:schemeClr val="bg2">
                      <a:lumMod val="25000"/>
                    </a:schemeClr>
                  </a:solidFill>
                </a:rPr>
                <a:t> integer </a:t>
              </a:r>
              <a:r>
                <a:rPr lang="en-US" sz="1100" dirty="0" err="1">
                  <a:solidFill>
                    <a:schemeClr val="bg2">
                      <a:lumMod val="25000"/>
                    </a:schemeClr>
                  </a:solidFill>
                </a:rPr>
                <a:t>molestie</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platea</a:t>
              </a:r>
              <a:r>
                <a:rPr lang="en-US" sz="1100" dirty="0">
                  <a:solidFill>
                    <a:schemeClr val="bg2">
                      <a:lumMod val="25000"/>
                    </a:schemeClr>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in ipsum </a:t>
              </a:r>
              <a:r>
                <a:rPr lang="en-US" sz="1100" dirty="0" err="1">
                  <a:solidFill>
                    <a:schemeClr val="bg2">
                      <a:lumMod val="25000"/>
                    </a:schemeClr>
                  </a:solidFill>
                </a:rPr>
                <a:t>laoreet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Aenean</a:t>
              </a:r>
              <a:r>
                <a:rPr lang="en-US" sz="1100" dirty="0">
                  <a:solidFill>
                    <a:schemeClr val="bg2">
                      <a:lumMod val="25000"/>
                    </a:schemeClr>
                  </a:solidFill>
                </a:rPr>
                <a:t> </a:t>
              </a:r>
              <a:r>
                <a:rPr lang="en-US" sz="1100" dirty="0" err="1">
                  <a:solidFill>
                    <a:schemeClr val="bg2">
                      <a:lumMod val="25000"/>
                    </a:schemeClr>
                  </a:solidFill>
                </a:rPr>
                <a:t>fusce</a:t>
              </a:r>
              <a:r>
                <a:rPr lang="en-US" sz="1100" dirty="0">
                  <a:solidFill>
                    <a:schemeClr val="bg2">
                      <a:lumMod val="25000"/>
                    </a:schemeClr>
                  </a:solidFill>
                </a:rPr>
                <a:t> </a:t>
              </a:r>
              <a:r>
                <a:rPr lang="en-US" sz="1100" dirty="0" err="1">
                  <a:solidFill>
                    <a:schemeClr val="bg2">
                      <a:lumMod val="25000"/>
                    </a:schemeClr>
                  </a:solidFill>
                </a:rPr>
                <a:t>donec</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elit</a:t>
              </a:r>
              <a:r>
                <a:rPr lang="en-US" sz="1100" dirty="0">
                  <a:solidFill>
                    <a:schemeClr val="bg2">
                      <a:lumMod val="25000"/>
                    </a:schemeClr>
                  </a:solidFill>
                </a:rPr>
                <a:t>, </a:t>
              </a:r>
              <a:r>
                <a:rPr lang="en-US" sz="1100" dirty="0" err="1">
                  <a:solidFill>
                    <a:schemeClr val="bg2">
                      <a:lumMod val="25000"/>
                    </a:schemeClr>
                  </a:solidFill>
                </a:rPr>
                <a:t>placerat</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a:t>
              </a:r>
              <a:br>
                <a:rPr lang="en-US" sz="1100" dirty="0">
                  <a:solidFill>
                    <a:schemeClr val="bg2">
                      <a:lumMod val="25000"/>
                    </a:schemeClr>
                  </a:solidFill>
                </a:rPr>
              </a:br>
              <a:endParaRPr lang="en-US" sz="1100" dirty="0">
                <a:solidFill>
                  <a:schemeClr val="bg2">
                    <a:lumMod val="25000"/>
                  </a:schemeClr>
                </a:solidFill>
              </a:endParaRPr>
            </a:p>
          </p:txBody>
        </p:sp>
        <p:pic>
          <p:nvPicPr>
            <p:cNvPr id="16" name="Picture 2" descr="http://i.imgur.com/ZGGxVA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4009" y="2229586"/>
              <a:ext cx="655555" cy="805022"/>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p:cNvSpPr/>
            <p:nvPr/>
          </p:nvSpPr>
          <p:spPr>
            <a:xfrm>
              <a:off x="6618898" y="1749902"/>
              <a:ext cx="4660666" cy="4149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Header</a:t>
              </a:r>
            </a:p>
          </p:txBody>
        </p:sp>
        <p:grpSp>
          <p:nvGrpSpPr>
            <p:cNvPr id="18" name="Group 17"/>
            <p:cNvGrpSpPr/>
            <p:nvPr/>
          </p:nvGrpSpPr>
          <p:grpSpPr>
            <a:xfrm>
              <a:off x="6528586" y="3565175"/>
              <a:ext cx="4854222" cy="2095976"/>
              <a:chOff x="6680986" y="1582050"/>
              <a:chExt cx="4854222" cy="2095976"/>
            </a:xfrm>
          </p:grpSpPr>
          <p:sp>
            <p:nvSpPr>
              <p:cNvPr id="20" name="Rectangle 19"/>
              <p:cNvSpPr/>
              <p:nvPr/>
            </p:nvSpPr>
            <p:spPr>
              <a:xfrm>
                <a:off x="6680986" y="1582050"/>
                <a:ext cx="4854222" cy="209597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Article</a:t>
                </a:r>
              </a:p>
            </p:txBody>
          </p:sp>
          <p:sp>
            <p:nvSpPr>
              <p:cNvPr id="21" name="Rectangle 20"/>
              <p:cNvSpPr/>
              <p:nvPr/>
            </p:nvSpPr>
            <p:spPr>
              <a:xfrm>
                <a:off x="6771298" y="2389888"/>
                <a:ext cx="4660666" cy="11561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lumMod val="25000"/>
                      </a:schemeClr>
                    </a:solidFill>
                  </a:rPr>
                  <a:t>Lorem ipsum dolor sit </a:t>
                </a:r>
                <a:r>
                  <a:rPr lang="en-US" sz="1100" dirty="0" err="1">
                    <a:solidFill>
                      <a:schemeClr val="bg2">
                        <a:lumMod val="25000"/>
                      </a:schemeClr>
                    </a:solidFill>
                  </a:rPr>
                  <a:t>amet</a:t>
                </a:r>
                <a:r>
                  <a:rPr lang="en-US" sz="1100" dirty="0">
                    <a:solidFill>
                      <a:schemeClr val="bg2">
                        <a:lumMod val="25000"/>
                      </a:schemeClr>
                    </a:solidFill>
                  </a:rPr>
                  <a:t>, gravida </a:t>
                </a:r>
                <a:r>
                  <a:rPr lang="en-US" sz="1100" dirty="0" err="1">
                    <a:solidFill>
                      <a:schemeClr val="bg2">
                        <a:lumMod val="25000"/>
                      </a:schemeClr>
                    </a:solidFill>
                  </a:rPr>
                  <a:t>facilisi</a:t>
                </a:r>
                <a:r>
                  <a:rPr lang="en-US" sz="1100" dirty="0">
                    <a:solidFill>
                      <a:schemeClr val="bg2">
                        <a:lumMod val="25000"/>
                      </a:schemeClr>
                    </a:solidFill>
                  </a:rPr>
                  <a:t> </a:t>
                </a:r>
                <a:r>
                  <a:rPr lang="en-US" sz="1100" dirty="0" err="1">
                    <a:solidFill>
                      <a:schemeClr val="bg2">
                        <a:lumMod val="25000"/>
                      </a:schemeClr>
                    </a:solidFill>
                  </a:rPr>
                  <a:t>orci</a:t>
                </a:r>
                <a:r>
                  <a:rPr lang="en-US" sz="1100" dirty="0">
                    <a:solidFill>
                      <a:schemeClr val="bg2">
                        <a:lumMod val="25000"/>
                      </a:schemeClr>
                    </a:solidFill>
                  </a:rPr>
                  <a:t> </a:t>
                </a:r>
                <a:r>
                  <a:rPr lang="en-US" sz="1100" dirty="0" err="1">
                    <a:solidFill>
                      <a:schemeClr val="bg2">
                        <a:lumMod val="25000"/>
                      </a:schemeClr>
                    </a:solidFill>
                  </a:rPr>
                  <a:t>nulla</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dolor, </a:t>
                </a:r>
                <a:br>
                  <a:rPr lang="en-US" sz="1100" dirty="0">
                    <a:solidFill>
                      <a:schemeClr val="bg2">
                        <a:lumMod val="25000"/>
                      </a:schemeClr>
                    </a:solidFill>
                  </a:rPr>
                </a:br>
                <a:r>
                  <a:rPr lang="en-US" sz="1100" dirty="0" err="1">
                    <a:solidFill>
                      <a:schemeClr val="bg2">
                        <a:lumMod val="25000"/>
                      </a:schemeClr>
                    </a:solidFill>
                  </a:rPr>
                  <a:t>sagittis</a:t>
                </a:r>
                <a:r>
                  <a:rPr lang="en-US" sz="1100" dirty="0">
                    <a:solidFill>
                      <a:schemeClr val="bg2">
                        <a:lumMod val="25000"/>
                      </a:schemeClr>
                    </a:solidFill>
                  </a:rPr>
                  <a:t> </a:t>
                </a:r>
                <a:r>
                  <a:rPr lang="en-US" sz="1100" dirty="0" err="1">
                    <a:solidFill>
                      <a:schemeClr val="bg2">
                        <a:lumMod val="25000"/>
                      </a:schemeClr>
                    </a:solidFill>
                  </a:rPr>
                  <a:t>blandit</a:t>
                </a:r>
                <a:r>
                  <a:rPr lang="en-US" sz="1100" dirty="0">
                    <a:solidFill>
                      <a:schemeClr val="bg2">
                        <a:lumMod val="25000"/>
                      </a:schemeClr>
                    </a:solidFill>
                  </a:rPr>
                  <a:t>, </a:t>
                </a:r>
                <a:r>
                  <a:rPr lang="en-US" sz="1100" dirty="0" err="1">
                    <a:solidFill>
                      <a:schemeClr val="bg2">
                        <a:lumMod val="25000"/>
                      </a:schemeClr>
                    </a:solidFill>
                  </a:rPr>
                  <a:t>maecenas</a:t>
                </a:r>
                <a:r>
                  <a:rPr lang="en-US" sz="1100" dirty="0">
                    <a:solidFill>
                      <a:schemeClr val="bg2">
                        <a:lumMod val="25000"/>
                      </a:schemeClr>
                    </a:solidFill>
                  </a:rPr>
                  <a:t> </a:t>
                </a:r>
                <a:r>
                  <a:rPr lang="en-US" sz="1100" dirty="0" err="1">
                    <a:solidFill>
                      <a:schemeClr val="bg2">
                        <a:lumMod val="25000"/>
                      </a:schemeClr>
                    </a:solidFill>
                  </a:rPr>
                  <a:t>quis</a:t>
                </a:r>
                <a:r>
                  <a:rPr lang="en-US" sz="1100" dirty="0">
                    <a:solidFill>
                      <a:schemeClr val="bg2">
                        <a:lumMod val="25000"/>
                      </a:schemeClr>
                    </a:solidFill>
                  </a:rPr>
                  <a:t> mi </a:t>
                </a:r>
                <a:r>
                  <a:rPr lang="en-US" sz="1100" dirty="0" err="1">
                    <a:solidFill>
                      <a:schemeClr val="bg2">
                        <a:lumMod val="25000"/>
                      </a:schemeClr>
                    </a:solidFill>
                  </a:rPr>
                  <a:t>suscipit</a:t>
                </a:r>
                <a:r>
                  <a:rPr lang="en-US" sz="1100" dirty="0">
                    <a:solidFill>
                      <a:schemeClr val="bg2">
                        <a:lumMod val="25000"/>
                      </a:schemeClr>
                    </a:solidFill>
                  </a:rPr>
                  <a:t>, </a:t>
                </a:r>
                <a:r>
                  <a:rPr lang="en-US" sz="1100" dirty="0" err="1">
                    <a:solidFill>
                      <a:schemeClr val="bg2">
                        <a:lumMod val="25000"/>
                      </a:schemeClr>
                    </a:solidFill>
                  </a:rPr>
                  <a:t>risus</a:t>
                </a:r>
                <a:r>
                  <a:rPr lang="en-US" sz="1100" dirty="0">
                    <a:solidFill>
                      <a:schemeClr val="bg2">
                        <a:lumMod val="25000"/>
                      </a:schemeClr>
                    </a:solidFill>
                  </a:rPr>
                  <a:t> </a:t>
                </a:r>
                <a:r>
                  <a:rPr lang="en-US" sz="1100" dirty="0" err="1">
                    <a:solidFill>
                      <a:schemeClr val="bg2">
                        <a:lumMod val="25000"/>
                      </a:schemeClr>
                    </a:solidFill>
                  </a:rPr>
                  <a:t>enim</a:t>
                </a:r>
                <a:r>
                  <a:rPr lang="en-US" sz="1100" dirty="0">
                    <a:solidFill>
                      <a:schemeClr val="bg2">
                        <a:lumMod val="25000"/>
                      </a:schemeClr>
                    </a:solidFill>
                  </a:rPr>
                  <a:t> </a:t>
                </a:r>
                <a:r>
                  <a:rPr lang="en-US" sz="1100" dirty="0" err="1">
                    <a:solidFill>
                      <a:schemeClr val="bg2">
                        <a:lumMod val="25000"/>
                      </a:schemeClr>
                    </a:solidFill>
                  </a:rPr>
                  <a:t>tincidunt</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Eu</a:t>
                </a:r>
                <a:r>
                  <a:rPr lang="en-US" sz="1100" dirty="0">
                    <a:solidFill>
                      <a:schemeClr val="bg2">
                        <a:lumMod val="25000"/>
                      </a:schemeClr>
                    </a:solidFill>
                  </a:rPr>
                  <a:t> </a:t>
                </a:r>
                <a:r>
                  <a:rPr lang="en-US" sz="1100" dirty="0" err="1">
                    <a:solidFill>
                      <a:schemeClr val="bg2">
                        <a:lumMod val="25000"/>
                      </a:schemeClr>
                    </a:solidFill>
                  </a:rPr>
                  <a:t>justo</a:t>
                </a:r>
                <a:r>
                  <a:rPr lang="en-US" sz="1100" dirty="0">
                    <a:solidFill>
                      <a:schemeClr val="bg2">
                        <a:lumMod val="25000"/>
                      </a:schemeClr>
                    </a:solidFill>
                  </a:rPr>
                  <a:t>, </a:t>
                </a:r>
                <a:r>
                  <a:rPr lang="en-US" sz="1100" dirty="0" err="1">
                    <a:solidFill>
                      <a:schemeClr val="bg2">
                        <a:lumMod val="25000"/>
                      </a:schemeClr>
                    </a:solidFill>
                  </a:rPr>
                  <a:t>senectus</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a:t>
                </a:r>
                <a:r>
                  <a:rPr lang="en-US" sz="1100" dirty="0" err="1">
                    <a:solidFill>
                      <a:schemeClr val="bg2">
                        <a:lumMod val="25000"/>
                      </a:schemeClr>
                    </a:solidFill>
                  </a:rPr>
                  <a:t>mattis</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 et.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ultricies</a:t>
                </a:r>
                <a:r>
                  <a:rPr lang="en-US" sz="1100" dirty="0">
                    <a:solidFill>
                      <a:schemeClr val="bg2">
                        <a:lumMod val="25000"/>
                      </a:schemeClr>
                    </a:solidFill>
                  </a:rPr>
                  <a:t> </a:t>
                </a:r>
                <a:r>
                  <a:rPr lang="en-US" sz="1100" dirty="0" err="1">
                    <a:solidFill>
                      <a:schemeClr val="bg2">
                        <a:lumMod val="25000"/>
                      </a:schemeClr>
                    </a:solidFill>
                  </a:rPr>
                  <a:t>ultrices</a:t>
                </a:r>
                <a:r>
                  <a:rPr lang="en-US" sz="1100" dirty="0">
                    <a:solidFill>
                      <a:schemeClr val="bg2">
                        <a:lumMod val="25000"/>
                      </a:schemeClr>
                    </a:solidFill>
                  </a:rPr>
                  <a:t> </a:t>
                </a:r>
                <a:r>
                  <a:rPr lang="en-US" sz="1100" dirty="0" err="1">
                    <a:solidFill>
                      <a:schemeClr val="bg2">
                        <a:lumMod val="25000"/>
                      </a:schemeClr>
                    </a:solidFill>
                  </a:rPr>
                  <a:t>iaculis</a:t>
                </a:r>
                <a:r>
                  <a:rPr lang="en-US" sz="1100" dirty="0">
                    <a:solidFill>
                      <a:schemeClr val="bg2">
                        <a:lumMod val="25000"/>
                      </a:schemeClr>
                    </a:solidFill>
                  </a:rPr>
                  <a:t> </a:t>
                </a:r>
                <a:br>
                  <a:rPr lang="en-US" sz="1100" dirty="0">
                    <a:solidFill>
                      <a:schemeClr val="bg2">
                        <a:lumMod val="25000"/>
                      </a:schemeClr>
                    </a:solidFill>
                  </a:rPr>
                </a:br>
                <a:r>
                  <a:rPr lang="en-US" sz="1100" dirty="0">
                    <a:solidFill>
                      <a:srgbClr val="0070C0"/>
                    </a:solidFill>
                  </a:rPr>
                  <a:t>non </a:t>
                </a:r>
                <a:r>
                  <a:rPr lang="en-US" sz="1100" dirty="0" err="1">
                    <a:solidFill>
                      <a:srgbClr val="0070C0"/>
                    </a:solidFill>
                  </a:rPr>
                  <a:t>asperiores</a:t>
                </a:r>
                <a:r>
                  <a:rPr lang="en-US" sz="1100" dirty="0">
                    <a:solidFill>
                      <a:srgbClr val="0070C0"/>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dolor </a:t>
                </a:r>
                <a:r>
                  <a:rPr lang="en-US" sz="1100" dirty="0" err="1">
                    <a:solidFill>
                      <a:schemeClr val="bg2">
                        <a:lumMod val="25000"/>
                      </a:schemeClr>
                    </a:solidFill>
                  </a:rPr>
                  <a:t>dignissim</a:t>
                </a:r>
                <a:r>
                  <a:rPr lang="en-US" sz="1100" dirty="0">
                    <a:solidFill>
                      <a:schemeClr val="bg2">
                        <a:lumMod val="25000"/>
                      </a:schemeClr>
                    </a:solidFill>
                  </a:rPr>
                  <a:t>, </a:t>
                </a:r>
                <a:r>
                  <a:rPr lang="en-US" sz="1100" dirty="0" err="1">
                    <a:solidFill>
                      <a:schemeClr val="bg2">
                        <a:lumMod val="25000"/>
                      </a:schemeClr>
                    </a:solidFill>
                  </a:rPr>
                  <a:t>sodales</a:t>
                </a:r>
                <a:r>
                  <a:rPr lang="en-US" sz="1100" dirty="0">
                    <a:solidFill>
                      <a:schemeClr val="bg2">
                        <a:lumMod val="25000"/>
                      </a:schemeClr>
                    </a:solidFill>
                  </a:rPr>
                  <a:t> </a:t>
                </a:r>
                <a:r>
                  <a:rPr lang="en-US" sz="1100" dirty="0" err="1">
                    <a:solidFill>
                      <a:schemeClr val="bg2">
                        <a:lumMod val="25000"/>
                      </a:schemeClr>
                    </a:solidFill>
                  </a:rPr>
                  <a:t>purus</a:t>
                </a:r>
                <a:r>
                  <a:rPr lang="en-US" sz="1100" dirty="0">
                    <a:solidFill>
                      <a:schemeClr val="bg2">
                        <a:lumMod val="25000"/>
                      </a:schemeClr>
                    </a:solidFill>
                  </a:rPr>
                  <a:t> </a:t>
                </a:r>
                <a:r>
                  <a:rPr lang="en-US" sz="1100" dirty="0" err="1">
                    <a:solidFill>
                      <a:schemeClr val="bg2">
                        <a:lumMod val="25000"/>
                      </a:schemeClr>
                    </a:solidFill>
                  </a:rPr>
                  <a:t>pretium</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eget</a:t>
                </a:r>
                <a:r>
                  <a:rPr lang="en-US" sz="1100" dirty="0">
                    <a:solidFill>
                      <a:schemeClr val="bg2">
                        <a:lumMod val="25000"/>
                      </a:schemeClr>
                    </a:solidFill>
                  </a:rPr>
                  <a:t>, </a:t>
                </a:r>
                <a:r>
                  <a:rPr lang="en-US" sz="1100" dirty="0" err="1">
                    <a:solidFill>
                      <a:schemeClr val="bg2">
                        <a:lumMod val="25000"/>
                      </a:schemeClr>
                    </a:solidFill>
                  </a:rPr>
                  <a:t>wisi</a:t>
                </a:r>
                <a:r>
                  <a:rPr lang="en-US" sz="1100" dirty="0">
                    <a:solidFill>
                      <a:schemeClr val="bg2">
                        <a:lumMod val="25000"/>
                      </a:schemeClr>
                    </a:solidFill>
                  </a:rPr>
                  <a:t> integer </a:t>
                </a:r>
                <a:r>
                  <a:rPr lang="en-US" sz="1100" dirty="0" err="1">
                    <a:solidFill>
                      <a:schemeClr val="bg2">
                        <a:lumMod val="25000"/>
                      </a:schemeClr>
                    </a:solidFill>
                  </a:rPr>
                  <a:t>molestie</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platea</a:t>
                </a:r>
                <a:r>
                  <a:rPr lang="en-US" sz="1100" dirty="0">
                    <a:solidFill>
                      <a:schemeClr val="bg2">
                        <a:lumMod val="25000"/>
                      </a:schemeClr>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in ipsum </a:t>
                </a:r>
                <a:r>
                  <a:rPr lang="en-US" sz="1100" dirty="0" err="1">
                    <a:solidFill>
                      <a:schemeClr val="bg2">
                        <a:lumMod val="25000"/>
                      </a:schemeClr>
                    </a:solidFill>
                  </a:rPr>
                  <a:t>laoreet</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Aenean</a:t>
                </a:r>
                <a:r>
                  <a:rPr lang="en-US" sz="1100" dirty="0">
                    <a:solidFill>
                      <a:schemeClr val="bg2">
                        <a:lumMod val="25000"/>
                      </a:schemeClr>
                    </a:solidFill>
                  </a:rPr>
                  <a:t> </a:t>
                </a:r>
                <a:r>
                  <a:rPr lang="en-US" sz="1100" dirty="0" err="1">
                    <a:solidFill>
                      <a:schemeClr val="bg2">
                        <a:lumMod val="25000"/>
                      </a:schemeClr>
                    </a:solidFill>
                  </a:rPr>
                  <a:t>fusce</a:t>
                </a:r>
                <a:r>
                  <a:rPr lang="en-US" sz="1100" dirty="0">
                    <a:solidFill>
                      <a:schemeClr val="bg2">
                        <a:lumMod val="25000"/>
                      </a:schemeClr>
                    </a:solidFill>
                  </a:rPr>
                  <a:t> </a:t>
                </a:r>
                <a:r>
                  <a:rPr lang="en-US" sz="1100" dirty="0" err="1">
                    <a:solidFill>
                      <a:schemeClr val="bg2">
                        <a:lumMod val="25000"/>
                      </a:schemeClr>
                    </a:solidFill>
                  </a:rPr>
                  <a:t>donec</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elit</a:t>
                </a:r>
                <a:r>
                  <a:rPr lang="en-US" sz="1100" dirty="0">
                    <a:solidFill>
                      <a:schemeClr val="bg2">
                        <a:lumMod val="25000"/>
                      </a:schemeClr>
                    </a:solidFill>
                  </a:rPr>
                  <a:t>, </a:t>
                </a:r>
                <a:r>
                  <a:rPr lang="en-US" sz="1100" dirty="0" err="1">
                    <a:solidFill>
                      <a:schemeClr val="bg2">
                        <a:lumMod val="25000"/>
                      </a:schemeClr>
                    </a:solidFill>
                  </a:rPr>
                  <a:t>placerat</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a:t>
                </a:r>
                <a:br>
                  <a:rPr lang="en-US" sz="1100" dirty="0">
                    <a:solidFill>
                      <a:schemeClr val="bg2">
                        <a:lumMod val="25000"/>
                      </a:schemeClr>
                    </a:solidFill>
                  </a:rPr>
                </a:br>
                <a:endParaRPr lang="en-US" sz="1100" dirty="0">
                  <a:solidFill>
                    <a:schemeClr val="bg2">
                      <a:lumMod val="25000"/>
                    </a:schemeClr>
                  </a:solidFill>
                </a:endParaRPr>
              </a:p>
            </p:txBody>
          </p:sp>
          <p:sp>
            <p:nvSpPr>
              <p:cNvPr id="22" name="Rectangle 21"/>
              <p:cNvSpPr/>
              <p:nvPr/>
            </p:nvSpPr>
            <p:spPr>
              <a:xfrm>
                <a:off x="6771298" y="1902302"/>
                <a:ext cx="4660666" cy="4149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70C0"/>
                    </a:solidFill>
                  </a:rPr>
                  <a:t>Header</a:t>
                </a:r>
              </a:p>
            </p:txBody>
          </p:sp>
        </p:grpSp>
        <p:pic>
          <p:nvPicPr>
            <p:cNvPr id="19" name="Picture 2" descr="http://freevectorlogo.net/wp-content/uploads/2013/06/world-of-warcraft-horde-vector-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37367" y="4340852"/>
              <a:ext cx="1228837" cy="122883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21982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Aside</a:t>
            </a:r>
          </a:p>
        </p:txBody>
      </p:sp>
      <p:sp>
        <p:nvSpPr>
          <p:cNvPr id="3" name="Content Placeholder 2"/>
          <p:cNvSpPr>
            <a:spLocks noGrp="1"/>
          </p:cNvSpPr>
          <p:nvPr>
            <p:ph idx="1"/>
          </p:nvPr>
        </p:nvSpPr>
        <p:spPr>
          <a:xfrm>
            <a:off x="838200" y="1690688"/>
            <a:ext cx="10515600" cy="4351338"/>
          </a:xfrm>
        </p:spPr>
        <p:txBody>
          <a:bodyPr/>
          <a:lstStyle/>
          <a:p>
            <a:pPr marL="0" indent="0">
              <a:spcAft>
                <a:spcPts val="1200"/>
              </a:spcAft>
              <a:buNone/>
            </a:pPr>
            <a:r>
              <a:rPr lang="en-US" dirty="0"/>
              <a:t>The &lt;aside&gt; element defines some content aside from the content it is placed in (like a sidebar)</a:t>
            </a:r>
          </a:p>
          <a:p>
            <a:pPr marL="0" indent="0">
              <a:spcAft>
                <a:spcPts val="1200"/>
              </a:spcAft>
              <a:buNone/>
            </a:pPr>
            <a:r>
              <a:rPr lang="en-US" dirty="0"/>
              <a:t>The aside content should be related to the surrounding content</a:t>
            </a:r>
          </a:p>
          <a:p>
            <a:endParaRPr lang="en-US" dirty="0"/>
          </a:p>
        </p:txBody>
      </p:sp>
    </p:spTree>
    <p:extLst>
      <p:ext uri="{BB962C8B-B14F-4D97-AF65-F5344CB8AC3E}">
        <p14:creationId xmlns:p14="http://schemas.microsoft.com/office/powerpoint/2010/main" val="2913487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Aside</a:t>
            </a:r>
          </a:p>
        </p:txBody>
      </p:sp>
      <p:sp>
        <p:nvSpPr>
          <p:cNvPr id="3" name="Content Placeholder 2"/>
          <p:cNvSpPr>
            <a:spLocks noGrp="1"/>
          </p:cNvSpPr>
          <p:nvPr>
            <p:ph idx="1"/>
          </p:nvPr>
        </p:nvSpPr>
        <p:spPr>
          <a:xfrm>
            <a:off x="838200" y="1690688"/>
            <a:ext cx="5392918" cy="4351338"/>
          </a:xfrm>
        </p:spPr>
        <p:txBody>
          <a:bodyPr>
            <a:normAutofit/>
          </a:bodyPr>
          <a:lstStyle/>
          <a:p>
            <a:pPr marL="0" indent="0">
              <a:buNone/>
            </a:pPr>
            <a:r>
              <a:rPr lang="en-US" sz="2400" dirty="0"/>
              <a:t>An aside element typically includes information / elements that are of interest to visitors, but not directly related to the main content</a:t>
            </a:r>
          </a:p>
        </p:txBody>
      </p:sp>
      <p:sp>
        <p:nvSpPr>
          <p:cNvPr id="5" name="Rectangle 4"/>
          <p:cNvSpPr/>
          <p:nvPr/>
        </p:nvSpPr>
        <p:spPr>
          <a:xfrm>
            <a:off x="6483430" y="150829"/>
            <a:ext cx="4944534" cy="607086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528586" y="241138"/>
            <a:ext cx="4854222" cy="75071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Header</a:t>
            </a:r>
          </a:p>
        </p:txBody>
      </p:sp>
      <p:sp>
        <p:nvSpPr>
          <p:cNvPr id="7" name="Rectangle 6"/>
          <p:cNvSpPr/>
          <p:nvPr/>
        </p:nvSpPr>
        <p:spPr>
          <a:xfrm>
            <a:off x="6528586" y="1064523"/>
            <a:ext cx="4854222" cy="29245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528586" y="5700701"/>
            <a:ext cx="4854222" cy="44582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lumMod val="65000"/>
                    <a:lumOff val="35000"/>
                  </a:schemeClr>
                </a:solidFill>
              </a:rPr>
              <a:t>Footer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r>
              <a:rPr lang="en-US" sz="1600" dirty="0">
                <a:solidFill>
                  <a:schemeClr val="tx1">
                    <a:lumMod val="65000"/>
                    <a:lumOff val="35000"/>
                  </a:schemeClr>
                </a:solidFill>
              </a:rPr>
              <a:t> | </a:t>
            </a:r>
            <a:r>
              <a:rPr lang="en-US" sz="1600" u="sng" dirty="0">
                <a:solidFill>
                  <a:srgbClr val="0070C0"/>
                </a:solidFill>
              </a:rPr>
              <a:t>LINK</a:t>
            </a:r>
          </a:p>
        </p:txBody>
      </p:sp>
      <p:sp>
        <p:nvSpPr>
          <p:cNvPr id="9" name="Rounded Rectangle 8"/>
          <p:cNvSpPr/>
          <p:nvPr/>
        </p:nvSpPr>
        <p:spPr>
          <a:xfrm>
            <a:off x="66301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0" name="Rounded Rectangle 9"/>
          <p:cNvSpPr/>
          <p:nvPr/>
        </p:nvSpPr>
        <p:spPr>
          <a:xfrm>
            <a:off x="73413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1" name="Rounded Rectangle 10"/>
          <p:cNvSpPr/>
          <p:nvPr/>
        </p:nvSpPr>
        <p:spPr>
          <a:xfrm>
            <a:off x="80525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2" name="Rounded Rectangle 11"/>
          <p:cNvSpPr/>
          <p:nvPr/>
        </p:nvSpPr>
        <p:spPr>
          <a:xfrm>
            <a:off x="87637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3" name="Rounded Rectangle 12"/>
          <p:cNvSpPr/>
          <p:nvPr/>
        </p:nvSpPr>
        <p:spPr>
          <a:xfrm>
            <a:off x="9474987" y="1096561"/>
            <a:ext cx="666044" cy="2284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LINK</a:t>
            </a:r>
          </a:p>
        </p:txBody>
      </p:sp>
      <p:sp>
        <p:nvSpPr>
          <p:cNvPr id="14" name="Rectangle 13"/>
          <p:cNvSpPr/>
          <p:nvPr/>
        </p:nvSpPr>
        <p:spPr>
          <a:xfrm>
            <a:off x="6528586" y="1429650"/>
            <a:ext cx="3520387" cy="209597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rgbClr val="0070C0"/>
                </a:solidFill>
              </a:rPr>
              <a:t>Article</a:t>
            </a:r>
            <a:endParaRPr lang="en-US" dirty="0">
              <a:solidFill>
                <a:srgbClr val="0070C0"/>
              </a:solidFill>
            </a:endParaRPr>
          </a:p>
        </p:txBody>
      </p:sp>
      <p:sp>
        <p:nvSpPr>
          <p:cNvPr id="15" name="Rectangle 14"/>
          <p:cNvSpPr/>
          <p:nvPr/>
        </p:nvSpPr>
        <p:spPr>
          <a:xfrm>
            <a:off x="6618898" y="2164727"/>
            <a:ext cx="3380016" cy="126847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lumMod val="25000"/>
                  </a:schemeClr>
                </a:solidFill>
              </a:rPr>
              <a:t>Lorem ipsum dolor sit </a:t>
            </a:r>
            <a:r>
              <a:rPr lang="en-US" sz="1100" dirty="0" err="1">
                <a:solidFill>
                  <a:schemeClr val="bg2">
                    <a:lumMod val="25000"/>
                  </a:schemeClr>
                </a:solidFill>
              </a:rPr>
              <a:t>amet</a:t>
            </a:r>
            <a:r>
              <a:rPr lang="en-US" sz="1100" dirty="0">
                <a:solidFill>
                  <a:schemeClr val="bg2">
                    <a:lumMod val="25000"/>
                  </a:schemeClr>
                </a:solidFill>
              </a:rPr>
              <a:t>, gravida </a:t>
            </a:r>
            <a:r>
              <a:rPr lang="en-US" sz="1100" dirty="0" err="1">
                <a:solidFill>
                  <a:schemeClr val="bg2">
                    <a:lumMod val="25000"/>
                  </a:schemeClr>
                </a:solidFill>
              </a:rPr>
              <a:t>facilisi</a:t>
            </a:r>
            <a:r>
              <a:rPr lang="en-US" sz="1100" dirty="0">
                <a:solidFill>
                  <a:schemeClr val="bg2">
                    <a:lumMod val="25000"/>
                  </a:schemeClr>
                </a:solidFill>
              </a:rPr>
              <a:t> </a:t>
            </a:r>
            <a:r>
              <a:rPr lang="en-US" sz="1100" dirty="0" err="1">
                <a:solidFill>
                  <a:schemeClr val="bg2">
                    <a:lumMod val="25000"/>
                  </a:schemeClr>
                </a:solidFill>
              </a:rPr>
              <a:t>orci</a:t>
            </a:r>
            <a:r>
              <a:rPr lang="en-US" sz="1100" dirty="0">
                <a:solidFill>
                  <a:schemeClr val="bg2">
                    <a:lumMod val="25000"/>
                  </a:schemeClr>
                </a:solidFill>
              </a:rPr>
              <a:t> </a:t>
            </a:r>
            <a:r>
              <a:rPr lang="en-US" sz="1100" dirty="0" err="1">
                <a:solidFill>
                  <a:schemeClr val="bg2">
                    <a:lumMod val="25000"/>
                  </a:schemeClr>
                </a:solidFill>
              </a:rPr>
              <a:t>nulla</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dolor, </a:t>
            </a:r>
            <a:r>
              <a:rPr lang="en-US" sz="1100" dirty="0" err="1">
                <a:solidFill>
                  <a:schemeClr val="bg2">
                    <a:lumMod val="25000"/>
                  </a:schemeClr>
                </a:solidFill>
              </a:rPr>
              <a:t>sagittis</a:t>
            </a:r>
            <a:r>
              <a:rPr lang="en-US" sz="1100" dirty="0">
                <a:solidFill>
                  <a:schemeClr val="bg2">
                    <a:lumMod val="25000"/>
                  </a:schemeClr>
                </a:solidFill>
              </a:rPr>
              <a:t> </a:t>
            </a:r>
            <a:r>
              <a:rPr lang="en-US" sz="1100" dirty="0" err="1">
                <a:solidFill>
                  <a:schemeClr val="bg2">
                    <a:lumMod val="25000"/>
                  </a:schemeClr>
                </a:solidFill>
              </a:rPr>
              <a:t>blandit</a:t>
            </a:r>
            <a:r>
              <a:rPr lang="en-US" sz="1100" dirty="0">
                <a:solidFill>
                  <a:schemeClr val="bg2">
                    <a:lumMod val="25000"/>
                  </a:schemeClr>
                </a:solidFill>
              </a:rPr>
              <a:t>, </a:t>
            </a:r>
            <a:r>
              <a:rPr lang="en-US" sz="1100" dirty="0" err="1">
                <a:solidFill>
                  <a:schemeClr val="bg2">
                    <a:lumMod val="25000"/>
                  </a:schemeClr>
                </a:solidFill>
              </a:rPr>
              <a:t>maecenas</a:t>
            </a:r>
            <a:r>
              <a:rPr lang="en-US" sz="1100" dirty="0">
                <a:solidFill>
                  <a:schemeClr val="bg2">
                    <a:lumMod val="25000"/>
                  </a:schemeClr>
                </a:solidFill>
              </a:rPr>
              <a:t> </a:t>
            </a:r>
            <a:r>
              <a:rPr lang="en-US" sz="1100" dirty="0" err="1">
                <a:solidFill>
                  <a:schemeClr val="bg2">
                    <a:lumMod val="25000"/>
                  </a:schemeClr>
                </a:solidFill>
              </a:rPr>
              <a:t>quis</a:t>
            </a:r>
            <a:r>
              <a:rPr lang="en-US" sz="1100" dirty="0">
                <a:solidFill>
                  <a:schemeClr val="bg2">
                    <a:lumMod val="25000"/>
                  </a:schemeClr>
                </a:solidFill>
              </a:rPr>
              <a:t> mi </a:t>
            </a:r>
            <a:r>
              <a:rPr lang="en-US" sz="1100" dirty="0" err="1">
                <a:solidFill>
                  <a:schemeClr val="bg2">
                    <a:lumMod val="25000"/>
                  </a:schemeClr>
                </a:solidFill>
              </a:rPr>
              <a:t>suscipit</a:t>
            </a:r>
            <a:r>
              <a:rPr lang="en-US" sz="1100" dirty="0">
                <a:solidFill>
                  <a:schemeClr val="bg2">
                    <a:lumMod val="25000"/>
                  </a:schemeClr>
                </a:solidFill>
              </a:rPr>
              <a:t>, </a:t>
            </a:r>
            <a:r>
              <a:rPr lang="en-US" sz="1100" dirty="0" err="1">
                <a:solidFill>
                  <a:schemeClr val="bg2">
                    <a:lumMod val="25000"/>
                  </a:schemeClr>
                </a:solidFill>
              </a:rPr>
              <a:t>risus</a:t>
            </a:r>
            <a:r>
              <a:rPr lang="en-US" sz="1100" dirty="0">
                <a:solidFill>
                  <a:schemeClr val="bg2">
                    <a:lumMod val="25000"/>
                  </a:schemeClr>
                </a:solidFill>
              </a:rPr>
              <a:t> </a:t>
            </a:r>
            <a:r>
              <a:rPr lang="en-US" sz="1100" dirty="0" err="1">
                <a:solidFill>
                  <a:schemeClr val="bg2">
                    <a:lumMod val="25000"/>
                  </a:schemeClr>
                </a:solidFill>
              </a:rPr>
              <a:t>enim</a:t>
            </a:r>
            <a:r>
              <a:rPr lang="en-US" sz="1100" dirty="0">
                <a:solidFill>
                  <a:schemeClr val="bg2">
                    <a:lumMod val="25000"/>
                  </a:schemeClr>
                </a:solidFill>
              </a:rPr>
              <a:t> </a:t>
            </a:r>
            <a:r>
              <a:rPr lang="en-US" sz="1100" dirty="0" err="1">
                <a:solidFill>
                  <a:schemeClr val="bg2">
                    <a:lumMod val="25000"/>
                  </a:schemeClr>
                </a:solidFill>
              </a:rPr>
              <a:t>tincidunt</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a:t>
            </a:r>
            <a:r>
              <a:rPr lang="en-US" sz="1100" dirty="0" err="1">
                <a:solidFill>
                  <a:schemeClr val="bg2">
                    <a:lumMod val="25000"/>
                  </a:schemeClr>
                </a:solidFill>
              </a:rPr>
              <a:t>Eu</a:t>
            </a:r>
            <a:r>
              <a:rPr lang="en-US" sz="1100" dirty="0">
                <a:solidFill>
                  <a:schemeClr val="bg2">
                    <a:lumMod val="25000"/>
                  </a:schemeClr>
                </a:solidFill>
              </a:rPr>
              <a:t> </a:t>
            </a:r>
            <a:r>
              <a:rPr lang="en-US" sz="1100" dirty="0" err="1">
                <a:solidFill>
                  <a:schemeClr val="bg2">
                    <a:lumMod val="25000"/>
                  </a:schemeClr>
                </a:solidFill>
              </a:rPr>
              <a:t>justo</a:t>
            </a:r>
            <a:r>
              <a:rPr lang="en-US" sz="1100" dirty="0">
                <a:solidFill>
                  <a:schemeClr val="bg2">
                    <a:lumMod val="25000"/>
                  </a:schemeClr>
                </a:solidFill>
              </a:rPr>
              <a:t>, </a:t>
            </a:r>
            <a:r>
              <a:rPr lang="en-US" sz="1100" dirty="0" err="1">
                <a:solidFill>
                  <a:schemeClr val="bg2">
                    <a:lumMod val="25000"/>
                  </a:schemeClr>
                </a:solidFill>
              </a:rPr>
              <a:t>senectus</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a:t>
            </a:r>
            <a:r>
              <a:rPr lang="en-US" sz="1100" dirty="0" err="1">
                <a:solidFill>
                  <a:schemeClr val="bg2">
                    <a:lumMod val="25000"/>
                  </a:schemeClr>
                </a:solidFill>
              </a:rPr>
              <a:t>mattis</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 et.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ultricies</a:t>
            </a:r>
            <a:r>
              <a:rPr lang="en-US" sz="1100" dirty="0">
                <a:solidFill>
                  <a:schemeClr val="bg2">
                    <a:lumMod val="25000"/>
                  </a:schemeClr>
                </a:solidFill>
              </a:rPr>
              <a:t> </a:t>
            </a:r>
            <a:r>
              <a:rPr lang="en-US" sz="1100" dirty="0" err="1">
                <a:solidFill>
                  <a:schemeClr val="bg2">
                    <a:lumMod val="25000"/>
                  </a:schemeClr>
                </a:solidFill>
              </a:rPr>
              <a:t>ulrices</a:t>
            </a:r>
            <a:r>
              <a:rPr lang="en-US" sz="1100" dirty="0">
                <a:solidFill>
                  <a:schemeClr val="bg2">
                    <a:lumMod val="25000"/>
                  </a:schemeClr>
                </a:solidFill>
              </a:rPr>
              <a:t> </a:t>
            </a:r>
            <a:r>
              <a:rPr lang="en-US" sz="1100" dirty="0" err="1">
                <a:solidFill>
                  <a:schemeClr val="bg2">
                    <a:lumMod val="25000"/>
                  </a:schemeClr>
                </a:solidFill>
              </a:rPr>
              <a:t>iaculis</a:t>
            </a:r>
            <a:r>
              <a:rPr lang="en-US" sz="1100" dirty="0">
                <a:solidFill>
                  <a:schemeClr val="bg2">
                    <a:lumMod val="25000"/>
                  </a:schemeClr>
                </a:solidFill>
              </a:rPr>
              <a:t> </a:t>
            </a:r>
            <a:r>
              <a:rPr lang="en-US" sz="1100" dirty="0">
                <a:solidFill>
                  <a:srgbClr val="0070C0"/>
                </a:solidFill>
              </a:rPr>
              <a:t>non </a:t>
            </a:r>
            <a:r>
              <a:rPr lang="en-US" sz="1100" dirty="0" err="1">
                <a:solidFill>
                  <a:srgbClr val="0070C0"/>
                </a:solidFill>
              </a:rPr>
              <a:t>asperiores</a:t>
            </a:r>
            <a:r>
              <a:rPr lang="en-US" sz="1100" dirty="0">
                <a:solidFill>
                  <a:srgbClr val="0070C0"/>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dolor </a:t>
            </a:r>
            <a:r>
              <a:rPr lang="en-US" sz="1100" dirty="0" err="1">
                <a:solidFill>
                  <a:schemeClr val="bg2">
                    <a:lumMod val="25000"/>
                  </a:schemeClr>
                </a:solidFill>
              </a:rPr>
              <a:t>dignissim</a:t>
            </a:r>
            <a:r>
              <a:rPr lang="en-US" sz="1100" dirty="0">
                <a:solidFill>
                  <a:schemeClr val="bg2">
                    <a:lumMod val="25000"/>
                  </a:schemeClr>
                </a:solidFill>
              </a:rPr>
              <a:t>, </a:t>
            </a:r>
            <a:r>
              <a:rPr lang="en-US" sz="1100" dirty="0" err="1">
                <a:solidFill>
                  <a:schemeClr val="bg2">
                    <a:lumMod val="25000"/>
                  </a:schemeClr>
                </a:solidFill>
              </a:rPr>
              <a:t>sodales</a:t>
            </a:r>
            <a:r>
              <a:rPr lang="en-US" sz="1100" dirty="0">
                <a:solidFill>
                  <a:schemeClr val="bg2">
                    <a:lumMod val="25000"/>
                  </a:schemeClr>
                </a:solidFill>
              </a:rPr>
              <a:t> </a:t>
            </a:r>
            <a:r>
              <a:rPr lang="en-US" sz="1100" dirty="0" err="1">
                <a:solidFill>
                  <a:schemeClr val="bg2">
                    <a:lumMod val="25000"/>
                  </a:schemeClr>
                </a:solidFill>
              </a:rPr>
              <a:t>purus</a:t>
            </a:r>
            <a:r>
              <a:rPr lang="en-US" sz="1100" dirty="0">
                <a:solidFill>
                  <a:schemeClr val="bg2">
                    <a:lumMod val="25000"/>
                  </a:schemeClr>
                </a:solidFill>
              </a:rPr>
              <a:t> </a:t>
            </a:r>
            <a:r>
              <a:rPr lang="en-US" sz="1100" dirty="0" err="1">
                <a:solidFill>
                  <a:schemeClr val="bg2">
                    <a:lumMod val="25000"/>
                  </a:schemeClr>
                </a:solidFill>
              </a:rPr>
              <a:t>pretium</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eget</a:t>
            </a:r>
            <a:r>
              <a:rPr lang="en-US" sz="1100" dirty="0">
                <a:solidFill>
                  <a:schemeClr val="bg2">
                    <a:lumMod val="25000"/>
                  </a:schemeClr>
                </a:solidFill>
              </a:rPr>
              <a:t>, </a:t>
            </a:r>
            <a:r>
              <a:rPr lang="en-US" sz="1100" dirty="0" err="1">
                <a:solidFill>
                  <a:schemeClr val="bg2">
                    <a:lumMod val="25000"/>
                  </a:schemeClr>
                </a:solidFill>
              </a:rPr>
              <a:t>wisi</a:t>
            </a:r>
            <a:r>
              <a:rPr lang="en-US" sz="1100" dirty="0">
                <a:solidFill>
                  <a:schemeClr val="bg2">
                    <a:lumMod val="25000"/>
                  </a:schemeClr>
                </a:solidFill>
              </a:rPr>
              <a:t> integer </a:t>
            </a:r>
            <a:r>
              <a:rPr lang="en-US" sz="1100" dirty="0" err="1">
                <a:solidFill>
                  <a:schemeClr val="bg2">
                    <a:lumMod val="25000"/>
                  </a:schemeClr>
                </a:solidFill>
              </a:rPr>
              <a:t>molestie</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platea</a:t>
            </a:r>
            <a:r>
              <a:rPr lang="en-US" sz="1100" dirty="0">
                <a:solidFill>
                  <a:schemeClr val="bg2">
                    <a:lumMod val="25000"/>
                  </a:schemeClr>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in ipsum </a:t>
            </a:r>
            <a:r>
              <a:rPr lang="en-US" sz="1100" dirty="0" err="1">
                <a:solidFill>
                  <a:schemeClr val="bg2">
                    <a:lumMod val="25000"/>
                  </a:schemeClr>
                </a:solidFill>
              </a:rPr>
              <a:t>laoreet</a:t>
            </a:r>
            <a:r>
              <a:rPr lang="en-US" sz="1100" dirty="0">
                <a:solidFill>
                  <a:schemeClr val="bg2">
                    <a:lumMod val="25000"/>
                  </a:schemeClr>
                </a:solidFill>
              </a:rPr>
              <a:t>. </a:t>
            </a:r>
            <a:r>
              <a:rPr lang="en-US" sz="1100" dirty="0" err="1">
                <a:solidFill>
                  <a:schemeClr val="bg2">
                    <a:lumMod val="25000"/>
                  </a:schemeClr>
                </a:solidFill>
              </a:rPr>
              <a:t>Aenean</a:t>
            </a:r>
            <a:r>
              <a:rPr lang="en-US" sz="1100" dirty="0">
                <a:solidFill>
                  <a:schemeClr val="bg2">
                    <a:lumMod val="25000"/>
                  </a:schemeClr>
                </a:solidFill>
              </a:rPr>
              <a:t> </a:t>
            </a:r>
            <a:r>
              <a:rPr lang="en-US" sz="1100" dirty="0" err="1">
                <a:solidFill>
                  <a:schemeClr val="bg2">
                    <a:lumMod val="25000"/>
                  </a:schemeClr>
                </a:solidFill>
              </a:rPr>
              <a:t>fusce</a:t>
            </a:r>
            <a:r>
              <a:rPr lang="en-US" sz="1100" dirty="0">
                <a:solidFill>
                  <a:schemeClr val="bg2">
                    <a:lumMod val="25000"/>
                  </a:schemeClr>
                </a:solidFill>
              </a:rPr>
              <a:t> </a:t>
            </a:r>
            <a:r>
              <a:rPr lang="en-US" sz="1100" dirty="0" err="1">
                <a:solidFill>
                  <a:schemeClr val="bg2">
                    <a:lumMod val="25000"/>
                  </a:schemeClr>
                </a:solidFill>
              </a:rPr>
              <a:t>donec</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elit</a:t>
            </a:r>
            <a:r>
              <a:rPr lang="en-US" sz="1100" dirty="0">
                <a:solidFill>
                  <a:schemeClr val="bg2">
                    <a:lumMod val="25000"/>
                  </a:schemeClr>
                </a:solidFill>
              </a:rPr>
              <a:t>, </a:t>
            </a:r>
            <a:r>
              <a:rPr lang="en-US" sz="1100" dirty="0" err="1">
                <a:solidFill>
                  <a:schemeClr val="bg2">
                    <a:lumMod val="25000"/>
                  </a:schemeClr>
                </a:solidFill>
              </a:rPr>
              <a:t>placerat</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a:t>
            </a:r>
            <a:br>
              <a:rPr lang="en-US" sz="1100" dirty="0">
                <a:solidFill>
                  <a:schemeClr val="bg2">
                    <a:lumMod val="25000"/>
                  </a:schemeClr>
                </a:solidFill>
              </a:rPr>
            </a:br>
            <a:endParaRPr lang="en-US" sz="1100" dirty="0">
              <a:solidFill>
                <a:schemeClr val="bg2">
                  <a:lumMod val="25000"/>
                </a:schemeClr>
              </a:solidFill>
            </a:endParaRPr>
          </a:p>
        </p:txBody>
      </p:sp>
      <p:sp>
        <p:nvSpPr>
          <p:cNvPr id="17" name="Rectangle 16"/>
          <p:cNvSpPr/>
          <p:nvPr/>
        </p:nvSpPr>
        <p:spPr>
          <a:xfrm>
            <a:off x="6600044" y="1487987"/>
            <a:ext cx="3374054" cy="617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dirty="0">
                <a:solidFill>
                  <a:srgbClr val="0070C0"/>
                </a:solidFill>
              </a:rPr>
              <a:t>Header</a:t>
            </a:r>
          </a:p>
        </p:txBody>
      </p:sp>
      <p:sp>
        <p:nvSpPr>
          <p:cNvPr id="20" name="Rectangle 19"/>
          <p:cNvSpPr/>
          <p:nvPr/>
        </p:nvSpPr>
        <p:spPr>
          <a:xfrm>
            <a:off x="6528586" y="3565175"/>
            <a:ext cx="3520387" cy="209597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rgbClr val="0070C0"/>
                </a:solidFill>
              </a:rPr>
              <a:t>Article</a:t>
            </a:r>
            <a:endParaRPr lang="en-US" dirty="0">
              <a:solidFill>
                <a:srgbClr val="0070C0"/>
              </a:solidFill>
            </a:endParaRPr>
          </a:p>
        </p:txBody>
      </p:sp>
      <p:sp>
        <p:nvSpPr>
          <p:cNvPr id="21" name="Rectangle 20"/>
          <p:cNvSpPr/>
          <p:nvPr/>
        </p:nvSpPr>
        <p:spPr>
          <a:xfrm>
            <a:off x="6594082" y="4373013"/>
            <a:ext cx="3380016" cy="115616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100" dirty="0">
                <a:solidFill>
                  <a:schemeClr val="bg2">
                    <a:lumMod val="25000"/>
                  </a:schemeClr>
                </a:solidFill>
              </a:rPr>
              <a:t>Lorem ipsum dolor sit </a:t>
            </a:r>
            <a:r>
              <a:rPr lang="en-US" sz="1100" dirty="0" err="1">
                <a:solidFill>
                  <a:schemeClr val="bg2">
                    <a:lumMod val="25000"/>
                  </a:schemeClr>
                </a:solidFill>
              </a:rPr>
              <a:t>amet</a:t>
            </a:r>
            <a:r>
              <a:rPr lang="en-US" sz="1100" dirty="0">
                <a:solidFill>
                  <a:schemeClr val="bg2">
                    <a:lumMod val="25000"/>
                  </a:schemeClr>
                </a:solidFill>
              </a:rPr>
              <a:t>, gravida </a:t>
            </a:r>
            <a:r>
              <a:rPr lang="en-US" sz="1100" dirty="0" err="1">
                <a:solidFill>
                  <a:schemeClr val="bg2">
                    <a:lumMod val="25000"/>
                  </a:schemeClr>
                </a:solidFill>
              </a:rPr>
              <a:t>facilisi</a:t>
            </a:r>
            <a:r>
              <a:rPr lang="en-US" sz="1100" dirty="0">
                <a:solidFill>
                  <a:schemeClr val="bg2">
                    <a:lumMod val="25000"/>
                  </a:schemeClr>
                </a:solidFill>
              </a:rPr>
              <a:t> </a:t>
            </a:r>
            <a:r>
              <a:rPr lang="en-US" sz="1100" dirty="0" err="1">
                <a:solidFill>
                  <a:schemeClr val="bg2">
                    <a:lumMod val="25000"/>
                  </a:schemeClr>
                </a:solidFill>
              </a:rPr>
              <a:t>orci</a:t>
            </a:r>
            <a:r>
              <a:rPr lang="en-US" sz="1100" dirty="0">
                <a:solidFill>
                  <a:schemeClr val="bg2">
                    <a:lumMod val="25000"/>
                  </a:schemeClr>
                </a:solidFill>
              </a:rPr>
              <a:t> </a:t>
            </a:r>
            <a:r>
              <a:rPr lang="en-US" sz="1100" dirty="0" err="1">
                <a:solidFill>
                  <a:schemeClr val="bg2">
                    <a:lumMod val="25000"/>
                  </a:schemeClr>
                </a:solidFill>
              </a:rPr>
              <a:t>nulla</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dolor, </a:t>
            </a:r>
            <a:r>
              <a:rPr lang="en-US" sz="1100" dirty="0" err="1">
                <a:solidFill>
                  <a:schemeClr val="bg2">
                    <a:lumMod val="25000"/>
                  </a:schemeClr>
                </a:solidFill>
              </a:rPr>
              <a:t>sagittis</a:t>
            </a:r>
            <a:r>
              <a:rPr lang="en-US" sz="1100" dirty="0">
                <a:solidFill>
                  <a:schemeClr val="bg2">
                    <a:lumMod val="25000"/>
                  </a:schemeClr>
                </a:solidFill>
              </a:rPr>
              <a:t> </a:t>
            </a:r>
            <a:r>
              <a:rPr lang="en-US" sz="1100" dirty="0" err="1">
                <a:solidFill>
                  <a:schemeClr val="bg2">
                    <a:lumMod val="25000"/>
                  </a:schemeClr>
                </a:solidFill>
              </a:rPr>
              <a:t>blandit</a:t>
            </a:r>
            <a:r>
              <a:rPr lang="en-US" sz="1100" dirty="0">
                <a:solidFill>
                  <a:schemeClr val="bg2">
                    <a:lumMod val="25000"/>
                  </a:schemeClr>
                </a:solidFill>
              </a:rPr>
              <a:t>, </a:t>
            </a:r>
            <a:r>
              <a:rPr lang="en-US" sz="1100" dirty="0" err="1">
                <a:solidFill>
                  <a:schemeClr val="bg2">
                    <a:lumMod val="25000"/>
                  </a:schemeClr>
                </a:solidFill>
              </a:rPr>
              <a:t>maecenas</a:t>
            </a:r>
            <a:r>
              <a:rPr lang="en-US" sz="1100" dirty="0">
                <a:solidFill>
                  <a:schemeClr val="bg2">
                    <a:lumMod val="25000"/>
                  </a:schemeClr>
                </a:solidFill>
              </a:rPr>
              <a:t> </a:t>
            </a:r>
            <a:r>
              <a:rPr lang="en-US" sz="1100" dirty="0" err="1">
                <a:solidFill>
                  <a:schemeClr val="bg2">
                    <a:lumMod val="25000"/>
                  </a:schemeClr>
                </a:solidFill>
              </a:rPr>
              <a:t>quis</a:t>
            </a:r>
            <a:r>
              <a:rPr lang="en-US" sz="1100" dirty="0">
                <a:solidFill>
                  <a:schemeClr val="bg2">
                    <a:lumMod val="25000"/>
                  </a:schemeClr>
                </a:solidFill>
              </a:rPr>
              <a:t> mi </a:t>
            </a:r>
            <a:r>
              <a:rPr lang="en-US" sz="1100" dirty="0" err="1">
                <a:solidFill>
                  <a:schemeClr val="bg2">
                    <a:lumMod val="25000"/>
                  </a:schemeClr>
                </a:solidFill>
              </a:rPr>
              <a:t>suscipit</a:t>
            </a:r>
            <a:r>
              <a:rPr lang="en-US" sz="1100" dirty="0">
                <a:solidFill>
                  <a:schemeClr val="bg2">
                    <a:lumMod val="25000"/>
                  </a:schemeClr>
                </a:solidFill>
              </a:rPr>
              <a:t>, </a:t>
            </a:r>
            <a:r>
              <a:rPr lang="en-US" sz="1100" dirty="0" err="1">
                <a:solidFill>
                  <a:schemeClr val="bg2">
                    <a:lumMod val="25000"/>
                  </a:schemeClr>
                </a:solidFill>
              </a:rPr>
              <a:t>risus</a:t>
            </a:r>
            <a:r>
              <a:rPr lang="en-US" sz="1100" dirty="0">
                <a:solidFill>
                  <a:schemeClr val="bg2">
                    <a:lumMod val="25000"/>
                  </a:schemeClr>
                </a:solidFill>
              </a:rPr>
              <a:t> </a:t>
            </a:r>
            <a:r>
              <a:rPr lang="en-US" sz="1100" dirty="0" err="1">
                <a:solidFill>
                  <a:schemeClr val="bg2">
                    <a:lumMod val="25000"/>
                  </a:schemeClr>
                </a:solidFill>
              </a:rPr>
              <a:t>enim</a:t>
            </a:r>
            <a:r>
              <a:rPr lang="en-US" sz="1100" dirty="0">
                <a:solidFill>
                  <a:schemeClr val="bg2">
                    <a:lumMod val="25000"/>
                  </a:schemeClr>
                </a:solidFill>
              </a:rPr>
              <a:t> </a:t>
            </a:r>
            <a:r>
              <a:rPr lang="en-US" sz="1100" dirty="0" err="1">
                <a:solidFill>
                  <a:schemeClr val="bg2">
                    <a:lumMod val="25000"/>
                  </a:schemeClr>
                </a:solidFill>
              </a:rPr>
              <a:t>tincidunt</a:t>
            </a:r>
            <a:r>
              <a:rPr lang="en-US" sz="1100" dirty="0">
                <a:solidFill>
                  <a:schemeClr val="bg2">
                    <a:lumMod val="25000"/>
                  </a:schemeClr>
                </a:solidFill>
              </a:rPr>
              <a:t> </a:t>
            </a:r>
            <a:r>
              <a:rPr lang="en-US" sz="1100" dirty="0" err="1">
                <a:solidFill>
                  <a:schemeClr val="bg2">
                    <a:lumMod val="25000"/>
                  </a:schemeClr>
                </a:solidFill>
              </a:rPr>
              <a:t>erat</a:t>
            </a:r>
            <a:r>
              <a:rPr lang="en-US" sz="1100" dirty="0">
                <a:solidFill>
                  <a:schemeClr val="bg2">
                    <a:lumMod val="25000"/>
                  </a:schemeClr>
                </a:solidFill>
              </a:rPr>
              <a:t>. </a:t>
            </a:r>
            <a:r>
              <a:rPr lang="en-US" sz="1100" dirty="0" err="1">
                <a:solidFill>
                  <a:schemeClr val="bg2">
                    <a:lumMod val="25000"/>
                  </a:schemeClr>
                </a:solidFill>
              </a:rPr>
              <a:t>Eu</a:t>
            </a:r>
            <a:r>
              <a:rPr lang="en-US" sz="1100" dirty="0">
                <a:solidFill>
                  <a:schemeClr val="bg2">
                    <a:lumMod val="25000"/>
                  </a:schemeClr>
                </a:solidFill>
              </a:rPr>
              <a:t> </a:t>
            </a:r>
            <a:r>
              <a:rPr lang="en-US" sz="1100" dirty="0" err="1">
                <a:solidFill>
                  <a:schemeClr val="bg2">
                    <a:lumMod val="25000"/>
                  </a:schemeClr>
                </a:solidFill>
              </a:rPr>
              <a:t>justo</a:t>
            </a:r>
            <a:r>
              <a:rPr lang="en-US" sz="1100" dirty="0">
                <a:solidFill>
                  <a:schemeClr val="bg2">
                    <a:lumMod val="25000"/>
                  </a:schemeClr>
                </a:solidFill>
              </a:rPr>
              <a:t>, </a:t>
            </a:r>
            <a:r>
              <a:rPr lang="en-US" sz="1100" dirty="0" err="1">
                <a:solidFill>
                  <a:schemeClr val="bg2">
                    <a:lumMod val="25000"/>
                  </a:schemeClr>
                </a:solidFill>
              </a:rPr>
              <a:t>senectus</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a:t>
            </a:r>
            <a:r>
              <a:rPr lang="en-US" sz="1100" dirty="0" err="1">
                <a:solidFill>
                  <a:schemeClr val="bg2">
                    <a:lumMod val="25000"/>
                  </a:schemeClr>
                </a:solidFill>
              </a:rPr>
              <a:t>mattis</a:t>
            </a:r>
            <a:r>
              <a:rPr lang="en-US" sz="1100" dirty="0">
                <a:solidFill>
                  <a:schemeClr val="bg2">
                    <a:lumMod val="25000"/>
                  </a:schemeClr>
                </a:solidFill>
              </a:rPr>
              <a:t> </a:t>
            </a:r>
            <a:r>
              <a:rPr lang="en-US" sz="1100" dirty="0" err="1">
                <a:solidFill>
                  <a:schemeClr val="bg2">
                    <a:lumMod val="25000"/>
                  </a:schemeClr>
                </a:solidFill>
              </a:rPr>
              <a:t>laoreet</a:t>
            </a:r>
            <a:r>
              <a:rPr lang="en-US" sz="1100" dirty="0">
                <a:solidFill>
                  <a:schemeClr val="bg2">
                    <a:lumMod val="25000"/>
                  </a:schemeClr>
                </a:solidFill>
              </a:rPr>
              <a:t> et.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ultricies</a:t>
            </a:r>
            <a:r>
              <a:rPr lang="en-US" sz="1100" dirty="0">
                <a:solidFill>
                  <a:schemeClr val="bg2">
                    <a:lumMod val="25000"/>
                  </a:schemeClr>
                </a:solidFill>
              </a:rPr>
              <a:t> </a:t>
            </a:r>
            <a:r>
              <a:rPr lang="en-US" sz="1100" dirty="0" err="1">
                <a:solidFill>
                  <a:schemeClr val="bg2">
                    <a:lumMod val="25000"/>
                  </a:schemeClr>
                </a:solidFill>
              </a:rPr>
              <a:t>ultrices</a:t>
            </a:r>
            <a:r>
              <a:rPr lang="en-US" sz="1100" dirty="0">
                <a:solidFill>
                  <a:schemeClr val="bg2">
                    <a:lumMod val="25000"/>
                  </a:schemeClr>
                </a:solidFill>
              </a:rPr>
              <a:t> </a:t>
            </a:r>
            <a:r>
              <a:rPr lang="en-US" sz="1100" dirty="0" err="1">
                <a:solidFill>
                  <a:schemeClr val="bg2">
                    <a:lumMod val="25000"/>
                  </a:schemeClr>
                </a:solidFill>
              </a:rPr>
              <a:t>iaculis</a:t>
            </a:r>
            <a:r>
              <a:rPr lang="en-US" sz="1100" dirty="0">
                <a:solidFill>
                  <a:schemeClr val="bg2">
                    <a:lumMod val="25000"/>
                  </a:schemeClr>
                </a:solidFill>
              </a:rPr>
              <a:t> </a:t>
            </a:r>
            <a:r>
              <a:rPr lang="en-US" sz="1100" dirty="0">
                <a:solidFill>
                  <a:srgbClr val="0070C0"/>
                </a:solidFill>
              </a:rPr>
              <a:t>non </a:t>
            </a:r>
            <a:r>
              <a:rPr lang="en-US" sz="1100" dirty="0" err="1">
                <a:solidFill>
                  <a:srgbClr val="0070C0"/>
                </a:solidFill>
              </a:rPr>
              <a:t>asperiores</a:t>
            </a:r>
            <a:r>
              <a:rPr lang="en-US" sz="1100" dirty="0">
                <a:solidFill>
                  <a:srgbClr val="0070C0"/>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nec</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dolor </a:t>
            </a:r>
            <a:r>
              <a:rPr lang="en-US" sz="1100" dirty="0" err="1">
                <a:solidFill>
                  <a:schemeClr val="bg2">
                    <a:lumMod val="25000"/>
                  </a:schemeClr>
                </a:solidFill>
              </a:rPr>
              <a:t>dignissim</a:t>
            </a:r>
            <a:r>
              <a:rPr lang="en-US" sz="1100" dirty="0">
                <a:solidFill>
                  <a:schemeClr val="bg2">
                    <a:lumMod val="25000"/>
                  </a:schemeClr>
                </a:solidFill>
              </a:rPr>
              <a:t>, </a:t>
            </a:r>
            <a:r>
              <a:rPr lang="en-US" sz="1100" dirty="0" err="1">
                <a:solidFill>
                  <a:schemeClr val="bg2">
                    <a:lumMod val="25000"/>
                  </a:schemeClr>
                </a:solidFill>
              </a:rPr>
              <a:t>sodales</a:t>
            </a:r>
            <a:r>
              <a:rPr lang="en-US" sz="1100" dirty="0">
                <a:solidFill>
                  <a:schemeClr val="bg2">
                    <a:lumMod val="25000"/>
                  </a:schemeClr>
                </a:solidFill>
              </a:rPr>
              <a:t> </a:t>
            </a:r>
            <a:r>
              <a:rPr lang="en-US" sz="1100" dirty="0" err="1">
                <a:solidFill>
                  <a:schemeClr val="bg2">
                    <a:lumMod val="25000"/>
                  </a:schemeClr>
                </a:solidFill>
              </a:rPr>
              <a:t>purus</a:t>
            </a:r>
            <a:r>
              <a:rPr lang="en-US" sz="1100" dirty="0">
                <a:solidFill>
                  <a:schemeClr val="bg2">
                    <a:lumMod val="25000"/>
                  </a:schemeClr>
                </a:solidFill>
              </a:rPr>
              <a:t> </a:t>
            </a:r>
            <a:r>
              <a:rPr lang="en-US" sz="1100" dirty="0" err="1">
                <a:solidFill>
                  <a:schemeClr val="bg2">
                    <a:lumMod val="25000"/>
                  </a:schemeClr>
                </a:solidFill>
              </a:rPr>
              <a:t>pretium</a:t>
            </a:r>
            <a:r>
              <a:rPr lang="en-US" sz="1100" dirty="0">
                <a:solidFill>
                  <a:schemeClr val="bg2">
                    <a:lumMod val="25000"/>
                  </a:schemeClr>
                </a:solidFill>
              </a:rPr>
              <a:t> </a:t>
            </a:r>
            <a:br>
              <a:rPr lang="en-US" sz="1100" dirty="0">
                <a:solidFill>
                  <a:schemeClr val="bg2">
                    <a:lumMod val="25000"/>
                  </a:schemeClr>
                </a:solidFill>
              </a:rPr>
            </a:br>
            <a:r>
              <a:rPr lang="en-US" sz="1100" dirty="0" err="1">
                <a:solidFill>
                  <a:schemeClr val="bg2">
                    <a:lumMod val="25000"/>
                  </a:schemeClr>
                </a:solidFill>
              </a:rPr>
              <a:t>eget</a:t>
            </a:r>
            <a:r>
              <a:rPr lang="en-US" sz="1100" dirty="0">
                <a:solidFill>
                  <a:schemeClr val="bg2">
                    <a:lumMod val="25000"/>
                  </a:schemeClr>
                </a:solidFill>
              </a:rPr>
              <a:t>, </a:t>
            </a:r>
            <a:r>
              <a:rPr lang="en-US" sz="1100" dirty="0" err="1">
                <a:solidFill>
                  <a:schemeClr val="bg2">
                    <a:lumMod val="25000"/>
                  </a:schemeClr>
                </a:solidFill>
              </a:rPr>
              <a:t>wisi</a:t>
            </a:r>
            <a:r>
              <a:rPr lang="en-US" sz="1100" dirty="0">
                <a:solidFill>
                  <a:schemeClr val="bg2">
                    <a:lumMod val="25000"/>
                  </a:schemeClr>
                </a:solidFill>
              </a:rPr>
              <a:t> integer </a:t>
            </a:r>
            <a:r>
              <a:rPr lang="en-US" sz="1100" dirty="0" err="1">
                <a:solidFill>
                  <a:schemeClr val="bg2">
                    <a:lumMod val="25000"/>
                  </a:schemeClr>
                </a:solidFill>
              </a:rPr>
              <a:t>molestie</a:t>
            </a:r>
            <a:r>
              <a:rPr lang="en-US" sz="1100" dirty="0">
                <a:solidFill>
                  <a:schemeClr val="bg2">
                    <a:lumMod val="25000"/>
                  </a:schemeClr>
                </a:solidFill>
              </a:rPr>
              <a:t> </a:t>
            </a:r>
            <a:r>
              <a:rPr lang="en-US" sz="1100" dirty="0" err="1">
                <a:solidFill>
                  <a:schemeClr val="bg2">
                    <a:lumMod val="25000"/>
                  </a:schemeClr>
                </a:solidFill>
              </a:rPr>
              <a:t>arcu</a:t>
            </a:r>
            <a:r>
              <a:rPr lang="en-US" sz="1100" dirty="0">
                <a:solidFill>
                  <a:schemeClr val="bg2">
                    <a:lumMod val="25000"/>
                  </a:schemeClr>
                </a:solidFill>
              </a:rPr>
              <a:t> </a:t>
            </a:r>
            <a:r>
              <a:rPr lang="en-US" sz="1100" dirty="0" err="1">
                <a:solidFill>
                  <a:schemeClr val="bg2">
                    <a:lumMod val="25000"/>
                  </a:schemeClr>
                </a:solidFill>
              </a:rPr>
              <a:t>platea</a:t>
            </a:r>
            <a:r>
              <a:rPr lang="en-US" sz="1100" dirty="0">
                <a:solidFill>
                  <a:schemeClr val="bg2">
                    <a:lumMod val="25000"/>
                  </a:schemeClr>
                </a:solidFill>
              </a:rPr>
              <a:t>, </a:t>
            </a:r>
            <a:r>
              <a:rPr lang="en-US" sz="1100" dirty="0" err="1">
                <a:solidFill>
                  <a:schemeClr val="bg2">
                    <a:lumMod val="25000"/>
                  </a:schemeClr>
                </a:solidFill>
              </a:rPr>
              <a:t>urna</a:t>
            </a:r>
            <a:r>
              <a:rPr lang="en-US" sz="1100" dirty="0">
                <a:solidFill>
                  <a:schemeClr val="bg2">
                    <a:lumMod val="25000"/>
                  </a:schemeClr>
                </a:solidFill>
              </a:rPr>
              <a:t> </a:t>
            </a:r>
            <a:r>
              <a:rPr lang="en-US" sz="1100" dirty="0" err="1">
                <a:solidFill>
                  <a:schemeClr val="bg2">
                    <a:lumMod val="25000"/>
                  </a:schemeClr>
                </a:solidFill>
              </a:rPr>
              <a:t>ut</a:t>
            </a:r>
            <a:r>
              <a:rPr lang="en-US" sz="1100" dirty="0">
                <a:solidFill>
                  <a:schemeClr val="bg2">
                    <a:lumMod val="25000"/>
                  </a:schemeClr>
                </a:solidFill>
              </a:rPr>
              <a:t> in</a:t>
            </a:r>
          </a:p>
        </p:txBody>
      </p:sp>
      <p:sp>
        <p:nvSpPr>
          <p:cNvPr id="22" name="Rectangle 21"/>
          <p:cNvSpPr/>
          <p:nvPr/>
        </p:nvSpPr>
        <p:spPr>
          <a:xfrm>
            <a:off x="6594082" y="3593455"/>
            <a:ext cx="3380016" cy="7068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dirty="0">
                <a:solidFill>
                  <a:srgbClr val="0070C0"/>
                </a:solidFill>
              </a:rPr>
              <a:t>Header</a:t>
            </a:r>
          </a:p>
        </p:txBody>
      </p:sp>
      <p:pic>
        <p:nvPicPr>
          <p:cNvPr id="19" name="Picture 2" descr="http://freevectorlogo.net/wp-content/uploads/2013/06/world-of-warcraft-horde-vector-logo.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6238" r="20941"/>
          <a:stretch/>
        </p:blipFill>
        <p:spPr bwMode="auto">
          <a:xfrm>
            <a:off x="9418678" y="3632964"/>
            <a:ext cx="452486" cy="72027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http://i.imgur.com/ZGGxVA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29831" y="1555815"/>
            <a:ext cx="430181" cy="528262"/>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p:cNvSpPr/>
          <p:nvPr/>
        </p:nvSpPr>
        <p:spPr>
          <a:xfrm>
            <a:off x="10113810" y="1439319"/>
            <a:ext cx="1268997" cy="4221832"/>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rgbClr val="0070C0"/>
                </a:solidFill>
              </a:rPr>
              <a:t>Aside</a:t>
            </a:r>
            <a:endParaRPr lang="en-US" dirty="0">
              <a:solidFill>
                <a:srgbClr val="0070C0"/>
              </a:solidFill>
            </a:endParaRPr>
          </a:p>
        </p:txBody>
      </p:sp>
      <p:sp>
        <p:nvSpPr>
          <p:cNvPr id="25" name="Rectangle 24"/>
          <p:cNvSpPr/>
          <p:nvPr/>
        </p:nvSpPr>
        <p:spPr>
          <a:xfrm>
            <a:off x="10158029" y="1783214"/>
            <a:ext cx="1176918" cy="3008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rgbClr val="0070C0"/>
                </a:solidFill>
              </a:rPr>
              <a:t>Search</a:t>
            </a:r>
            <a:endParaRPr lang="en-US" dirty="0">
              <a:solidFill>
                <a:srgbClr val="0070C0"/>
              </a:solidFill>
            </a:endParaRPr>
          </a:p>
        </p:txBody>
      </p:sp>
      <p:sp>
        <p:nvSpPr>
          <p:cNvPr id="26" name="Rectangle 25"/>
          <p:cNvSpPr/>
          <p:nvPr/>
        </p:nvSpPr>
        <p:spPr>
          <a:xfrm>
            <a:off x="10158029" y="2156860"/>
            <a:ext cx="1176918" cy="9162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rgbClr val="0070C0"/>
                </a:solidFill>
              </a:rPr>
              <a:t>Calendar</a:t>
            </a:r>
          </a:p>
        </p:txBody>
      </p:sp>
      <p:sp>
        <p:nvSpPr>
          <p:cNvPr id="27" name="Rectangle 26"/>
          <p:cNvSpPr/>
          <p:nvPr/>
        </p:nvSpPr>
        <p:spPr>
          <a:xfrm>
            <a:off x="10158029" y="3157497"/>
            <a:ext cx="1176918" cy="23716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rgbClr val="0070C0"/>
                </a:solidFill>
              </a:rPr>
              <a:t>RSS Feed`</a:t>
            </a:r>
          </a:p>
        </p:txBody>
      </p:sp>
    </p:spTree>
    <p:extLst>
      <p:ext uri="{BB962C8B-B14F-4D97-AF65-F5344CB8AC3E}">
        <p14:creationId xmlns:p14="http://schemas.microsoft.com/office/powerpoint/2010/main" val="2395977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Footer</a:t>
            </a:r>
          </a:p>
        </p:txBody>
      </p:sp>
      <p:sp>
        <p:nvSpPr>
          <p:cNvPr id="3" name="Content Placeholder 2"/>
          <p:cNvSpPr>
            <a:spLocks noGrp="1"/>
          </p:cNvSpPr>
          <p:nvPr>
            <p:ph idx="1"/>
          </p:nvPr>
        </p:nvSpPr>
        <p:spPr/>
        <p:txBody>
          <a:bodyPr/>
          <a:lstStyle/>
          <a:p>
            <a:pPr marL="0" indent="0">
              <a:spcAft>
                <a:spcPts val="1200"/>
              </a:spcAft>
              <a:buNone/>
            </a:pPr>
            <a:r>
              <a:rPr lang="en-US" dirty="0"/>
              <a:t>The &lt;footer&gt; element specifies a footer for a document or section</a:t>
            </a:r>
          </a:p>
          <a:p>
            <a:pPr marL="0" indent="0">
              <a:spcAft>
                <a:spcPts val="1200"/>
              </a:spcAft>
              <a:buNone/>
            </a:pPr>
            <a:r>
              <a:rPr lang="en-US" dirty="0"/>
              <a:t>A &lt;footer&gt; element should contain information about its containing element</a:t>
            </a:r>
          </a:p>
          <a:p>
            <a:pPr marL="0" indent="0">
              <a:spcAft>
                <a:spcPts val="1200"/>
              </a:spcAft>
              <a:buNone/>
            </a:pPr>
            <a:r>
              <a:rPr lang="en-US" dirty="0"/>
              <a:t>A footer typically contains the author of the document, copyright information, links to terms of use, contact information, etc</a:t>
            </a:r>
          </a:p>
          <a:p>
            <a:pPr marL="0" indent="0">
              <a:spcAft>
                <a:spcPts val="1200"/>
              </a:spcAft>
              <a:buNone/>
            </a:pPr>
            <a:r>
              <a:rPr lang="en-US" dirty="0"/>
              <a:t>You can have several &lt;footer&gt; elements in one document</a:t>
            </a:r>
          </a:p>
          <a:p>
            <a:endParaRPr lang="en-US" dirty="0"/>
          </a:p>
        </p:txBody>
      </p:sp>
    </p:spTree>
    <p:extLst>
      <p:ext uri="{BB962C8B-B14F-4D97-AF65-F5344CB8AC3E}">
        <p14:creationId xmlns:p14="http://schemas.microsoft.com/office/powerpoint/2010/main" val="3895719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Captions</a:t>
            </a:r>
          </a:p>
        </p:txBody>
      </p:sp>
      <p:sp>
        <p:nvSpPr>
          <p:cNvPr id="3" name="Content Placeholder 2"/>
          <p:cNvSpPr>
            <a:spLocks noGrp="1"/>
          </p:cNvSpPr>
          <p:nvPr>
            <p:ph idx="1"/>
          </p:nvPr>
        </p:nvSpPr>
        <p:spPr>
          <a:xfrm>
            <a:off x="838200" y="1690688"/>
            <a:ext cx="10515600" cy="4351338"/>
          </a:xfrm>
        </p:spPr>
        <p:txBody>
          <a:bodyPr/>
          <a:lstStyle/>
          <a:p>
            <a:pPr marL="0" indent="0">
              <a:buNone/>
            </a:pPr>
            <a:r>
              <a:rPr lang="en-US" dirty="0"/>
              <a:t>In books and newspapers, it is common to have captions with images</a:t>
            </a:r>
          </a:p>
          <a:p>
            <a:pPr marL="0" indent="0">
              <a:buNone/>
            </a:pPr>
            <a:r>
              <a:rPr lang="en-US" dirty="0"/>
              <a:t>The purpose of a caption is to add a visual explanation to an image</a:t>
            </a:r>
          </a:p>
          <a:p>
            <a:pPr marL="0" indent="0">
              <a:buNone/>
            </a:pPr>
            <a:r>
              <a:rPr lang="en-US" dirty="0"/>
              <a:t>With HTML5, images and captions can be grouped together in </a:t>
            </a:r>
            <a:r>
              <a:rPr lang="en-US" b="1" dirty="0"/>
              <a:t>&lt;figure&gt;</a:t>
            </a:r>
            <a:r>
              <a:rPr lang="en-US" dirty="0"/>
              <a:t>elements:</a:t>
            </a:r>
          </a:p>
          <a:p>
            <a:pPr marL="1381125" indent="0">
              <a:buNone/>
            </a:pPr>
            <a:r>
              <a:rPr lang="en-US" sz="2400" dirty="0"/>
              <a:t>&lt;figure&gt;</a:t>
            </a:r>
          </a:p>
          <a:p>
            <a:pPr marL="1381125" indent="0">
              <a:buNone/>
            </a:pPr>
            <a:r>
              <a:rPr lang="en-US" sz="2400" dirty="0"/>
              <a:t>	&lt;img src=“images/ic.jpg” alt=“Integrated Circuit” /&gt;</a:t>
            </a:r>
          </a:p>
          <a:p>
            <a:pPr marL="1381125" indent="0">
              <a:buNone/>
            </a:pPr>
            <a:r>
              <a:rPr lang="en-US" sz="2400" dirty="0"/>
              <a:t>	&lt;figcaption&gt;Fig. 1 – An integrated circuit chip&lt;/figcaption&gt;</a:t>
            </a:r>
          </a:p>
          <a:p>
            <a:pPr marL="1381125" indent="0">
              <a:buNone/>
            </a:pPr>
            <a:r>
              <a:rPr lang="en-US" sz="2400" dirty="0"/>
              <a:t>&lt;/figure&gt;</a:t>
            </a:r>
          </a:p>
        </p:txBody>
      </p:sp>
    </p:spTree>
    <p:extLst>
      <p:ext uri="{BB962C8B-B14F-4D97-AF65-F5344CB8AC3E}">
        <p14:creationId xmlns:p14="http://schemas.microsoft.com/office/powerpoint/2010/main" val="3093820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Nesting Semantic Elements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spcAft>
                <a:spcPts val="1200"/>
              </a:spcAft>
              <a:buNone/>
            </a:pPr>
            <a:r>
              <a:rPr lang="en-US" dirty="0"/>
              <a:t>In the HTML5 standard, the &lt;article&gt; element defines a complete, self-contained block of related elements</a:t>
            </a:r>
          </a:p>
          <a:p>
            <a:pPr marL="0" indent="0">
              <a:spcAft>
                <a:spcPts val="1200"/>
              </a:spcAft>
              <a:buNone/>
            </a:pPr>
            <a:r>
              <a:rPr lang="en-US" dirty="0"/>
              <a:t>The &lt;section&gt; element is defined as a block of related elements</a:t>
            </a:r>
          </a:p>
          <a:p>
            <a:pPr marL="0" indent="0">
              <a:spcAft>
                <a:spcPts val="1200"/>
              </a:spcAft>
              <a:buNone/>
            </a:pPr>
            <a:r>
              <a:rPr lang="en-US" dirty="0"/>
              <a:t>Can we use the definitions to decide how to nest elements? No, we cannot!</a:t>
            </a:r>
          </a:p>
        </p:txBody>
      </p:sp>
    </p:spTree>
    <p:extLst>
      <p:ext uri="{BB962C8B-B14F-4D97-AF65-F5344CB8AC3E}">
        <p14:creationId xmlns:p14="http://schemas.microsoft.com/office/powerpoint/2010/main" val="1931585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Nesting Semantic Elements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spcAft>
                <a:spcPts val="1200"/>
              </a:spcAft>
              <a:buNone/>
            </a:pPr>
            <a:r>
              <a:rPr lang="en-US" dirty="0"/>
              <a:t>On the Internet, you will find HTML pages with &lt;section&gt; elements containing &lt;article&gt; elements, and &lt;article&gt; elements containing &lt;section&gt; elements</a:t>
            </a:r>
          </a:p>
          <a:p>
            <a:pPr marL="0" indent="0">
              <a:spcAft>
                <a:spcPts val="1200"/>
              </a:spcAft>
              <a:buNone/>
            </a:pPr>
            <a:r>
              <a:rPr lang="en-US" dirty="0"/>
              <a:t>You will also find pages with &lt;section&gt; elements containing &lt;section&gt; elements, and &lt;article&gt; elements containing &lt;article&gt; elements</a:t>
            </a:r>
          </a:p>
          <a:p>
            <a:pPr marL="0" indent="0">
              <a:buNone/>
            </a:pPr>
            <a:r>
              <a:rPr lang="en-US" dirty="0"/>
              <a:t>As a designer, you should pick what structure / nesting scheme best fits your content and be consistent in using it</a:t>
            </a:r>
          </a:p>
        </p:txBody>
      </p:sp>
    </p:spTree>
    <p:extLst>
      <p:ext uri="{BB962C8B-B14F-4D97-AF65-F5344CB8AC3E}">
        <p14:creationId xmlns:p14="http://schemas.microsoft.com/office/powerpoint/2010/main" val="2038789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Nesting Semantic Elements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spcAft>
                <a:spcPts val="1200"/>
              </a:spcAft>
              <a:buNone/>
            </a:pPr>
            <a:r>
              <a:rPr lang="en-US" dirty="0"/>
              <a:t>Newspaper vs. Academic Journal</a:t>
            </a:r>
          </a:p>
          <a:p>
            <a:pPr marL="0" indent="0">
              <a:spcAft>
                <a:spcPts val="1200"/>
              </a:spcAft>
              <a:buNone/>
            </a:pPr>
            <a:r>
              <a:rPr lang="en-US" sz="2400" dirty="0"/>
              <a:t>Newspaper: Several sections (i.e., Headline, Sports, Local, Entertainment, etc.), </a:t>
            </a:r>
          </a:p>
          <a:p>
            <a:pPr marL="0" indent="0">
              <a:spcAft>
                <a:spcPts val="1200"/>
              </a:spcAft>
              <a:buNone/>
            </a:pPr>
            <a:r>
              <a:rPr lang="en-US" sz="2400" dirty="0"/>
              <a:t>Each section has several articles about its topic. </a:t>
            </a:r>
          </a:p>
          <a:p>
            <a:pPr marL="0" indent="0">
              <a:spcAft>
                <a:spcPts val="1200"/>
              </a:spcAft>
              <a:buNone/>
            </a:pPr>
            <a:r>
              <a:rPr lang="en-US" sz="2400" dirty="0"/>
              <a:t>Articles typically include content such as headings/headers, text, images, tables, even (sometimes) asides</a:t>
            </a:r>
          </a:p>
          <a:p>
            <a:pPr marL="0" indent="0">
              <a:spcAft>
                <a:spcPts val="1200"/>
              </a:spcAft>
              <a:buNone/>
            </a:pPr>
            <a:endParaRPr lang="en-US" dirty="0"/>
          </a:p>
        </p:txBody>
      </p:sp>
    </p:spTree>
    <p:extLst>
      <p:ext uri="{BB962C8B-B14F-4D97-AF65-F5344CB8AC3E}">
        <p14:creationId xmlns:p14="http://schemas.microsoft.com/office/powerpoint/2010/main" val="2880637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Nesting Semantic Elements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spcAft>
                <a:spcPts val="1200"/>
              </a:spcAft>
              <a:buNone/>
            </a:pPr>
            <a:r>
              <a:rPr lang="en-US" dirty="0"/>
              <a:t>Newspaper vs. Academic Journal</a:t>
            </a:r>
          </a:p>
          <a:p>
            <a:pPr marL="0" indent="0">
              <a:spcBef>
                <a:spcPts val="0"/>
              </a:spcBef>
              <a:spcAft>
                <a:spcPts val="1200"/>
              </a:spcAft>
              <a:buNone/>
            </a:pPr>
            <a:r>
              <a:rPr lang="en-US" sz="2400" dirty="0"/>
              <a:t>Academic Journal: A single publication with a number of articles about a given area of interest</a:t>
            </a:r>
          </a:p>
          <a:p>
            <a:pPr marL="0" indent="0">
              <a:spcBef>
                <a:spcPts val="0"/>
              </a:spcBef>
              <a:spcAft>
                <a:spcPts val="1200"/>
              </a:spcAft>
              <a:buNone/>
            </a:pPr>
            <a:r>
              <a:rPr lang="en-US" sz="2400" dirty="0"/>
              <a:t>Each article can be (tends to be) rather lengthy</a:t>
            </a:r>
          </a:p>
          <a:p>
            <a:pPr marL="0" indent="0">
              <a:spcBef>
                <a:spcPts val="0"/>
              </a:spcBef>
              <a:spcAft>
                <a:spcPts val="1200"/>
              </a:spcAft>
              <a:buNone/>
            </a:pPr>
            <a:r>
              <a:rPr lang="en-US" sz="2400" dirty="0"/>
              <a:t>Often broken up into sections: Abstract, Introduction, Literature Review, Hypothesis, Methodology, Results, Conclusion, Bibliography</a:t>
            </a:r>
          </a:p>
          <a:p>
            <a:pPr marL="0" indent="0">
              <a:spcBef>
                <a:spcPts val="0"/>
              </a:spcBef>
              <a:spcAft>
                <a:spcPts val="1200"/>
              </a:spcAft>
              <a:buNone/>
            </a:pPr>
            <a:r>
              <a:rPr lang="en-US" sz="2400"/>
              <a:t>Each article </a:t>
            </a:r>
            <a:r>
              <a:rPr lang="en-US" sz="2400" dirty="0"/>
              <a:t>includes text (content), images, tables, figures, lists, etc.</a:t>
            </a:r>
          </a:p>
          <a:p>
            <a:pPr marL="0" indent="0">
              <a:spcAft>
                <a:spcPts val="1200"/>
              </a:spcAft>
              <a:buNone/>
            </a:pPr>
            <a:endParaRPr lang="en-US" dirty="0"/>
          </a:p>
        </p:txBody>
      </p:sp>
    </p:spTree>
    <p:extLst>
      <p:ext uri="{BB962C8B-B14F-4D97-AF65-F5344CB8AC3E}">
        <p14:creationId xmlns:p14="http://schemas.microsoft.com/office/powerpoint/2010/main" val="3796483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p:cNvGrpSpPr/>
          <p:nvPr/>
        </p:nvGrpSpPr>
        <p:grpSpPr>
          <a:xfrm>
            <a:off x="700409" y="690566"/>
            <a:ext cx="6089072" cy="4571130"/>
            <a:chOff x="135082" y="104779"/>
            <a:chExt cx="6089072" cy="4571130"/>
          </a:xfrm>
        </p:grpSpPr>
        <p:sp>
          <p:nvSpPr>
            <p:cNvPr id="2" name="Rectangle 1"/>
            <p:cNvSpPr/>
            <p:nvPr/>
          </p:nvSpPr>
          <p:spPr>
            <a:xfrm>
              <a:off x="135082" y="104779"/>
              <a:ext cx="6089072" cy="45711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&lt;body&gt;</a:t>
              </a:r>
            </a:p>
          </p:txBody>
        </p:sp>
        <p:sp>
          <p:nvSpPr>
            <p:cNvPr id="3" name="Rectangle 2"/>
            <p:cNvSpPr/>
            <p:nvPr/>
          </p:nvSpPr>
          <p:spPr>
            <a:xfrm>
              <a:off x="267657" y="406116"/>
              <a:ext cx="5880738"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&lt;header&gt;		(Page Header)</a:t>
              </a:r>
            </a:p>
          </p:txBody>
        </p:sp>
        <p:sp>
          <p:nvSpPr>
            <p:cNvPr id="4" name="Rectangle 3"/>
            <p:cNvSpPr/>
            <p:nvPr/>
          </p:nvSpPr>
          <p:spPr>
            <a:xfrm>
              <a:off x="267657" y="1247781"/>
              <a:ext cx="4337163" cy="27882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&lt;section&gt;</a:t>
              </a:r>
            </a:p>
          </p:txBody>
        </p:sp>
        <p:sp>
          <p:nvSpPr>
            <p:cNvPr id="5" name="Rectangle 4"/>
            <p:cNvSpPr/>
            <p:nvPr/>
          </p:nvSpPr>
          <p:spPr>
            <a:xfrm>
              <a:off x="387609" y="1625319"/>
              <a:ext cx="4037286" cy="2978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857250"/>
              <a:r>
                <a:rPr lang="en-US" sz="1600" dirty="0">
                  <a:solidFill>
                    <a:schemeClr val="tx1"/>
                  </a:solidFill>
                </a:rPr>
                <a:t>&lt;header&gt;		(Article Header)</a:t>
              </a:r>
            </a:p>
          </p:txBody>
        </p:sp>
        <p:sp>
          <p:nvSpPr>
            <p:cNvPr id="6" name="Rectangle 5"/>
            <p:cNvSpPr/>
            <p:nvPr/>
          </p:nvSpPr>
          <p:spPr>
            <a:xfrm>
              <a:off x="387609" y="2002854"/>
              <a:ext cx="4037286" cy="678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&lt;article&gt;</a:t>
              </a:r>
            </a:p>
          </p:txBody>
        </p:sp>
        <p:sp>
          <p:nvSpPr>
            <p:cNvPr id="11" name="Rectangle 10"/>
            <p:cNvSpPr/>
            <p:nvPr/>
          </p:nvSpPr>
          <p:spPr>
            <a:xfrm>
              <a:off x="267657" y="4223044"/>
              <a:ext cx="5880738" cy="3151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&lt;footer&gt;		(Page Footer)</a:t>
              </a:r>
            </a:p>
          </p:txBody>
        </p:sp>
        <p:sp>
          <p:nvSpPr>
            <p:cNvPr id="12" name="Rectangle 11"/>
            <p:cNvSpPr/>
            <p:nvPr/>
          </p:nvSpPr>
          <p:spPr>
            <a:xfrm>
              <a:off x="4661637" y="1247781"/>
              <a:ext cx="1486758" cy="27882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&lt;aside&gt;</a:t>
              </a:r>
            </a:p>
          </p:txBody>
        </p:sp>
        <p:sp>
          <p:nvSpPr>
            <p:cNvPr id="13" name="Rectangle 12"/>
            <p:cNvSpPr/>
            <p:nvPr/>
          </p:nvSpPr>
          <p:spPr>
            <a:xfrm>
              <a:off x="267657" y="863313"/>
              <a:ext cx="5880738" cy="2770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t>
              </a:r>
              <a:r>
                <a:rPr lang="en-US" sz="1600" dirty="0" err="1">
                  <a:solidFill>
                    <a:schemeClr val="tx1"/>
                  </a:solidFill>
                </a:rPr>
                <a:t>nav</a:t>
              </a:r>
              <a:r>
                <a:rPr lang="en-US" sz="1600" dirty="0">
                  <a:solidFill>
                    <a:schemeClr val="tx1"/>
                  </a:solidFill>
                </a:rPr>
                <a:t>&gt;    		(Main Navigation)</a:t>
              </a:r>
            </a:p>
          </p:txBody>
        </p:sp>
        <p:sp>
          <p:nvSpPr>
            <p:cNvPr id="15" name="Rectangle 14"/>
            <p:cNvSpPr/>
            <p:nvPr/>
          </p:nvSpPr>
          <p:spPr>
            <a:xfrm>
              <a:off x="379716" y="2789100"/>
              <a:ext cx="4037286" cy="2978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857250"/>
              <a:r>
                <a:rPr lang="en-US" sz="1600" dirty="0">
                  <a:solidFill>
                    <a:schemeClr val="tx1"/>
                  </a:solidFill>
                </a:rPr>
                <a:t>&lt;header&gt;		(Article Header)</a:t>
              </a:r>
            </a:p>
          </p:txBody>
        </p:sp>
        <p:sp>
          <p:nvSpPr>
            <p:cNvPr id="16" name="Rectangle 15"/>
            <p:cNvSpPr/>
            <p:nvPr/>
          </p:nvSpPr>
          <p:spPr>
            <a:xfrm>
              <a:off x="379716" y="3166635"/>
              <a:ext cx="4037286" cy="678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&lt;article&gt;</a:t>
              </a:r>
            </a:p>
          </p:txBody>
        </p:sp>
      </p:grpSp>
      <p:grpSp>
        <p:nvGrpSpPr>
          <p:cNvPr id="24" name="Group 23"/>
          <p:cNvGrpSpPr/>
          <p:nvPr/>
        </p:nvGrpSpPr>
        <p:grpSpPr>
          <a:xfrm>
            <a:off x="7526482" y="863313"/>
            <a:ext cx="4429991" cy="4225637"/>
            <a:chOff x="335972" y="1042554"/>
            <a:chExt cx="4429991" cy="4225637"/>
          </a:xfrm>
        </p:grpSpPr>
        <p:sp>
          <p:nvSpPr>
            <p:cNvPr id="17" name="Rectangle 16"/>
            <p:cNvSpPr/>
            <p:nvPr/>
          </p:nvSpPr>
          <p:spPr>
            <a:xfrm>
              <a:off x="335972" y="1042554"/>
              <a:ext cx="4429991" cy="42256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&lt;article&gt;</a:t>
              </a:r>
            </a:p>
          </p:txBody>
        </p:sp>
        <p:sp>
          <p:nvSpPr>
            <p:cNvPr id="18" name="Rectangle 17"/>
            <p:cNvSpPr/>
            <p:nvPr/>
          </p:nvSpPr>
          <p:spPr>
            <a:xfrm>
              <a:off x="405245" y="1368140"/>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&lt;header&gt;		(Article Header)</a:t>
              </a:r>
            </a:p>
          </p:txBody>
        </p:sp>
        <p:sp>
          <p:nvSpPr>
            <p:cNvPr id="19" name="Rectangle 18"/>
            <p:cNvSpPr/>
            <p:nvPr/>
          </p:nvSpPr>
          <p:spPr>
            <a:xfrm>
              <a:off x="420830" y="1885957"/>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&lt;h1&gt;		(Heading)</a:t>
              </a:r>
            </a:p>
          </p:txBody>
        </p:sp>
        <p:sp>
          <p:nvSpPr>
            <p:cNvPr id="20" name="Rectangle 19"/>
            <p:cNvSpPr/>
            <p:nvPr/>
          </p:nvSpPr>
          <p:spPr>
            <a:xfrm>
              <a:off x="420829" y="2382983"/>
              <a:ext cx="4260273" cy="8243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&lt;p&gt;		(Article Content)</a:t>
              </a:r>
            </a:p>
          </p:txBody>
        </p:sp>
        <p:sp>
          <p:nvSpPr>
            <p:cNvPr id="21" name="Rectangle 20"/>
            <p:cNvSpPr/>
            <p:nvPr/>
          </p:nvSpPr>
          <p:spPr>
            <a:xfrm>
              <a:off x="420829" y="3354539"/>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&lt;h1&gt;		(Heading)</a:t>
              </a:r>
            </a:p>
          </p:txBody>
        </p:sp>
        <p:sp>
          <p:nvSpPr>
            <p:cNvPr id="22" name="Rectangle 21"/>
            <p:cNvSpPr/>
            <p:nvPr/>
          </p:nvSpPr>
          <p:spPr>
            <a:xfrm>
              <a:off x="420828" y="3851565"/>
              <a:ext cx="4260273" cy="8243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&lt;p&gt;		(Article Content)</a:t>
              </a:r>
            </a:p>
          </p:txBody>
        </p:sp>
        <p:sp>
          <p:nvSpPr>
            <p:cNvPr id="23" name="Rectangle 22"/>
            <p:cNvSpPr/>
            <p:nvPr/>
          </p:nvSpPr>
          <p:spPr>
            <a:xfrm>
              <a:off x="420828" y="4765102"/>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&lt;footer&gt;		(Article Footer)</a:t>
              </a:r>
            </a:p>
          </p:txBody>
        </p:sp>
      </p:grpSp>
      <p:sp>
        <p:nvSpPr>
          <p:cNvPr id="27" name="TextBox 26"/>
          <p:cNvSpPr txBox="1"/>
          <p:nvPr/>
        </p:nvSpPr>
        <p:spPr>
          <a:xfrm>
            <a:off x="0" y="1445561"/>
            <a:ext cx="615553" cy="2226763"/>
          </a:xfrm>
          <a:prstGeom prst="rect">
            <a:avLst/>
          </a:prstGeom>
          <a:noFill/>
        </p:spPr>
        <p:txBody>
          <a:bodyPr vert="vert270" wrap="none" rtlCol="0">
            <a:spAutoFit/>
          </a:bodyPr>
          <a:lstStyle/>
          <a:p>
            <a:r>
              <a:rPr lang="en-US" sz="2800" dirty="0"/>
              <a:t>One Possibility</a:t>
            </a:r>
          </a:p>
        </p:txBody>
      </p:sp>
      <p:cxnSp>
        <p:nvCxnSpPr>
          <p:cNvPr id="30" name="Straight Arrow Connector 29"/>
          <p:cNvCxnSpPr/>
          <p:nvPr/>
        </p:nvCxnSpPr>
        <p:spPr>
          <a:xfrm flipV="1">
            <a:off x="4990222" y="863313"/>
            <a:ext cx="2536260" cy="172532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82329" y="3267513"/>
            <a:ext cx="2528565" cy="181018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1709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left)">
                                      <p:cBhvr>
                                        <p:cTn id="16" dur="500"/>
                                        <p:tgtEl>
                                          <p:spTgt spid="31"/>
                                        </p:tgtEl>
                                      </p:cBhvr>
                                    </p:animEffect>
                                  </p:childTnLst>
                                </p:cTn>
                              </p:par>
                              <p:par>
                                <p:cTn id="17" presetID="22" presetClass="entr" presetSubtype="8"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500"/>
                                        <p:tgtEl>
                                          <p:spTgt spid="30"/>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p:cNvGrpSpPr/>
          <p:nvPr/>
        </p:nvGrpSpPr>
        <p:grpSpPr>
          <a:xfrm>
            <a:off x="700409" y="690566"/>
            <a:ext cx="6089072" cy="4571130"/>
            <a:chOff x="135082" y="104779"/>
            <a:chExt cx="6089072" cy="4571130"/>
          </a:xfrm>
        </p:grpSpPr>
        <p:sp>
          <p:nvSpPr>
            <p:cNvPr id="2" name="Rectangle 1"/>
            <p:cNvSpPr/>
            <p:nvPr/>
          </p:nvSpPr>
          <p:spPr>
            <a:xfrm>
              <a:off x="135082" y="104779"/>
              <a:ext cx="6089072" cy="45711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&lt;body&gt;</a:t>
              </a:r>
            </a:p>
          </p:txBody>
        </p:sp>
        <p:sp>
          <p:nvSpPr>
            <p:cNvPr id="3" name="Rectangle 2"/>
            <p:cNvSpPr/>
            <p:nvPr/>
          </p:nvSpPr>
          <p:spPr>
            <a:xfrm>
              <a:off x="267657" y="406116"/>
              <a:ext cx="5880738"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&lt;header&gt;		(Page Header)</a:t>
              </a:r>
            </a:p>
          </p:txBody>
        </p:sp>
        <p:sp>
          <p:nvSpPr>
            <p:cNvPr id="4" name="Rectangle 3"/>
            <p:cNvSpPr/>
            <p:nvPr/>
          </p:nvSpPr>
          <p:spPr>
            <a:xfrm>
              <a:off x="267657" y="1247781"/>
              <a:ext cx="4337163" cy="27882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&lt;article&gt;</a:t>
              </a:r>
            </a:p>
          </p:txBody>
        </p:sp>
        <p:sp>
          <p:nvSpPr>
            <p:cNvPr id="5" name="Rectangle 4"/>
            <p:cNvSpPr/>
            <p:nvPr/>
          </p:nvSpPr>
          <p:spPr>
            <a:xfrm>
              <a:off x="387609" y="1625319"/>
              <a:ext cx="4037286" cy="2978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857250"/>
              <a:r>
                <a:rPr lang="en-US" sz="1600" dirty="0">
                  <a:solidFill>
                    <a:schemeClr val="tx1"/>
                  </a:solidFill>
                </a:rPr>
                <a:t>&lt;header&gt;		(Section Header)</a:t>
              </a:r>
            </a:p>
          </p:txBody>
        </p:sp>
        <p:sp>
          <p:nvSpPr>
            <p:cNvPr id="6" name="Rectangle 5"/>
            <p:cNvSpPr/>
            <p:nvPr/>
          </p:nvSpPr>
          <p:spPr>
            <a:xfrm>
              <a:off x="387609" y="2002854"/>
              <a:ext cx="4037286" cy="678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&lt;section&gt;</a:t>
              </a:r>
            </a:p>
          </p:txBody>
        </p:sp>
        <p:sp>
          <p:nvSpPr>
            <p:cNvPr id="11" name="Rectangle 10"/>
            <p:cNvSpPr/>
            <p:nvPr/>
          </p:nvSpPr>
          <p:spPr>
            <a:xfrm>
              <a:off x="267657" y="4223044"/>
              <a:ext cx="5880738" cy="3151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&lt;footer&gt;		(Page Footer)</a:t>
              </a:r>
            </a:p>
          </p:txBody>
        </p:sp>
        <p:sp>
          <p:nvSpPr>
            <p:cNvPr id="12" name="Rectangle 11"/>
            <p:cNvSpPr/>
            <p:nvPr/>
          </p:nvSpPr>
          <p:spPr>
            <a:xfrm>
              <a:off x="4661637" y="1247781"/>
              <a:ext cx="1486758" cy="27882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&lt;aside&gt;</a:t>
              </a:r>
            </a:p>
          </p:txBody>
        </p:sp>
        <p:sp>
          <p:nvSpPr>
            <p:cNvPr id="13" name="Rectangle 12"/>
            <p:cNvSpPr/>
            <p:nvPr/>
          </p:nvSpPr>
          <p:spPr>
            <a:xfrm>
              <a:off x="267657" y="863313"/>
              <a:ext cx="5880738" cy="2770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a:t>
              </a:r>
              <a:r>
                <a:rPr lang="en-US" sz="1600" dirty="0" err="1">
                  <a:solidFill>
                    <a:schemeClr val="tx1"/>
                  </a:solidFill>
                </a:rPr>
                <a:t>nav</a:t>
              </a:r>
              <a:r>
                <a:rPr lang="en-US" sz="1600" dirty="0">
                  <a:solidFill>
                    <a:schemeClr val="tx1"/>
                  </a:solidFill>
                </a:rPr>
                <a:t>&gt;    		(Main Navigation)</a:t>
              </a:r>
            </a:p>
          </p:txBody>
        </p:sp>
        <p:sp>
          <p:nvSpPr>
            <p:cNvPr id="15" name="Rectangle 14"/>
            <p:cNvSpPr/>
            <p:nvPr/>
          </p:nvSpPr>
          <p:spPr>
            <a:xfrm>
              <a:off x="379716" y="2789100"/>
              <a:ext cx="4037286" cy="29787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857250"/>
              <a:r>
                <a:rPr lang="en-US" sz="1600" dirty="0">
                  <a:solidFill>
                    <a:schemeClr val="tx1"/>
                  </a:solidFill>
                </a:rPr>
                <a:t>&lt;header&gt;		(</a:t>
              </a:r>
              <a:r>
                <a:rPr lang="en-US" sz="1600" dirty="0" err="1">
                  <a:solidFill>
                    <a:schemeClr val="tx1"/>
                  </a:solidFill>
                </a:rPr>
                <a:t>SectionHeader</a:t>
              </a:r>
              <a:r>
                <a:rPr lang="en-US" sz="1600" dirty="0">
                  <a:solidFill>
                    <a:schemeClr val="tx1"/>
                  </a:solidFill>
                </a:rPr>
                <a:t>)</a:t>
              </a:r>
            </a:p>
          </p:txBody>
        </p:sp>
        <p:sp>
          <p:nvSpPr>
            <p:cNvPr id="16" name="Rectangle 15"/>
            <p:cNvSpPr/>
            <p:nvPr/>
          </p:nvSpPr>
          <p:spPr>
            <a:xfrm>
              <a:off x="379716" y="3166635"/>
              <a:ext cx="4037286" cy="678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&lt;section&gt;</a:t>
              </a:r>
            </a:p>
          </p:txBody>
        </p:sp>
      </p:grpSp>
      <p:grpSp>
        <p:nvGrpSpPr>
          <p:cNvPr id="24" name="Group 23"/>
          <p:cNvGrpSpPr/>
          <p:nvPr/>
        </p:nvGrpSpPr>
        <p:grpSpPr>
          <a:xfrm>
            <a:off x="7526482" y="863313"/>
            <a:ext cx="4429991" cy="4225637"/>
            <a:chOff x="335972" y="1042554"/>
            <a:chExt cx="4429991" cy="4225637"/>
          </a:xfrm>
        </p:grpSpPr>
        <p:sp>
          <p:nvSpPr>
            <p:cNvPr id="17" name="Rectangle 16"/>
            <p:cNvSpPr/>
            <p:nvPr/>
          </p:nvSpPr>
          <p:spPr>
            <a:xfrm>
              <a:off x="335972" y="1042554"/>
              <a:ext cx="4429991" cy="42256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&lt;section&gt;</a:t>
              </a:r>
            </a:p>
          </p:txBody>
        </p:sp>
        <p:sp>
          <p:nvSpPr>
            <p:cNvPr id="18" name="Rectangle 17"/>
            <p:cNvSpPr/>
            <p:nvPr/>
          </p:nvSpPr>
          <p:spPr>
            <a:xfrm>
              <a:off x="405245" y="1368140"/>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&lt;header&gt;		(Section Header)</a:t>
              </a:r>
            </a:p>
          </p:txBody>
        </p:sp>
        <p:sp>
          <p:nvSpPr>
            <p:cNvPr id="19" name="Rectangle 18"/>
            <p:cNvSpPr/>
            <p:nvPr/>
          </p:nvSpPr>
          <p:spPr>
            <a:xfrm>
              <a:off x="420830" y="1885957"/>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&lt;h1&gt;		(Heading)</a:t>
              </a:r>
            </a:p>
          </p:txBody>
        </p:sp>
        <p:sp>
          <p:nvSpPr>
            <p:cNvPr id="20" name="Rectangle 19"/>
            <p:cNvSpPr/>
            <p:nvPr/>
          </p:nvSpPr>
          <p:spPr>
            <a:xfrm>
              <a:off x="420829" y="2382983"/>
              <a:ext cx="4260273" cy="8243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&lt;p&gt;		(Section Content)</a:t>
              </a:r>
            </a:p>
          </p:txBody>
        </p:sp>
        <p:sp>
          <p:nvSpPr>
            <p:cNvPr id="21" name="Rectangle 20"/>
            <p:cNvSpPr/>
            <p:nvPr/>
          </p:nvSpPr>
          <p:spPr>
            <a:xfrm>
              <a:off x="420829" y="3354539"/>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&lt;h1&gt;		(Heading)</a:t>
              </a:r>
            </a:p>
          </p:txBody>
        </p:sp>
        <p:sp>
          <p:nvSpPr>
            <p:cNvPr id="22" name="Rectangle 21"/>
            <p:cNvSpPr/>
            <p:nvPr/>
          </p:nvSpPr>
          <p:spPr>
            <a:xfrm>
              <a:off x="420828" y="3851565"/>
              <a:ext cx="4260273" cy="82434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&lt;p&gt;		(Section Content)</a:t>
              </a:r>
            </a:p>
          </p:txBody>
        </p:sp>
        <p:sp>
          <p:nvSpPr>
            <p:cNvPr id="23" name="Rectangle 22"/>
            <p:cNvSpPr/>
            <p:nvPr/>
          </p:nvSpPr>
          <p:spPr>
            <a:xfrm>
              <a:off x="420828" y="4765102"/>
              <a:ext cx="4260273" cy="3844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dirty="0">
                  <a:solidFill>
                    <a:schemeClr val="tx1"/>
                  </a:solidFill>
                </a:rPr>
                <a:t>&lt;footer&gt;		(Section Footer)</a:t>
              </a:r>
            </a:p>
          </p:txBody>
        </p:sp>
      </p:grpSp>
      <p:sp>
        <p:nvSpPr>
          <p:cNvPr id="27" name="TextBox 26"/>
          <p:cNvSpPr txBox="1"/>
          <p:nvPr/>
        </p:nvSpPr>
        <p:spPr>
          <a:xfrm>
            <a:off x="-2704" y="1205176"/>
            <a:ext cx="615553" cy="2821478"/>
          </a:xfrm>
          <a:prstGeom prst="rect">
            <a:avLst/>
          </a:prstGeom>
          <a:noFill/>
        </p:spPr>
        <p:txBody>
          <a:bodyPr vert="vert270" wrap="none" rtlCol="0">
            <a:spAutoFit/>
          </a:bodyPr>
          <a:lstStyle/>
          <a:p>
            <a:r>
              <a:rPr lang="en-US" sz="2800" dirty="0"/>
              <a:t>Another Possibility</a:t>
            </a:r>
          </a:p>
        </p:txBody>
      </p:sp>
      <p:cxnSp>
        <p:nvCxnSpPr>
          <p:cNvPr id="30" name="Straight Arrow Connector 29"/>
          <p:cNvCxnSpPr/>
          <p:nvPr/>
        </p:nvCxnSpPr>
        <p:spPr>
          <a:xfrm flipV="1">
            <a:off x="4990222" y="863313"/>
            <a:ext cx="2536260" cy="172532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982329" y="3267513"/>
            <a:ext cx="2528565" cy="181018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8915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left)">
                                      <p:cBhvr>
                                        <p:cTn id="16" dur="500"/>
                                        <p:tgtEl>
                                          <p:spTgt spid="31"/>
                                        </p:tgtEl>
                                      </p:cBhvr>
                                    </p:animEffect>
                                  </p:childTnLst>
                                </p:cTn>
                              </p:par>
                              <p:par>
                                <p:cTn id="17" presetID="22" presetClass="entr" presetSubtype="8"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500"/>
                                        <p:tgtEl>
                                          <p:spTgt spid="30"/>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Semantic HTML5 Elements?</a:t>
            </a:r>
          </a:p>
        </p:txBody>
      </p:sp>
      <p:sp>
        <p:nvSpPr>
          <p:cNvPr id="3" name="Content Placeholder 2"/>
          <p:cNvSpPr>
            <a:spLocks noGrp="1"/>
          </p:cNvSpPr>
          <p:nvPr>
            <p:ph idx="1"/>
          </p:nvPr>
        </p:nvSpPr>
        <p:spPr>
          <a:xfrm>
            <a:off x="838200" y="1690688"/>
            <a:ext cx="10515600" cy="4351338"/>
          </a:xfrm>
        </p:spPr>
        <p:txBody>
          <a:bodyPr>
            <a:normAutofit/>
          </a:bodyPr>
          <a:lstStyle/>
          <a:p>
            <a:pPr marL="0" indent="0">
              <a:spcAft>
                <a:spcPts val="600"/>
              </a:spcAft>
              <a:buNone/>
            </a:pPr>
            <a:r>
              <a:rPr lang="en-US" dirty="0"/>
              <a:t>With HTML4, developers used their own favorite attribute names to style page elements:</a:t>
            </a:r>
          </a:p>
          <a:p>
            <a:pPr marL="457200" lvl="1" indent="0">
              <a:spcAft>
                <a:spcPts val="600"/>
              </a:spcAft>
              <a:buNone/>
            </a:pPr>
            <a:r>
              <a:rPr lang="en-US" dirty="0"/>
              <a:t>header, top, bottom, footer, menu, navigation, main, container, content, article, sidebar, topnav, ...</a:t>
            </a:r>
          </a:p>
          <a:p>
            <a:pPr marL="0" indent="0">
              <a:spcAft>
                <a:spcPts val="600"/>
              </a:spcAft>
              <a:buNone/>
            </a:pPr>
            <a:r>
              <a:rPr lang="en-US" dirty="0"/>
              <a:t>This made it impossible for search engines to identify the correct web page content</a:t>
            </a:r>
          </a:p>
          <a:p>
            <a:pPr marL="0" indent="0">
              <a:spcAft>
                <a:spcPts val="600"/>
              </a:spcAft>
              <a:buNone/>
            </a:pPr>
            <a:r>
              <a:rPr lang="en-US" dirty="0"/>
              <a:t>With HTML5 elements like: &lt;header&gt; &lt;footer&gt; &lt;nav&gt; &lt;section&gt; &lt;article&gt;, this will become easier</a:t>
            </a:r>
          </a:p>
        </p:txBody>
      </p:sp>
    </p:spTree>
    <p:extLst>
      <p:ext uri="{BB962C8B-B14F-4D97-AF65-F5344CB8AC3E}">
        <p14:creationId xmlns:p14="http://schemas.microsoft.com/office/powerpoint/2010/main" val="513124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Semantic HTML5 Elements?</a:t>
            </a:r>
          </a:p>
        </p:txBody>
      </p:sp>
      <p:sp>
        <p:nvSpPr>
          <p:cNvPr id="3" name="Content Placeholder 2"/>
          <p:cNvSpPr>
            <a:spLocks noGrp="1"/>
          </p:cNvSpPr>
          <p:nvPr>
            <p:ph idx="1"/>
          </p:nvPr>
        </p:nvSpPr>
        <p:spPr>
          <a:xfrm>
            <a:off x="1580880" y="1690688"/>
            <a:ext cx="8260704" cy="3282403"/>
          </a:xfrm>
        </p:spPr>
        <p:txBody>
          <a:bodyPr>
            <a:normAutofit/>
          </a:bodyPr>
          <a:lstStyle/>
          <a:p>
            <a:pPr marL="0" indent="0">
              <a:buNone/>
            </a:pPr>
            <a:r>
              <a:rPr lang="en-US" dirty="0"/>
              <a:t>According to the W3C, a Semantic Web:</a:t>
            </a:r>
          </a:p>
          <a:p>
            <a:pPr marL="0" indent="0">
              <a:buNone/>
            </a:pPr>
            <a:endParaRPr lang="en-US" dirty="0"/>
          </a:p>
          <a:p>
            <a:pPr marL="1260475" indent="0">
              <a:buNone/>
            </a:pPr>
            <a:r>
              <a:rPr lang="en-US" i="1" dirty="0">
                <a:latin typeface="Book Antiqua" panose="02040602050305030304" pitchFamily="18" charset="0"/>
              </a:rPr>
              <a:t>"Allows data to be shared and reused across applications, enterprises, and communities."</a:t>
            </a:r>
          </a:p>
        </p:txBody>
      </p:sp>
    </p:spTree>
    <p:extLst>
      <p:ext uri="{BB962C8B-B14F-4D97-AF65-F5344CB8AC3E}">
        <p14:creationId xmlns:p14="http://schemas.microsoft.com/office/powerpoint/2010/main" val="2918867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Semantic Tags</a:t>
            </a:r>
          </a:p>
        </p:txBody>
      </p:sp>
      <p:sp>
        <p:nvSpPr>
          <p:cNvPr id="3" name="Content Placeholder 2"/>
          <p:cNvSpPr>
            <a:spLocks noGrp="1"/>
          </p:cNvSpPr>
          <p:nvPr>
            <p:ph idx="1"/>
          </p:nvPr>
        </p:nvSpPr>
        <p:spPr>
          <a:xfrm>
            <a:off x="838200" y="1685336"/>
            <a:ext cx="11281023" cy="5172664"/>
          </a:xfrm>
        </p:spPr>
        <p:txBody>
          <a:bodyPr>
            <a:normAutofit/>
          </a:bodyPr>
          <a:lstStyle/>
          <a:p>
            <a:pPr marL="0" indent="0">
              <a:spcAft>
                <a:spcPts val="600"/>
              </a:spcAft>
              <a:buNone/>
            </a:pPr>
            <a:r>
              <a:rPr lang="en-US" dirty="0"/>
              <a:t>IE8 (and below) does not play nice with the new HTML5 elements.  In order to use them you need to:</a:t>
            </a:r>
          </a:p>
          <a:p>
            <a:pPr marL="457200" lvl="1" indent="0">
              <a:spcAft>
                <a:spcPts val="600"/>
              </a:spcAft>
              <a:buNone/>
            </a:pPr>
            <a:r>
              <a:rPr lang="en-US" dirty="0"/>
              <a:t>Download the html5shiv.js (JavaScript file)</a:t>
            </a:r>
          </a:p>
          <a:p>
            <a:pPr marL="914400" lvl="2" indent="0">
              <a:spcAft>
                <a:spcPts val="600"/>
              </a:spcAft>
              <a:buNone/>
            </a:pPr>
            <a:r>
              <a:rPr lang="en-US" dirty="0"/>
              <a:t>http://code.google.com/p/html5shiv/</a:t>
            </a:r>
          </a:p>
          <a:p>
            <a:pPr marL="457200" lvl="1" indent="0">
              <a:spcAft>
                <a:spcPts val="600"/>
              </a:spcAft>
              <a:buNone/>
            </a:pPr>
            <a:r>
              <a:rPr lang="en-US" dirty="0"/>
              <a:t>Add the following lines of code to the&lt;head&gt; element:</a:t>
            </a:r>
          </a:p>
          <a:p>
            <a:pPr marL="3657600" lvl="8" indent="0">
              <a:spcAft>
                <a:spcPts val="600"/>
              </a:spcAft>
              <a:buNone/>
            </a:pPr>
            <a:r>
              <a:rPr lang="en-US" sz="800" dirty="0"/>
              <a:t> </a:t>
            </a:r>
            <a:br>
              <a:rPr lang="en-US" dirty="0"/>
            </a:br>
            <a:r>
              <a:rPr lang="en-US" sz="2800" dirty="0">
                <a:solidFill>
                  <a:schemeClr val="accent6"/>
                </a:solidFill>
              </a:rPr>
              <a:t>&lt;!--[if lt IE 9]&gt;</a:t>
            </a:r>
            <a:br>
              <a:rPr lang="en-US" sz="2800" dirty="0">
                <a:solidFill>
                  <a:schemeClr val="accent6"/>
                </a:solidFill>
              </a:rPr>
            </a:br>
            <a:r>
              <a:rPr lang="en-US" sz="2800" dirty="0">
                <a:solidFill>
                  <a:schemeClr val="accent6"/>
                </a:solidFill>
              </a:rPr>
              <a:t>     &lt;script src="html5shiv.js"&gt;&lt;/script&gt;</a:t>
            </a:r>
            <a:br>
              <a:rPr lang="en-US" sz="2800" dirty="0">
                <a:solidFill>
                  <a:schemeClr val="accent6"/>
                </a:solidFill>
              </a:rPr>
            </a:br>
            <a:r>
              <a:rPr lang="en-US" sz="2800" dirty="0">
                <a:solidFill>
                  <a:schemeClr val="accent6"/>
                </a:solidFill>
              </a:rPr>
              <a:t>&lt;![endif]--&gt;</a:t>
            </a:r>
          </a:p>
        </p:txBody>
      </p:sp>
    </p:spTree>
    <p:extLst>
      <p:ext uri="{BB962C8B-B14F-4D97-AF65-F5344CB8AC3E}">
        <p14:creationId xmlns:p14="http://schemas.microsoft.com/office/powerpoint/2010/main" val="4244344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Semantic Tags</a:t>
            </a:r>
          </a:p>
        </p:txBody>
      </p:sp>
      <p:sp>
        <p:nvSpPr>
          <p:cNvPr id="5" name="TextBox 4"/>
          <p:cNvSpPr txBox="1"/>
          <p:nvPr/>
        </p:nvSpPr>
        <p:spPr>
          <a:xfrm>
            <a:off x="291446" y="4580542"/>
            <a:ext cx="11280775" cy="707886"/>
          </a:xfrm>
          <a:prstGeom prst="rect">
            <a:avLst/>
          </a:prstGeom>
          <a:noFill/>
        </p:spPr>
        <p:txBody>
          <a:bodyPr wrap="square" rtlCol="0">
            <a:spAutoFit/>
          </a:bodyPr>
          <a:lstStyle/>
          <a:p>
            <a:r>
              <a:rPr lang="en-US" sz="2000" dirty="0"/>
              <a:t>* From Bootstrap Framework head element. Enables use of the shiv without having to download it – cdn=Content Delivery Network</a:t>
            </a:r>
          </a:p>
        </p:txBody>
      </p:sp>
      <p:pic>
        <p:nvPicPr>
          <p:cNvPr id="8" name="Picture 7">
            <a:extLst>
              <a:ext uri="{FF2B5EF4-FFF2-40B4-BE49-F238E27FC236}">
                <a16:creationId xmlns:a16="http://schemas.microsoft.com/office/drawing/2014/main" id="{C6A78278-781C-4FEF-89A0-7003AA4E0553}"/>
              </a:ext>
            </a:extLst>
          </p:cNvPr>
          <p:cNvPicPr>
            <a:picLocks noChangeAspect="1"/>
          </p:cNvPicPr>
          <p:nvPr/>
        </p:nvPicPr>
        <p:blipFill>
          <a:blip r:embed="rId2"/>
          <a:stretch>
            <a:fillRect/>
          </a:stretch>
        </p:blipFill>
        <p:spPr>
          <a:xfrm>
            <a:off x="609170" y="1919698"/>
            <a:ext cx="10973659" cy="160282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24516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Semantic Tags</a:t>
            </a:r>
          </a:p>
        </p:txBody>
      </p:sp>
      <p:sp>
        <p:nvSpPr>
          <p:cNvPr id="3" name="Content Placeholder 2"/>
          <p:cNvSpPr>
            <a:spLocks noGrp="1"/>
          </p:cNvSpPr>
          <p:nvPr>
            <p:ph idx="1"/>
          </p:nvPr>
        </p:nvSpPr>
        <p:spPr>
          <a:xfrm>
            <a:off x="838200" y="1685336"/>
            <a:ext cx="11281023" cy="5172664"/>
          </a:xfrm>
        </p:spPr>
        <p:txBody>
          <a:bodyPr>
            <a:normAutofit/>
          </a:bodyPr>
          <a:lstStyle/>
          <a:p>
            <a:pPr marL="0" indent="0">
              <a:buNone/>
            </a:pPr>
            <a:r>
              <a:rPr lang="en-US" dirty="0"/>
              <a:t>Older browsers may not recognize the new elements as block level container elements. Will need to add the following to your CSS:</a:t>
            </a:r>
          </a:p>
          <a:p>
            <a:endParaRPr lang="en-US" dirty="0"/>
          </a:p>
          <a:p>
            <a:pPr marL="2116138" indent="0">
              <a:buNone/>
            </a:pPr>
            <a:r>
              <a:rPr lang="en-US" dirty="0"/>
              <a:t>header, section, footer, aside, nav, article { </a:t>
            </a:r>
            <a:br>
              <a:rPr lang="en-US" dirty="0"/>
            </a:br>
            <a:r>
              <a:rPr lang="en-US" dirty="0"/>
              <a:t>		display: block; </a:t>
            </a:r>
            <a:br>
              <a:rPr lang="en-US" dirty="0"/>
            </a:br>
            <a:r>
              <a:rPr lang="en-US" dirty="0"/>
              <a:t>}</a:t>
            </a:r>
          </a:p>
        </p:txBody>
      </p:sp>
    </p:spTree>
    <p:extLst>
      <p:ext uri="{BB962C8B-B14F-4D97-AF65-F5344CB8AC3E}">
        <p14:creationId xmlns:p14="http://schemas.microsoft.com/office/powerpoint/2010/main" val="2563512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Semantic Tags</a:t>
            </a:r>
          </a:p>
        </p:txBody>
      </p:sp>
      <p:sp>
        <p:nvSpPr>
          <p:cNvPr id="5" name="TextBox 4"/>
          <p:cNvSpPr txBox="1"/>
          <p:nvPr/>
        </p:nvSpPr>
        <p:spPr>
          <a:xfrm>
            <a:off x="1224717" y="4837813"/>
            <a:ext cx="5232971" cy="523220"/>
          </a:xfrm>
          <a:prstGeom prst="rect">
            <a:avLst/>
          </a:prstGeom>
          <a:noFill/>
        </p:spPr>
        <p:txBody>
          <a:bodyPr wrap="none" rtlCol="0">
            <a:spAutoFit/>
          </a:bodyPr>
          <a:lstStyle/>
          <a:p>
            <a:r>
              <a:rPr lang="en-US" sz="2800" dirty="0"/>
              <a:t>* From the Bootstrap main CSS file</a:t>
            </a:r>
          </a:p>
        </p:txBody>
      </p:sp>
      <p:pic>
        <p:nvPicPr>
          <p:cNvPr id="8" name="Content Placeholder 7">
            <a:extLst>
              <a:ext uri="{FF2B5EF4-FFF2-40B4-BE49-F238E27FC236}">
                <a16:creationId xmlns:a16="http://schemas.microsoft.com/office/drawing/2014/main" id="{C64EADA2-8CE2-4DD3-B900-748E3CD26EE7}"/>
              </a:ext>
            </a:extLst>
          </p:cNvPr>
          <p:cNvPicPr>
            <a:picLocks noGrp="1" noChangeAspect="1"/>
          </p:cNvPicPr>
          <p:nvPr>
            <p:ph idx="1"/>
          </p:nvPr>
        </p:nvPicPr>
        <p:blipFill>
          <a:blip r:embed="rId2"/>
          <a:stretch>
            <a:fillRect/>
          </a:stretch>
        </p:blipFill>
        <p:spPr>
          <a:xfrm>
            <a:off x="7797209" y="141047"/>
            <a:ext cx="3079898" cy="5779135"/>
          </a:xfrm>
        </p:spPr>
      </p:pic>
    </p:spTree>
    <p:extLst>
      <p:ext uri="{BB962C8B-B14F-4D97-AF65-F5344CB8AC3E}">
        <p14:creationId xmlns:p14="http://schemas.microsoft.com/office/powerpoint/2010/main" val="3782553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04CAF-655E-F839-74EA-FDA7F4C00567}"/>
              </a:ext>
            </a:extLst>
          </p:cNvPr>
          <p:cNvSpPr>
            <a:spLocks noGrp="1"/>
          </p:cNvSpPr>
          <p:nvPr>
            <p:ph type="title"/>
          </p:nvPr>
        </p:nvSpPr>
        <p:spPr>
          <a:xfrm>
            <a:off x="838200" y="1777999"/>
            <a:ext cx="10515600" cy="1920241"/>
          </a:xfrm>
        </p:spPr>
        <p:txBody>
          <a:bodyPr/>
          <a:lstStyle/>
          <a:p>
            <a:r>
              <a:rPr lang="en-US" dirty="0"/>
              <a:t>Information Architecture &amp; Site Navigation</a:t>
            </a:r>
          </a:p>
        </p:txBody>
      </p:sp>
    </p:spTree>
    <p:extLst>
      <p:ext uri="{BB962C8B-B14F-4D97-AF65-F5344CB8AC3E}">
        <p14:creationId xmlns:p14="http://schemas.microsoft.com/office/powerpoint/2010/main" val="2693561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788" y="274638"/>
            <a:ext cx="11274552" cy="1143000"/>
          </a:xfrm>
        </p:spPr>
        <p:txBody>
          <a:bodyPr vert="horz" lIns="0" tIns="45720" rIns="10" bIns="45720" rtlCol="0" anchor="ctr">
            <a:noAutofit/>
          </a:bodyPr>
          <a:lstStyle/>
          <a:p>
            <a:pPr algn="l"/>
            <a:r>
              <a:rPr dirty="0"/>
              <a:t>Information Architecture (IA)</a:t>
            </a:r>
          </a:p>
        </p:txBody>
      </p:sp>
      <p:sp>
        <p:nvSpPr>
          <p:cNvPr id="3" name="Content Placeholder 2"/>
          <p:cNvSpPr>
            <a:spLocks noGrp="1"/>
          </p:cNvSpPr>
          <p:nvPr>
            <p:ph idx="1"/>
          </p:nvPr>
        </p:nvSpPr>
        <p:spPr>
          <a:xfrm>
            <a:off x="1010093" y="1626781"/>
            <a:ext cx="10723247" cy="4956580"/>
          </a:xfrm>
        </p:spPr>
        <p:txBody>
          <a:bodyPr vert="horz" wrap="square" lIns="0" tIns="45720" rIns="10" bIns="45720" rtlCol="0">
            <a:noAutofit/>
          </a:bodyPr>
          <a:lstStyle/>
          <a:p>
            <a:pPr marL="0" indent="0">
              <a:buNone/>
            </a:pPr>
            <a:r>
              <a:rPr b="1" dirty="0"/>
              <a:t>What is IA?</a:t>
            </a:r>
          </a:p>
          <a:p>
            <a:pPr marL="0" indent="0">
              <a:buNone/>
            </a:pPr>
            <a:r>
              <a:rPr i="1" dirty="0">
                <a:solidFill>
                  <a:schemeClr val="accent5">
                    <a:lumMod val="75000"/>
                  </a:schemeClr>
                </a:solidFill>
              </a:rPr>
              <a:t>A design practice that focuses on defining the structure of digital information</a:t>
            </a:r>
            <a:r>
              <a:rPr lang="en-US" i="1" dirty="0">
                <a:solidFill>
                  <a:schemeClr val="accent5">
                    <a:lumMod val="75000"/>
                  </a:schemeClr>
                </a:solidFill>
              </a:rPr>
              <a:t> </a:t>
            </a:r>
            <a:r>
              <a:rPr i="1" dirty="0">
                <a:solidFill>
                  <a:schemeClr val="accent5">
                    <a:lumMod val="75000"/>
                  </a:schemeClr>
                </a:solidFill>
              </a:rPr>
              <a:t>spaces—for example, Web sites, intranets, social-networking communities on the Web, and</a:t>
            </a:r>
            <a:r>
              <a:rPr lang="en-US" i="1" dirty="0">
                <a:solidFill>
                  <a:schemeClr val="accent5">
                    <a:lumMod val="75000"/>
                  </a:schemeClr>
                </a:solidFill>
              </a:rPr>
              <a:t> </a:t>
            </a:r>
            <a:r>
              <a:rPr i="1" dirty="0">
                <a:solidFill>
                  <a:schemeClr val="accent5">
                    <a:lumMod val="75000"/>
                  </a:schemeClr>
                </a:solidFill>
              </a:rPr>
              <a:t>information-rich digital products such as the Web and mobile applications—by organizing</a:t>
            </a:r>
            <a:r>
              <a:rPr lang="en-US" i="1" dirty="0">
                <a:solidFill>
                  <a:schemeClr val="accent5">
                    <a:lumMod val="75000"/>
                  </a:schemeClr>
                </a:solidFill>
              </a:rPr>
              <a:t> </a:t>
            </a:r>
            <a:r>
              <a:rPr i="1" dirty="0">
                <a:solidFill>
                  <a:schemeClr val="accent5">
                    <a:lumMod val="75000"/>
                  </a:schemeClr>
                </a:solidFill>
              </a:rPr>
              <a:t>information and supporting findability and usability through well designed labeling, navigation,</a:t>
            </a:r>
            <a:r>
              <a:rPr lang="en-US" i="1" dirty="0">
                <a:solidFill>
                  <a:schemeClr val="accent5">
                    <a:lumMod val="75000"/>
                  </a:schemeClr>
                </a:solidFill>
              </a:rPr>
              <a:t> </a:t>
            </a:r>
            <a:r>
              <a:rPr i="1" dirty="0">
                <a:solidFill>
                  <a:schemeClr val="accent5">
                    <a:lumMod val="75000"/>
                  </a:schemeClr>
                </a:solidFill>
              </a:rPr>
              <a:t>and search systems.</a:t>
            </a:r>
          </a:p>
          <a:p>
            <a:pPr marL="0" indent="0">
              <a:buNone/>
            </a:pPr>
            <a:r>
              <a:rPr sz="1600" dirty="0"/>
              <a:t>Gabriel-Petit, P. (2025). Chapter 1: What is Information Architecture?. In </a:t>
            </a:r>
            <a:r>
              <a:rPr sz="1600" i="1" dirty="0"/>
              <a:t>Designing Information Architecture</a:t>
            </a:r>
            <a:r>
              <a:rPr lang="en-US" sz="1600" dirty="0"/>
              <a:t>. </a:t>
            </a:r>
            <a:r>
              <a:rPr sz="1600" dirty="0" err="1"/>
              <a:t>Packt</a:t>
            </a:r>
            <a:r>
              <a:rPr sz="1600" dirty="0"/>
              <a:t> Publishing.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EB258-24C2-7F05-4670-99DEFD209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6519E-67FB-0AA5-3D31-5D25237DEFC8}"/>
              </a:ext>
            </a:extLst>
          </p:cNvPr>
          <p:cNvSpPr>
            <a:spLocks noGrp="1"/>
          </p:cNvSpPr>
          <p:nvPr>
            <p:ph type="title"/>
          </p:nvPr>
        </p:nvSpPr>
        <p:spPr>
          <a:xfrm>
            <a:off x="458788" y="274638"/>
            <a:ext cx="11274552" cy="1143000"/>
          </a:xfrm>
        </p:spPr>
        <p:txBody>
          <a:bodyPr vert="horz" lIns="0" tIns="45720" rIns="10" bIns="45720" rtlCol="0" anchor="ctr">
            <a:noAutofit/>
          </a:bodyPr>
          <a:lstStyle/>
          <a:p>
            <a:pPr algn="l"/>
            <a:r>
              <a:rPr dirty="0"/>
              <a:t>Information Architecture (IA)</a:t>
            </a:r>
          </a:p>
        </p:txBody>
      </p:sp>
      <p:sp>
        <p:nvSpPr>
          <p:cNvPr id="3" name="Content Placeholder 2">
            <a:extLst>
              <a:ext uri="{FF2B5EF4-FFF2-40B4-BE49-F238E27FC236}">
                <a16:creationId xmlns:a16="http://schemas.microsoft.com/office/drawing/2014/main" id="{F10C2E73-3D04-8A30-EB18-4BBA77CD00C5}"/>
              </a:ext>
            </a:extLst>
          </p:cNvPr>
          <p:cNvSpPr>
            <a:spLocks noGrp="1"/>
          </p:cNvSpPr>
          <p:nvPr>
            <p:ph idx="1"/>
          </p:nvPr>
        </p:nvSpPr>
        <p:spPr>
          <a:xfrm>
            <a:off x="1010093" y="1626781"/>
            <a:ext cx="10723247" cy="4956580"/>
          </a:xfrm>
        </p:spPr>
        <p:txBody>
          <a:bodyPr vert="horz" wrap="square" lIns="0" tIns="45720" rIns="10" bIns="45720" rtlCol="0">
            <a:noAutofit/>
          </a:bodyPr>
          <a:lstStyle/>
          <a:p>
            <a:pPr marL="0" indent="0">
              <a:buNone/>
            </a:pPr>
            <a:r>
              <a:rPr lang="en-US" b="1" dirty="0"/>
              <a:t>Why Is IA?</a:t>
            </a:r>
          </a:p>
          <a:p>
            <a:pPr marL="0" indent="0">
              <a:buNone/>
            </a:pPr>
            <a:r>
              <a:rPr lang="en-US" sz="2900" dirty="0"/>
              <a:t>Besides wanting to give users a pleasant experience or wanting to make money (we can have both… I think? 🤔</a:t>
            </a:r>
            <a:r>
              <a:rPr lang="en-US" sz="2900" dirty="0">
                <a:sym typeface="Wingdings" panose="05000000000000000000" pitchFamily="2" charset="2"/>
              </a:rPr>
              <a:t>) we get to work less!*</a:t>
            </a:r>
          </a:p>
          <a:p>
            <a:pPr marL="0" indent="0">
              <a:buNone/>
            </a:pPr>
            <a:r>
              <a:rPr lang="en-US" sz="2900" dirty="0">
                <a:sym typeface="Wingdings" panose="05000000000000000000" pitchFamily="2" charset="2"/>
              </a:rPr>
              <a:t>The more we get right initially, the less rework we will have.</a:t>
            </a:r>
          </a:p>
          <a:p>
            <a:pPr lvl="1"/>
            <a:r>
              <a:rPr lang="en-US" dirty="0">
                <a:sym typeface="Wingdings" panose="05000000000000000000" pitchFamily="2" charset="2"/>
              </a:rPr>
              <a:t>Must decide how information should be organized &gt; requires creating a taxonomy/labeling system</a:t>
            </a:r>
          </a:p>
          <a:p>
            <a:pPr lvl="1"/>
            <a:r>
              <a:rPr lang="en-US" dirty="0">
                <a:sym typeface="Wingdings" panose="05000000000000000000" pitchFamily="2" charset="2"/>
              </a:rPr>
              <a:t>Information grows &amp; changes over time. Good IA is built for content libraries and site navigations to grow.</a:t>
            </a:r>
          </a:p>
          <a:p>
            <a:pPr marL="0" indent="0">
              <a:buNone/>
            </a:pPr>
            <a:r>
              <a:rPr lang="en-US" sz="1600" i="1" dirty="0">
                <a:sym typeface="Wingdings" panose="05000000000000000000" pitchFamily="2" charset="2"/>
              </a:rPr>
              <a:t>* By working more up-front</a:t>
            </a:r>
            <a:endParaRPr sz="1600" i="1" dirty="0"/>
          </a:p>
        </p:txBody>
      </p:sp>
    </p:spTree>
    <p:extLst>
      <p:ext uri="{BB962C8B-B14F-4D97-AF65-F5344CB8AC3E}">
        <p14:creationId xmlns:p14="http://schemas.microsoft.com/office/powerpoint/2010/main" val="16364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8788" y="274638"/>
            <a:ext cx="11274552" cy="1143000"/>
          </a:xfrm>
        </p:spPr>
        <p:txBody>
          <a:bodyPr vert="horz" lIns="0" tIns="45720" rIns="10" bIns="45720" rtlCol="0" anchor="ctr">
            <a:noAutofit/>
          </a:bodyPr>
          <a:lstStyle/>
          <a:p>
            <a:pPr algn="l"/>
            <a:r>
              <a:rPr dirty="0"/>
              <a:t>The Goals of IA</a:t>
            </a:r>
          </a:p>
        </p:txBody>
      </p:sp>
      <p:sp>
        <p:nvSpPr>
          <p:cNvPr id="3" name="Content Placeholder 2"/>
          <p:cNvSpPr>
            <a:spLocks noGrp="1"/>
          </p:cNvSpPr>
          <p:nvPr>
            <p:ph idx="1"/>
          </p:nvPr>
        </p:nvSpPr>
        <p:spPr>
          <a:xfrm>
            <a:off x="458788" y="1600201"/>
            <a:ext cx="11274552" cy="728329"/>
          </a:xfrm>
        </p:spPr>
        <p:txBody>
          <a:bodyPr vert="horz" wrap="square" lIns="0" tIns="45720" rIns="10" bIns="45720" rtlCol="0">
            <a:noAutofit/>
          </a:bodyPr>
          <a:lstStyle/>
          <a:p>
            <a:pPr marL="0" indent="0">
              <a:buNone/>
            </a:pPr>
            <a:r>
              <a:rPr dirty="0"/>
              <a:t>Again, straight from Gabriel-Petit's first chapter:</a:t>
            </a:r>
          </a:p>
        </p:txBody>
      </p:sp>
      <p:sp>
        <p:nvSpPr>
          <p:cNvPr id="5" name="TextBox 4">
            <a:extLst>
              <a:ext uri="{FF2B5EF4-FFF2-40B4-BE49-F238E27FC236}">
                <a16:creationId xmlns:a16="http://schemas.microsoft.com/office/drawing/2014/main" id="{92514191-B1E1-1658-52B0-99C5A33650C1}"/>
              </a:ext>
            </a:extLst>
          </p:cNvPr>
          <p:cNvSpPr txBox="1"/>
          <p:nvPr/>
        </p:nvSpPr>
        <p:spPr>
          <a:xfrm>
            <a:off x="5986130" y="2511093"/>
            <a:ext cx="5176652" cy="1446550"/>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Creating a sense of place</a:t>
            </a:r>
          </a:p>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Making content easy to consume</a:t>
            </a:r>
          </a:p>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Combatting information overload</a:t>
            </a:r>
          </a:p>
        </p:txBody>
      </p:sp>
      <p:sp>
        <p:nvSpPr>
          <p:cNvPr id="7" name="TextBox 6">
            <a:extLst>
              <a:ext uri="{FF2B5EF4-FFF2-40B4-BE49-F238E27FC236}">
                <a16:creationId xmlns:a16="http://schemas.microsoft.com/office/drawing/2014/main" id="{B3149821-4622-ED61-40D7-901586F267F7}"/>
              </a:ext>
            </a:extLst>
          </p:cNvPr>
          <p:cNvSpPr txBox="1"/>
          <p:nvPr/>
        </p:nvSpPr>
        <p:spPr>
          <a:xfrm>
            <a:off x="458788" y="2511093"/>
            <a:ext cx="5527342" cy="1923604"/>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Making information easy to find</a:t>
            </a:r>
          </a:p>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Providing information scent</a:t>
            </a:r>
          </a:p>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Supporting browsing</a:t>
            </a:r>
          </a:p>
          <a:p>
            <a:pPr marL="457200" marR="0" lvl="0" indent="-4572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Avenir"/>
                <a:ea typeface="+mn-ea"/>
                <a:cs typeface="+mn-cs"/>
              </a:rPr>
              <a:t>Supporting search</a:t>
            </a:r>
          </a:p>
        </p:txBody>
      </p:sp>
      <p:sp>
        <p:nvSpPr>
          <p:cNvPr id="9" name="TextBox 8">
            <a:extLst>
              <a:ext uri="{FF2B5EF4-FFF2-40B4-BE49-F238E27FC236}">
                <a16:creationId xmlns:a16="http://schemas.microsoft.com/office/drawing/2014/main" id="{2F12B868-B281-4A5A-7965-1AD60484537E}"/>
              </a:ext>
            </a:extLst>
          </p:cNvPr>
          <p:cNvSpPr txBox="1"/>
          <p:nvPr/>
        </p:nvSpPr>
        <p:spPr>
          <a:xfrm>
            <a:off x="458788" y="4840544"/>
            <a:ext cx="1087551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venir"/>
                <a:ea typeface="+mn-ea"/>
                <a:cs typeface="+mn-cs"/>
              </a:rPr>
              <a:t>Gabriel-Petit, P. (2025). Chapter 1: What is Information Architecture?. In </a:t>
            </a:r>
            <a:r>
              <a:rPr kumimoji="0" lang="en-US" sz="1600" b="0" i="1" u="none" strike="noStrike" kern="1200" cap="none" spc="0" normalizeH="0" baseline="0" noProof="0" dirty="0">
                <a:ln>
                  <a:noFill/>
                </a:ln>
                <a:solidFill>
                  <a:prstClr val="black"/>
                </a:solidFill>
                <a:effectLst/>
                <a:uLnTx/>
                <a:uFillTx/>
                <a:latin typeface="Avenir"/>
                <a:ea typeface="+mn-ea"/>
                <a:cs typeface="+mn-cs"/>
              </a:rPr>
              <a:t>Designing Information Architecture</a:t>
            </a:r>
            <a:r>
              <a:rPr kumimoji="0" lang="en-US" sz="1600" b="0" i="0" u="none" strike="noStrike" kern="1200" cap="none" spc="0" normalizeH="0" baseline="0" noProof="0" dirty="0">
                <a:ln>
                  <a:noFill/>
                </a:ln>
                <a:solidFill>
                  <a:prstClr val="black"/>
                </a:solidFill>
                <a:effectLst/>
                <a:uLnTx/>
                <a:uFillTx/>
                <a:latin typeface="Avenir"/>
                <a:ea typeface="+mn-ea"/>
                <a:cs typeface="+mn-cs"/>
              </a:rPr>
              <a:t>. </a:t>
            </a:r>
            <a:r>
              <a:rPr kumimoji="0" lang="en-US" sz="1600" b="0" i="0" u="none" strike="noStrike" kern="1200" cap="none" spc="0" normalizeH="0" baseline="0" noProof="0" dirty="0" err="1">
                <a:ln>
                  <a:noFill/>
                </a:ln>
                <a:solidFill>
                  <a:prstClr val="black"/>
                </a:solidFill>
                <a:effectLst/>
                <a:uLnTx/>
                <a:uFillTx/>
                <a:latin typeface="Avenir"/>
                <a:ea typeface="+mn-ea"/>
                <a:cs typeface="+mn-cs"/>
              </a:rPr>
              <a:t>Packt</a:t>
            </a:r>
            <a:r>
              <a:rPr kumimoji="0" lang="en-US" sz="1600" b="0" i="0" u="none" strike="noStrike" kern="1200" cap="none" spc="0" normalizeH="0" baseline="0" noProof="0" dirty="0">
                <a:ln>
                  <a:noFill/>
                </a:ln>
                <a:solidFill>
                  <a:prstClr val="black"/>
                </a:solidFill>
                <a:effectLst/>
                <a:uLnTx/>
                <a:uFillTx/>
                <a:latin typeface="Avenir"/>
                <a:ea typeface="+mn-ea"/>
                <a:cs typeface="+mn-cs"/>
              </a:rPr>
              <a:t> Publishing.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DA0977F-03EB-B954-BF3D-DD2433A69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D060E-D3D4-E98A-9E19-696B824550E1}"/>
              </a:ext>
            </a:extLst>
          </p:cNvPr>
          <p:cNvSpPr>
            <a:spLocks noGrp="1"/>
          </p:cNvSpPr>
          <p:nvPr>
            <p:ph type="title"/>
          </p:nvPr>
        </p:nvSpPr>
        <p:spPr>
          <a:xfrm>
            <a:off x="458788" y="274638"/>
            <a:ext cx="11274552" cy="1143000"/>
          </a:xfrm>
        </p:spPr>
        <p:txBody>
          <a:bodyPr vert="horz" lIns="0" tIns="45720" rIns="10" bIns="45720" rtlCol="0" anchor="ctr">
            <a:noAutofit/>
          </a:bodyPr>
          <a:lstStyle/>
          <a:p>
            <a:pPr algn="l"/>
            <a:r>
              <a:rPr lang="en-US" dirty="0"/>
              <a:t>IA: Information “ scent” ?</a:t>
            </a:r>
            <a:endParaRPr dirty="0"/>
          </a:p>
        </p:txBody>
      </p:sp>
      <p:sp>
        <p:nvSpPr>
          <p:cNvPr id="9" name="TextBox 8">
            <a:extLst>
              <a:ext uri="{FF2B5EF4-FFF2-40B4-BE49-F238E27FC236}">
                <a16:creationId xmlns:a16="http://schemas.microsoft.com/office/drawing/2014/main" id="{FD474100-1451-4C14-E5AD-760E88A029EA}"/>
              </a:ext>
            </a:extLst>
          </p:cNvPr>
          <p:cNvSpPr txBox="1"/>
          <p:nvPr/>
        </p:nvSpPr>
        <p:spPr>
          <a:xfrm>
            <a:off x="856233" y="5364126"/>
            <a:ext cx="1087551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venir"/>
                <a:ea typeface="+mn-ea"/>
                <a:cs typeface="+mn-cs"/>
              </a:rPr>
              <a:t>1. Pirolli, P., &amp; Card, S. (1999). Information foraging theory. </a:t>
            </a:r>
            <a:r>
              <a:rPr kumimoji="0" lang="en-US" sz="1600" b="0" i="1" u="none" strike="noStrike" kern="1200" cap="none" spc="0" normalizeH="0" baseline="0" noProof="0" dirty="0">
                <a:ln>
                  <a:noFill/>
                </a:ln>
                <a:solidFill>
                  <a:prstClr val="black"/>
                </a:solidFill>
                <a:effectLst/>
                <a:uLnTx/>
                <a:uFillTx/>
                <a:latin typeface="Avenir"/>
                <a:ea typeface="+mn-ea"/>
                <a:cs typeface="+mn-cs"/>
              </a:rPr>
              <a:t>Psychological Review, 106</a:t>
            </a:r>
            <a:r>
              <a:rPr kumimoji="0" lang="en-US" sz="1600" b="0" i="0" u="none" strike="noStrike" kern="1200" cap="none" spc="0" normalizeH="0" baseline="0" noProof="0" dirty="0">
                <a:ln>
                  <a:noFill/>
                </a:ln>
                <a:solidFill>
                  <a:prstClr val="black"/>
                </a:solidFill>
                <a:effectLst/>
                <a:uLnTx/>
                <a:uFillTx/>
                <a:latin typeface="Avenir"/>
                <a:ea typeface="+mn-ea"/>
                <a:cs typeface="+mn-cs"/>
              </a:rPr>
              <a:t>(4)</a:t>
            </a:r>
            <a:r>
              <a:rPr kumimoji="0" lang="en-US" sz="1600" b="0" i="1" u="none" strike="noStrike" kern="1200" cap="none" spc="0" normalizeH="0" baseline="0" noProof="0" dirty="0">
                <a:ln>
                  <a:noFill/>
                </a:ln>
                <a:solidFill>
                  <a:prstClr val="black"/>
                </a:solidFill>
                <a:effectLst/>
                <a:uLnTx/>
                <a:uFillTx/>
                <a:latin typeface="Avenir"/>
                <a:ea typeface="+mn-ea"/>
                <a:cs typeface="+mn-cs"/>
              </a:rPr>
              <a:t>, </a:t>
            </a:r>
            <a:r>
              <a:rPr kumimoji="0" lang="en-US" sz="1600" b="0" i="0" u="none" strike="noStrike" kern="1200" cap="none" spc="0" normalizeH="0" baseline="0" noProof="0" dirty="0">
                <a:ln>
                  <a:noFill/>
                </a:ln>
                <a:solidFill>
                  <a:prstClr val="black"/>
                </a:solidFill>
                <a:effectLst/>
                <a:uLnTx/>
                <a:uFillTx/>
                <a:latin typeface="Avenir"/>
                <a:ea typeface="+mn-ea"/>
                <a:cs typeface="+mn-cs"/>
              </a:rPr>
              <a:t>643‑675. </a:t>
            </a:r>
            <a:r>
              <a:rPr kumimoji="0" lang="en-US" sz="1600" b="0" i="0" u="sng" strike="noStrike" kern="1200" cap="none" spc="0" normalizeH="0" baseline="0" noProof="0" dirty="0">
                <a:ln>
                  <a:noFill/>
                </a:ln>
                <a:solidFill>
                  <a:prstClr val="black"/>
                </a:solidFill>
                <a:effectLst/>
                <a:uLnTx/>
                <a:uFillTx/>
                <a:latin typeface="Avenir"/>
                <a:ea typeface="+mn-ea"/>
                <a:cs typeface="+mn-cs"/>
                <a:hlinkClick r:id="rId4"/>
              </a:rPr>
              <a:t>https://doi.org/10.1037/0033-295x.106.4.643</a:t>
            </a:r>
            <a:endParaRPr kumimoji="0" lang="en-US" sz="1600" b="0" i="0" u="none" strike="noStrike" kern="1200" cap="none" spc="0" normalizeH="0" baseline="0" noProof="0" dirty="0">
              <a:ln>
                <a:noFill/>
              </a:ln>
              <a:solidFill>
                <a:prstClr val="black"/>
              </a:solidFill>
              <a:effectLst/>
              <a:uLnTx/>
              <a:uFillTx/>
              <a:latin typeface="Avenir"/>
              <a:ea typeface="+mn-ea"/>
              <a:cs typeface="+mn-cs"/>
            </a:endParaRPr>
          </a:p>
        </p:txBody>
      </p:sp>
      <p:sp>
        <p:nvSpPr>
          <p:cNvPr id="8" name="Content Placeholder 2">
            <a:extLst>
              <a:ext uri="{FF2B5EF4-FFF2-40B4-BE49-F238E27FC236}">
                <a16:creationId xmlns:a16="http://schemas.microsoft.com/office/drawing/2014/main" id="{18D40261-68EA-9417-72F3-943DB6FAAC36}"/>
              </a:ext>
            </a:extLst>
          </p:cNvPr>
          <p:cNvSpPr>
            <a:spLocks noGrp="1"/>
          </p:cNvSpPr>
          <p:nvPr>
            <p:ph idx="1"/>
          </p:nvPr>
        </p:nvSpPr>
        <p:spPr>
          <a:xfrm>
            <a:off x="457200" y="1493874"/>
            <a:ext cx="11274552" cy="3772739"/>
          </a:xfrm>
        </p:spPr>
        <p:txBody>
          <a:bodyPr wrap="square" lIns="0" rIns="10">
            <a:noAutofit/>
          </a:bodyPr>
          <a:lstStyle/>
          <a:p>
            <a:r>
              <a:rPr sz="2700" dirty="0"/>
              <a:t>A concept from Peter Pirolli's and Stuart Card's information foraging theory.</a:t>
            </a:r>
          </a:p>
          <a:p>
            <a:r>
              <a:rPr sz="2700" dirty="0"/>
              <a:t>In short, IF theory offers a more nuanced model of how user's interact with information environments to search for, access, and interpret information from documents than the crude information retrieval and decision science models before it.</a:t>
            </a:r>
          </a:p>
          <a:p>
            <a:r>
              <a:rPr sz="2700" dirty="0"/>
              <a:t>Information scent is the perceived "trail" or "hints" that a user d</a:t>
            </a:r>
            <a:r>
              <a:rPr lang="en-US" sz="2700" dirty="0"/>
              <a:t>e</a:t>
            </a:r>
            <a:r>
              <a:rPr sz="2700" dirty="0"/>
              <a:t>tects as they scan an information element (link, title, snippet, thumbnail) that indicates the likelihood of their reaching useful content.</a:t>
            </a:r>
            <a:r>
              <a:rPr lang="en-US" sz="2700" dirty="0"/>
              <a:t> [1]</a:t>
            </a:r>
            <a:endParaRPr sz="2700" dirty="0"/>
          </a:p>
        </p:txBody>
      </p:sp>
    </p:spTree>
    <p:extLst>
      <p:ext uri="{BB962C8B-B14F-4D97-AF65-F5344CB8AC3E}">
        <p14:creationId xmlns:p14="http://schemas.microsoft.com/office/powerpoint/2010/main" val="121144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3611999-D2D9-806B-69FB-912BE2877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640C9-FC9B-4DCE-0DDA-64E54F06143C}"/>
              </a:ext>
            </a:extLst>
          </p:cNvPr>
          <p:cNvSpPr>
            <a:spLocks noGrp="1"/>
          </p:cNvSpPr>
          <p:nvPr>
            <p:ph type="title"/>
          </p:nvPr>
        </p:nvSpPr>
        <p:spPr>
          <a:xfrm>
            <a:off x="458788" y="274638"/>
            <a:ext cx="11274552" cy="1143000"/>
          </a:xfrm>
        </p:spPr>
        <p:txBody>
          <a:bodyPr vert="horz" lIns="0" tIns="45720" rIns="10" bIns="45720" rtlCol="0" anchor="ctr">
            <a:noAutofit/>
          </a:bodyPr>
          <a:lstStyle/>
          <a:p>
            <a:pPr algn="l"/>
            <a:r>
              <a:rPr lang="en-US" dirty="0"/>
              <a:t>IA: Information “ scent” , cont’d</a:t>
            </a:r>
            <a:endParaRPr dirty="0"/>
          </a:p>
        </p:txBody>
      </p:sp>
      <p:sp>
        <p:nvSpPr>
          <p:cNvPr id="9" name="TextBox 8">
            <a:extLst>
              <a:ext uri="{FF2B5EF4-FFF2-40B4-BE49-F238E27FC236}">
                <a16:creationId xmlns:a16="http://schemas.microsoft.com/office/drawing/2014/main" id="{AC932364-2CAB-6800-7767-3E116206D7EE}"/>
              </a:ext>
            </a:extLst>
          </p:cNvPr>
          <p:cNvSpPr txBox="1"/>
          <p:nvPr/>
        </p:nvSpPr>
        <p:spPr>
          <a:xfrm>
            <a:off x="457200" y="4704923"/>
            <a:ext cx="1087551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venir"/>
                <a:ea typeface="+mn-ea"/>
                <a:cs typeface="+mn-cs"/>
              </a:rPr>
              <a:t>Pirolli, P., &amp; Card, S. (1999). Information foraging theory. </a:t>
            </a:r>
            <a:r>
              <a:rPr kumimoji="0" lang="en-US" sz="1600" b="0" i="1" u="none" strike="noStrike" kern="1200" cap="none" spc="0" normalizeH="0" baseline="0" noProof="0" dirty="0">
                <a:ln>
                  <a:noFill/>
                </a:ln>
                <a:solidFill>
                  <a:prstClr val="black"/>
                </a:solidFill>
                <a:effectLst/>
                <a:uLnTx/>
                <a:uFillTx/>
                <a:latin typeface="Avenir"/>
                <a:ea typeface="+mn-ea"/>
                <a:cs typeface="+mn-cs"/>
              </a:rPr>
              <a:t>Psychological Review, 106</a:t>
            </a:r>
            <a:r>
              <a:rPr kumimoji="0" lang="en-US" sz="1600" b="0" i="0" u="none" strike="noStrike" kern="1200" cap="none" spc="0" normalizeH="0" baseline="0" noProof="0" dirty="0">
                <a:ln>
                  <a:noFill/>
                </a:ln>
                <a:solidFill>
                  <a:prstClr val="black"/>
                </a:solidFill>
                <a:effectLst/>
                <a:uLnTx/>
                <a:uFillTx/>
                <a:latin typeface="Avenir"/>
                <a:ea typeface="+mn-ea"/>
                <a:cs typeface="+mn-cs"/>
              </a:rPr>
              <a:t>(4)</a:t>
            </a:r>
            <a:r>
              <a:rPr kumimoji="0" lang="en-US" sz="1600" b="0" i="1" u="none" strike="noStrike" kern="1200" cap="none" spc="0" normalizeH="0" baseline="0" noProof="0" dirty="0">
                <a:ln>
                  <a:noFill/>
                </a:ln>
                <a:solidFill>
                  <a:prstClr val="black"/>
                </a:solidFill>
                <a:effectLst/>
                <a:uLnTx/>
                <a:uFillTx/>
                <a:latin typeface="Avenir"/>
                <a:ea typeface="+mn-ea"/>
                <a:cs typeface="+mn-cs"/>
              </a:rPr>
              <a:t>, </a:t>
            </a:r>
            <a:r>
              <a:rPr kumimoji="0" lang="en-US" sz="1600" b="0" i="0" u="none" strike="noStrike" kern="1200" cap="none" spc="0" normalizeH="0" baseline="0" noProof="0" dirty="0">
                <a:ln>
                  <a:noFill/>
                </a:ln>
                <a:solidFill>
                  <a:prstClr val="black"/>
                </a:solidFill>
                <a:effectLst/>
                <a:uLnTx/>
                <a:uFillTx/>
                <a:latin typeface="Avenir"/>
                <a:ea typeface="+mn-ea"/>
                <a:cs typeface="+mn-cs"/>
              </a:rPr>
              <a:t>643‑675. </a:t>
            </a:r>
            <a:r>
              <a:rPr kumimoji="0" lang="en-US" sz="1600" b="0" i="0" u="sng" strike="noStrike" kern="1200" cap="none" spc="0" normalizeH="0" baseline="0" noProof="0" dirty="0">
                <a:ln>
                  <a:noFill/>
                </a:ln>
                <a:solidFill>
                  <a:prstClr val="black"/>
                </a:solidFill>
                <a:effectLst/>
                <a:uLnTx/>
                <a:uFillTx/>
                <a:latin typeface="Avenir"/>
                <a:ea typeface="+mn-ea"/>
                <a:cs typeface="+mn-cs"/>
                <a:hlinkClick r:id="rId4"/>
              </a:rPr>
              <a:t>https://doi.org/10.1037/0033-295x.106.4.643</a:t>
            </a:r>
            <a:endParaRPr kumimoji="0" lang="en-US" sz="1600" b="0" i="0" u="none" strike="noStrike" kern="1200" cap="none" spc="0" normalizeH="0" baseline="0" noProof="0" dirty="0">
              <a:ln>
                <a:noFill/>
              </a:ln>
              <a:solidFill>
                <a:prstClr val="black"/>
              </a:solidFill>
              <a:effectLst/>
              <a:uLnTx/>
              <a:uFillTx/>
              <a:latin typeface="Avenir"/>
              <a:ea typeface="+mn-ea"/>
              <a:cs typeface="+mn-cs"/>
            </a:endParaRPr>
          </a:p>
        </p:txBody>
      </p:sp>
      <p:sp>
        <p:nvSpPr>
          <p:cNvPr id="8" name="Content Placeholder 2">
            <a:extLst>
              <a:ext uri="{FF2B5EF4-FFF2-40B4-BE49-F238E27FC236}">
                <a16:creationId xmlns:a16="http://schemas.microsoft.com/office/drawing/2014/main" id="{A3C4BD6C-CF10-19E2-9803-0548D2B509F0}"/>
              </a:ext>
            </a:extLst>
          </p:cNvPr>
          <p:cNvSpPr>
            <a:spLocks noGrp="1"/>
          </p:cNvSpPr>
          <p:nvPr>
            <p:ph idx="1"/>
          </p:nvPr>
        </p:nvSpPr>
        <p:spPr>
          <a:xfrm>
            <a:off x="457200" y="1493874"/>
            <a:ext cx="11274552" cy="2610293"/>
          </a:xfrm>
        </p:spPr>
        <p:txBody>
          <a:bodyPr wrap="square" lIns="0" rIns="10">
            <a:noAutofit/>
          </a:bodyPr>
          <a:lstStyle/>
          <a:p>
            <a:r>
              <a:rPr lang="en-US" sz="2800" dirty="0"/>
              <a:t>Stronger scent signals increase the user's estimate of the probability that following a cue will lead to their goal-relevant "prey" (i.e., the information they need).</a:t>
            </a:r>
          </a:p>
          <a:p>
            <a:r>
              <a:rPr lang="en-US" sz="2800" dirty="0"/>
              <a:t>Hence, if we do a good job at providing information scent, users will be motivated to follow through the path of clicks, taps, searches, etc., that they need to access information that helps them achieve their goal.</a:t>
            </a:r>
          </a:p>
          <a:p>
            <a:pPr marL="0" indent="0">
              <a:buNone/>
            </a:pPr>
            <a:endParaRPr sz="2700" dirty="0"/>
          </a:p>
        </p:txBody>
      </p:sp>
    </p:spTree>
    <p:extLst>
      <p:ext uri="{BB962C8B-B14F-4D97-AF65-F5344CB8AC3E}">
        <p14:creationId xmlns:p14="http://schemas.microsoft.com/office/powerpoint/2010/main" val="4199498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74706-1F9A-BC3B-A074-2DF1F55568BC}"/>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B338A1E6-0A1B-F6FC-91EF-5432AD450C7A}"/>
              </a:ext>
            </a:extLst>
          </p:cNvPr>
          <p:cNvSpPr>
            <a:spLocks noGrp="1" noChangeArrowheads="1"/>
          </p:cNvSpPr>
          <p:nvPr>
            <p:ph type="title" idx="4294967295"/>
          </p:nvPr>
        </p:nvSpPr>
        <p:spPr>
          <a:xfrm>
            <a:off x="1282700" y="568325"/>
            <a:ext cx="9321800" cy="768350"/>
          </a:xfrm>
        </p:spPr>
        <p:txBody>
          <a:bodyPr>
            <a:normAutofit/>
          </a:bodyPr>
          <a:lstStyle/>
          <a:p>
            <a:pPr>
              <a:defRPr/>
            </a:pPr>
            <a:r>
              <a:rPr lang="en-US" sz="4000" b="1" dirty="0"/>
              <a:t>Types of Information Seeking</a:t>
            </a:r>
          </a:p>
        </p:txBody>
      </p:sp>
      <p:graphicFrame>
        <p:nvGraphicFramePr>
          <p:cNvPr id="4112" name="Rectangle 3">
            <a:extLst>
              <a:ext uri="{FF2B5EF4-FFF2-40B4-BE49-F238E27FC236}">
                <a16:creationId xmlns:a16="http://schemas.microsoft.com/office/drawing/2014/main" id="{6E6EE323-A59C-0D2C-D474-260C7680E8E3}"/>
              </a:ext>
            </a:extLst>
          </p:cNvPr>
          <p:cNvGraphicFramePr>
            <a:graphicFrameLocks noGrp="1"/>
          </p:cNvGraphicFramePr>
          <p:nvPr>
            <p:ph idx="4294967295"/>
          </p:nvPr>
        </p:nvGraphicFramePr>
        <p:xfrm>
          <a:off x="1282700" y="1752600"/>
          <a:ext cx="8178800" cy="4289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B57B4B9F-B164-CF85-DB49-CA0BFD142787}"/>
              </a:ext>
            </a:extLst>
          </p:cNvPr>
          <p:cNvSpPr txBox="1"/>
          <p:nvPr/>
        </p:nvSpPr>
        <p:spPr>
          <a:xfrm>
            <a:off x="10065783" y="2743150"/>
            <a:ext cx="1687033"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venir"/>
                <a:ea typeface="+mn-ea"/>
                <a:cs typeface="+mn-cs"/>
              </a:rPr>
              <a:t>*Also: </a:t>
            </a:r>
            <a:r>
              <a:rPr kumimoji="0" lang="en-US" sz="1800" b="1" i="0" u="none" strike="noStrike" kern="1200" cap="none" spc="0" normalizeH="0" baseline="0" noProof="0" dirty="0">
                <a:ln>
                  <a:noFill/>
                </a:ln>
                <a:solidFill>
                  <a:prstClr val="black"/>
                </a:solidFill>
                <a:effectLst/>
                <a:uLnTx/>
                <a:uFillTx/>
                <a:latin typeface="Avenir"/>
                <a:ea typeface="+mn-ea"/>
                <a:cs typeface="+mn-cs"/>
              </a:rPr>
              <a:t>Exhaustive research </a:t>
            </a:r>
            <a:r>
              <a:rPr kumimoji="0" lang="en-US" sz="1800" b="0" i="0" u="none" strike="noStrike" kern="1200" cap="none" spc="0" normalizeH="0" baseline="0" noProof="0" dirty="0">
                <a:ln>
                  <a:noFill/>
                </a:ln>
                <a:solidFill>
                  <a:prstClr val="black"/>
                </a:solidFill>
                <a:effectLst/>
                <a:uLnTx/>
                <a:uFillTx/>
                <a:latin typeface="Avenir"/>
                <a:ea typeface="+mn-ea"/>
                <a:cs typeface="+mn-cs"/>
              </a:rPr>
              <a:t>– Users are performing a deep, systematic investigation</a:t>
            </a:r>
          </a:p>
        </p:txBody>
      </p:sp>
      <p:sp>
        <p:nvSpPr>
          <p:cNvPr id="5" name="TextBox 4">
            <a:extLst>
              <a:ext uri="{FF2B5EF4-FFF2-40B4-BE49-F238E27FC236}">
                <a16:creationId xmlns:a16="http://schemas.microsoft.com/office/drawing/2014/main" id="{FBEBC9F1-816B-2740-5F33-71AC4912A50C}"/>
              </a:ext>
            </a:extLst>
          </p:cNvPr>
          <p:cNvSpPr txBox="1"/>
          <p:nvPr/>
        </p:nvSpPr>
        <p:spPr>
          <a:xfrm>
            <a:off x="1282700" y="6288672"/>
            <a:ext cx="1071082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venir"/>
                <a:ea typeface="+mn-ea"/>
                <a:cs typeface="+mn-cs"/>
              </a:rPr>
              <a:t>Gabriel-Petit, P. (2025). Chapter 2: How People Seek Information. In </a:t>
            </a:r>
            <a:r>
              <a:rPr kumimoji="0" lang="en-US" sz="1600" b="0" i="1" u="none" strike="noStrike" kern="1200" cap="none" spc="0" normalizeH="0" baseline="0" noProof="0" dirty="0">
                <a:ln>
                  <a:noFill/>
                </a:ln>
                <a:solidFill>
                  <a:prstClr val="black"/>
                </a:solidFill>
                <a:effectLst/>
                <a:uLnTx/>
                <a:uFillTx/>
                <a:latin typeface="Avenir"/>
                <a:ea typeface="+mn-ea"/>
                <a:cs typeface="+mn-cs"/>
              </a:rPr>
              <a:t>Designing Information Architecture</a:t>
            </a:r>
            <a:r>
              <a:rPr kumimoji="0" lang="en-US" sz="1600" b="0" i="0" u="none" strike="noStrike" kern="1200" cap="none" spc="0" normalizeH="0" baseline="0" noProof="0" dirty="0">
                <a:ln>
                  <a:noFill/>
                </a:ln>
                <a:solidFill>
                  <a:prstClr val="black"/>
                </a:solidFill>
                <a:effectLst/>
                <a:uLnTx/>
                <a:uFillTx/>
                <a:latin typeface="Avenir"/>
                <a:ea typeface="+mn-ea"/>
                <a:cs typeface="+mn-cs"/>
              </a:rPr>
              <a:t>. </a:t>
            </a:r>
            <a:r>
              <a:rPr kumimoji="0" lang="en-US" sz="1600" b="0" i="0" u="none" strike="noStrike" kern="1200" cap="none" spc="0" normalizeH="0" baseline="0" noProof="0" dirty="0" err="1">
                <a:ln>
                  <a:noFill/>
                </a:ln>
                <a:solidFill>
                  <a:prstClr val="black"/>
                </a:solidFill>
                <a:effectLst/>
                <a:uLnTx/>
                <a:uFillTx/>
                <a:latin typeface="Avenir"/>
                <a:ea typeface="+mn-ea"/>
                <a:cs typeface="+mn-cs"/>
              </a:rPr>
              <a:t>Packt</a:t>
            </a:r>
            <a:r>
              <a:rPr kumimoji="0" lang="en-US" sz="1600" b="0" i="0" u="none" strike="noStrike" kern="1200" cap="none" spc="0" normalizeH="0" baseline="0" noProof="0" dirty="0">
                <a:ln>
                  <a:noFill/>
                </a:ln>
                <a:solidFill>
                  <a:prstClr val="black"/>
                </a:solidFill>
                <a:effectLst/>
                <a:uLnTx/>
                <a:uFillTx/>
                <a:latin typeface="Avenir"/>
                <a:ea typeface="+mn-ea"/>
                <a:cs typeface="+mn-cs"/>
              </a:rPr>
              <a:t> Publishing.</a:t>
            </a:r>
          </a:p>
        </p:txBody>
      </p:sp>
    </p:spTree>
    <p:extLst>
      <p:ext uri="{BB962C8B-B14F-4D97-AF65-F5344CB8AC3E}">
        <p14:creationId xmlns:p14="http://schemas.microsoft.com/office/powerpoint/2010/main" val="2801116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82B60-E195-95BF-E099-4DDCFA9ED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147AB-26F2-7C79-19E7-28C8BFB73D8D}"/>
              </a:ext>
            </a:extLst>
          </p:cNvPr>
          <p:cNvSpPr>
            <a:spLocks noGrp="1"/>
          </p:cNvSpPr>
          <p:nvPr>
            <p:ph type="title"/>
          </p:nvPr>
        </p:nvSpPr>
        <p:spPr>
          <a:xfrm>
            <a:off x="458788" y="274638"/>
            <a:ext cx="11274552" cy="1143000"/>
          </a:xfrm>
        </p:spPr>
        <p:txBody>
          <a:bodyPr vert="horz" lIns="0" tIns="45720" rIns="10" bIns="45720" rtlCol="0" anchor="ctr">
            <a:noAutofit/>
          </a:bodyPr>
          <a:lstStyle/>
          <a:p>
            <a:pPr algn="l"/>
            <a:r>
              <a:rPr lang="en-US" dirty="0"/>
              <a:t>IA: Information-Seeking Strategies</a:t>
            </a:r>
            <a:endParaRPr dirty="0"/>
          </a:p>
        </p:txBody>
      </p:sp>
      <p:sp>
        <p:nvSpPr>
          <p:cNvPr id="3" name="Content Placeholder 2">
            <a:extLst>
              <a:ext uri="{FF2B5EF4-FFF2-40B4-BE49-F238E27FC236}">
                <a16:creationId xmlns:a16="http://schemas.microsoft.com/office/drawing/2014/main" id="{92375065-80C2-7C87-61D1-60FB741CBFD3}"/>
              </a:ext>
            </a:extLst>
          </p:cNvPr>
          <p:cNvSpPr>
            <a:spLocks noGrp="1"/>
          </p:cNvSpPr>
          <p:nvPr>
            <p:ph idx="1"/>
          </p:nvPr>
        </p:nvSpPr>
        <p:spPr>
          <a:xfrm>
            <a:off x="1052622" y="1417638"/>
            <a:ext cx="7187611" cy="4058129"/>
          </a:xfrm>
        </p:spPr>
        <p:txBody>
          <a:bodyPr vert="horz" wrap="square" lIns="0" tIns="45720" rIns="10" bIns="45720" rtlCol="0">
            <a:noAutofit/>
          </a:bodyPr>
          <a:lstStyle/>
          <a:p>
            <a:pPr marL="0" indent="0">
              <a:buNone/>
            </a:pPr>
            <a:r>
              <a:rPr lang="en-US" b="1" dirty="0"/>
              <a:t>As Gabriel-Petit (2025) puts it:</a:t>
            </a:r>
            <a:endParaRPr b="1" dirty="0"/>
          </a:p>
          <a:p>
            <a:pPr marL="0" indent="0">
              <a:buNone/>
            </a:pPr>
            <a:r>
              <a:rPr lang="en-US" i="1" dirty="0">
                <a:solidFill>
                  <a:schemeClr val="accent5">
                    <a:lumMod val="75000"/>
                  </a:schemeClr>
                </a:solidFill>
              </a:rPr>
              <a:t>Any effective information architecture supports two key information-seeking strategies: browsing and searching. Information-seeking strategies comprise combinations of tactics and behaviors, and there are many variations of these two basic approaches to looking for information.</a:t>
            </a:r>
          </a:p>
        </p:txBody>
      </p:sp>
      <p:grpSp>
        <p:nvGrpSpPr>
          <p:cNvPr id="8" name="Group 7">
            <a:extLst>
              <a:ext uri="{FF2B5EF4-FFF2-40B4-BE49-F238E27FC236}">
                <a16:creationId xmlns:a16="http://schemas.microsoft.com/office/drawing/2014/main" id="{A0903867-2783-782F-FA4E-14705FF3F5DA}"/>
              </a:ext>
            </a:extLst>
          </p:cNvPr>
          <p:cNvGrpSpPr/>
          <p:nvPr/>
        </p:nvGrpSpPr>
        <p:grpSpPr>
          <a:xfrm>
            <a:off x="8368995" y="1190845"/>
            <a:ext cx="3509756" cy="4849197"/>
            <a:chOff x="8368996" y="1339701"/>
            <a:chExt cx="3175876" cy="4849197"/>
          </a:xfrm>
        </p:grpSpPr>
        <p:sp>
          <p:nvSpPr>
            <p:cNvPr id="7" name="Rectangle: Rounded Corners 6">
              <a:extLst>
                <a:ext uri="{FF2B5EF4-FFF2-40B4-BE49-F238E27FC236}">
                  <a16:creationId xmlns:a16="http://schemas.microsoft.com/office/drawing/2014/main" id="{17B7ED79-562F-1244-8911-DCFE2A39EA61}"/>
                </a:ext>
              </a:extLst>
            </p:cNvPr>
            <p:cNvSpPr/>
            <p:nvPr/>
          </p:nvSpPr>
          <p:spPr>
            <a:xfrm>
              <a:off x="8368996" y="1339701"/>
              <a:ext cx="3175876" cy="4748041"/>
            </a:xfrm>
            <a:prstGeom prst="roundRect">
              <a:avLst>
                <a:gd name="adj" fmla="val 7962"/>
              </a:avLst>
            </a:prstGeom>
            <a:solidFill>
              <a:schemeClr val="accent1">
                <a:lumMod val="20000"/>
                <a:lumOff val="8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5" name="TextBox 4">
              <a:extLst>
                <a:ext uri="{FF2B5EF4-FFF2-40B4-BE49-F238E27FC236}">
                  <a16:creationId xmlns:a16="http://schemas.microsoft.com/office/drawing/2014/main" id="{D55AF7A7-CD95-4868-4AA1-DFFDCD7233ED}"/>
                </a:ext>
              </a:extLst>
            </p:cNvPr>
            <p:cNvSpPr txBox="1"/>
            <p:nvPr/>
          </p:nvSpPr>
          <p:spPr>
            <a:xfrm>
              <a:off x="8368996" y="1418361"/>
              <a:ext cx="3175876" cy="477053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2200" b="1" i="0" u="none" strike="noStrike" kern="1200" cap="none" spc="0" normalizeH="0" baseline="0" noProof="0" dirty="0">
                  <a:ln>
                    <a:noFill/>
                  </a:ln>
                  <a:solidFill>
                    <a:srgbClr val="7B9FAB">
                      <a:lumMod val="75000"/>
                    </a:srgbClr>
                  </a:solidFill>
                  <a:effectLst/>
                  <a:uLnTx/>
                  <a:uFillTx/>
                  <a:latin typeface="Avenir"/>
                  <a:ea typeface="+mn-ea"/>
                  <a:cs typeface="+mn-cs"/>
                </a:rPr>
                <a:t>Information Seeking Process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Avenir"/>
                  <a:ea typeface="+mn-ea"/>
                  <a:cs typeface="+mn-cs"/>
                </a:rPr>
                <a:t>Information-seeking often highly iterative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Avenir"/>
                  <a:ea typeface="+mn-ea"/>
                  <a:cs typeface="+mn-cs"/>
                </a:rPr>
                <a:t>User's information needs evolve across iterations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Avenir"/>
                  <a:ea typeface="+mn-ea"/>
                  <a:cs typeface="+mn-cs"/>
                </a:rPr>
                <a:t>User may adopt different I-S strategies, tactics, behaviors.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Avenir"/>
                  <a:ea typeface="+mn-ea"/>
                  <a:cs typeface="+mn-cs"/>
                </a:rPr>
                <a:t>Chatbots, especially AI chatbots, support a third common I-S strategy: </a:t>
              </a:r>
              <a:r>
                <a:rPr kumimoji="0" lang="en-US" sz="2200" b="1" i="1" u="none" strike="noStrike" kern="1200" cap="none" spc="0" normalizeH="0" baseline="0" noProof="0" dirty="0">
                  <a:ln>
                    <a:noFill/>
                  </a:ln>
                  <a:solidFill>
                    <a:prstClr val="black"/>
                  </a:solidFill>
                  <a:effectLst/>
                  <a:uLnTx/>
                  <a:uFillTx/>
                  <a:latin typeface="Avenir"/>
                  <a:ea typeface="+mn-ea"/>
                  <a:cs typeface="+mn-cs"/>
                </a:rPr>
                <a:t>asking</a:t>
              </a:r>
              <a:r>
                <a:rPr kumimoji="0" lang="en-US" sz="2200" b="0" i="0" u="none" strike="noStrike" kern="1200" cap="none" spc="0" normalizeH="0" baseline="0" noProof="0" dirty="0">
                  <a:ln>
                    <a:noFill/>
                  </a:ln>
                  <a:solidFill>
                    <a:prstClr val="black"/>
                  </a:solidFill>
                  <a:effectLst/>
                  <a:uLnTx/>
                  <a:uFillTx/>
                  <a:latin typeface="Avenir"/>
                  <a:ea typeface="+mn-ea"/>
                  <a:cs typeface="+mn-cs"/>
                </a:rPr>
                <a:t>.</a:t>
              </a:r>
            </a:p>
          </p:txBody>
        </p:sp>
      </p:grpSp>
      <p:sp>
        <p:nvSpPr>
          <p:cNvPr id="6" name="TextBox 5">
            <a:extLst>
              <a:ext uri="{FF2B5EF4-FFF2-40B4-BE49-F238E27FC236}">
                <a16:creationId xmlns:a16="http://schemas.microsoft.com/office/drawing/2014/main" id="{D8FC68F1-1512-270E-3607-A316A9B2AEE2}"/>
              </a:ext>
            </a:extLst>
          </p:cNvPr>
          <p:cNvSpPr txBox="1"/>
          <p:nvPr/>
        </p:nvSpPr>
        <p:spPr>
          <a:xfrm>
            <a:off x="552894" y="6141199"/>
            <a:ext cx="1071082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venir"/>
                <a:ea typeface="+mn-ea"/>
                <a:cs typeface="+mn-cs"/>
              </a:rPr>
              <a:t>Gabriel-Petit, P. (2025). Chapter 2: How People Seek Information. In </a:t>
            </a:r>
            <a:r>
              <a:rPr kumimoji="0" lang="en-US" sz="1600" b="0" i="1" u="none" strike="noStrike" kern="1200" cap="none" spc="0" normalizeH="0" baseline="0" noProof="0" dirty="0">
                <a:ln>
                  <a:noFill/>
                </a:ln>
                <a:solidFill>
                  <a:prstClr val="black"/>
                </a:solidFill>
                <a:effectLst/>
                <a:uLnTx/>
                <a:uFillTx/>
                <a:latin typeface="Avenir"/>
                <a:ea typeface="+mn-ea"/>
                <a:cs typeface="+mn-cs"/>
              </a:rPr>
              <a:t>Designing Information Architecture</a:t>
            </a:r>
            <a:r>
              <a:rPr kumimoji="0" lang="en-US" sz="1600" b="0" i="0" u="none" strike="noStrike" kern="1200" cap="none" spc="0" normalizeH="0" baseline="0" noProof="0" dirty="0">
                <a:ln>
                  <a:noFill/>
                </a:ln>
                <a:solidFill>
                  <a:prstClr val="black"/>
                </a:solidFill>
                <a:effectLst/>
                <a:uLnTx/>
                <a:uFillTx/>
                <a:latin typeface="Avenir"/>
                <a:ea typeface="+mn-ea"/>
                <a:cs typeface="+mn-cs"/>
              </a:rPr>
              <a:t>. </a:t>
            </a:r>
            <a:r>
              <a:rPr kumimoji="0" lang="en-US" sz="1600" b="0" i="0" u="none" strike="noStrike" kern="1200" cap="none" spc="0" normalizeH="0" baseline="0" noProof="0" dirty="0" err="1">
                <a:ln>
                  <a:noFill/>
                </a:ln>
                <a:solidFill>
                  <a:prstClr val="black"/>
                </a:solidFill>
                <a:effectLst/>
                <a:uLnTx/>
                <a:uFillTx/>
                <a:latin typeface="Avenir"/>
                <a:ea typeface="+mn-ea"/>
                <a:cs typeface="+mn-cs"/>
              </a:rPr>
              <a:t>Packt</a:t>
            </a:r>
            <a:r>
              <a:rPr kumimoji="0" lang="en-US" sz="1600" b="0" i="0" u="none" strike="noStrike" kern="1200" cap="none" spc="0" normalizeH="0" baseline="0" noProof="0" dirty="0">
                <a:ln>
                  <a:noFill/>
                </a:ln>
                <a:solidFill>
                  <a:prstClr val="black"/>
                </a:solidFill>
                <a:effectLst/>
                <a:uLnTx/>
                <a:uFillTx/>
                <a:latin typeface="Avenir"/>
                <a:ea typeface="+mn-ea"/>
                <a:cs typeface="+mn-cs"/>
              </a:rPr>
              <a:t> Publishing.</a:t>
            </a:r>
          </a:p>
        </p:txBody>
      </p:sp>
    </p:spTree>
    <p:extLst>
      <p:ext uri="{BB962C8B-B14F-4D97-AF65-F5344CB8AC3E}">
        <p14:creationId xmlns:p14="http://schemas.microsoft.com/office/powerpoint/2010/main" val="143727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D22224-A0E8-F17D-9180-F1DE99FB2AC5}"/>
              </a:ext>
            </a:extLst>
          </p:cNvPr>
          <p:cNvSpPr txBox="1">
            <a:spLocks/>
          </p:cNvSpPr>
          <p:nvPr/>
        </p:nvSpPr>
        <p:spPr>
          <a:xfrm>
            <a:off x="458724" y="278606"/>
            <a:ext cx="11274552" cy="1143000"/>
          </a:xfrm>
          <a:prstGeom prst="rect">
            <a:avLst/>
          </a:prstGeom>
          <a:noFill/>
          <a:ln>
            <a:noFill/>
          </a:ln>
        </p:spPr>
        <p:txBody>
          <a:bodyPr spcFirstLastPara="1" vert="horz" wrap="square" lIns="0" tIns="45720" rIns="10" bIns="45720" rtlCol="0" anchor="ctr" anchorCtr="0">
            <a:noAutofit/>
          </a:bodyPr>
          <a:lstStyle>
            <a:lvl1pPr lvl="0" algn="l" defTabSz="914400" rtl="0" eaLnBrk="1" latinLnBrk="0" hangingPunct="1">
              <a:lnSpc>
                <a:spcPct val="100000"/>
              </a:lnSpc>
              <a:spcBef>
                <a:spcPts val="0"/>
              </a:spcBef>
              <a:spcAft>
                <a:spcPts val="0"/>
              </a:spcAft>
              <a:buClr>
                <a:schemeClr val="dk1"/>
              </a:buClr>
              <a:buSzPts val="1800"/>
              <a:buNone/>
              <a:defRPr sz="4100" b="1" kern="1200">
                <a:solidFill>
                  <a:schemeClr val="tx2"/>
                </a:solidFill>
                <a:latin typeface="Text Me One" pitchFamily="2" charset="0"/>
                <a:ea typeface="+mj-ea"/>
                <a:cs typeface="+mj-c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prstClr val="black"/>
              </a:buClr>
              <a:buSzPts val="1800"/>
              <a:buFontTx/>
              <a:buNone/>
              <a:tabLst/>
              <a:defRPr/>
            </a:pPr>
            <a:r>
              <a:rPr kumimoji="0" lang="en-US" sz="4100" b="1" i="0" u="none" strike="noStrike" kern="1200" cap="none" spc="0" normalizeH="0" baseline="0" noProof="0" dirty="0">
                <a:ln>
                  <a:noFill/>
                </a:ln>
                <a:solidFill>
                  <a:srgbClr val="444F9C"/>
                </a:solidFill>
                <a:effectLst/>
                <a:uLnTx/>
                <a:uFillTx/>
                <a:latin typeface="Text Me One" pitchFamily="2" charset="0"/>
                <a:ea typeface="+mj-ea"/>
                <a:cs typeface="+mj-cs"/>
              </a:rPr>
              <a:t>Supporting Information-Seeking </a:t>
            </a:r>
            <a:r>
              <a:rPr kumimoji="0" lang="en-US" sz="3100" b="1" i="0" u="none" strike="noStrike" kern="1200" cap="none" spc="0" normalizeH="0" baseline="0" noProof="0" dirty="0">
                <a:ln>
                  <a:noFill/>
                </a:ln>
                <a:solidFill>
                  <a:srgbClr val="444F9C"/>
                </a:solidFill>
                <a:effectLst/>
                <a:uLnTx/>
                <a:uFillTx/>
                <a:latin typeface="Text Me One" pitchFamily="2" charset="0"/>
                <a:ea typeface="+mj-ea"/>
                <a:cs typeface="+mj-cs"/>
              </a:rPr>
              <a:t>(searching, browsing)</a:t>
            </a:r>
            <a:endParaRPr kumimoji="0" lang="en-US" sz="3100" b="1" i="0" u="none" strike="noStrike" kern="1200" cap="none" spc="0" normalizeH="0" baseline="0" noProof="0" dirty="0">
              <a:ln>
                <a:noFill/>
              </a:ln>
              <a:solidFill>
                <a:srgbClr val="FF5DBA">
                  <a:lumMod val="50000"/>
                </a:srgbClr>
              </a:solidFill>
              <a:effectLst/>
              <a:uLnTx/>
              <a:uFillTx/>
              <a:latin typeface="Text Me One" pitchFamily="2" charset="0"/>
              <a:ea typeface="+mj-ea"/>
              <a:cs typeface="+mj-cs"/>
            </a:endParaRPr>
          </a:p>
        </p:txBody>
      </p:sp>
      <p:graphicFrame>
        <p:nvGraphicFramePr>
          <p:cNvPr id="8" name="Rectangle 3">
            <a:extLst>
              <a:ext uri="{FF2B5EF4-FFF2-40B4-BE49-F238E27FC236}">
                <a16:creationId xmlns:a16="http://schemas.microsoft.com/office/drawing/2014/main" id="{8A2A3E00-8D87-2636-BF15-B2AB98AB9ADC}"/>
              </a:ext>
            </a:extLst>
          </p:cNvPr>
          <p:cNvGraphicFramePr>
            <a:graphicFrameLocks/>
          </p:cNvGraphicFramePr>
          <p:nvPr/>
        </p:nvGraphicFramePr>
        <p:xfrm>
          <a:off x="1282700" y="1752600"/>
          <a:ext cx="8178800" cy="4289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13174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815C2608-314B-B942-6448-B55C1F0D84CD}"/>
              </a:ext>
            </a:extLst>
          </p:cNvPr>
          <p:cNvSpPr/>
          <p:nvPr/>
        </p:nvSpPr>
        <p:spPr>
          <a:xfrm>
            <a:off x="2920685" y="4822826"/>
            <a:ext cx="2306638" cy="1429676"/>
          </a:xfrm>
          <a:prstGeom prst="roundRect">
            <a:avLst>
              <a:gd name="adj" fmla="val 13975"/>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pic>
        <p:nvPicPr>
          <p:cNvPr id="10" name="Graphic 9" descr="Hierarchy">
            <a:extLst>
              <a:ext uri="{FF2B5EF4-FFF2-40B4-BE49-F238E27FC236}">
                <a16:creationId xmlns:a16="http://schemas.microsoft.com/office/drawing/2014/main" id="{0286BBE8-BF1C-0330-D01C-963D2A9AF1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48000" y="4957028"/>
            <a:ext cx="1084998" cy="1084998"/>
          </a:xfrm>
          <a:prstGeom prst="rect">
            <a:avLst/>
          </a:prstGeom>
        </p:spPr>
      </p:pic>
      <p:sp>
        <p:nvSpPr>
          <p:cNvPr id="7" name="Rectangle: Rounded Corners 6">
            <a:extLst>
              <a:ext uri="{FF2B5EF4-FFF2-40B4-BE49-F238E27FC236}">
                <a16:creationId xmlns:a16="http://schemas.microsoft.com/office/drawing/2014/main" id="{6FB3DAC4-A042-E76E-8E82-32FB954E24E8}"/>
              </a:ext>
            </a:extLst>
          </p:cNvPr>
          <p:cNvSpPr/>
          <p:nvPr/>
        </p:nvSpPr>
        <p:spPr>
          <a:xfrm>
            <a:off x="2378186" y="3155289"/>
            <a:ext cx="2306638" cy="1429676"/>
          </a:xfrm>
          <a:prstGeom prst="roundRect">
            <a:avLst>
              <a:gd name="adj" fmla="val 13975"/>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pic>
        <p:nvPicPr>
          <p:cNvPr id="8" name="Graphic 7" descr="Presentation with Checklist">
            <a:extLst>
              <a:ext uri="{FF2B5EF4-FFF2-40B4-BE49-F238E27FC236}">
                <a16:creationId xmlns:a16="http://schemas.microsoft.com/office/drawing/2014/main" id="{3DEB4479-8ACA-58EF-E342-EE6E859C537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45201" y="3289491"/>
            <a:ext cx="1084998" cy="1084998"/>
          </a:xfrm>
          <a:prstGeom prst="rect">
            <a:avLst/>
          </a:prstGeom>
        </p:spPr>
      </p:pic>
      <p:sp>
        <p:nvSpPr>
          <p:cNvPr id="6" name="Rectangle: Rounded Corners 5">
            <a:extLst>
              <a:ext uri="{FF2B5EF4-FFF2-40B4-BE49-F238E27FC236}">
                <a16:creationId xmlns:a16="http://schemas.microsoft.com/office/drawing/2014/main" id="{4195B4A6-4FFD-39A1-EE2E-890329FD4A69}"/>
              </a:ext>
            </a:extLst>
          </p:cNvPr>
          <p:cNvSpPr/>
          <p:nvPr/>
        </p:nvSpPr>
        <p:spPr>
          <a:xfrm>
            <a:off x="1651000" y="1480212"/>
            <a:ext cx="2306638" cy="1429676"/>
          </a:xfrm>
          <a:prstGeom prst="roundRect">
            <a:avLst>
              <a:gd name="adj" fmla="val 13975"/>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8674" name="Rectangle 2"/>
          <p:cNvSpPr>
            <a:spLocks noGrp="1" noChangeArrowheads="1"/>
          </p:cNvSpPr>
          <p:nvPr>
            <p:ph type="title"/>
          </p:nvPr>
        </p:nvSpPr>
        <p:spPr/>
        <p:txBody>
          <a:bodyPr rtlCol="0">
            <a:normAutofit/>
          </a:bodyPr>
          <a:lstStyle/>
          <a:p>
            <a:pPr>
              <a:defRPr/>
            </a:pPr>
            <a:r>
              <a:rPr lang="en-US" dirty="0"/>
              <a:t>The Process for Planning Site Organization</a:t>
            </a:r>
          </a:p>
        </p:txBody>
      </p:sp>
      <p:sp>
        <p:nvSpPr>
          <p:cNvPr id="22531" name="Rectangle 3"/>
          <p:cNvSpPr>
            <a:spLocks noGrp="1" noChangeArrowheads="1"/>
          </p:cNvSpPr>
          <p:nvPr>
            <p:ph idx="1"/>
          </p:nvPr>
        </p:nvSpPr>
        <p:spPr>
          <a:xfrm>
            <a:off x="838200" y="1690688"/>
            <a:ext cx="11054498" cy="4351338"/>
          </a:xfrm>
        </p:spPr>
        <p:txBody>
          <a:bodyPr>
            <a:normAutofit/>
          </a:bodyPr>
          <a:lstStyle/>
          <a:p>
            <a:pPr eaLnBrk="1" hangingPunct="1">
              <a:spcAft>
                <a:spcPts val="1200"/>
              </a:spcAft>
              <a:buFont typeface="Wingdings" panose="05000000000000000000" pitchFamily="2" charset="2"/>
              <a:buNone/>
            </a:pPr>
            <a:endParaRPr lang="en-US" altLang="en-US" dirty="0"/>
          </a:p>
          <a:p>
            <a:pPr eaLnBrk="1" hangingPunct="1">
              <a:spcAft>
                <a:spcPts val="1200"/>
              </a:spcAft>
              <a:buFont typeface="Wingdings" panose="05000000000000000000" pitchFamily="2" charset="2"/>
              <a:buNone/>
            </a:pPr>
            <a:endParaRPr lang="en-US" altLang="en-US" dirty="0"/>
          </a:p>
        </p:txBody>
      </p:sp>
      <p:graphicFrame>
        <p:nvGraphicFramePr>
          <p:cNvPr id="3" name="Diagram 2">
            <a:extLst>
              <a:ext uri="{FF2B5EF4-FFF2-40B4-BE49-F238E27FC236}">
                <a16:creationId xmlns:a16="http://schemas.microsoft.com/office/drawing/2014/main" id="{28333C18-41F1-0E68-49B0-881463FE0994}"/>
              </a:ext>
            </a:extLst>
          </p:cNvPr>
          <p:cNvGraphicFramePr/>
          <p:nvPr/>
        </p:nvGraphicFramePr>
        <p:xfrm>
          <a:off x="3467100" y="1480212"/>
          <a:ext cx="7200900" cy="477229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5" name="Graphic 4" descr="Search Inventory with solid fill">
            <a:extLst>
              <a:ext uri="{FF2B5EF4-FFF2-40B4-BE49-F238E27FC236}">
                <a16:creationId xmlns:a16="http://schemas.microsoft.com/office/drawing/2014/main" id="{F7E11952-F066-F808-242E-9D46C382CD5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963002" y="1576388"/>
            <a:ext cx="1084998" cy="1084998"/>
          </a:xfrm>
          <a:prstGeom prst="rect">
            <a:avLst/>
          </a:prstGeom>
        </p:spPr>
      </p:pic>
    </p:spTree>
    <p:extLst>
      <p:ext uri="{BB962C8B-B14F-4D97-AF65-F5344CB8AC3E}">
        <p14:creationId xmlns:p14="http://schemas.microsoft.com/office/powerpoint/2010/main" val="1352512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2" name="Rectangle 171">
            <a:extLst>
              <a:ext uri="{FF2B5EF4-FFF2-40B4-BE49-F238E27FC236}">
                <a16:creationId xmlns:a16="http://schemas.microsoft.com/office/drawing/2014/main" id="{50CEED20-A22C-4FC3-BC0E-F4FE53FDE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 name="Title 1">
            <a:extLst>
              <a:ext uri="{FF2B5EF4-FFF2-40B4-BE49-F238E27FC236}">
                <a16:creationId xmlns:a16="http://schemas.microsoft.com/office/drawing/2014/main" id="{3C6C9294-3D17-246F-4E1D-99E5559F0EBE}"/>
              </a:ext>
            </a:extLst>
          </p:cNvPr>
          <p:cNvSpPr>
            <a:spLocks noGrp="1"/>
          </p:cNvSpPr>
          <p:nvPr>
            <p:ph type="title"/>
          </p:nvPr>
        </p:nvSpPr>
        <p:spPr>
          <a:xfrm>
            <a:off x="952500" y="1724276"/>
            <a:ext cx="3230129" cy="3409448"/>
          </a:xfrm>
        </p:spPr>
        <p:txBody>
          <a:bodyPr vert="horz" lIns="91440" tIns="45720" rIns="91440" bIns="45720" rtlCol="0" anchor="ctr">
            <a:normAutofit/>
          </a:bodyPr>
          <a:lstStyle/>
          <a:p>
            <a:r>
              <a:rPr lang="en-US" kern="1200" dirty="0">
                <a:ln/>
                <a:sym typeface="Segoe UI"/>
                <a:rtl val="0"/>
              </a:rPr>
              <a:t>The Dept. of Computing’s Site Organization</a:t>
            </a:r>
            <a:endParaRPr lang="en-US" kern="1200" dirty="0"/>
          </a:p>
        </p:txBody>
      </p:sp>
      <p:grpSp>
        <p:nvGrpSpPr>
          <p:cNvPr id="174" name="Group 17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849524"/>
            <a:ext cx="731521" cy="673460"/>
            <a:chOff x="3940602" y="308034"/>
            <a:chExt cx="2116791" cy="3428999"/>
          </a:xfrm>
          <a:solidFill>
            <a:schemeClr val="accent4"/>
          </a:solidFill>
        </p:grpSpPr>
        <p:sp>
          <p:nvSpPr>
            <p:cNvPr id="175" name="Rectangle 17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176" name="Rectangle 17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177" name="Rectangle 17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grpSp>
      <p:sp>
        <p:nvSpPr>
          <p:cNvPr id="179" name="Rectangle 17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679732"/>
            <a:ext cx="6009366" cy="542388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pic>
        <p:nvPicPr>
          <p:cNvPr id="4" name="Picture 3">
            <a:extLst>
              <a:ext uri="{FF2B5EF4-FFF2-40B4-BE49-F238E27FC236}">
                <a16:creationId xmlns:a16="http://schemas.microsoft.com/office/drawing/2014/main" id="{50633B85-49FB-3FCB-FCFC-1305C52ED4E7}"/>
              </a:ext>
            </a:extLst>
          </p:cNvPr>
          <p:cNvPicPr>
            <a:picLocks noChangeAspect="1"/>
          </p:cNvPicPr>
          <p:nvPr/>
        </p:nvPicPr>
        <p:blipFill>
          <a:blip r:embed="rId2"/>
          <a:stretch>
            <a:fillRect/>
          </a:stretch>
        </p:blipFill>
        <p:spPr>
          <a:xfrm>
            <a:off x="3914796" y="117307"/>
            <a:ext cx="8202339" cy="6623385"/>
          </a:xfrm>
          <a:prstGeom prst="rect">
            <a:avLst/>
          </a:prstGeom>
        </p:spPr>
      </p:pic>
      <p:sp>
        <p:nvSpPr>
          <p:cNvPr id="181" name="Rectangle 18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687568" y="6355073"/>
            <a:ext cx="6007608"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Tree>
    <p:extLst>
      <p:ext uri="{BB962C8B-B14F-4D97-AF65-F5344CB8AC3E}">
        <p14:creationId xmlns:p14="http://schemas.microsoft.com/office/powerpoint/2010/main" val="7353126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525B79-E905-07ED-0EE4-4ECCCDE89DE0}"/>
            </a:ext>
          </a:extLst>
        </p:cNvPr>
        <p:cNvGrpSpPr/>
        <p:nvPr/>
      </p:nvGrpSpPr>
      <p:grpSpPr>
        <a:xfrm>
          <a:off x="0" y="0"/>
          <a:ext cx="0" cy="0"/>
          <a:chOff x="0" y="0"/>
          <a:chExt cx="0" cy="0"/>
        </a:xfrm>
      </p:grpSpPr>
      <p:sp useBgFill="1">
        <p:nvSpPr>
          <p:cNvPr id="202" name="Rectangle 201">
            <a:extLst>
              <a:ext uri="{FF2B5EF4-FFF2-40B4-BE49-F238E27FC236}">
                <a16:creationId xmlns:a16="http://schemas.microsoft.com/office/drawing/2014/main" id="{6DBF50F6-DD88-4D9F-B7D3-79B989980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03" name="Rectangle 202">
            <a:extLst>
              <a:ext uri="{FF2B5EF4-FFF2-40B4-BE49-F238E27FC236}">
                <a16:creationId xmlns:a16="http://schemas.microsoft.com/office/drawing/2014/main" id="{916BBDC2-6929-469E-B7C4-A03E77BF94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 name="Title 1">
            <a:extLst>
              <a:ext uri="{FF2B5EF4-FFF2-40B4-BE49-F238E27FC236}">
                <a16:creationId xmlns:a16="http://schemas.microsoft.com/office/drawing/2014/main" id="{816AB055-6977-BBBA-ACA7-58826F27881A}"/>
              </a:ext>
            </a:extLst>
          </p:cNvPr>
          <p:cNvSpPr>
            <a:spLocks noGrp="1"/>
          </p:cNvSpPr>
          <p:nvPr>
            <p:ph type="title"/>
          </p:nvPr>
        </p:nvSpPr>
        <p:spPr>
          <a:xfrm>
            <a:off x="733199" y="4088126"/>
            <a:ext cx="10640754" cy="775845"/>
          </a:xfrm>
        </p:spPr>
        <p:txBody>
          <a:bodyPr vert="horz" lIns="91440" tIns="45720" rIns="91440" bIns="45720" rtlCol="0" anchor="ctr">
            <a:normAutofit/>
          </a:bodyPr>
          <a:lstStyle/>
          <a:p>
            <a:r>
              <a:rPr lang="en-US" kern="1200" dirty="0">
                <a:ln/>
                <a:sym typeface="Segoe UI"/>
                <a:rtl val="0"/>
              </a:rPr>
              <a:t>The Dept. of Computing’s Site Organization</a:t>
            </a:r>
            <a:endParaRPr lang="en-US" kern="1200" dirty="0"/>
          </a:p>
        </p:txBody>
      </p:sp>
      <p:sp>
        <p:nvSpPr>
          <p:cNvPr id="6" name="TextBox 5">
            <a:extLst>
              <a:ext uri="{FF2B5EF4-FFF2-40B4-BE49-F238E27FC236}">
                <a16:creationId xmlns:a16="http://schemas.microsoft.com/office/drawing/2014/main" id="{AF7DD380-B020-3066-B55B-388AA1F402EE}"/>
              </a:ext>
            </a:extLst>
          </p:cNvPr>
          <p:cNvSpPr txBox="1"/>
          <p:nvPr/>
        </p:nvSpPr>
        <p:spPr>
          <a:xfrm>
            <a:off x="804672" y="4980231"/>
            <a:ext cx="9163757" cy="450447"/>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2400" b="0" i="0" u="none" strike="noStrike" kern="1200" cap="none" spc="0" normalizeH="0" baseline="0" noProof="0" dirty="0">
                <a:ln>
                  <a:noFill/>
                </a:ln>
                <a:solidFill>
                  <a:srgbClr val="E8927C">
                    <a:lumMod val="75000"/>
                  </a:srgbClr>
                </a:solidFill>
                <a:effectLst/>
                <a:uLnTx/>
                <a:uFillTx/>
                <a:latin typeface="Avenir"/>
                <a:ea typeface="+mn-ea"/>
                <a:cs typeface="+mn-cs"/>
              </a:rPr>
              <a:t>Zooming in on ‘About the Department’ Branch</a:t>
            </a:r>
          </a:p>
        </p:txBody>
      </p:sp>
      <p:grpSp>
        <p:nvGrpSpPr>
          <p:cNvPr id="204" name="Group 203">
            <a:extLst>
              <a:ext uri="{FF2B5EF4-FFF2-40B4-BE49-F238E27FC236}">
                <a16:creationId xmlns:a16="http://schemas.microsoft.com/office/drawing/2014/main" id="{C344E6B5-C9F5-4338-9E33-003B123731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6402" y="170309"/>
            <a:ext cx="2514948" cy="2174333"/>
            <a:chOff x="-305" y="-4155"/>
            <a:chExt cx="2514948" cy="2174333"/>
          </a:xfrm>
        </p:grpSpPr>
        <p:sp>
          <p:nvSpPr>
            <p:cNvPr id="205" name="Freeform: Shape 204">
              <a:extLst>
                <a:ext uri="{FF2B5EF4-FFF2-40B4-BE49-F238E27FC236}">
                  <a16:creationId xmlns:a16="http://schemas.microsoft.com/office/drawing/2014/main" id="{C90B0F8D-9E81-4DE8-95D5-1A26E9390D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06" name="Freeform: Shape 205">
              <a:extLst>
                <a:ext uri="{FF2B5EF4-FFF2-40B4-BE49-F238E27FC236}">
                  <a16:creationId xmlns:a16="http://schemas.microsoft.com/office/drawing/2014/main" id="{830BA43A-83E9-4C67-92A6-F247FB3700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07" name="Freeform: Shape 206">
              <a:extLst>
                <a:ext uri="{FF2B5EF4-FFF2-40B4-BE49-F238E27FC236}">
                  <a16:creationId xmlns:a16="http://schemas.microsoft.com/office/drawing/2014/main" id="{92F3A0CC-EBFE-405D-B0C0-27DE361ED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Avenir"/>
                <a:ea typeface="+mn-ea"/>
                <a:cs typeface="+mn-cs"/>
              </a:endParaRPr>
            </a:p>
          </p:txBody>
        </p:sp>
        <p:sp>
          <p:nvSpPr>
            <p:cNvPr id="208" name="Freeform: Shape 207">
              <a:extLst>
                <a:ext uri="{FF2B5EF4-FFF2-40B4-BE49-F238E27FC236}">
                  <a16:creationId xmlns:a16="http://schemas.microsoft.com/office/drawing/2014/main" id="{DF2E853E-B55A-4FFD-B90E-6FB4F31BD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grpSp>
      <p:grpSp>
        <p:nvGrpSpPr>
          <p:cNvPr id="209" name="Group 208">
            <a:extLst>
              <a:ext uri="{FF2B5EF4-FFF2-40B4-BE49-F238E27FC236}">
                <a16:creationId xmlns:a16="http://schemas.microsoft.com/office/drawing/2014/main" id="{FDFEDBF7-8E2C-46B8-9095-AE1D77E217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130554" y="4560733"/>
            <a:ext cx="3061445" cy="2297266"/>
            <a:chOff x="-305" y="-1"/>
            <a:chExt cx="3832880" cy="2876136"/>
          </a:xfrm>
        </p:grpSpPr>
        <p:sp>
          <p:nvSpPr>
            <p:cNvPr id="210" name="Freeform: Shape 209">
              <a:extLst>
                <a:ext uri="{FF2B5EF4-FFF2-40B4-BE49-F238E27FC236}">
                  <a16:creationId xmlns:a16="http://schemas.microsoft.com/office/drawing/2014/main" id="{60202872-FBB0-4F11-BC49-9FB400B212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11" name="Freeform: Shape 210">
              <a:extLst>
                <a:ext uri="{FF2B5EF4-FFF2-40B4-BE49-F238E27FC236}">
                  <a16:creationId xmlns:a16="http://schemas.microsoft.com/office/drawing/2014/main" id="{0DEB2F40-D411-4D44-9638-AE0342C7F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212" name="Freeform: Shape 211">
              <a:extLst>
                <a:ext uri="{FF2B5EF4-FFF2-40B4-BE49-F238E27FC236}">
                  <a16:creationId xmlns:a16="http://schemas.microsoft.com/office/drawing/2014/main" id="{507F7D91-A991-4196-AF73-327E04B562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213" name="Freeform: Shape 212">
              <a:extLst>
                <a:ext uri="{FF2B5EF4-FFF2-40B4-BE49-F238E27FC236}">
                  <a16:creationId xmlns:a16="http://schemas.microsoft.com/office/drawing/2014/main" id="{178739A9-E67C-40E5-9468-0A68AEC54E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grpSp>
      <p:pic>
        <p:nvPicPr>
          <p:cNvPr id="8" name="Picture 7">
            <a:extLst>
              <a:ext uri="{FF2B5EF4-FFF2-40B4-BE49-F238E27FC236}">
                <a16:creationId xmlns:a16="http://schemas.microsoft.com/office/drawing/2014/main" id="{37923EB8-0C7C-8722-2CFC-1923EA9D26FB}"/>
              </a:ext>
            </a:extLst>
          </p:cNvPr>
          <p:cNvPicPr>
            <a:picLocks noChangeAspect="1"/>
          </p:cNvPicPr>
          <p:nvPr/>
        </p:nvPicPr>
        <p:blipFill>
          <a:blip r:embed="rId2"/>
          <a:stretch>
            <a:fillRect/>
          </a:stretch>
        </p:blipFill>
        <p:spPr>
          <a:xfrm>
            <a:off x="270547" y="266783"/>
            <a:ext cx="11670914" cy="3462137"/>
          </a:xfrm>
          <a:prstGeom prst="rect">
            <a:avLst/>
          </a:prstGeom>
        </p:spPr>
      </p:pic>
    </p:spTree>
    <p:extLst>
      <p:ext uri="{BB962C8B-B14F-4D97-AF65-F5344CB8AC3E}">
        <p14:creationId xmlns:p14="http://schemas.microsoft.com/office/powerpoint/2010/main" val="1147853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C85B22C9-527C-9C9F-00DF-9390BE88E365}"/>
            </a:ext>
          </a:extLst>
        </p:cNvPr>
        <p:cNvGrpSpPr/>
        <p:nvPr/>
      </p:nvGrpSpPr>
      <p:grpSpPr>
        <a:xfrm>
          <a:off x="0" y="0"/>
          <a:ext cx="0" cy="0"/>
          <a:chOff x="0" y="0"/>
          <a:chExt cx="0" cy="0"/>
        </a:xfrm>
      </p:grpSpPr>
      <p:cxnSp>
        <p:nvCxnSpPr>
          <p:cNvPr id="365" name="Google Shape;365;p11">
            <a:extLst>
              <a:ext uri="{FF2B5EF4-FFF2-40B4-BE49-F238E27FC236}">
                <a16:creationId xmlns:a16="http://schemas.microsoft.com/office/drawing/2014/main" id="{AE177E21-74F2-9130-0CA3-46A0154EF840}"/>
              </a:ext>
              <a:ext uri="{C183D7F6-B498-43B3-948B-1728B52AA6E4}">
                <adec:decorative xmlns:adec="http://schemas.microsoft.com/office/drawing/2017/decorative" val="1"/>
              </a:ext>
            </a:extLst>
          </p:cNvPr>
          <p:cNvCxnSpPr/>
          <p:nvPr/>
        </p:nvCxnSpPr>
        <p:spPr>
          <a:xfrm rot="5400000">
            <a:off x="4714750" y="1691606"/>
            <a:ext cx="540000" cy="0"/>
          </a:xfrm>
          <a:prstGeom prst="straightConnector1">
            <a:avLst/>
          </a:prstGeom>
          <a:noFill/>
          <a:ln w="12700" cap="flat" cmpd="sng">
            <a:solidFill>
              <a:srgbClr val="FFFFFF"/>
            </a:solidFill>
            <a:prstDash val="solid"/>
            <a:round/>
            <a:headEnd type="none" w="sm" len="sm"/>
            <a:tailEnd type="none" w="sm" len="sm"/>
          </a:ln>
        </p:spPr>
      </p:cxnSp>
      <p:sp>
        <p:nvSpPr>
          <p:cNvPr id="2" name="Title 1">
            <a:extLst>
              <a:ext uri="{FF2B5EF4-FFF2-40B4-BE49-F238E27FC236}">
                <a16:creationId xmlns:a16="http://schemas.microsoft.com/office/drawing/2014/main" id="{73418260-E869-F2F3-FED1-644B3CCAA04E}"/>
              </a:ext>
            </a:extLst>
          </p:cNvPr>
          <p:cNvSpPr txBox="1">
            <a:spLocks/>
          </p:cNvSpPr>
          <p:nvPr/>
        </p:nvSpPr>
        <p:spPr>
          <a:xfrm>
            <a:off x="458724" y="278606"/>
            <a:ext cx="11274552" cy="1143000"/>
          </a:xfrm>
          <a:prstGeom prst="rect">
            <a:avLst/>
          </a:prstGeom>
          <a:noFill/>
          <a:ln>
            <a:noFill/>
          </a:ln>
        </p:spPr>
        <p:txBody>
          <a:bodyPr spcFirstLastPara="1" vert="horz" wrap="square" lIns="0" tIns="45720" rIns="10" bIns="45720" rtlCol="0" anchor="ctr" anchorCtr="0">
            <a:noAutofit/>
          </a:bodyPr>
          <a:lstStyle>
            <a:lvl1pPr lvl="0" algn="l" defTabSz="914400" rtl="0" eaLnBrk="1" latinLnBrk="0" hangingPunct="1">
              <a:lnSpc>
                <a:spcPct val="100000"/>
              </a:lnSpc>
              <a:spcBef>
                <a:spcPts val="0"/>
              </a:spcBef>
              <a:spcAft>
                <a:spcPts val="0"/>
              </a:spcAft>
              <a:buClr>
                <a:schemeClr val="dk1"/>
              </a:buClr>
              <a:buSzPts val="1800"/>
              <a:buNone/>
              <a:defRPr sz="4100" b="1" kern="1200">
                <a:solidFill>
                  <a:schemeClr val="tx2"/>
                </a:solidFill>
                <a:latin typeface="Text Me One" pitchFamily="2" charset="0"/>
                <a:ea typeface="+mj-ea"/>
                <a:cs typeface="+mj-c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prstClr val="black"/>
              </a:buClr>
              <a:buSzPts val="1800"/>
              <a:buFontTx/>
              <a:buNone/>
              <a:tabLst/>
              <a:defRPr/>
            </a:pPr>
            <a:r>
              <a:rPr kumimoji="0" lang="en-US" sz="4100" b="1" i="0" u="none" strike="noStrike" kern="1200" cap="none" spc="0" normalizeH="0" baseline="0" noProof="0" dirty="0">
                <a:ln>
                  <a:noFill/>
                </a:ln>
                <a:solidFill>
                  <a:srgbClr val="444F9C"/>
                </a:solidFill>
                <a:effectLst/>
                <a:uLnTx/>
                <a:uFillTx/>
                <a:latin typeface="Source Sans Pro" panose="020B0503030403020204" pitchFamily="34" charset="0"/>
                <a:ea typeface="Source Sans Pro" panose="020B0503030403020204" pitchFamily="34" charset="0"/>
              </a:rPr>
              <a:t>Our Focus in IA Right Now: </a:t>
            </a:r>
            <a:r>
              <a:rPr kumimoji="0" lang="en-US" sz="4100" b="1" i="0" u="none" strike="noStrike" kern="1200" cap="none" spc="0" normalizeH="0" baseline="0" noProof="0" dirty="0">
                <a:ln>
                  <a:noFill/>
                </a:ln>
                <a:solidFill>
                  <a:srgbClr val="FF5DBA">
                    <a:lumMod val="50000"/>
                  </a:srgbClr>
                </a:solidFill>
                <a:effectLst/>
                <a:uLnTx/>
                <a:uFillTx/>
                <a:latin typeface="Source Sans Pro" panose="020B0503030403020204" pitchFamily="34" charset="0"/>
                <a:ea typeface="Source Sans Pro" panose="020B0503030403020204" pitchFamily="34" charset="0"/>
              </a:rPr>
              <a:t>Support Browsing</a:t>
            </a:r>
          </a:p>
        </p:txBody>
      </p:sp>
      <p:sp>
        <p:nvSpPr>
          <p:cNvPr id="8" name="Content Placeholder 2">
            <a:extLst>
              <a:ext uri="{FF2B5EF4-FFF2-40B4-BE49-F238E27FC236}">
                <a16:creationId xmlns:a16="http://schemas.microsoft.com/office/drawing/2014/main" id="{FDAE748B-AC09-5ACB-8AF9-FE5BD4F548C1}"/>
              </a:ext>
            </a:extLst>
          </p:cNvPr>
          <p:cNvSpPr txBox="1">
            <a:spLocks/>
          </p:cNvSpPr>
          <p:nvPr/>
        </p:nvSpPr>
        <p:spPr>
          <a:xfrm>
            <a:off x="457200" y="1263197"/>
            <a:ext cx="9462977" cy="1143000"/>
          </a:xfrm>
          <a:prstGeom prst="rect">
            <a:avLst/>
          </a:prstGeom>
          <a:noFill/>
          <a:ln>
            <a:noFill/>
          </a:ln>
        </p:spPr>
        <p:txBody>
          <a:bodyPr spcFirstLastPara="1" vert="horz" wrap="square" lIns="0" tIns="45700" rIns="10" bIns="45700" rtlCol="0" anchor="t" anchorCtr="0">
            <a:noAutofit/>
          </a:bodyPr>
          <a:lstStyle>
            <a:lvl1pPr marL="457200" lvl="0" indent="-342900" algn="l" defTabSz="914400" rtl="0" eaLnBrk="1" latinLnBrk="0" hangingPunct="1">
              <a:lnSpc>
                <a:spcPct val="150000"/>
              </a:lnSpc>
              <a:spcBef>
                <a:spcPts val="1000"/>
              </a:spcBef>
              <a:spcAft>
                <a:spcPts val="0"/>
              </a:spcAft>
              <a:buSzPts val="1800"/>
              <a:buFont typeface="Arial" panose="020B0604020202020204" pitchFamily="34" charset="0"/>
              <a:buChar char="·"/>
              <a:defRPr sz="3100" kern="1200">
                <a:solidFill>
                  <a:schemeClr val="bg2">
                    <a:lumMod val="25000"/>
                  </a:schemeClr>
                </a:solidFill>
                <a:latin typeface="Avenir"/>
                <a:ea typeface="+mn-ea"/>
                <a:cs typeface="+mn-cs"/>
              </a:defRPr>
            </a:lvl1pPr>
            <a:lvl2pPr marL="914400" lvl="1" indent="-228600" algn="l" defTabSz="914400" rtl="0" eaLnBrk="1" latinLnBrk="0" hangingPunct="1">
              <a:lnSpc>
                <a:spcPct val="150000"/>
              </a:lnSpc>
              <a:spcBef>
                <a:spcPts val="500"/>
              </a:spcBef>
              <a:spcAft>
                <a:spcPts val="0"/>
              </a:spcAft>
              <a:buClr>
                <a:schemeClr val="dk1"/>
              </a:buClr>
              <a:buSzPts val="1800"/>
              <a:buFont typeface="Arial" panose="020B0604020202020204" pitchFamily="34" charset="0"/>
              <a:buNone/>
              <a:defRPr sz="2700" kern="1200">
                <a:solidFill>
                  <a:schemeClr val="bg2">
                    <a:lumMod val="25000"/>
                  </a:schemeClr>
                </a:solidFill>
                <a:latin typeface="Avenir"/>
                <a:ea typeface="+mn-ea"/>
                <a:cs typeface="+mn-cs"/>
              </a:defRPr>
            </a:lvl2pPr>
            <a:lvl3pPr marL="1371600" lvl="2" indent="-342900" algn="l" defTabSz="914400" rtl="0" eaLnBrk="1" latinLnBrk="0" hangingPunct="1">
              <a:lnSpc>
                <a:spcPct val="150000"/>
              </a:lnSpc>
              <a:spcBef>
                <a:spcPts val="500"/>
              </a:spcBef>
              <a:spcAft>
                <a:spcPts val="0"/>
              </a:spcAft>
              <a:buSzPts val="1800"/>
              <a:buFont typeface="Arial" panose="020B0604020202020204" pitchFamily="34" charset="0"/>
              <a:buChar char="·"/>
              <a:defRPr sz="2400" kern="1200">
                <a:solidFill>
                  <a:schemeClr val="bg2">
                    <a:lumMod val="25000"/>
                  </a:schemeClr>
                </a:solidFill>
                <a:latin typeface="Avenir"/>
                <a:ea typeface="+mn-ea"/>
                <a:cs typeface="+mn-cs"/>
              </a:defRPr>
            </a:lvl3pPr>
            <a:lvl4pPr marL="1828800" lvl="3" indent="-228600" algn="l" defTabSz="914400" rtl="0" eaLnBrk="1" latinLnBrk="0" hangingPunct="1">
              <a:lnSpc>
                <a:spcPct val="150000"/>
              </a:lnSpc>
              <a:spcBef>
                <a:spcPts val="500"/>
              </a:spcBef>
              <a:spcAft>
                <a:spcPts val="0"/>
              </a:spcAft>
              <a:buSzPts val="1800"/>
              <a:buFont typeface="Arial" panose="020B0604020202020204" pitchFamily="34" charset="0"/>
              <a:buNone/>
              <a:defRPr sz="2100" kern="1200">
                <a:solidFill>
                  <a:schemeClr val="bg2">
                    <a:lumMod val="25000"/>
                  </a:schemeClr>
                </a:solidFill>
                <a:latin typeface="Avenir"/>
                <a:ea typeface="+mn-ea"/>
                <a:cs typeface="+mn-cs"/>
              </a:defRPr>
            </a:lvl4pPr>
            <a:lvl5pPr marL="2286000" lvl="4" indent="-342900" algn="l" defTabSz="914400" rtl="0" eaLnBrk="1" latinLnBrk="0" hangingPunct="1">
              <a:lnSpc>
                <a:spcPct val="150000"/>
              </a:lnSpc>
              <a:spcBef>
                <a:spcPts val="500"/>
              </a:spcBef>
              <a:spcAft>
                <a:spcPts val="0"/>
              </a:spcAft>
              <a:buSzPts val="1800"/>
              <a:buFont typeface="Arial" panose="020B0604020202020204" pitchFamily="34" charset="0"/>
              <a:buChar char="·"/>
              <a:defRPr sz="2000" kern="1200">
                <a:solidFill>
                  <a:schemeClr val="bg2">
                    <a:lumMod val="25000"/>
                  </a:schemeClr>
                </a:solidFill>
                <a:latin typeface="Avenir"/>
                <a:ea typeface="+mn-ea"/>
                <a:cs typeface="+mn-cs"/>
              </a:defRPr>
            </a:lvl5pPr>
            <a:lvl6pPr marL="2743200" lvl="5"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Pts val="1800"/>
              <a:buFont typeface="Arial" panose="020B0604020202020204" pitchFamily="34" charset="0"/>
              <a:buNone/>
              <a:tabLst/>
              <a:defRPr/>
            </a:pPr>
            <a:r>
              <a:rPr kumimoji="0" lang="en-US" sz="2000" b="0" i="0" u="none" strike="noStrike" kern="1200" cap="none" spc="0" normalizeH="0" baseline="0" noProof="0" dirty="0">
                <a:ln>
                  <a:noFill/>
                </a:ln>
                <a:solidFill>
                  <a:srgbClr val="E8E8E8">
                    <a:lumMod val="25000"/>
                  </a:srgbClr>
                </a:solidFill>
                <a:effectLst/>
                <a:uLnTx/>
                <a:uFillTx/>
                <a:latin typeface="Avenir"/>
                <a:ea typeface="+mn-ea"/>
                <a:cs typeface="+mn-cs"/>
              </a:rPr>
              <a:t>For now, let's set aside searching to focus on browsing. We need to consider how the labels we choose, the navigation elements we create, and the organization and layouts we apply can support browsing types.</a:t>
            </a:r>
          </a:p>
        </p:txBody>
      </p:sp>
      <p:sp>
        <p:nvSpPr>
          <p:cNvPr id="11" name="TextBox 10">
            <a:extLst>
              <a:ext uri="{FF2B5EF4-FFF2-40B4-BE49-F238E27FC236}">
                <a16:creationId xmlns:a16="http://schemas.microsoft.com/office/drawing/2014/main" id="{7ACA461D-1765-F6E0-F060-C8F30409850D}"/>
              </a:ext>
            </a:extLst>
          </p:cNvPr>
          <p:cNvSpPr txBox="1"/>
          <p:nvPr/>
        </p:nvSpPr>
        <p:spPr>
          <a:xfrm>
            <a:off x="457200" y="6406552"/>
            <a:ext cx="11734800" cy="3231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500" b="0" i="0" u="none" strike="noStrike" kern="1200" cap="none" spc="0" normalizeH="0" baseline="0" noProof="0" dirty="0">
                <a:ln>
                  <a:noFill/>
                </a:ln>
                <a:solidFill>
                  <a:prstClr val="black"/>
                </a:solidFill>
                <a:effectLst/>
                <a:uLnTx/>
                <a:uFillTx/>
                <a:latin typeface="Avenir"/>
                <a:ea typeface="+mn-ea"/>
                <a:cs typeface="+mn-cs"/>
              </a:rPr>
              <a:t>Rosenfeld, Morville, &amp; Arango (2015). 5. The Anatomy of an Information Architecture. In </a:t>
            </a:r>
            <a:r>
              <a:rPr kumimoji="0" lang="en-US" sz="1500" b="0" i="1" u="none" strike="noStrike" kern="1200" cap="none" spc="0" normalizeH="0" baseline="0" noProof="0" dirty="0">
                <a:ln>
                  <a:noFill/>
                </a:ln>
                <a:solidFill>
                  <a:prstClr val="black"/>
                </a:solidFill>
                <a:effectLst/>
                <a:uLnTx/>
                <a:uFillTx/>
                <a:latin typeface="Avenir"/>
                <a:ea typeface="+mn-ea"/>
                <a:cs typeface="+mn-cs"/>
              </a:rPr>
              <a:t>Information Architecture, 4th Edition. </a:t>
            </a:r>
            <a:r>
              <a:rPr kumimoji="0" lang="en-US" sz="1500" b="0" i="0" u="none" strike="noStrike" kern="1200" cap="none" spc="0" normalizeH="0" baseline="0" noProof="0" dirty="0">
                <a:ln>
                  <a:noFill/>
                </a:ln>
                <a:solidFill>
                  <a:prstClr val="black"/>
                </a:solidFill>
                <a:effectLst/>
                <a:uLnTx/>
                <a:uFillTx/>
                <a:latin typeface="Avenir"/>
                <a:ea typeface="+mn-ea"/>
                <a:cs typeface="+mn-cs"/>
              </a:rPr>
              <a:t>O’Reilly Media, Inc.</a:t>
            </a:r>
          </a:p>
        </p:txBody>
      </p:sp>
      <p:sp>
        <p:nvSpPr>
          <p:cNvPr id="19" name="TextBox 18">
            <a:extLst>
              <a:ext uri="{FF2B5EF4-FFF2-40B4-BE49-F238E27FC236}">
                <a16:creationId xmlns:a16="http://schemas.microsoft.com/office/drawing/2014/main" id="{BEEDB48F-8371-46B5-BFBA-3C3285418467}"/>
              </a:ext>
            </a:extLst>
          </p:cNvPr>
          <p:cNvSpPr txBox="1"/>
          <p:nvPr/>
        </p:nvSpPr>
        <p:spPr>
          <a:xfrm>
            <a:off x="389984" y="4559893"/>
            <a:ext cx="3815497" cy="1554272"/>
          </a:xfrm>
          <a:prstGeom prst="rect">
            <a:avLst/>
          </a:prstGeom>
          <a:solidFill>
            <a:schemeClr val="bg1"/>
          </a:solidFill>
        </p:spPr>
        <p:txBody>
          <a:bodyPr wrap="square">
            <a:spAutoFit/>
          </a:bodyPr>
          <a:lstStyle/>
          <a:p>
            <a:pPr marL="228600" marR="0" lvl="0" indent="0" algn="l" defTabSz="914400" rtl="0" eaLnBrk="1" fontAlgn="auto" latinLnBrk="0" hangingPunct="1">
              <a:lnSpc>
                <a:spcPct val="100000"/>
              </a:lnSpc>
              <a:spcBef>
                <a:spcPts val="0"/>
              </a:spcBef>
              <a:spcAft>
                <a:spcPts val="1200"/>
              </a:spcAft>
              <a:buClrTx/>
              <a:buSzTx/>
              <a:buFontTx/>
              <a:buNone/>
              <a:tabLst/>
              <a:defRPr/>
            </a:pPr>
            <a:r>
              <a:rPr kumimoji="0" lang="en-US" sz="1900" b="0" i="1" u="none" strike="noStrike" kern="1200" cap="none" spc="0" normalizeH="0" baseline="0" noProof="0" dirty="0">
                <a:ln>
                  <a:noFill/>
                </a:ln>
                <a:solidFill>
                  <a:srgbClr val="9B8BBD">
                    <a:lumMod val="75000"/>
                  </a:srgbClr>
                </a:solidFill>
                <a:effectLst/>
                <a:uLnTx/>
                <a:uFillTx/>
                <a:latin typeface="Avenir"/>
                <a:ea typeface="+mn-ea"/>
                <a:cs typeface="+mn-cs"/>
              </a:rPr>
              <a:t>Organization systems present the site’s information to us in a variety of ways, such as content categories that pertain to the entire campus […].</a:t>
            </a:r>
          </a:p>
        </p:txBody>
      </p:sp>
      <p:sp>
        <p:nvSpPr>
          <p:cNvPr id="22" name="TextBox 21">
            <a:extLst>
              <a:ext uri="{FF2B5EF4-FFF2-40B4-BE49-F238E27FC236}">
                <a16:creationId xmlns:a16="http://schemas.microsoft.com/office/drawing/2014/main" id="{1A341B95-B002-0B0C-EFD8-05AB75EF8DBC}"/>
              </a:ext>
            </a:extLst>
          </p:cNvPr>
          <p:cNvSpPr txBox="1"/>
          <p:nvPr/>
        </p:nvSpPr>
        <p:spPr>
          <a:xfrm>
            <a:off x="4272697" y="4559893"/>
            <a:ext cx="3815497" cy="1554272"/>
          </a:xfrm>
          <a:prstGeom prst="rect">
            <a:avLst/>
          </a:prstGeom>
          <a:solidFill>
            <a:schemeClr val="bg1"/>
          </a:solidFill>
        </p:spPr>
        <p:txBody>
          <a:bodyPr wrap="square">
            <a:spAutoFit/>
          </a:bodyPr>
          <a:lstStyle/>
          <a:p>
            <a:pPr marL="228600" marR="0" lvl="0" indent="0" algn="l" defTabSz="914400" rtl="0" eaLnBrk="1" fontAlgn="auto" latinLnBrk="0" hangingPunct="1">
              <a:lnSpc>
                <a:spcPct val="100000"/>
              </a:lnSpc>
              <a:spcBef>
                <a:spcPts val="0"/>
              </a:spcBef>
              <a:spcAft>
                <a:spcPts val="1200"/>
              </a:spcAft>
              <a:buClrTx/>
              <a:buSzTx/>
              <a:buFontTx/>
              <a:buNone/>
              <a:tabLst/>
              <a:defRPr/>
            </a:pPr>
            <a:r>
              <a:rPr kumimoji="0" lang="en-US" sz="1900" b="0" i="1" u="none" strike="noStrike" kern="1200" cap="none" spc="0" normalizeH="0" baseline="0" noProof="0" dirty="0">
                <a:ln>
                  <a:noFill/>
                </a:ln>
                <a:solidFill>
                  <a:srgbClr val="9B8BBD">
                    <a:lumMod val="75000"/>
                  </a:srgbClr>
                </a:solidFill>
                <a:effectLst/>
                <a:uLnTx/>
                <a:uFillTx/>
                <a:latin typeface="Avenir"/>
                <a:ea typeface="+mn-ea"/>
                <a:cs typeface="+mn-cs"/>
              </a:rPr>
              <a:t>Navigation systems help users move through the content, such as with the custom organization of the individual drop-down menus in the main navigation bar.</a:t>
            </a:r>
          </a:p>
        </p:txBody>
      </p:sp>
      <p:sp>
        <p:nvSpPr>
          <p:cNvPr id="25" name="TextBox 24">
            <a:extLst>
              <a:ext uri="{FF2B5EF4-FFF2-40B4-BE49-F238E27FC236}">
                <a16:creationId xmlns:a16="http://schemas.microsoft.com/office/drawing/2014/main" id="{FAEDB079-1F1C-F108-9AF4-DDA6C6DED180}"/>
              </a:ext>
            </a:extLst>
          </p:cNvPr>
          <p:cNvSpPr txBox="1"/>
          <p:nvPr/>
        </p:nvSpPr>
        <p:spPr>
          <a:xfrm>
            <a:off x="8155410" y="4559893"/>
            <a:ext cx="4013475" cy="1846659"/>
          </a:xfrm>
          <a:prstGeom prst="rect">
            <a:avLst/>
          </a:prstGeom>
          <a:solidFill>
            <a:schemeClr val="bg1"/>
          </a:solidFill>
        </p:spPr>
        <p:txBody>
          <a:bodyPr wrap="square">
            <a:spAutoFit/>
          </a:bodyPr>
          <a:lstStyle/>
          <a:p>
            <a:pPr marL="228600" marR="0" lvl="0" indent="0" algn="l" defTabSz="914400" rtl="0" eaLnBrk="1" fontAlgn="auto" latinLnBrk="0" hangingPunct="1">
              <a:lnSpc>
                <a:spcPct val="100000"/>
              </a:lnSpc>
              <a:spcBef>
                <a:spcPts val="0"/>
              </a:spcBef>
              <a:spcAft>
                <a:spcPts val="0"/>
              </a:spcAft>
              <a:buClrTx/>
              <a:buSzTx/>
              <a:buFontTx/>
              <a:buNone/>
              <a:tabLst/>
              <a:defRPr/>
            </a:pPr>
            <a:r>
              <a:rPr kumimoji="0" lang="en-US" sz="1900" b="0" i="1" u="none" strike="noStrike" kern="1200" cap="none" spc="0" normalizeH="0" baseline="0" noProof="0" dirty="0">
                <a:ln>
                  <a:noFill/>
                </a:ln>
                <a:solidFill>
                  <a:srgbClr val="9B8BBD">
                    <a:lumMod val="75000"/>
                  </a:srgbClr>
                </a:solidFill>
                <a:effectLst/>
                <a:uLnTx/>
                <a:uFillTx/>
                <a:latin typeface="Avenir"/>
                <a:ea typeface="+mn-ea"/>
                <a:cs typeface="+mn-cs"/>
              </a:rPr>
              <a:t>Labeling systems describe categories, options, and links in language that (hopefully) is meaningful to users; you’ll see examples throughout the page (e.g., “Admission,” “Alumni,” “Events”).</a:t>
            </a:r>
          </a:p>
        </p:txBody>
      </p:sp>
      <p:pic>
        <p:nvPicPr>
          <p:cNvPr id="35" name="Picture 34">
            <a:extLst>
              <a:ext uri="{FF2B5EF4-FFF2-40B4-BE49-F238E27FC236}">
                <a16:creationId xmlns:a16="http://schemas.microsoft.com/office/drawing/2014/main" id="{5437AE60-1B7E-AF10-4EA4-9A34C0F332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9468" y="2381104"/>
            <a:ext cx="2667372" cy="2095792"/>
          </a:xfrm>
          <a:prstGeom prst="rect">
            <a:avLst/>
          </a:prstGeom>
          <a:effectLst>
            <a:softEdge rad="63500"/>
          </a:effectLst>
        </p:spPr>
      </p:pic>
      <p:pic>
        <p:nvPicPr>
          <p:cNvPr id="37" name="Picture 36">
            <a:extLst>
              <a:ext uri="{FF2B5EF4-FFF2-40B4-BE49-F238E27FC236}">
                <a16:creationId xmlns:a16="http://schemas.microsoft.com/office/drawing/2014/main" id="{BCF6C59F-DF05-A337-2E14-6B54F5A359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62314" y="2381104"/>
            <a:ext cx="2667372" cy="2095792"/>
          </a:xfrm>
          <a:prstGeom prst="rect">
            <a:avLst/>
          </a:prstGeom>
          <a:effectLst>
            <a:softEdge rad="63500"/>
          </a:effectLst>
        </p:spPr>
      </p:pic>
      <p:pic>
        <p:nvPicPr>
          <p:cNvPr id="41" name="Picture 40">
            <a:extLst>
              <a:ext uri="{FF2B5EF4-FFF2-40B4-BE49-F238E27FC236}">
                <a16:creationId xmlns:a16="http://schemas.microsoft.com/office/drawing/2014/main" id="{A4218DD3-F534-6E0D-8075-695B010FE3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5160" y="2406197"/>
            <a:ext cx="2667372" cy="2095792"/>
          </a:xfrm>
          <a:prstGeom prst="rect">
            <a:avLst/>
          </a:prstGeom>
          <a:effectLst>
            <a:softEdge rad="63500"/>
          </a:effectLst>
        </p:spPr>
      </p:pic>
    </p:spTree>
    <p:extLst>
      <p:ext uri="{BB962C8B-B14F-4D97-AF65-F5344CB8AC3E}">
        <p14:creationId xmlns:p14="http://schemas.microsoft.com/office/powerpoint/2010/main" val="40767926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3394DA-E684-47C2-9020-13225823F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9" name="Rectangle 8" descr="Document">
            <a:extLst>
              <a:ext uri="{FF2B5EF4-FFF2-40B4-BE49-F238E27FC236}">
                <a16:creationId xmlns:a16="http://schemas.microsoft.com/office/drawing/2014/main" id="{B121BAE6-0232-6C1B-5F28-329974949E61}"/>
              </a:ext>
            </a:extLst>
          </p:cNvPr>
          <p:cNvSpPr/>
          <p:nvPr/>
        </p:nvSpPr>
        <p:spPr>
          <a:xfrm>
            <a:off x="9980453" y="1417638"/>
            <a:ext cx="2318344" cy="2424902"/>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graphicFrame>
        <p:nvGraphicFramePr>
          <p:cNvPr id="5" name="Content Placeholder 2">
            <a:extLst>
              <a:ext uri="{FF2B5EF4-FFF2-40B4-BE49-F238E27FC236}">
                <a16:creationId xmlns:a16="http://schemas.microsoft.com/office/drawing/2014/main" id="{A96D3FE5-A469-5DF2-39A0-D326586E2B22}"/>
              </a:ext>
            </a:extLst>
          </p:cNvPr>
          <p:cNvGraphicFramePr>
            <a:graphicFrameLocks noGrp="1"/>
          </p:cNvGraphicFramePr>
          <p:nvPr>
            <p:ph idx="1"/>
          </p:nvPr>
        </p:nvGraphicFramePr>
        <p:xfrm>
          <a:off x="680484" y="1417638"/>
          <a:ext cx="9409814" cy="46672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itle 1">
            <a:extLst>
              <a:ext uri="{FF2B5EF4-FFF2-40B4-BE49-F238E27FC236}">
                <a16:creationId xmlns:a16="http://schemas.microsoft.com/office/drawing/2014/main" id="{2BD17694-517A-8500-B007-31B8AC1724B1}"/>
              </a:ext>
            </a:extLst>
          </p:cNvPr>
          <p:cNvSpPr>
            <a:spLocks noGrp="1"/>
          </p:cNvSpPr>
          <p:nvPr>
            <p:ph type="title"/>
          </p:nvPr>
        </p:nvSpPr>
        <p:spPr>
          <a:xfrm>
            <a:off x="680484" y="274638"/>
            <a:ext cx="11052856" cy="1143000"/>
          </a:xfrm>
        </p:spPr>
        <p:txBody>
          <a:bodyPr vert="horz" lIns="0" tIns="45720" rIns="10" bIns="45720" rtlCol="0" anchor="ctr">
            <a:noAutofit/>
          </a:bodyPr>
          <a:lstStyle/>
          <a:p>
            <a:pPr algn="l"/>
            <a:r>
              <a:rPr lang="en-US" dirty="0"/>
              <a:t>Supporting Browsing for Known Information</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42929E-C048-815E-5718-7F1AE77AF5F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274" name="Freeform: Shape 273">
            <a:extLst>
              <a:ext uri="{FF2B5EF4-FFF2-40B4-BE49-F238E27FC236}">
                <a16:creationId xmlns:a16="http://schemas.microsoft.com/office/drawing/2014/main" id="{934681FB-A833-C323-5A4D-970768511967}"/>
              </a:ext>
            </a:extLst>
          </p:cNvPr>
          <p:cNvSpPr/>
          <p:nvPr/>
        </p:nvSpPr>
        <p:spPr>
          <a:xfrm>
            <a:off x="1428277" y="288485"/>
            <a:ext cx="2074543" cy="1659634"/>
          </a:xfrm>
          <a:custGeom>
            <a:avLst/>
            <a:gdLst>
              <a:gd name="csX0" fmla="*/ 0 w 2074543"/>
              <a:gd name="csY0" fmla="*/ 0 h 1659634"/>
              <a:gd name="csX1" fmla="*/ 2074544 w 2074543"/>
              <a:gd name="csY1" fmla="*/ 0 h 1659634"/>
              <a:gd name="csX2" fmla="*/ 0 w 2074543"/>
              <a:gd name="csY2" fmla="*/ 1659635 h 1659634"/>
            </a:gdLst>
            <a:ahLst/>
            <a:cxnLst>
              <a:cxn ang="0">
                <a:pos x="csX0" y="csY0"/>
              </a:cxn>
              <a:cxn ang="0">
                <a:pos x="csX1" y="csY1"/>
              </a:cxn>
              <a:cxn ang="0">
                <a:pos x="csX2" y="csY2"/>
              </a:cxn>
            </a:cxnLst>
            <a:rect l="l" t="t" r="r" b="b"/>
            <a:pathLst>
              <a:path w="2074543" h="1659634">
                <a:moveTo>
                  <a:pt x="0" y="0"/>
                </a:moveTo>
                <a:lnTo>
                  <a:pt x="2074544" y="0"/>
                </a:lnTo>
                <a:lnTo>
                  <a:pt x="0" y="1659635"/>
                </a:lnTo>
                <a:close/>
              </a:path>
            </a:pathLst>
          </a:custGeom>
          <a:solidFill>
            <a:srgbClr val="FEF8DD">
              <a:alpha val="5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7" name="Freeform: Shape 1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19" name="Rectangle 1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1" name="Rectangle 2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3" name="Freeform: Shape 2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25" name="Isosceles Triangle 2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191" name="Oval 190">
            <a:extLst>
              <a:ext uri="{FF2B5EF4-FFF2-40B4-BE49-F238E27FC236}">
                <a16:creationId xmlns:a16="http://schemas.microsoft.com/office/drawing/2014/main" id="{2E169017-4899-85DA-DC7A-04133A0AF1D6}"/>
              </a:ext>
            </a:extLst>
          </p:cNvPr>
          <p:cNvSpPr/>
          <p:nvPr/>
        </p:nvSpPr>
        <p:spPr>
          <a:xfrm>
            <a:off x="1058316" y="5004614"/>
            <a:ext cx="1929325" cy="1929325"/>
          </a:xfrm>
          <a:prstGeom prst="ellipse">
            <a:avLst/>
          </a:prstGeom>
          <a:solidFill>
            <a:srgbClr val="F4F4F4">
              <a:alpha val="60000"/>
            </a:srgbClr>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2" name="Oval 191">
            <a:extLst>
              <a:ext uri="{FF2B5EF4-FFF2-40B4-BE49-F238E27FC236}">
                <a16:creationId xmlns:a16="http://schemas.microsoft.com/office/drawing/2014/main" id="{0F1240A1-2D88-6C21-0ABA-F2A402D385A5}"/>
              </a:ext>
            </a:extLst>
          </p:cNvPr>
          <p:cNvSpPr/>
          <p:nvPr/>
        </p:nvSpPr>
        <p:spPr>
          <a:xfrm>
            <a:off x="1433463" y="5379761"/>
            <a:ext cx="1179032" cy="1179032"/>
          </a:xfrm>
          <a:prstGeom prst="ellipse">
            <a:avLst/>
          </a:prstGeom>
          <a:solidFill>
            <a:srgbClr val="EDEEF5">
              <a:alpha val="50000"/>
            </a:srgbClr>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3" name="TextBox 192">
            <a:extLst>
              <a:ext uri="{FF2B5EF4-FFF2-40B4-BE49-F238E27FC236}">
                <a16:creationId xmlns:a16="http://schemas.microsoft.com/office/drawing/2014/main" id="{27784C30-A873-4BDA-9E83-3248FE16F220}"/>
              </a:ext>
            </a:extLst>
          </p:cNvPr>
          <p:cNvSpPr txBox="1"/>
          <p:nvPr/>
        </p:nvSpPr>
        <p:spPr>
          <a:xfrm>
            <a:off x="4199487" y="236016"/>
            <a:ext cx="3959738"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solidFill>
                  <a:srgbClr val="444F9C"/>
                </a:solidFill>
                <a:effectLst/>
                <a:uLnTx/>
                <a:uFillTx/>
                <a:latin typeface="Source Sans Pro" panose="020B0503030403020204" pitchFamily="34" charset="0"/>
                <a:ea typeface="Source Sans Pro" panose="020B0503030403020204" pitchFamily="34" charset="0"/>
                <a:cs typeface="Segoe UI"/>
                <a:sym typeface="Segoe UI"/>
                <a:rtl val="0"/>
              </a:rPr>
              <a:t>Known-Item Seeking</a:t>
            </a:r>
          </a:p>
        </p:txBody>
      </p:sp>
      <p:sp>
        <p:nvSpPr>
          <p:cNvPr id="194" name="TextBox 193">
            <a:extLst>
              <a:ext uri="{FF2B5EF4-FFF2-40B4-BE49-F238E27FC236}">
                <a16:creationId xmlns:a16="http://schemas.microsoft.com/office/drawing/2014/main" id="{FAB4BFDB-8E0A-547E-3D54-A2D4E70DF43E}"/>
              </a:ext>
            </a:extLst>
          </p:cNvPr>
          <p:cNvSpPr txBox="1"/>
          <p:nvPr/>
        </p:nvSpPr>
        <p:spPr>
          <a:xfrm>
            <a:off x="4026331" y="730424"/>
            <a:ext cx="413933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solidFill>
                  <a:srgbClr val="E8E8E8">
                    <a:lumMod val="25000"/>
                  </a:srgbClr>
                </a:solidFill>
                <a:effectLst/>
                <a:uLnTx/>
                <a:uFillTx/>
                <a:latin typeface="Avenir"/>
                <a:ea typeface="+mn-ea"/>
                <a:cs typeface="Segoe UI"/>
                <a:sym typeface="Segoe UI"/>
                <a:rtl val="0"/>
              </a:rPr>
              <a:t>Users seek one specific, definitive answer</a:t>
            </a:r>
          </a:p>
        </p:txBody>
      </p:sp>
      <p:sp>
        <p:nvSpPr>
          <p:cNvPr id="195" name="Rectangle 194">
            <a:extLst>
              <a:ext uri="{FF2B5EF4-FFF2-40B4-BE49-F238E27FC236}">
                <a16:creationId xmlns:a16="http://schemas.microsoft.com/office/drawing/2014/main" id="{DC620886-32F9-CA18-D528-C0F96B1F94B7}"/>
              </a:ext>
            </a:extLst>
          </p:cNvPr>
          <p:cNvSpPr/>
          <p:nvPr/>
        </p:nvSpPr>
        <p:spPr>
          <a:xfrm>
            <a:off x="2022979" y="1167400"/>
            <a:ext cx="8146042" cy="5252053"/>
          </a:xfrm>
          <a:prstGeom prst="rect">
            <a:avLst/>
          </a:prstGeom>
          <a:solidFill>
            <a:srgbClr val="F0F1F7"/>
          </a:solidFill>
          <a:ln w="16066"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6" name="Rectangle 195">
            <a:extLst>
              <a:ext uri="{FF2B5EF4-FFF2-40B4-BE49-F238E27FC236}">
                <a16:creationId xmlns:a16="http://schemas.microsoft.com/office/drawing/2014/main" id="{1FA986D1-04AC-D03A-BDA4-67BCCFC83B9F}"/>
              </a:ext>
            </a:extLst>
          </p:cNvPr>
          <p:cNvSpPr/>
          <p:nvPr/>
        </p:nvSpPr>
        <p:spPr>
          <a:xfrm>
            <a:off x="2022979" y="1167400"/>
            <a:ext cx="8146042" cy="407302"/>
          </a:xfrm>
          <a:prstGeom prst="rect">
            <a:avLst/>
          </a:prstGeom>
          <a:solidFill>
            <a:srgbClr val="444F9C"/>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7" name="Rectangle 196">
            <a:extLst>
              <a:ext uri="{FF2B5EF4-FFF2-40B4-BE49-F238E27FC236}">
                <a16:creationId xmlns:a16="http://schemas.microsoft.com/office/drawing/2014/main" id="{4BD2CD8D-5C60-6125-C535-904E6DFE5C9A}"/>
              </a:ext>
            </a:extLst>
          </p:cNvPr>
          <p:cNvSpPr/>
          <p:nvPr/>
        </p:nvSpPr>
        <p:spPr>
          <a:xfrm>
            <a:off x="2022979" y="1403206"/>
            <a:ext cx="8146042" cy="171495"/>
          </a:xfrm>
          <a:prstGeom prst="rect">
            <a:avLst/>
          </a:prstGeom>
          <a:solidFill>
            <a:srgbClr val="444F9C"/>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8" name="Oval 197">
            <a:extLst>
              <a:ext uri="{FF2B5EF4-FFF2-40B4-BE49-F238E27FC236}">
                <a16:creationId xmlns:a16="http://schemas.microsoft.com/office/drawing/2014/main" id="{BC3079DB-35DC-FB8C-002E-E815D28B74E5}"/>
              </a:ext>
            </a:extLst>
          </p:cNvPr>
          <p:cNvSpPr/>
          <p:nvPr/>
        </p:nvSpPr>
        <p:spPr>
          <a:xfrm>
            <a:off x="2237348" y="1306740"/>
            <a:ext cx="128621" cy="128621"/>
          </a:xfrm>
          <a:prstGeom prst="ellipse">
            <a:avLst/>
          </a:prstGeom>
          <a:solidFill>
            <a:srgbClr val="C23592">
              <a:alpha val="90000"/>
            </a:srgbClr>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9" name="Oval 198">
            <a:extLst>
              <a:ext uri="{FF2B5EF4-FFF2-40B4-BE49-F238E27FC236}">
                <a16:creationId xmlns:a16="http://schemas.microsoft.com/office/drawing/2014/main" id="{68BEB3FB-572C-BC08-2DC6-E4422F2E9A1D}"/>
              </a:ext>
            </a:extLst>
          </p:cNvPr>
          <p:cNvSpPr/>
          <p:nvPr/>
        </p:nvSpPr>
        <p:spPr>
          <a:xfrm>
            <a:off x="2451718" y="1306740"/>
            <a:ext cx="128621" cy="128621"/>
          </a:xfrm>
          <a:prstGeom prst="ellipse">
            <a:avLst/>
          </a:prstGeom>
          <a:solidFill>
            <a:srgbClr val="FDE379"/>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0" name="Oval 199">
            <a:extLst>
              <a:ext uri="{FF2B5EF4-FFF2-40B4-BE49-F238E27FC236}">
                <a16:creationId xmlns:a16="http://schemas.microsoft.com/office/drawing/2014/main" id="{53AF72F4-37DE-4C23-B287-643CC4925C4C}"/>
              </a:ext>
            </a:extLst>
          </p:cNvPr>
          <p:cNvSpPr/>
          <p:nvPr/>
        </p:nvSpPr>
        <p:spPr>
          <a:xfrm>
            <a:off x="2666087" y="1306740"/>
            <a:ext cx="128621" cy="128621"/>
          </a:xfrm>
          <a:prstGeom prst="ellipse">
            <a:avLst/>
          </a:prstGeom>
          <a:solidFill>
            <a:srgbClr val="4E42DA">
              <a:alpha val="70000"/>
            </a:srgbClr>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1" name="Rectangle 200">
            <a:extLst>
              <a:ext uri="{FF2B5EF4-FFF2-40B4-BE49-F238E27FC236}">
                <a16:creationId xmlns:a16="http://schemas.microsoft.com/office/drawing/2014/main" id="{62AE57D8-72A9-11D8-11BD-4A0721776068}"/>
              </a:ext>
            </a:extLst>
          </p:cNvPr>
          <p:cNvSpPr/>
          <p:nvPr/>
        </p:nvSpPr>
        <p:spPr>
          <a:xfrm>
            <a:off x="3009079" y="1231710"/>
            <a:ext cx="5680792" cy="257243"/>
          </a:xfrm>
          <a:prstGeom prst="rect">
            <a:avLst/>
          </a:prstGeom>
          <a:solidFill>
            <a:srgbClr val="FFFFFF">
              <a:alpha val="20000"/>
            </a:srgbClr>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2" name="TextBox 201">
            <a:extLst>
              <a:ext uri="{FF2B5EF4-FFF2-40B4-BE49-F238E27FC236}">
                <a16:creationId xmlns:a16="http://schemas.microsoft.com/office/drawing/2014/main" id="{217D2E62-D8A9-087C-27D0-51AAD161CACD}"/>
              </a:ext>
            </a:extLst>
          </p:cNvPr>
          <p:cNvSpPr txBox="1"/>
          <p:nvPr/>
        </p:nvSpPr>
        <p:spPr>
          <a:xfrm>
            <a:off x="4279027" y="1195558"/>
            <a:ext cx="3140896"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statedata.gov / rankings / per-capita-income</a:t>
            </a:r>
          </a:p>
        </p:txBody>
      </p:sp>
      <p:sp>
        <p:nvSpPr>
          <p:cNvPr id="203" name="Rectangle 202">
            <a:extLst>
              <a:ext uri="{FF2B5EF4-FFF2-40B4-BE49-F238E27FC236}">
                <a16:creationId xmlns:a16="http://schemas.microsoft.com/office/drawing/2014/main" id="{8ACE0F49-654D-83DF-AC3F-EB89356B0F84}"/>
              </a:ext>
            </a:extLst>
          </p:cNvPr>
          <p:cNvSpPr/>
          <p:nvPr/>
        </p:nvSpPr>
        <p:spPr>
          <a:xfrm>
            <a:off x="2022979" y="1574702"/>
            <a:ext cx="8146042" cy="450176"/>
          </a:xfrm>
          <a:prstGeom prst="rect">
            <a:avLst/>
          </a:prstGeom>
          <a:solidFill>
            <a:srgbClr val="FFFFFF"/>
          </a:solidFill>
          <a:ln w="10710"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4" name="Rectangle 203">
            <a:extLst>
              <a:ext uri="{FF2B5EF4-FFF2-40B4-BE49-F238E27FC236}">
                <a16:creationId xmlns:a16="http://schemas.microsoft.com/office/drawing/2014/main" id="{A29D7057-397E-A111-9FAC-0AD6E720892B}"/>
              </a:ext>
            </a:extLst>
          </p:cNvPr>
          <p:cNvSpPr/>
          <p:nvPr/>
        </p:nvSpPr>
        <p:spPr>
          <a:xfrm>
            <a:off x="2237348" y="1681886"/>
            <a:ext cx="214369" cy="214369"/>
          </a:xfrm>
          <a:prstGeom prst="rect">
            <a:avLst/>
          </a:prstGeom>
          <a:solidFill>
            <a:srgbClr val="444F9C"/>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5" name="TextBox 204">
            <a:extLst>
              <a:ext uri="{FF2B5EF4-FFF2-40B4-BE49-F238E27FC236}">
                <a16:creationId xmlns:a16="http://schemas.microsoft.com/office/drawing/2014/main" id="{49139EF3-5A3A-317B-B960-8A9F79000355}"/>
              </a:ext>
            </a:extLst>
          </p:cNvPr>
          <p:cNvSpPr txBox="1"/>
          <p:nvPr/>
        </p:nvSpPr>
        <p:spPr>
          <a:xfrm>
            <a:off x="2446026" y="1634167"/>
            <a:ext cx="921136" cy="3052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StateData</a:t>
            </a:r>
          </a:p>
        </p:txBody>
      </p:sp>
      <p:sp>
        <p:nvSpPr>
          <p:cNvPr id="206" name="TextBox 205">
            <a:extLst>
              <a:ext uri="{FF2B5EF4-FFF2-40B4-BE49-F238E27FC236}">
                <a16:creationId xmlns:a16="http://schemas.microsoft.com/office/drawing/2014/main" id="{2D867751-97C9-0451-D4E8-250D9885F545}"/>
              </a:ext>
            </a:extLst>
          </p:cNvPr>
          <p:cNvSpPr txBox="1"/>
          <p:nvPr/>
        </p:nvSpPr>
        <p:spPr>
          <a:xfrm>
            <a:off x="4289604" y="1645734"/>
            <a:ext cx="585063"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Home</a:t>
            </a:r>
          </a:p>
        </p:txBody>
      </p:sp>
      <p:sp>
        <p:nvSpPr>
          <p:cNvPr id="207" name="TextBox 206">
            <a:extLst>
              <a:ext uri="{FF2B5EF4-FFF2-40B4-BE49-F238E27FC236}">
                <a16:creationId xmlns:a16="http://schemas.microsoft.com/office/drawing/2014/main" id="{A8440199-7D49-919D-65DC-F1EF93CF440D}"/>
              </a:ext>
            </a:extLst>
          </p:cNvPr>
          <p:cNvSpPr txBox="1"/>
          <p:nvPr/>
        </p:nvSpPr>
        <p:spPr>
          <a:xfrm>
            <a:off x="4911275" y="1645734"/>
            <a:ext cx="781795"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Rankings</a:t>
            </a:r>
          </a:p>
        </p:txBody>
      </p:sp>
      <p:sp>
        <p:nvSpPr>
          <p:cNvPr id="208" name="TextBox 207">
            <a:extLst>
              <a:ext uri="{FF2B5EF4-FFF2-40B4-BE49-F238E27FC236}">
                <a16:creationId xmlns:a16="http://schemas.microsoft.com/office/drawing/2014/main" id="{0654B1C2-23EE-1B1D-CB51-BD219190596C}"/>
              </a:ext>
            </a:extLst>
          </p:cNvPr>
          <p:cNvSpPr txBox="1"/>
          <p:nvPr/>
        </p:nvSpPr>
        <p:spPr>
          <a:xfrm>
            <a:off x="5661569" y="1645734"/>
            <a:ext cx="545863"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Maps</a:t>
            </a:r>
          </a:p>
        </p:txBody>
      </p:sp>
      <p:sp>
        <p:nvSpPr>
          <p:cNvPr id="209" name="TextBox 208">
            <a:extLst>
              <a:ext uri="{FF2B5EF4-FFF2-40B4-BE49-F238E27FC236}">
                <a16:creationId xmlns:a16="http://schemas.microsoft.com/office/drawing/2014/main" id="{0FAABB99-56FD-849F-EFD7-B65C5481AF84}"/>
              </a:ext>
            </a:extLst>
          </p:cNvPr>
          <p:cNvSpPr txBox="1"/>
          <p:nvPr/>
        </p:nvSpPr>
        <p:spPr>
          <a:xfrm>
            <a:off x="6240366" y="1645734"/>
            <a:ext cx="78817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Compare</a:t>
            </a:r>
          </a:p>
        </p:txBody>
      </p:sp>
      <p:sp>
        <p:nvSpPr>
          <p:cNvPr id="210" name="TextBox 209">
            <a:extLst>
              <a:ext uri="{FF2B5EF4-FFF2-40B4-BE49-F238E27FC236}">
                <a16:creationId xmlns:a16="http://schemas.microsoft.com/office/drawing/2014/main" id="{C172CC37-D456-AA25-CB25-1609982B1677}"/>
              </a:ext>
            </a:extLst>
          </p:cNvPr>
          <p:cNvSpPr txBox="1"/>
          <p:nvPr/>
        </p:nvSpPr>
        <p:spPr>
          <a:xfrm>
            <a:off x="6904912" y="1645734"/>
            <a:ext cx="491643"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Data</a:t>
            </a:r>
          </a:p>
        </p:txBody>
      </p:sp>
      <p:sp>
        <p:nvSpPr>
          <p:cNvPr id="211" name="Rectangle 210">
            <a:extLst>
              <a:ext uri="{FF2B5EF4-FFF2-40B4-BE49-F238E27FC236}">
                <a16:creationId xmlns:a16="http://schemas.microsoft.com/office/drawing/2014/main" id="{86B1DD30-A947-308A-2822-792621690B63}"/>
              </a:ext>
            </a:extLst>
          </p:cNvPr>
          <p:cNvSpPr/>
          <p:nvPr/>
        </p:nvSpPr>
        <p:spPr>
          <a:xfrm>
            <a:off x="7853830" y="1671168"/>
            <a:ext cx="2015073" cy="257243"/>
          </a:xfrm>
          <a:prstGeom prst="rect">
            <a:avLst/>
          </a:prstGeom>
          <a:solidFill>
            <a:srgbClr val="F0F1F7"/>
          </a:solidFill>
          <a:ln w="10710"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12" name="TextBox 211">
            <a:extLst>
              <a:ext uri="{FF2B5EF4-FFF2-40B4-BE49-F238E27FC236}">
                <a16:creationId xmlns:a16="http://schemas.microsoft.com/office/drawing/2014/main" id="{B2CDFBD3-70BF-C2DA-C033-CE1B8E60589A}"/>
              </a:ext>
            </a:extLst>
          </p:cNvPr>
          <p:cNvSpPr txBox="1"/>
          <p:nvPr/>
        </p:nvSpPr>
        <p:spPr>
          <a:xfrm>
            <a:off x="8281980" y="1635015"/>
            <a:ext cx="1158774"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Search states…</a:t>
            </a:r>
          </a:p>
        </p:txBody>
      </p:sp>
      <p:sp>
        <p:nvSpPr>
          <p:cNvPr id="213" name="Oval 212">
            <a:extLst>
              <a:ext uri="{FF2B5EF4-FFF2-40B4-BE49-F238E27FC236}">
                <a16:creationId xmlns:a16="http://schemas.microsoft.com/office/drawing/2014/main" id="{0420C09B-7837-0DC2-0C87-4FF486A8E805}"/>
              </a:ext>
            </a:extLst>
          </p:cNvPr>
          <p:cNvSpPr/>
          <p:nvPr/>
        </p:nvSpPr>
        <p:spPr>
          <a:xfrm>
            <a:off x="9665253" y="1735479"/>
            <a:ext cx="128621" cy="128621"/>
          </a:xfrm>
          <a:prstGeom prst="ellipse">
            <a:avLst/>
          </a:prstGeom>
          <a:noFill/>
          <a:ln w="19279" cap="flat">
            <a:solidFill>
              <a:srgbClr val="3E576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14" name="Freeform: Shape 213">
            <a:extLst>
              <a:ext uri="{FF2B5EF4-FFF2-40B4-BE49-F238E27FC236}">
                <a16:creationId xmlns:a16="http://schemas.microsoft.com/office/drawing/2014/main" id="{DF6FFEC0-778C-99F8-5636-ED434ABE29DB}"/>
              </a:ext>
            </a:extLst>
          </p:cNvPr>
          <p:cNvSpPr/>
          <p:nvPr/>
        </p:nvSpPr>
        <p:spPr>
          <a:xfrm>
            <a:off x="9783156" y="1853382"/>
            <a:ext cx="53592" cy="53592"/>
          </a:xfrm>
          <a:custGeom>
            <a:avLst/>
            <a:gdLst>
              <a:gd name="csX0" fmla="*/ 0 w 53592"/>
              <a:gd name="csY0" fmla="*/ 0 h 53592"/>
              <a:gd name="csX1" fmla="*/ 53592 w 53592"/>
              <a:gd name="csY1" fmla="*/ 53592 h 53592"/>
            </a:gdLst>
            <a:ahLst/>
            <a:cxnLst>
              <a:cxn ang="0">
                <a:pos x="csX0" y="csY0"/>
              </a:cxn>
              <a:cxn ang="0">
                <a:pos x="csX1" y="csY1"/>
              </a:cxn>
            </a:cxnLst>
            <a:rect l="l" t="t" r="r" b="b"/>
            <a:pathLst>
              <a:path w="53592" h="53592">
                <a:moveTo>
                  <a:pt x="0" y="0"/>
                </a:moveTo>
                <a:lnTo>
                  <a:pt x="53592" y="53592"/>
                </a:lnTo>
              </a:path>
            </a:pathLst>
          </a:custGeom>
          <a:ln w="19279" cap="rnd">
            <a:solidFill>
              <a:srgbClr val="3E576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15" name="Rectangle 214">
            <a:extLst>
              <a:ext uri="{FF2B5EF4-FFF2-40B4-BE49-F238E27FC236}">
                <a16:creationId xmlns:a16="http://schemas.microsoft.com/office/drawing/2014/main" id="{DC3F5724-E0B3-A364-EBA7-6F2C5DB77CD8}"/>
              </a:ext>
            </a:extLst>
          </p:cNvPr>
          <p:cNvSpPr/>
          <p:nvPr/>
        </p:nvSpPr>
        <p:spPr>
          <a:xfrm>
            <a:off x="2022979" y="2024878"/>
            <a:ext cx="8146042" cy="1114721"/>
          </a:xfrm>
          <a:prstGeom prst="rect">
            <a:avLst/>
          </a:prstGeom>
          <a:solidFill>
            <a:srgbClr val="FFFFFF"/>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16" name="Freeform: Shape 215">
            <a:extLst>
              <a:ext uri="{FF2B5EF4-FFF2-40B4-BE49-F238E27FC236}">
                <a16:creationId xmlns:a16="http://schemas.microsoft.com/office/drawing/2014/main" id="{DF25BBCE-B6A1-C74B-BBD1-C72EF24D3976}"/>
              </a:ext>
            </a:extLst>
          </p:cNvPr>
          <p:cNvSpPr/>
          <p:nvPr/>
        </p:nvSpPr>
        <p:spPr>
          <a:xfrm>
            <a:off x="7918141" y="2024878"/>
            <a:ext cx="2143695" cy="1114721"/>
          </a:xfrm>
          <a:custGeom>
            <a:avLst/>
            <a:gdLst>
              <a:gd name="csX0" fmla="*/ 0 w 2143695"/>
              <a:gd name="csY0" fmla="*/ 0 h 1114721"/>
              <a:gd name="csX1" fmla="*/ 2143695 w 2143695"/>
              <a:gd name="csY1" fmla="*/ 0 h 1114721"/>
              <a:gd name="csX2" fmla="*/ 2143695 w 2143695"/>
              <a:gd name="csY2" fmla="*/ 1114722 h 1114721"/>
              <a:gd name="csX3" fmla="*/ 857478 w 2143695"/>
              <a:gd name="csY3" fmla="*/ 1114722 h 1114721"/>
            </a:gdLst>
            <a:ahLst/>
            <a:cxnLst>
              <a:cxn ang="0">
                <a:pos x="csX0" y="csY0"/>
              </a:cxn>
              <a:cxn ang="0">
                <a:pos x="csX1" y="csY1"/>
              </a:cxn>
              <a:cxn ang="0">
                <a:pos x="csX2" y="csY2"/>
              </a:cxn>
              <a:cxn ang="0">
                <a:pos x="csX3" y="csY3"/>
              </a:cxn>
            </a:cxnLst>
            <a:rect l="l" t="t" r="r" b="b"/>
            <a:pathLst>
              <a:path w="2143695" h="1114721">
                <a:moveTo>
                  <a:pt x="0" y="0"/>
                </a:moveTo>
                <a:lnTo>
                  <a:pt x="2143695" y="0"/>
                </a:lnTo>
                <a:lnTo>
                  <a:pt x="2143695" y="1114722"/>
                </a:lnTo>
                <a:lnTo>
                  <a:pt x="857478" y="1114722"/>
                </a:lnTo>
                <a:close/>
              </a:path>
            </a:pathLst>
          </a:custGeom>
          <a:solidFill>
            <a:srgbClr val="FEF8DD">
              <a:alpha val="60000"/>
            </a:srgbClr>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17" name="TextBox 216">
            <a:extLst>
              <a:ext uri="{FF2B5EF4-FFF2-40B4-BE49-F238E27FC236}">
                <a16:creationId xmlns:a16="http://schemas.microsoft.com/office/drawing/2014/main" id="{15CE7BBB-2226-79EC-4550-B4D4139453C7}"/>
              </a:ext>
            </a:extLst>
          </p:cNvPr>
          <p:cNvSpPr txBox="1"/>
          <p:nvPr/>
        </p:nvSpPr>
        <p:spPr>
          <a:xfrm>
            <a:off x="2767580" y="2146958"/>
            <a:ext cx="2892069" cy="3337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solidFill>
                  <a:srgbClr val="444F9C"/>
                </a:solidFill>
                <a:effectLst/>
                <a:uLnTx/>
                <a:uFillTx/>
                <a:latin typeface="Segoe UI"/>
                <a:ea typeface="+mn-ea"/>
                <a:cs typeface="Segoe UI"/>
                <a:sym typeface="Segoe UI"/>
                <a:rtl val="0"/>
              </a:rPr>
              <a:t>Per-Capita Income by U.S. State</a:t>
            </a:r>
          </a:p>
        </p:txBody>
      </p:sp>
      <p:sp>
        <p:nvSpPr>
          <p:cNvPr id="218" name="TextBox 217">
            <a:extLst>
              <a:ext uri="{FF2B5EF4-FFF2-40B4-BE49-F238E27FC236}">
                <a16:creationId xmlns:a16="http://schemas.microsoft.com/office/drawing/2014/main" id="{14C3E016-D3C2-8AC4-C37F-91BB8441FCC0}"/>
              </a:ext>
            </a:extLst>
          </p:cNvPr>
          <p:cNvSpPr txBox="1"/>
          <p:nvPr/>
        </p:nvSpPr>
        <p:spPr>
          <a:xfrm>
            <a:off x="2767580" y="2396027"/>
            <a:ext cx="4291908"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Direct lookup · Verified data · Source: U.S. Census Bureau 2023</a:t>
            </a:r>
          </a:p>
        </p:txBody>
      </p:sp>
      <p:sp>
        <p:nvSpPr>
          <p:cNvPr id="219" name="Rectangle 218">
            <a:extLst>
              <a:ext uri="{FF2B5EF4-FFF2-40B4-BE49-F238E27FC236}">
                <a16:creationId xmlns:a16="http://schemas.microsoft.com/office/drawing/2014/main" id="{C3C2EA02-C6CC-1C87-0006-5AEC21AF55EE}"/>
              </a:ext>
            </a:extLst>
          </p:cNvPr>
          <p:cNvSpPr/>
          <p:nvPr/>
        </p:nvSpPr>
        <p:spPr>
          <a:xfrm>
            <a:off x="2859020" y="2732297"/>
            <a:ext cx="5252053" cy="342991"/>
          </a:xfrm>
          <a:prstGeom prst="rect">
            <a:avLst/>
          </a:prstGeom>
          <a:solidFill>
            <a:srgbClr val="F0F1F7"/>
          </a:solidFill>
          <a:ln w="21421" cap="flat">
            <a:solidFill>
              <a:srgbClr val="444F9C"/>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0" name="TextBox 219">
            <a:extLst>
              <a:ext uri="{FF2B5EF4-FFF2-40B4-BE49-F238E27FC236}">
                <a16:creationId xmlns:a16="http://schemas.microsoft.com/office/drawing/2014/main" id="{27E175F3-1BF7-E67B-7534-B2B5B2D88895}"/>
              </a:ext>
            </a:extLst>
          </p:cNvPr>
          <p:cNvSpPr txBox="1"/>
          <p:nvPr/>
        </p:nvSpPr>
        <p:spPr>
          <a:xfrm>
            <a:off x="4739372" y="2739018"/>
            <a:ext cx="149135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Type a state name…</a:t>
            </a:r>
          </a:p>
        </p:txBody>
      </p:sp>
      <p:sp>
        <p:nvSpPr>
          <p:cNvPr id="221" name="Rectangle 220">
            <a:extLst>
              <a:ext uri="{FF2B5EF4-FFF2-40B4-BE49-F238E27FC236}">
                <a16:creationId xmlns:a16="http://schemas.microsoft.com/office/drawing/2014/main" id="{9CD7A972-E08E-EF51-ACEE-0A4DAE21C5B8}"/>
              </a:ext>
            </a:extLst>
          </p:cNvPr>
          <p:cNvSpPr/>
          <p:nvPr/>
        </p:nvSpPr>
        <p:spPr>
          <a:xfrm>
            <a:off x="8218258" y="2732297"/>
            <a:ext cx="1093284" cy="342991"/>
          </a:xfrm>
          <a:prstGeom prst="rect">
            <a:avLst/>
          </a:prstGeom>
          <a:solidFill>
            <a:srgbClr val="444F9C"/>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2" name="TextBox 221">
            <a:extLst>
              <a:ext uri="{FF2B5EF4-FFF2-40B4-BE49-F238E27FC236}">
                <a16:creationId xmlns:a16="http://schemas.microsoft.com/office/drawing/2014/main" id="{AF6C5700-D545-4694-6D95-258F83C3CDF8}"/>
              </a:ext>
            </a:extLst>
          </p:cNvPr>
          <p:cNvSpPr txBox="1"/>
          <p:nvPr/>
        </p:nvSpPr>
        <p:spPr>
          <a:xfrm>
            <a:off x="8379938" y="2749737"/>
            <a:ext cx="769925"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FFFFFF"/>
                </a:solidFill>
                <a:effectLst/>
                <a:uLnTx/>
                <a:uFillTx/>
                <a:latin typeface="Segoe UI"/>
                <a:ea typeface="+mn-ea"/>
                <a:cs typeface="Segoe UI"/>
                <a:sym typeface="Segoe UI"/>
                <a:rtl val="0"/>
              </a:rPr>
              <a:t>Look Up</a:t>
            </a:r>
          </a:p>
        </p:txBody>
      </p:sp>
      <p:sp>
        <p:nvSpPr>
          <p:cNvPr id="223" name="Rectangle 222">
            <a:extLst>
              <a:ext uri="{FF2B5EF4-FFF2-40B4-BE49-F238E27FC236}">
                <a16:creationId xmlns:a16="http://schemas.microsoft.com/office/drawing/2014/main" id="{F1FA07C1-08DA-2077-6EC1-6634246A77AE}"/>
              </a:ext>
            </a:extLst>
          </p:cNvPr>
          <p:cNvSpPr/>
          <p:nvPr/>
        </p:nvSpPr>
        <p:spPr>
          <a:xfrm>
            <a:off x="2859020" y="3268221"/>
            <a:ext cx="6473959" cy="857478"/>
          </a:xfrm>
          <a:prstGeom prst="rect">
            <a:avLst/>
          </a:prstGeom>
          <a:solidFill>
            <a:srgbClr val="FFFFFF"/>
          </a:solidFill>
          <a:ln w="21421" cap="flat">
            <a:solidFill>
              <a:srgbClr val="444F9C"/>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4" name="Rectangle 223">
            <a:extLst>
              <a:ext uri="{FF2B5EF4-FFF2-40B4-BE49-F238E27FC236}">
                <a16:creationId xmlns:a16="http://schemas.microsoft.com/office/drawing/2014/main" id="{DB385542-5501-E120-1984-32C3AF382B49}"/>
              </a:ext>
            </a:extLst>
          </p:cNvPr>
          <p:cNvSpPr/>
          <p:nvPr/>
        </p:nvSpPr>
        <p:spPr>
          <a:xfrm>
            <a:off x="2859020" y="3268221"/>
            <a:ext cx="85747" cy="857478"/>
          </a:xfrm>
          <a:prstGeom prst="rect">
            <a:avLst/>
          </a:prstGeom>
          <a:solidFill>
            <a:srgbClr val="444F9C"/>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5" name="Freeform: Shape 224">
            <a:extLst>
              <a:ext uri="{FF2B5EF4-FFF2-40B4-BE49-F238E27FC236}">
                <a16:creationId xmlns:a16="http://schemas.microsoft.com/office/drawing/2014/main" id="{F5202888-4ACA-E17B-CDB0-94B07B6E07BE}"/>
              </a:ext>
            </a:extLst>
          </p:cNvPr>
          <p:cNvSpPr/>
          <p:nvPr/>
        </p:nvSpPr>
        <p:spPr>
          <a:xfrm>
            <a:off x="2976923" y="3439717"/>
            <a:ext cx="364428" cy="364428"/>
          </a:xfrm>
          <a:custGeom>
            <a:avLst/>
            <a:gdLst>
              <a:gd name="csX0" fmla="*/ 182214 w 364428"/>
              <a:gd name="csY0" fmla="*/ 0 h 364428"/>
              <a:gd name="csX1" fmla="*/ 225088 w 364428"/>
              <a:gd name="csY1" fmla="*/ 139340 h 364428"/>
              <a:gd name="csX2" fmla="*/ 364428 w 364428"/>
              <a:gd name="csY2" fmla="*/ 139340 h 364428"/>
              <a:gd name="csX3" fmla="*/ 257243 w 364428"/>
              <a:gd name="csY3" fmla="*/ 225088 h 364428"/>
              <a:gd name="csX4" fmla="*/ 300117 w 364428"/>
              <a:gd name="csY4" fmla="*/ 364428 h 364428"/>
              <a:gd name="csX5" fmla="*/ 182214 w 364428"/>
              <a:gd name="csY5" fmla="*/ 278680 h 364428"/>
              <a:gd name="csX6" fmla="*/ 64311 w 364428"/>
              <a:gd name="csY6" fmla="*/ 364428 h 364428"/>
              <a:gd name="csX7" fmla="*/ 107185 w 364428"/>
              <a:gd name="csY7" fmla="*/ 225088 h 364428"/>
              <a:gd name="csX8" fmla="*/ 0 w 364428"/>
              <a:gd name="csY8" fmla="*/ 139340 h 364428"/>
              <a:gd name="csX9" fmla="*/ 139340 w 364428"/>
              <a:gd name="csY9" fmla="*/ 139340 h 3644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64428" h="364428">
                <a:moveTo>
                  <a:pt x="182214" y="0"/>
                </a:moveTo>
                <a:lnTo>
                  <a:pt x="225088" y="139340"/>
                </a:lnTo>
                <a:lnTo>
                  <a:pt x="364428" y="139340"/>
                </a:lnTo>
                <a:lnTo>
                  <a:pt x="257243" y="225088"/>
                </a:lnTo>
                <a:lnTo>
                  <a:pt x="300117" y="364428"/>
                </a:lnTo>
                <a:lnTo>
                  <a:pt x="182214" y="278680"/>
                </a:lnTo>
                <a:lnTo>
                  <a:pt x="64311" y="364428"/>
                </a:lnTo>
                <a:lnTo>
                  <a:pt x="107185" y="225088"/>
                </a:lnTo>
                <a:lnTo>
                  <a:pt x="0" y="139340"/>
                </a:lnTo>
                <a:lnTo>
                  <a:pt x="139340" y="139340"/>
                </a:lnTo>
                <a:close/>
              </a:path>
            </a:pathLst>
          </a:custGeom>
          <a:solidFill>
            <a:srgbClr val="FDE379"/>
          </a:solidFill>
          <a:ln w="9639" cap="flat">
            <a:solidFill>
              <a:srgbClr val="C23592"/>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6" name="TextBox 225">
            <a:extLst>
              <a:ext uri="{FF2B5EF4-FFF2-40B4-BE49-F238E27FC236}">
                <a16:creationId xmlns:a16="http://schemas.microsoft.com/office/drawing/2014/main" id="{D93A062A-72D4-497D-3A0E-F7528436199E}"/>
              </a:ext>
            </a:extLst>
          </p:cNvPr>
          <p:cNvSpPr txBox="1"/>
          <p:nvPr/>
        </p:nvSpPr>
        <p:spPr>
          <a:xfrm>
            <a:off x="3389252" y="3264224"/>
            <a:ext cx="2246406"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TOP RESULT · Definitive Answer</a:t>
            </a:r>
          </a:p>
        </p:txBody>
      </p:sp>
      <p:sp>
        <p:nvSpPr>
          <p:cNvPr id="227" name="TextBox 226">
            <a:extLst>
              <a:ext uri="{FF2B5EF4-FFF2-40B4-BE49-F238E27FC236}">
                <a16:creationId xmlns:a16="http://schemas.microsoft.com/office/drawing/2014/main" id="{D1B63F8D-A611-D7BA-BB07-5C16B4E0C018}"/>
              </a:ext>
            </a:extLst>
          </p:cNvPr>
          <p:cNvSpPr txBox="1"/>
          <p:nvPr/>
        </p:nvSpPr>
        <p:spPr>
          <a:xfrm>
            <a:off x="3389252" y="3463635"/>
            <a:ext cx="1102889" cy="36231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25" b="1" i="0" u="none" strike="noStrike" kern="1200" cap="none" spc="0" normalizeH="0" baseline="0" noProof="0">
                <a:ln/>
                <a:solidFill>
                  <a:srgbClr val="444F9C"/>
                </a:solidFill>
                <a:effectLst/>
                <a:uLnTx/>
                <a:uFillTx/>
                <a:latin typeface="Segoe UI"/>
                <a:ea typeface="+mn-ea"/>
                <a:cs typeface="Segoe UI"/>
                <a:sym typeface="Segoe UI"/>
                <a:rtl val="0"/>
              </a:rPr>
              <a:t>Maryland</a:t>
            </a:r>
          </a:p>
        </p:txBody>
      </p:sp>
      <p:sp>
        <p:nvSpPr>
          <p:cNvPr id="228" name="TextBox 227">
            <a:extLst>
              <a:ext uri="{FF2B5EF4-FFF2-40B4-BE49-F238E27FC236}">
                <a16:creationId xmlns:a16="http://schemas.microsoft.com/office/drawing/2014/main" id="{8FD1C7B4-48F6-2945-E0C3-4390BD218A31}"/>
              </a:ext>
            </a:extLst>
          </p:cNvPr>
          <p:cNvSpPr txBox="1"/>
          <p:nvPr/>
        </p:nvSpPr>
        <p:spPr>
          <a:xfrm>
            <a:off x="3389252" y="3757273"/>
            <a:ext cx="398886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$65,641 median household income · Rank: #1 of 50 states</a:t>
            </a:r>
          </a:p>
        </p:txBody>
      </p:sp>
      <p:sp>
        <p:nvSpPr>
          <p:cNvPr id="229" name="TextBox 228">
            <a:extLst>
              <a:ext uri="{FF2B5EF4-FFF2-40B4-BE49-F238E27FC236}">
                <a16:creationId xmlns:a16="http://schemas.microsoft.com/office/drawing/2014/main" id="{65669E64-782A-18D8-7955-B34B34D4F8A2}"/>
              </a:ext>
            </a:extLst>
          </p:cNvPr>
          <p:cNvSpPr txBox="1"/>
          <p:nvPr/>
        </p:nvSpPr>
        <p:spPr>
          <a:xfrm>
            <a:off x="8046357" y="3264224"/>
            <a:ext cx="1120819"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2023 ACS 1-yr</a:t>
            </a:r>
          </a:p>
        </p:txBody>
      </p:sp>
      <p:sp>
        <p:nvSpPr>
          <p:cNvPr id="230" name="Freeform: Shape 229">
            <a:extLst>
              <a:ext uri="{FF2B5EF4-FFF2-40B4-BE49-F238E27FC236}">
                <a16:creationId xmlns:a16="http://schemas.microsoft.com/office/drawing/2014/main" id="{AC054992-8AEB-DD08-4A1A-5E3843B71C0C}"/>
              </a:ext>
            </a:extLst>
          </p:cNvPr>
          <p:cNvSpPr/>
          <p:nvPr/>
        </p:nvSpPr>
        <p:spPr>
          <a:xfrm>
            <a:off x="9375854" y="3696960"/>
            <a:ext cx="300117" cy="10718"/>
          </a:xfrm>
          <a:custGeom>
            <a:avLst/>
            <a:gdLst>
              <a:gd name="csX0" fmla="*/ 0 w 300117"/>
              <a:gd name="csY0" fmla="*/ 0 h 10718"/>
              <a:gd name="csX1" fmla="*/ 300117 w 300117"/>
              <a:gd name="csY1" fmla="*/ 0 h 10718"/>
            </a:gdLst>
            <a:ahLst/>
            <a:cxnLst>
              <a:cxn ang="0">
                <a:pos x="csX0" y="csY0"/>
              </a:cxn>
              <a:cxn ang="0">
                <a:pos x="csX1" y="csY1"/>
              </a:cxn>
            </a:cxnLst>
            <a:rect l="l" t="t" r="r" b="b"/>
            <a:pathLst>
              <a:path w="300117" h="10718">
                <a:moveTo>
                  <a:pt x="0" y="0"/>
                </a:moveTo>
                <a:lnTo>
                  <a:pt x="300117" y="0"/>
                </a:lnTo>
              </a:path>
            </a:pathLst>
          </a:custGeom>
          <a:ln w="14994" cap="flat">
            <a:solidFill>
              <a:srgbClr val="C23592"/>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31" name="Rectangle 230">
            <a:extLst>
              <a:ext uri="{FF2B5EF4-FFF2-40B4-BE49-F238E27FC236}">
                <a16:creationId xmlns:a16="http://schemas.microsoft.com/office/drawing/2014/main" id="{8F3339EA-6619-C210-EF99-00DBC46F39C9}"/>
              </a:ext>
            </a:extLst>
          </p:cNvPr>
          <p:cNvSpPr/>
          <p:nvPr/>
        </p:nvSpPr>
        <p:spPr>
          <a:xfrm>
            <a:off x="9665253" y="3439718"/>
            <a:ext cx="1146876" cy="450176"/>
          </a:xfrm>
          <a:prstGeom prst="rect">
            <a:avLst/>
          </a:prstGeom>
          <a:solidFill>
            <a:srgbClr val="FFFFFF"/>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32" name="TextBox 231">
            <a:extLst>
              <a:ext uri="{FF2B5EF4-FFF2-40B4-BE49-F238E27FC236}">
                <a16:creationId xmlns:a16="http://schemas.microsoft.com/office/drawing/2014/main" id="{9C924842-B929-1D0A-5421-3513235DDA16}"/>
              </a:ext>
            </a:extLst>
          </p:cNvPr>
          <p:cNvSpPr txBox="1"/>
          <p:nvPr/>
        </p:nvSpPr>
        <p:spPr>
          <a:xfrm>
            <a:off x="9627405" y="3425001"/>
            <a:ext cx="1377657" cy="3231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C23592"/>
                </a:solidFill>
                <a:effectLst/>
                <a:uLnTx/>
                <a:uFillTx/>
                <a:latin typeface="Segoe UI"/>
                <a:ea typeface="+mn-ea"/>
                <a:cs typeface="Segoe UI"/>
                <a:sym typeface="Segoe UI"/>
                <a:rtl val="0"/>
              </a:rPr>
              <a:t>Definitive</a:t>
            </a:r>
          </a:p>
        </p:txBody>
      </p:sp>
      <p:sp>
        <p:nvSpPr>
          <p:cNvPr id="233" name="TextBox 232">
            <a:extLst>
              <a:ext uri="{FF2B5EF4-FFF2-40B4-BE49-F238E27FC236}">
                <a16:creationId xmlns:a16="http://schemas.microsoft.com/office/drawing/2014/main" id="{90E050A4-AF3E-B9F2-0834-26446CF59900}"/>
              </a:ext>
            </a:extLst>
          </p:cNvPr>
          <p:cNvSpPr txBox="1"/>
          <p:nvPr/>
        </p:nvSpPr>
        <p:spPr>
          <a:xfrm>
            <a:off x="9629472" y="3609118"/>
            <a:ext cx="95757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C23592"/>
                </a:solidFill>
                <a:effectLst/>
                <a:uLnTx/>
                <a:uFillTx/>
                <a:latin typeface="Segoe UI"/>
                <a:ea typeface="+mn-ea"/>
                <a:cs typeface="Segoe UI"/>
                <a:sym typeface="Segoe UI"/>
                <a:rtl val="0"/>
              </a:rPr>
              <a:t>answer first</a:t>
            </a:r>
          </a:p>
        </p:txBody>
      </p:sp>
      <p:sp>
        <p:nvSpPr>
          <p:cNvPr id="234" name="Freeform: Shape 233">
            <a:extLst>
              <a:ext uri="{FF2B5EF4-FFF2-40B4-BE49-F238E27FC236}">
                <a16:creationId xmlns:a16="http://schemas.microsoft.com/office/drawing/2014/main" id="{507DC1FB-2212-D4C0-DE0D-92839175E25A}"/>
              </a:ext>
            </a:extLst>
          </p:cNvPr>
          <p:cNvSpPr/>
          <p:nvPr/>
        </p:nvSpPr>
        <p:spPr>
          <a:xfrm>
            <a:off x="2859020" y="4275758"/>
            <a:ext cx="6473959" cy="10718"/>
          </a:xfrm>
          <a:custGeom>
            <a:avLst/>
            <a:gdLst>
              <a:gd name="csX0" fmla="*/ 0 w 6473959"/>
              <a:gd name="csY0" fmla="*/ 0 h 10718"/>
              <a:gd name="csX1" fmla="*/ 6473960 w 6473959"/>
              <a:gd name="csY1" fmla="*/ 0 h 10718"/>
            </a:gdLst>
            <a:ahLst/>
            <a:cxnLst>
              <a:cxn ang="0">
                <a:pos x="csX0" y="csY0"/>
              </a:cxn>
              <a:cxn ang="0">
                <a:pos x="csX1" y="csY1"/>
              </a:cxn>
            </a:cxnLst>
            <a:rect l="l" t="t" r="r" b="b"/>
            <a:pathLst>
              <a:path w="6473959" h="10718">
                <a:moveTo>
                  <a:pt x="0" y="0"/>
                </a:moveTo>
                <a:lnTo>
                  <a:pt x="6473960" y="0"/>
                </a:lnTo>
              </a:path>
            </a:pathLst>
          </a:custGeom>
          <a:ln w="12852"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35" name="TextBox 234">
            <a:extLst>
              <a:ext uri="{FF2B5EF4-FFF2-40B4-BE49-F238E27FC236}">
                <a16:creationId xmlns:a16="http://schemas.microsoft.com/office/drawing/2014/main" id="{E73D46B9-4156-F0DF-5837-F832EE53ECEB}"/>
              </a:ext>
            </a:extLst>
          </p:cNvPr>
          <p:cNvSpPr txBox="1"/>
          <p:nvPr/>
        </p:nvSpPr>
        <p:spPr>
          <a:xfrm>
            <a:off x="2767580" y="4269217"/>
            <a:ext cx="1811418" cy="3337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solidFill>
                  <a:srgbClr val="3A3A3A"/>
                </a:solidFill>
                <a:effectLst/>
                <a:uLnTx/>
                <a:uFillTx/>
                <a:latin typeface="Segoe UI"/>
                <a:ea typeface="+mn-ea"/>
                <a:cs typeface="Segoe UI"/>
                <a:sym typeface="Segoe UI"/>
                <a:rtl val="0"/>
              </a:rPr>
              <a:t>Full State Rankings</a:t>
            </a:r>
          </a:p>
        </p:txBody>
      </p:sp>
      <p:sp>
        <p:nvSpPr>
          <p:cNvPr id="236" name="TextBox 235">
            <a:extLst>
              <a:ext uri="{FF2B5EF4-FFF2-40B4-BE49-F238E27FC236}">
                <a16:creationId xmlns:a16="http://schemas.microsoft.com/office/drawing/2014/main" id="{58D18423-19D5-1EFA-8823-604DAACCED74}"/>
              </a:ext>
            </a:extLst>
          </p:cNvPr>
          <p:cNvSpPr txBox="1"/>
          <p:nvPr/>
        </p:nvSpPr>
        <p:spPr>
          <a:xfrm>
            <a:off x="7546053" y="4303916"/>
            <a:ext cx="1878367"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Sort: Highest → Lowest ▼</a:t>
            </a:r>
          </a:p>
        </p:txBody>
      </p:sp>
      <p:sp>
        <p:nvSpPr>
          <p:cNvPr id="237" name="Rectangle 236">
            <a:extLst>
              <a:ext uri="{FF2B5EF4-FFF2-40B4-BE49-F238E27FC236}">
                <a16:creationId xmlns:a16="http://schemas.microsoft.com/office/drawing/2014/main" id="{9E5F3159-6CA7-6066-0E0B-2F8651308081}"/>
              </a:ext>
            </a:extLst>
          </p:cNvPr>
          <p:cNvSpPr/>
          <p:nvPr/>
        </p:nvSpPr>
        <p:spPr>
          <a:xfrm>
            <a:off x="2859020" y="4597312"/>
            <a:ext cx="6473959" cy="300117"/>
          </a:xfrm>
          <a:prstGeom prst="rect">
            <a:avLst/>
          </a:prstGeom>
          <a:solidFill>
            <a:srgbClr val="EDEEF5"/>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38" name="TextBox 237">
            <a:extLst>
              <a:ext uri="{FF2B5EF4-FFF2-40B4-BE49-F238E27FC236}">
                <a16:creationId xmlns:a16="http://schemas.microsoft.com/office/drawing/2014/main" id="{37457561-4D87-A5D4-EAA4-F45FFC8F12A5}"/>
              </a:ext>
            </a:extLst>
          </p:cNvPr>
          <p:cNvSpPr txBox="1"/>
          <p:nvPr/>
        </p:nvSpPr>
        <p:spPr>
          <a:xfrm>
            <a:off x="2981950" y="4582596"/>
            <a:ext cx="536265"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Rank</a:t>
            </a:r>
          </a:p>
        </p:txBody>
      </p:sp>
      <p:sp>
        <p:nvSpPr>
          <p:cNvPr id="239" name="TextBox 238">
            <a:extLst>
              <a:ext uri="{FF2B5EF4-FFF2-40B4-BE49-F238E27FC236}">
                <a16:creationId xmlns:a16="http://schemas.microsoft.com/office/drawing/2014/main" id="{E71D2F84-91BC-01A9-836B-D1A86942125C}"/>
              </a:ext>
            </a:extLst>
          </p:cNvPr>
          <p:cNvSpPr txBox="1"/>
          <p:nvPr/>
        </p:nvSpPr>
        <p:spPr>
          <a:xfrm>
            <a:off x="3689369" y="4582596"/>
            <a:ext cx="541394"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State</a:t>
            </a:r>
          </a:p>
        </p:txBody>
      </p:sp>
      <p:sp>
        <p:nvSpPr>
          <p:cNvPr id="240" name="TextBox 239">
            <a:extLst>
              <a:ext uri="{FF2B5EF4-FFF2-40B4-BE49-F238E27FC236}">
                <a16:creationId xmlns:a16="http://schemas.microsoft.com/office/drawing/2014/main" id="{4B2853FB-6FBE-2D2B-16B2-F2E49CDBFA30}"/>
              </a:ext>
            </a:extLst>
          </p:cNvPr>
          <p:cNvSpPr txBox="1"/>
          <p:nvPr/>
        </p:nvSpPr>
        <p:spPr>
          <a:xfrm>
            <a:off x="5897375" y="4582596"/>
            <a:ext cx="1276886"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Median Income</a:t>
            </a:r>
          </a:p>
        </p:txBody>
      </p:sp>
      <p:sp>
        <p:nvSpPr>
          <p:cNvPr id="241" name="TextBox 240">
            <a:extLst>
              <a:ext uri="{FF2B5EF4-FFF2-40B4-BE49-F238E27FC236}">
                <a16:creationId xmlns:a16="http://schemas.microsoft.com/office/drawing/2014/main" id="{F84A0F15-C037-ABDC-F4DA-8E4332E76EF8}"/>
              </a:ext>
            </a:extLst>
          </p:cNvPr>
          <p:cNvSpPr txBox="1"/>
          <p:nvPr/>
        </p:nvSpPr>
        <p:spPr>
          <a:xfrm>
            <a:off x="8148255" y="4582596"/>
            <a:ext cx="1014284"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YoY Change</a:t>
            </a:r>
          </a:p>
        </p:txBody>
      </p:sp>
      <p:sp>
        <p:nvSpPr>
          <p:cNvPr id="242" name="Rectangle 241">
            <a:extLst>
              <a:ext uri="{FF2B5EF4-FFF2-40B4-BE49-F238E27FC236}">
                <a16:creationId xmlns:a16="http://schemas.microsoft.com/office/drawing/2014/main" id="{C767BB99-DE88-FD15-4A9C-6144F2995D63}"/>
              </a:ext>
            </a:extLst>
          </p:cNvPr>
          <p:cNvSpPr/>
          <p:nvPr/>
        </p:nvSpPr>
        <p:spPr>
          <a:xfrm>
            <a:off x="2859020" y="4897429"/>
            <a:ext cx="6473959" cy="300117"/>
          </a:xfrm>
          <a:prstGeom prst="rect">
            <a:avLst/>
          </a:prstGeom>
          <a:solidFill>
            <a:srgbClr val="FEF8DD"/>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43" name="TextBox 242">
            <a:extLst>
              <a:ext uri="{FF2B5EF4-FFF2-40B4-BE49-F238E27FC236}">
                <a16:creationId xmlns:a16="http://schemas.microsoft.com/office/drawing/2014/main" id="{D5574955-53C3-3F4B-3C72-D42F6FAAF0DB}"/>
              </a:ext>
            </a:extLst>
          </p:cNvPr>
          <p:cNvSpPr txBox="1"/>
          <p:nvPr/>
        </p:nvSpPr>
        <p:spPr>
          <a:xfrm>
            <a:off x="3024823" y="4882713"/>
            <a:ext cx="269193"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1</a:t>
            </a:r>
          </a:p>
        </p:txBody>
      </p:sp>
      <p:sp>
        <p:nvSpPr>
          <p:cNvPr id="244" name="TextBox 243">
            <a:extLst>
              <a:ext uri="{FF2B5EF4-FFF2-40B4-BE49-F238E27FC236}">
                <a16:creationId xmlns:a16="http://schemas.microsoft.com/office/drawing/2014/main" id="{017470EF-3FF8-6D15-3D04-AC7C9BBF0885}"/>
              </a:ext>
            </a:extLst>
          </p:cNvPr>
          <p:cNvSpPr txBox="1"/>
          <p:nvPr/>
        </p:nvSpPr>
        <p:spPr>
          <a:xfrm>
            <a:off x="3689369" y="4882713"/>
            <a:ext cx="860781"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Maryland</a:t>
            </a:r>
          </a:p>
        </p:txBody>
      </p:sp>
      <p:sp>
        <p:nvSpPr>
          <p:cNvPr id="245" name="TextBox 244">
            <a:extLst>
              <a:ext uri="{FF2B5EF4-FFF2-40B4-BE49-F238E27FC236}">
                <a16:creationId xmlns:a16="http://schemas.microsoft.com/office/drawing/2014/main" id="{E780100D-4F57-2E03-0382-A2FB0A462915}"/>
              </a:ext>
            </a:extLst>
          </p:cNvPr>
          <p:cNvSpPr txBox="1"/>
          <p:nvPr/>
        </p:nvSpPr>
        <p:spPr>
          <a:xfrm>
            <a:off x="5897375" y="4882713"/>
            <a:ext cx="741423"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$65,641</a:t>
            </a:r>
          </a:p>
        </p:txBody>
      </p:sp>
      <p:sp>
        <p:nvSpPr>
          <p:cNvPr id="246" name="TextBox 245">
            <a:extLst>
              <a:ext uri="{FF2B5EF4-FFF2-40B4-BE49-F238E27FC236}">
                <a16:creationId xmlns:a16="http://schemas.microsoft.com/office/drawing/2014/main" id="{9E18D669-A8A5-0C6D-AC69-6F881C7E6521}"/>
              </a:ext>
            </a:extLst>
          </p:cNvPr>
          <p:cNvSpPr txBox="1"/>
          <p:nvPr/>
        </p:nvSpPr>
        <p:spPr>
          <a:xfrm>
            <a:off x="8191129" y="4882713"/>
            <a:ext cx="67035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4E42DA"/>
                </a:solidFill>
                <a:effectLst/>
                <a:uLnTx/>
                <a:uFillTx/>
                <a:latin typeface="Segoe UI"/>
                <a:ea typeface="+mn-ea"/>
                <a:cs typeface="Segoe UI"/>
                <a:sym typeface="Segoe UI"/>
                <a:rtl val="0"/>
              </a:rPr>
              <a:t>▲ 2.3%</a:t>
            </a:r>
          </a:p>
        </p:txBody>
      </p:sp>
      <p:sp>
        <p:nvSpPr>
          <p:cNvPr id="247" name="Rectangle 246">
            <a:extLst>
              <a:ext uri="{FF2B5EF4-FFF2-40B4-BE49-F238E27FC236}">
                <a16:creationId xmlns:a16="http://schemas.microsoft.com/office/drawing/2014/main" id="{03D22127-D8B9-76B3-82E5-0860B56C9319}"/>
              </a:ext>
            </a:extLst>
          </p:cNvPr>
          <p:cNvSpPr/>
          <p:nvPr/>
        </p:nvSpPr>
        <p:spPr>
          <a:xfrm>
            <a:off x="2859020" y="5197547"/>
            <a:ext cx="6473959" cy="300117"/>
          </a:xfrm>
          <a:prstGeom prst="rect">
            <a:avLst/>
          </a:prstGeom>
          <a:solidFill>
            <a:srgbClr val="FFFFFF"/>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48" name="TextBox 247">
            <a:extLst>
              <a:ext uri="{FF2B5EF4-FFF2-40B4-BE49-F238E27FC236}">
                <a16:creationId xmlns:a16="http://schemas.microsoft.com/office/drawing/2014/main" id="{FE7034ED-B326-47FA-5BFE-97C6BABA7129}"/>
              </a:ext>
            </a:extLst>
          </p:cNvPr>
          <p:cNvSpPr txBox="1"/>
          <p:nvPr/>
        </p:nvSpPr>
        <p:spPr>
          <a:xfrm>
            <a:off x="3024823" y="5182831"/>
            <a:ext cx="263771"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2</a:t>
            </a:r>
          </a:p>
        </p:txBody>
      </p:sp>
      <p:sp>
        <p:nvSpPr>
          <p:cNvPr id="249" name="TextBox 248">
            <a:extLst>
              <a:ext uri="{FF2B5EF4-FFF2-40B4-BE49-F238E27FC236}">
                <a16:creationId xmlns:a16="http://schemas.microsoft.com/office/drawing/2014/main" id="{2E49BF8B-1E77-FD26-C30C-E2B93DA1F7BC}"/>
              </a:ext>
            </a:extLst>
          </p:cNvPr>
          <p:cNvSpPr txBox="1"/>
          <p:nvPr/>
        </p:nvSpPr>
        <p:spPr>
          <a:xfrm>
            <a:off x="3689369" y="5182831"/>
            <a:ext cx="922109"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New Jersey</a:t>
            </a:r>
          </a:p>
        </p:txBody>
      </p:sp>
      <p:sp>
        <p:nvSpPr>
          <p:cNvPr id="250" name="TextBox 249">
            <a:extLst>
              <a:ext uri="{FF2B5EF4-FFF2-40B4-BE49-F238E27FC236}">
                <a16:creationId xmlns:a16="http://schemas.microsoft.com/office/drawing/2014/main" id="{E9D3A060-DADA-C542-A757-3A65C971B0CE}"/>
              </a:ext>
            </a:extLst>
          </p:cNvPr>
          <p:cNvSpPr txBox="1"/>
          <p:nvPr/>
        </p:nvSpPr>
        <p:spPr>
          <a:xfrm>
            <a:off x="5897375" y="5182831"/>
            <a:ext cx="700758"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$64,117</a:t>
            </a:r>
          </a:p>
        </p:txBody>
      </p:sp>
      <p:sp>
        <p:nvSpPr>
          <p:cNvPr id="251" name="TextBox 250">
            <a:extLst>
              <a:ext uri="{FF2B5EF4-FFF2-40B4-BE49-F238E27FC236}">
                <a16:creationId xmlns:a16="http://schemas.microsoft.com/office/drawing/2014/main" id="{330BF83B-04B8-D7E0-CCFA-5822BD14601B}"/>
              </a:ext>
            </a:extLst>
          </p:cNvPr>
          <p:cNvSpPr txBox="1"/>
          <p:nvPr/>
        </p:nvSpPr>
        <p:spPr>
          <a:xfrm>
            <a:off x="8191129" y="5182831"/>
            <a:ext cx="67035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4E42DA"/>
                </a:solidFill>
                <a:effectLst/>
                <a:uLnTx/>
                <a:uFillTx/>
                <a:latin typeface="Segoe UI"/>
                <a:ea typeface="+mn-ea"/>
                <a:cs typeface="Segoe UI"/>
                <a:sym typeface="Segoe UI"/>
                <a:rtl val="0"/>
              </a:rPr>
              <a:t>▲ 1.9%</a:t>
            </a:r>
          </a:p>
        </p:txBody>
      </p:sp>
      <p:sp>
        <p:nvSpPr>
          <p:cNvPr id="252" name="Rectangle 251">
            <a:extLst>
              <a:ext uri="{FF2B5EF4-FFF2-40B4-BE49-F238E27FC236}">
                <a16:creationId xmlns:a16="http://schemas.microsoft.com/office/drawing/2014/main" id="{8B38323A-B3A0-A544-A3C7-0C1F6AC5F3A2}"/>
              </a:ext>
            </a:extLst>
          </p:cNvPr>
          <p:cNvSpPr/>
          <p:nvPr/>
        </p:nvSpPr>
        <p:spPr>
          <a:xfrm>
            <a:off x="2859020" y="5497664"/>
            <a:ext cx="6473959" cy="300117"/>
          </a:xfrm>
          <a:prstGeom prst="rect">
            <a:avLst/>
          </a:prstGeom>
          <a:solidFill>
            <a:srgbClr val="F4F4F4"/>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53" name="TextBox 252">
            <a:extLst>
              <a:ext uri="{FF2B5EF4-FFF2-40B4-BE49-F238E27FC236}">
                <a16:creationId xmlns:a16="http://schemas.microsoft.com/office/drawing/2014/main" id="{0F2024D7-ACE0-D301-35CD-819E8596A118}"/>
              </a:ext>
            </a:extLst>
          </p:cNvPr>
          <p:cNvSpPr txBox="1"/>
          <p:nvPr/>
        </p:nvSpPr>
        <p:spPr>
          <a:xfrm>
            <a:off x="3024823" y="5482948"/>
            <a:ext cx="263771"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3</a:t>
            </a:r>
          </a:p>
        </p:txBody>
      </p:sp>
      <p:sp>
        <p:nvSpPr>
          <p:cNvPr id="254" name="TextBox 253">
            <a:extLst>
              <a:ext uri="{FF2B5EF4-FFF2-40B4-BE49-F238E27FC236}">
                <a16:creationId xmlns:a16="http://schemas.microsoft.com/office/drawing/2014/main" id="{C9BD5F07-3530-1AA9-75E1-E01742606AE1}"/>
              </a:ext>
            </a:extLst>
          </p:cNvPr>
          <p:cNvSpPr txBox="1"/>
          <p:nvPr/>
        </p:nvSpPr>
        <p:spPr>
          <a:xfrm>
            <a:off x="3689369" y="5482948"/>
            <a:ext cx="1144339"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Massachusetts</a:t>
            </a:r>
          </a:p>
        </p:txBody>
      </p:sp>
      <p:sp>
        <p:nvSpPr>
          <p:cNvPr id="255" name="TextBox 254">
            <a:extLst>
              <a:ext uri="{FF2B5EF4-FFF2-40B4-BE49-F238E27FC236}">
                <a16:creationId xmlns:a16="http://schemas.microsoft.com/office/drawing/2014/main" id="{734707E3-E58C-8837-8EF7-BFE0220FE5F9}"/>
              </a:ext>
            </a:extLst>
          </p:cNvPr>
          <p:cNvSpPr txBox="1"/>
          <p:nvPr/>
        </p:nvSpPr>
        <p:spPr>
          <a:xfrm>
            <a:off x="5897375" y="5482948"/>
            <a:ext cx="700758"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$62,899</a:t>
            </a:r>
          </a:p>
        </p:txBody>
      </p:sp>
      <p:sp>
        <p:nvSpPr>
          <p:cNvPr id="256" name="TextBox 255">
            <a:extLst>
              <a:ext uri="{FF2B5EF4-FFF2-40B4-BE49-F238E27FC236}">
                <a16:creationId xmlns:a16="http://schemas.microsoft.com/office/drawing/2014/main" id="{DB46FEFB-F0B9-4E20-20EF-B53AD7AFC0B1}"/>
              </a:ext>
            </a:extLst>
          </p:cNvPr>
          <p:cNvSpPr txBox="1"/>
          <p:nvPr/>
        </p:nvSpPr>
        <p:spPr>
          <a:xfrm>
            <a:off x="8191129" y="5482948"/>
            <a:ext cx="67035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4E42DA"/>
                </a:solidFill>
                <a:effectLst/>
                <a:uLnTx/>
                <a:uFillTx/>
                <a:latin typeface="Segoe UI"/>
                <a:ea typeface="+mn-ea"/>
                <a:cs typeface="Segoe UI"/>
                <a:sym typeface="Segoe UI"/>
                <a:rtl val="0"/>
              </a:rPr>
              <a:t>▲ 1.1%</a:t>
            </a:r>
          </a:p>
        </p:txBody>
      </p:sp>
      <p:sp>
        <p:nvSpPr>
          <p:cNvPr id="257" name="TextBox 256">
            <a:extLst>
              <a:ext uri="{FF2B5EF4-FFF2-40B4-BE49-F238E27FC236}">
                <a16:creationId xmlns:a16="http://schemas.microsoft.com/office/drawing/2014/main" id="{D3367184-75F6-B8EB-94BE-1B96EDF5B699}"/>
              </a:ext>
            </a:extLst>
          </p:cNvPr>
          <p:cNvSpPr txBox="1"/>
          <p:nvPr/>
        </p:nvSpPr>
        <p:spPr>
          <a:xfrm>
            <a:off x="5108238" y="5761629"/>
            <a:ext cx="1975524"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 47 more states · Show all</a:t>
            </a:r>
          </a:p>
        </p:txBody>
      </p:sp>
      <p:sp>
        <p:nvSpPr>
          <p:cNvPr id="258" name="Rectangle 257">
            <a:extLst>
              <a:ext uri="{FF2B5EF4-FFF2-40B4-BE49-F238E27FC236}">
                <a16:creationId xmlns:a16="http://schemas.microsoft.com/office/drawing/2014/main" id="{9C055F03-6F13-F816-BA28-237C715BC3EE}"/>
              </a:ext>
            </a:extLst>
          </p:cNvPr>
          <p:cNvSpPr/>
          <p:nvPr/>
        </p:nvSpPr>
        <p:spPr>
          <a:xfrm>
            <a:off x="2859020" y="6097899"/>
            <a:ext cx="6473959" cy="257243"/>
          </a:xfrm>
          <a:prstGeom prst="rect">
            <a:avLst/>
          </a:prstGeom>
          <a:solidFill>
            <a:srgbClr val="F0F1F7"/>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59" name="TextBox 258">
            <a:extLst>
              <a:ext uri="{FF2B5EF4-FFF2-40B4-BE49-F238E27FC236}">
                <a16:creationId xmlns:a16="http://schemas.microsoft.com/office/drawing/2014/main" id="{EDFB039A-B1BC-7AEA-A081-7CC38F7619C3}"/>
              </a:ext>
            </a:extLst>
          </p:cNvPr>
          <p:cNvSpPr txBox="1"/>
          <p:nvPr/>
        </p:nvSpPr>
        <p:spPr>
          <a:xfrm>
            <a:off x="2960513" y="6061746"/>
            <a:ext cx="2664270" cy="2910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Home › Rankings › Per-Capita Income</a:t>
            </a:r>
          </a:p>
        </p:txBody>
      </p:sp>
      <p:sp>
        <p:nvSpPr>
          <p:cNvPr id="261" name="TextBox 260">
            <a:extLst>
              <a:ext uri="{FF2B5EF4-FFF2-40B4-BE49-F238E27FC236}">
                <a16:creationId xmlns:a16="http://schemas.microsoft.com/office/drawing/2014/main" id="{36F0B55D-26D1-685F-10EC-CC57660968FB}"/>
              </a:ext>
            </a:extLst>
          </p:cNvPr>
          <p:cNvSpPr txBox="1"/>
          <p:nvPr/>
        </p:nvSpPr>
        <p:spPr>
          <a:xfrm>
            <a:off x="5352108" y="6064143"/>
            <a:ext cx="1402820" cy="276999"/>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solidFill>
                  <a:srgbClr val="C23592"/>
                </a:solidFill>
                <a:effectLst/>
                <a:uLnTx/>
                <a:uFillTx/>
                <a:latin typeface="Segoe UI"/>
                <a:ea typeface="+mn-ea"/>
                <a:cs typeface="Segoe UI"/>
                <a:sym typeface="Segoe UI"/>
                <a:rtl val="0"/>
              </a:rPr>
              <a:t>Breadcrumb trail</a:t>
            </a:r>
          </a:p>
        </p:txBody>
      </p:sp>
      <p:sp>
        <p:nvSpPr>
          <p:cNvPr id="262" name="Freeform: Shape 261">
            <a:extLst>
              <a:ext uri="{FF2B5EF4-FFF2-40B4-BE49-F238E27FC236}">
                <a16:creationId xmlns:a16="http://schemas.microsoft.com/office/drawing/2014/main" id="{72BB17B3-A91C-4B50-74FE-6CF19DC63FC2}"/>
              </a:ext>
            </a:extLst>
          </p:cNvPr>
          <p:cNvSpPr/>
          <p:nvPr/>
        </p:nvSpPr>
        <p:spPr>
          <a:xfrm>
            <a:off x="2430281" y="2903793"/>
            <a:ext cx="385865" cy="10718"/>
          </a:xfrm>
          <a:custGeom>
            <a:avLst/>
            <a:gdLst>
              <a:gd name="csX0" fmla="*/ 0 w 385865"/>
              <a:gd name="csY0" fmla="*/ 0 h 10718"/>
              <a:gd name="csX1" fmla="*/ 385865 w 385865"/>
              <a:gd name="csY1" fmla="*/ 0 h 10718"/>
            </a:gdLst>
            <a:ahLst/>
            <a:cxnLst>
              <a:cxn ang="0">
                <a:pos x="csX0" y="csY0"/>
              </a:cxn>
              <a:cxn ang="0">
                <a:pos x="csX1" y="csY1"/>
              </a:cxn>
            </a:cxnLst>
            <a:rect l="l" t="t" r="r" b="b"/>
            <a:pathLst>
              <a:path w="385865" h="10718">
                <a:moveTo>
                  <a:pt x="0" y="0"/>
                </a:moveTo>
                <a:lnTo>
                  <a:pt x="385865" y="0"/>
                </a:lnTo>
              </a:path>
            </a:pathLst>
          </a:custGeom>
          <a:ln w="14994"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3" name="Rectangle 262">
            <a:extLst>
              <a:ext uri="{FF2B5EF4-FFF2-40B4-BE49-F238E27FC236}">
                <a16:creationId xmlns:a16="http://schemas.microsoft.com/office/drawing/2014/main" id="{7BE649E1-9744-0F38-9DBF-46A2D193EF11}"/>
              </a:ext>
            </a:extLst>
          </p:cNvPr>
          <p:cNvSpPr/>
          <p:nvPr/>
        </p:nvSpPr>
        <p:spPr>
          <a:xfrm>
            <a:off x="1733948" y="2632303"/>
            <a:ext cx="857478" cy="428739"/>
          </a:xfrm>
          <a:prstGeom prst="rect">
            <a:avLst/>
          </a:prstGeom>
          <a:solidFill>
            <a:srgbClr val="FFFFFF"/>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4" name="TextBox 263">
            <a:extLst>
              <a:ext uri="{FF2B5EF4-FFF2-40B4-BE49-F238E27FC236}">
                <a16:creationId xmlns:a16="http://schemas.microsoft.com/office/drawing/2014/main" id="{721025D3-0A00-734B-1105-4FD38802489B}"/>
              </a:ext>
            </a:extLst>
          </p:cNvPr>
          <p:cNvSpPr txBox="1"/>
          <p:nvPr/>
        </p:nvSpPr>
        <p:spPr>
          <a:xfrm>
            <a:off x="1834418" y="2610396"/>
            <a:ext cx="820289"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44F9C"/>
                </a:solidFill>
                <a:effectLst/>
                <a:uLnTx/>
                <a:uFillTx/>
                <a:latin typeface="Segoe UI"/>
                <a:ea typeface="+mn-ea"/>
                <a:cs typeface="Segoe UI"/>
                <a:sym typeface="Segoe UI"/>
                <a:rtl val="0"/>
              </a:rPr>
              <a:t>Precise</a:t>
            </a:r>
          </a:p>
        </p:txBody>
      </p:sp>
      <p:sp>
        <p:nvSpPr>
          <p:cNvPr id="265" name="TextBox 264">
            <a:extLst>
              <a:ext uri="{FF2B5EF4-FFF2-40B4-BE49-F238E27FC236}">
                <a16:creationId xmlns:a16="http://schemas.microsoft.com/office/drawing/2014/main" id="{79B7AF4E-D7CC-E316-C642-E433CC851D65}"/>
              </a:ext>
            </a:extLst>
          </p:cNvPr>
          <p:cNvSpPr txBox="1"/>
          <p:nvPr/>
        </p:nvSpPr>
        <p:spPr>
          <a:xfrm>
            <a:off x="1879886" y="2829854"/>
            <a:ext cx="6170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444F9C"/>
                </a:solidFill>
                <a:effectLst/>
                <a:uLnTx/>
                <a:uFillTx/>
                <a:latin typeface="Segoe UI"/>
                <a:ea typeface="+mn-ea"/>
                <a:cs typeface="Segoe UI"/>
                <a:sym typeface="Segoe UI"/>
                <a:rtl val="0"/>
              </a:rPr>
              <a:t>search</a:t>
            </a:r>
          </a:p>
        </p:txBody>
      </p:sp>
      <p:sp>
        <p:nvSpPr>
          <p:cNvPr id="266" name="Freeform: Shape 265">
            <a:extLst>
              <a:ext uri="{FF2B5EF4-FFF2-40B4-BE49-F238E27FC236}">
                <a16:creationId xmlns:a16="http://schemas.microsoft.com/office/drawing/2014/main" id="{24A6BEE9-CA0C-2A2C-80E7-B56F1D7F944D}"/>
              </a:ext>
            </a:extLst>
          </p:cNvPr>
          <p:cNvSpPr/>
          <p:nvPr/>
        </p:nvSpPr>
        <p:spPr>
          <a:xfrm>
            <a:off x="2430281" y="3696960"/>
            <a:ext cx="385865" cy="10718"/>
          </a:xfrm>
          <a:custGeom>
            <a:avLst/>
            <a:gdLst>
              <a:gd name="csX0" fmla="*/ 0 w 385865"/>
              <a:gd name="csY0" fmla="*/ 0 h 10718"/>
              <a:gd name="csX1" fmla="*/ 385865 w 385865"/>
              <a:gd name="csY1" fmla="*/ 0 h 10718"/>
            </a:gdLst>
            <a:ahLst/>
            <a:cxnLst>
              <a:cxn ang="0">
                <a:pos x="csX0" y="csY0"/>
              </a:cxn>
              <a:cxn ang="0">
                <a:pos x="csX1" y="csY1"/>
              </a:cxn>
            </a:cxnLst>
            <a:rect l="l" t="t" r="r" b="b"/>
            <a:pathLst>
              <a:path w="385865" h="10718">
                <a:moveTo>
                  <a:pt x="0" y="0"/>
                </a:moveTo>
                <a:lnTo>
                  <a:pt x="385865" y="0"/>
                </a:lnTo>
              </a:path>
            </a:pathLst>
          </a:custGeom>
          <a:ln w="14994"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7" name="Rectangle 266">
            <a:extLst>
              <a:ext uri="{FF2B5EF4-FFF2-40B4-BE49-F238E27FC236}">
                <a16:creationId xmlns:a16="http://schemas.microsoft.com/office/drawing/2014/main" id="{025D2399-E26A-9BCE-7DD5-98109F3DF769}"/>
              </a:ext>
            </a:extLst>
          </p:cNvPr>
          <p:cNvSpPr/>
          <p:nvPr/>
        </p:nvSpPr>
        <p:spPr>
          <a:xfrm>
            <a:off x="1725967" y="3419893"/>
            <a:ext cx="857478" cy="428739"/>
          </a:xfrm>
          <a:prstGeom prst="rect">
            <a:avLst/>
          </a:prstGeom>
          <a:solidFill>
            <a:srgbClr val="FFFFFF"/>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8" name="TextBox 267">
            <a:extLst>
              <a:ext uri="{FF2B5EF4-FFF2-40B4-BE49-F238E27FC236}">
                <a16:creationId xmlns:a16="http://schemas.microsoft.com/office/drawing/2014/main" id="{97CA1408-0CC0-5D06-D611-5BD6D5DB34C6}"/>
              </a:ext>
            </a:extLst>
          </p:cNvPr>
          <p:cNvSpPr txBox="1"/>
          <p:nvPr/>
        </p:nvSpPr>
        <p:spPr>
          <a:xfrm>
            <a:off x="1785838" y="3395237"/>
            <a:ext cx="740908"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44F9C"/>
                </a:solidFill>
                <a:effectLst/>
                <a:uLnTx/>
                <a:uFillTx/>
                <a:latin typeface="Segoe UI"/>
                <a:ea typeface="+mn-ea"/>
                <a:cs typeface="Segoe UI"/>
                <a:sym typeface="Segoe UI"/>
                <a:rtl val="0"/>
              </a:rPr>
              <a:t>Single</a:t>
            </a:r>
          </a:p>
        </p:txBody>
      </p:sp>
      <p:sp>
        <p:nvSpPr>
          <p:cNvPr id="269" name="TextBox 268">
            <a:extLst>
              <a:ext uri="{FF2B5EF4-FFF2-40B4-BE49-F238E27FC236}">
                <a16:creationId xmlns:a16="http://schemas.microsoft.com/office/drawing/2014/main" id="{2E84B827-9971-E015-2F99-1DBAA13B4D13}"/>
              </a:ext>
            </a:extLst>
          </p:cNvPr>
          <p:cNvSpPr txBox="1"/>
          <p:nvPr/>
        </p:nvSpPr>
        <p:spPr>
          <a:xfrm>
            <a:off x="1725256" y="3614301"/>
            <a:ext cx="8879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444F9C"/>
                </a:solidFill>
                <a:effectLst/>
                <a:uLnTx/>
                <a:uFillTx/>
                <a:latin typeface="Segoe UI"/>
                <a:ea typeface="+mn-ea"/>
                <a:cs typeface="Segoe UI"/>
                <a:sym typeface="Segoe UI"/>
                <a:rtl val="0"/>
              </a:rPr>
              <a:t>best result</a:t>
            </a:r>
          </a:p>
        </p:txBody>
      </p:sp>
      <p:sp>
        <p:nvSpPr>
          <p:cNvPr id="270" name="Freeform: Shape 269">
            <a:extLst>
              <a:ext uri="{FF2B5EF4-FFF2-40B4-BE49-F238E27FC236}">
                <a16:creationId xmlns:a16="http://schemas.microsoft.com/office/drawing/2014/main" id="{3EB07A40-5762-55AB-023A-502B69F4B874}"/>
              </a:ext>
            </a:extLst>
          </p:cNvPr>
          <p:cNvSpPr/>
          <p:nvPr/>
        </p:nvSpPr>
        <p:spPr>
          <a:xfrm>
            <a:off x="2430281" y="5261858"/>
            <a:ext cx="385865" cy="10718"/>
          </a:xfrm>
          <a:custGeom>
            <a:avLst/>
            <a:gdLst>
              <a:gd name="csX0" fmla="*/ 0 w 385865"/>
              <a:gd name="csY0" fmla="*/ 0 h 10718"/>
              <a:gd name="csX1" fmla="*/ 385865 w 385865"/>
              <a:gd name="csY1" fmla="*/ 0 h 10718"/>
            </a:gdLst>
            <a:ahLst/>
            <a:cxnLst>
              <a:cxn ang="0">
                <a:pos x="csX0" y="csY0"/>
              </a:cxn>
              <a:cxn ang="0">
                <a:pos x="csX1" y="csY1"/>
              </a:cxn>
            </a:cxnLst>
            <a:rect l="l" t="t" r="r" b="b"/>
            <a:pathLst>
              <a:path w="385865" h="10718">
                <a:moveTo>
                  <a:pt x="0" y="0"/>
                </a:moveTo>
                <a:lnTo>
                  <a:pt x="385865" y="0"/>
                </a:lnTo>
              </a:path>
            </a:pathLst>
          </a:custGeom>
          <a:ln w="14994"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71" name="Rectangle 270">
            <a:extLst>
              <a:ext uri="{FF2B5EF4-FFF2-40B4-BE49-F238E27FC236}">
                <a16:creationId xmlns:a16="http://schemas.microsoft.com/office/drawing/2014/main" id="{51BC4F73-1107-BAF9-C7F3-7B46E9824F3D}"/>
              </a:ext>
            </a:extLst>
          </p:cNvPr>
          <p:cNvSpPr/>
          <p:nvPr/>
        </p:nvSpPr>
        <p:spPr>
          <a:xfrm>
            <a:off x="1738129" y="4968462"/>
            <a:ext cx="857478" cy="428739"/>
          </a:xfrm>
          <a:prstGeom prst="rect">
            <a:avLst/>
          </a:prstGeom>
          <a:solidFill>
            <a:srgbClr val="FFFFFF"/>
          </a:solidFill>
          <a:ln w="1071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72" name="TextBox 271">
            <a:extLst>
              <a:ext uri="{FF2B5EF4-FFF2-40B4-BE49-F238E27FC236}">
                <a16:creationId xmlns:a16="http://schemas.microsoft.com/office/drawing/2014/main" id="{D2692DF1-6FB2-5595-19AC-CB9698ABC629}"/>
              </a:ext>
            </a:extLst>
          </p:cNvPr>
          <p:cNvSpPr txBox="1"/>
          <p:nvPr/>
        </p:nvSpPr>
        <p:spPr>
          <a:xfrm>
            <a:off x="1710231" y="4927855"/>
            <a:ext cx="948401"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44F9C"/>
                </a:solidFill>
                <a:effectLst/>
                <a:uLnTx/>
                <a:uFillTx/>
                <a:latin typeface="Segoe UI"/>
                <a:ea typeface="+mn-ea"/>
                <a:cs typeface="Segoe UI"/>
                <a:sym typeface="Segoe UI"/>
                <a:rtl val="0"/>
              </a:rPr>
              <a:t>Sortable</a:t>
            </a:r>
          </a:p>
        </p:txBody>
      </p:sp>
      <p:sp>
        <p:nvSpPr>
          <p:cNvPr id="273" name="TextBox 272">
            <a:extLst>
              <a:ext uri="{FF2B5EF4-FFF2-40B4-BE49-F238E27FC236}">
                <a16:creationId xmlns:a16="http://schemas.microsoft.com/office/drawing/2014/main" id="{611D928B-65FF-3FB6-B6CA-3C4B4B3026B3}"/>
              </a:ext>
            </a:extLst>
          </p:cNvPr>
          <p:cNvSpPr txBox="1"/>
          <p:nvPr/>
        </p:nvSpPr>
        <p:spPr>
          <a:xfrm>
            <a:off x="1863656" y="5143846"/>
            <a:ext cx="62709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444F9C"/>
                </a:solidFill>
                <a:effectLst/>
                <a:uLnTx/>
                <a:uFillTx/>
                <a:latin typeface="Segoe UI"/>
                <a:ea typeface="+mn-ea"/>
                <a:cs typeface="Segoe UI"/>
                <a:sym typeface="Segoe UI"/>
                <a:rtl val="0"/>
              </a:rPr>
              <a:t>full list</a:t>
            </a:r>
          </a:p>
        </p:txBody>
      </p:sp>
      <p:sp>
        <p:nvSpPr>
          <p:cNvPr id="27" name="Isosceles Triangle 2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Tree>
    <p:extLst>
      <p:ext uri="{BB962C8B-B14F-4D97-AF65-F5344CB8AC3E}">
        <p14:creationId xmlns:p14="http://schemas.microsoft.com/office/powerpoint/2010/main" val="4702730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2C7D9D-77D0-0372-41DE-63CA659AA20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75C7EA2-D396-92EC-F7FF-DA1EB5DF8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graphicFrame>
        <p:nvGraphicFramePr>
          <p:cNvPr id="5" name="Content Placeholder 2">
            <a:extLst>
              <a:ext uri="{FF2B5EF4-FFF2-40B4-BE49-F238E27FC236}">
                <a16:creationId xmlns:a16="http://schemas.microsoft.com/office/drawing/2014/main" id="{45A60F35-0D16-B34F-372E-1E730DE2A344}"/>
              </a:ext>
            </a:extLst>
          </p:cNvPr>
          <p:cNvGraphicFramePr>
            <a:graphicFrameLocks noGrp="1"/>
          </p:cNvGraphicFramePr>
          <p:nvPr>
            <p:ph idx="1"/>
          </p:nvPr>
        </p:nvGraphicFramePr>
        <p:xfrm>
          <a:off x="680484" y="1417638"/>
          <a:ext cx="9409814" cy="4667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a:extLst>
              <a:ext uri="{FF2B5EF4-FFF2-40B4-BE49-F238E27FC236}">
                <a16:creationId xmlns:a16="http://schemas.microsoft.com/office/drawing/2014/main" id="{F7E4BCA0-2D49-E66C-1B4B-ACDD5BD01CF5}"/>
              </a:ext>
            </a:extLst>
          </p:cNvPr>
          <p:cNvSpPr>
            <a:spLocks noGrp="1"/>
          </p:cNvSpPr>
          <p:nvPr>
            <p:ph type="title"/>
          </p:nvPr>
        </p:nvSpPr>
        <p:spPr>
          <a:xfrm>
            <a:off x="680484" y="274638"/>
            <a:ext cx="11052856" cy="1143000"/>
          </a:xfrm>
        </p:spPr>
        <p:txBody>
          <a:bodyPr vert="horz" lIns="0" tIns="45720" rIns="10" bIns="45720" rtlCol="0" anchor="ctr">
            <a:noAutofit/>
          </a:bodyPr>
          <a:lstStyle/>
          <a:p>
            <a:r>
              <a:rPr lang="en-US" dirty="0"/>
              <a:t>Supporting Exploratory Browsing</a:t>
            </a:r>
            <a:endParaRPr dirty="0"/>
          </a:p>
        </p:txBody>
      </p:sp>
      <p:sp>
        <p:nvSpPr>
          <p:cNvPr id="3" name="Rectangle 2" descr="Maze">
            <a:extLst>
              <a:ext uri="{FF2B5EF4-FFF2-40B4-BE49-F238E27FC236}">
                <a16:creationId xmlns:a16="http://schemas.microsoft.com/office/drawing/2014/main" id="{BF3E2F93-5627-8566-07AB-82A17360B5E4}"/>
              </a:ext>
            </a:extLst>
          </p:cNvPr>
          <p:cNvSpPr/>
          <p:nvPr/>
        </p:nvSpPr>
        <p:spPr>
          <a:xfrm>
            <a:off x="9823872" y="1314336"/>
            <a:ext cx="2631505" cy="2631505"/>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Tree>
    <p:extLst>
      <p:ext uri="{BB962C8B-B14F-4D97-AF65-F5344CB8AC3E}">
        <p14:creationId xmlns:p14="http://schemas.microsoft.com/office/powerpoint/2010/main" val="27792241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20E10D-DE91-FA67-86AE-AF2599E0A14B}"/>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A66F6EAE-22DC-0F9E-A005-3EE973C80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103" name="Freeform: Shape 102">
            <a:extLst>
              <a:ext uri="{FF2B5EF4-FFF2-40B4-BE49-F238E27FC236}">
                <a16:creationId xmlns:a16="http://schemas.microsoft.com/office/drawing/2014/main" id="{BB78A4D8-A22E-F4C0-1C3C-FA092E2C790D}"/>
              </a:ext>
            </a:extLst>
          </p:cNvPr>
          <p:cNvSpPr/>
          <p:nvPr/>
        </p:nvSpPr>
        <p:spPr>
          <a:xfrm>
            <a:off x="1428277" y="288485"/>
            <a:ext cx="2074543" cy="1659634"/>
          </a:xfrm>
          <a:custGeom>
            <a:avLst/>
            <a:gdLst>
              <a:gd name="csX0" fmla="*/ 0 w 2074543"/>
              <a:gd name="csY0" fmla="*/ 0 h 1659634"/>
              <a:gd name="csX1" fmla="*/ 2074544 w 2074543"/>
              <a:gd name="csY1" fmla="*/ 0 h 1659634"/>
              <a:gd name="csX2" fmla="*/ 0 w 2074543"/>
              <a:gd name="csY2" fmla="*/ 1659635 h 1659634"/>
            </a:gdLst>
            <a:ahLst/>
            <a:cxnLst>
              <a:cxn ang="0">
                <a:pos x="csX0" y="csY0"/>
              </a:cxn>
              <a:cxn ang="0">
                <a:pos x="csX1" y="csY1"/>
              </a:cxn>
              <a:cxn ang="0">
                <a:pos x="csX2" y="csY2"/>
              </a:cxn>
            </a:cxnLst>
            <a:rect l="l" t="t" r="r" b="b"/>
            <a:pathLst>
              <a:path w="2074543" h="1659634">
                <a:moveTo>
                  <a:pt x="0" y="0"/>
                </a:moveTo>
                <a:lnTo>
                  <a:pt x="2074544" y="0"/>
                </a:lnTo>
                <a:lnTo>
                  <a:pt x="0" y="1659635"/>
                </a:lnTo>
                <a:close/>
              </a:path>
            </a:pathLst>
          </a:custGeom>
          <a:solidFill>
            <a:srgbClr val="FEF8DD">
              <a:alpha val="5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7" name="Freeform: Shape 16">
            <a:extLst>
              <a:ext uri="{FF2B5EF4-FFF2-40B4-BE49-F238E27FC236}">
                <a16:creationId xmlns:a16="http://schemas.microsoft.com/office/drawing/2014/main" id="{B5A67236-553D-3D0D-3E5E-95A02A927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19" name="Rectangle 18">
            <a:extLst>
              <a:ext uri="{FF2B5EF4-FFF2-40B4-BE49-F238E27FC236}">
                <a16:creationId xmlns:a16="http://schemas.microsoft.com/office/drawing/2014/main" id="{E65F86ED-96EC-6977-B192-27AC01FC28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1" name="Rectangle 20">
            <a:extLst>
              <a:ext uri="{FF2B5EF4-FFF2-40B4-BE49-F238E27FC236}">
                <a16:creationId xmlns:a16="http://schemas.microsoft.com/office/drawing/2014/main" id="{58B5B73B-89E3-16CE-3F71-8800AC9166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3" name="Freeform: Shape 22">
            <a:extLst>
              <a:ext uri="{FF2B5EF4-FFF2-40B4-BE49-F238E27FC236}">
                <a16:creationId xmlns:a16="http://schemas.microsoft.com/office/drawing/2014/main" id="{A1C7F066-6C09-DF0B-921B-E4177611D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25" name="Isosceles Triangle 24">
            <a:extLst>
              <a:ext uri="{FF2B5EF4-FFF2-40B4-BE49-F238E27FC236}">
                <a16:creationId xmlns:a16="http://schemas.microsoft.com/office/drawing/2014/main" id="{EFD6157D-652E-E3B8-B752-E4F0E2B3B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4" name="Freeform: Shape 3">
            <a:extLst>
              <a:ext uri="{FF2B5EF4-FFF2-40B4-BE49-F238E27FC236}">
                <a16:creationId xmlns:a16="http://schemas.microsoft.com/office/drawing/2014/main" id="{8EE4C2F5-5CDE-919C-32CB-918A689A5CD2}"/>
              </a:ext>
            </a:extLst>
          </p:cNvPr>
          <p:cNvSpPr/>
          <p:nvPr/>
        </p:nvSpPr>
        <p:spPr>
          <a:xfrm>
            <a:off x="7963089" y="4022663"/>
            <a:ext cx="2800634" cy="2696907"/>
          </a:xfrm>
          <a:custGeom>
            <a:avLst/>
            <a:gdLst>
              <a:gd name="csX0" fmla="*/ 2800634 w 2800634"/>
              <a:gd name="csY0" fmla="*/ 0 h 2696907"/>
              <a:gd name="csX1" fmla="*/ 2800634 w 2800634"/>
              <a:gd name="csY1" fmla="*/ 2696907 h 2696907"/>
              <a:gd name="csX2" fmla="*/ 0 w 2800634"/>
              <a:gd name="csY2" fmla="*/ 2696907 h 2696907"/>
            </a:gdLst>
            <a:ahLst/>
            <a:cxnLst>
              <a:cxn ang="0">
                <a:pos x="csX0" y="csY0"/>
              </a:cxn>
              <a:cxn ang="0">
                <a:pos x="csX1" y="csY1"/>
              </a:cxn>
              <a:cxn ang="0">
                <a:pos x="csX2" y="csY2"/>
              </a:cxn>
            </a:cxnLst>
            <a:rect l="l" t="t" r="r" b="b"/>
            <a:pathLst>
              <a:path w="2800634" h="2696907">
                <a:moveTo>
                  <a:pt x="2800634" y="0"/>
                </a:moveTo>
                <a:lnTo>
                  <a:pt x="2800634" y="2696907"/>
                </a:lnTo>
                <a:lnTo>
                  <a:pt x="0" y="2696907"/>
                </a:lnTo>
                <a:close/>
              </a:path>
            </a:pathLst>
          </a:custGeom>
          <a:solidFill>
            <a:srgbClr val="F4F4F4"/>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 name="Freeform: Shape 4">
            <a:extLst>
              <a:ext uri="{FF2B5EF4-FFF2-40B4-BE49-F238E27FC236}">
                <a16:creationId xmlns:a16="http://schemas.microsoft.com/office/drawing/2014/main" id="{1B12B63A-B33A-5E5D-781D-9A9023A943DA}"/>
              </a:ext>
            </a:extLst>
          </p:cNvPr>
          <p:cNvSpPr/>
          <p:nvPr/>
        </p:nvSpPr>
        <p:spPr>
          <a:xfrm>
            <a:off x="8689180" y="4956208"/>
            <a:ext cx="2074543" cy="1763362"/>
          </a:xfrm>
          <a:custGeom>
            <a:avLst/>
            <a:gdLst>
              <a:gd name="csX0" fmla="*/ 2074544 w 2074543"/>
              <a:gd name="csY0" fmla="*/ 0 h 1763362"/>
              <a:gd name="csX1" fmla="*/ 2074544 w 2074543"/>
              <a:gd name="csY1" fmla="*/ 1763362 h 1763362"/>
              <a:gd name="csX2" fmla="*/ 0 w 2074543"/>
              <a:gd name="csY2" fmla="*/ 1763362 h 1763362"/>
            </a:gdLst>
            <a:ahLst/>
            <a:cxnLst>
              <a:cxn ang="0">
                <a:pos x="csX0" y="csY0"/>
              </a:cxn>
              <a:cxn ang="0">
                <a:pos x="csX1" y="csY1"/>
              </a:cxn>
              <a:cxn ang="0">
                <a:pos x="csX2" y="csY2"/>
              </a:cxn>
            </a:cxnLst>
            <a:rect l="l" t="t" r="r" b="b"/>
            <a:pathLst>
              <a:path w="2074543" h="1763362">
                <a:moveTo>
                  <a:pt x="2074544" y="0"/>
                </a:moveTo>
                <a:lnTo>
                  <a:pt x="2074544" y="1763362"/>
                </a:lnTo>
                <a:lnTo>
                  <a:pt x="0" y="1763362"/>
                </a:lnTo>
                <a:close/>
              </a:path>
            </a:pathLst>
          </a:custGeom>
          <a:solidFill>
            <a:srgbClr val="EDEEF5"/>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 name="Oval 7">
            <a:extLst>
              <a:ext uri="{FF2B5EF4-FFF2-40B4-BE49-F238E27FC236}">
                <a16:creationId xmlns:a16="http://schemas.microsoft.com/office/drawing/2014/main" id="{F1CE83DB-2A3F-2734-D2D1-423D38159F39}"/>
              </a:ext>
            </a:extLst>
          </p:cNvPr>
          <p:cNvSpPr/>
          <p:nvPr/>
        </p:nvSpPr>
        <p:spPr>
          <a:xfrm>
            <a:off x="9083343" y="578921"/>
            <a:ext cx="1286217" cy="1286217"/>
          </a:xfrm>
          <a:prstGeom prst="ellipse">
            <a:avLst/>
          </a:prstGeom>
          <a:solidFill>
            <a:srgbClr val="FEF8DD">
              <a:alpha val="4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 name="TextBox 9">
            <a:extLst>
              <a:ext uri="{FF2B5EF4-FFF2-40B4-BE49-F238E27FC236}">
                <a16:creationId xmlns:a16="http://schemas.microsoft.com/office/drawing/2014/main" id="{59144EF7-6EDE-4190-AE34-91AAA842AA6D}"/>
              </a:ext>
            </a:extLst>
          </p:cNvPr>
          <p:cNvSpPr txBox="1"/>
          <p:nvPr/>
        </p:nvSpPr>
        <p:spPr>
          <a:xfrm>
            <a:off x="3392151" y="714693"/>
            <a:ext cx="54076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solidFill>
                  <a:srgbClr val="3E5760"/>
                </a:solidFill>
                <a:effectLst/>
                <a:uLnTx/>
                <a:uFillTx/>
                <a:latin typeface="Avenir"/>
                <a:ea typeface="+mn-ea"/>
                <a:cs typeface="Segoe UI"/>
                <a:sym typeface="Segoe UI"/>
                <a:rtl val="0"/>
              </a:rPr>
              <a:t>Users discover options matching a loosely-defined need</a:t>
            </a:r>
          </a:p>
        </p:txBody>
      </p:sp>
      <p:sp>
        <p:nvSpPr>
          <p:cNvPr id="11" name="Rectangle 10">
            <a:extLst>
              <a:ext uri="{FF2B5EF4-FFF2-40B4-BE49-F238E27FC236}">
                <a16:creationId xmlns:a16="http://schemas.microsoft.com/office/drawing/2014/main" id="{5B00B1FB-8FC0-E99A-45D2-C36C14EC11AB}"/>
              </a:ext>
            </a:extLst>
          </p:cNvPr>
          <p:cNvSpPr/>
          <p:nvPr/>
        </p:nvSpPr>
        <p:spPr>
          <a:xfrm>
            <a:off x="1946912" y="1139047"/>
            <a:ext cx="8298175" cy="5290086"/>
          </a:xfrm>
          <a:prstGeom prst="rect">
            <a:avLst/>
          </a:prstGeom>
          <a:solidFill>
            <a:srgbClr val="F0F1F7"/>
          </a:solidFill>
          <a:ln w="15558"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 name="Rectangle 11">
            <a:extLst>
              <a:ext uri="{FF2B5EF4-FFF2-40B4-BE49-F238E27FC236}">
                <a16:creationId xmlns:a16="http://schemas.microsoft.com/office/drawing/2014/main" id="{2D30D235-65F4-D0C6-863D-61A7723E2367}"/>
              </a:ext>
            </a:extLst>
          </p:cNvPr>
          <p:cNvSpPr/>
          <p:nvPr/>
        </p:nvSpPr>
        <p:spPr>
          <a:xfrm>
            <a:off x="1946912" y="1139047"/>
            <a:ext cx="8298175" cy="394163"/>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3" name="Rectangle 12">
            <a:extLst>
              <a:ext uri="{FF2B5EF4-FFF2-40B4-BE49-F238E27FC236}">
                <a16:creationId xmlns:a16="http://schemas.microsoft.com/office/drawing/2014/main" id="{FC9D2200-4060-BCDD-A9E9-2FE2CC6DDC33}"/>
              </a:ext>
            </a:extLst>
          </p:cNvPr>
          <p:cNvSpPr/>
          <p:nvPr/>
        </p:nvSpPr>
        <p:spPr>
          <a:xfrm>
            <a:off x="1946912" y="1367247"/>
            <a:ext cx="8298175" cy="165963"/>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4" name="Oval 13">
            <a:extLst>
              <a:ext uri="{FF2B5EF4-FFF2-40B4-BE49-F238E27FC236}">
                <a16:creationId xmlns:a16="http://schemas.microsoft.com/office/drawing/2014/main" id="{2085AAEC-3C20-133F-4AFD-3319FC8D3C8D}"/>
              </a:ext>
            </a:extLst>
          </p:cNvPr>
          <p:cNvSpPr/>
          <p:nvPr/>
        </p:nvSpPr>
        <p:spPr>
          <a:xfrm>
            <a:off x="2175112" y="1273893"/>
            <a:ext cx="124472" cy="124472"/>
          </a:xfrm>
          <a:prstGeom prst="ellipse">
            <a:avLst/>
          </a:prstGeom>
          <a:solidFill>
            <a:srgbClr val="C23592">
              <a:alpha val="9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6" name="Oval 15">
            <a:extLst>
              <a:ext uri="{FF2B5EF4-FFF2-40B4-BE49-F238E27FC236}">
                <a16:creationId xmlns:a16="http://schemas.microsoft.com/office/drawing/2014/main" id="{303A07A4-FCEB-5C07-05D4-94C4617D7A24}"/>
              </a:ext>
            </a:extLst>
          </p:cNvPr>
          <p:cNvSpPr/>
          <p:nvPr/>
        </p:nvSpPr>
        <p:spPr>
          <a:xfrm>
            <a:off x="2382567" y="1273893"/>
            <a:ext cx="124472" cy="124472"/>
          </a:xfrm>
          <a:prstGeom prst="ellipse">
            <a:avLst/>
          </a:prstGeom>
          <a:solidFill>
            <a:srgbClr val="FDE379"/>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8" name="Oval 17">
            <a:extLst>
              <a:ext uri="{FF2B5EF4-FFF2-40B4-BE49-F238E27FC236}">
                <a16:creationId xmlns:a16="http://schemas.microsoft.com/office/drawing/2014/main" id="{E337BF73-DDB2-3E17-6A28-DB21E8D35F9A}"/>
              </a:ext>
            </a:extLst>
          </p:cNvPr>
          <p:cNvSpPr/>
          <p:nvPr/>
        </p:nvSpPr>
        <p:spPr>
          <a:xfrm>
            <a:off x="2590021" y="1273893"/>
            <a:ext cx="124472" cy="124472"/>
          </a:xfrm>
          <a:prstGeom prst="ellipse">
            <a:avLst/>
          </a:prstGeom>
          <a:solidFill>
            <a:srgbClr val="4E42DA">
              <a:alpha val="7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 name="Rectangle 19">
            <a:extLst>
              <a:ext uri="{FF2B5EF4-FFF2-40B4-BE49-F238E27FC236}">
                <a16:creationId xmlns:a16="http://schemas.microsoft.com/office/drawing/2014/main" id="{3B8BC888-B004-6249-39B0-3FD7EFD25681}"/>
              </a:ext>
            </a:extLst>
          </p:cNvPr>
          <p:cNvSpPr/>
          <p:nvPr/>
        </p:nvSpPr>
        <p:spPr>
          <a:xfrm>
            <a:off x="2921948" y="1201284"/>
            <a:ext cx="5808722" cy="248945"/>
          </a:xfrm>
          <a:prstGeom prst="rect">
            <a:avLst/>
          </a:prstGeom>
          <a:solidFill>
            <a:srgbClr val="FFFFFF">
              <a:alpha val="2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 name="TextBox 21">
            <a:extLst>
              <a:ext uri="{FF2B5EF4-FFF2-40B4-BE49-F238E27FC236}">
                <a16:creationId xmlns:a16="http://schemas.microsoft.com/office/drawing/2014/main" id="{872643C1-1DB0-583B-6896-B346FE0C066F}"/>
              </a:ext>
            </a:extLst>
          </p:cNvPr>
          <p:cNvSpPr txBox="1"/>
          <p:nvPr/>
        </p:nvSpPr>
        <p:spPr>
          <a:xfrm>
            <a:off x="4867603" y="1164822"/>
            <a:ext cx="191741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beachfinder.com / discover</a:t>
            </a:r>
          </a:p>
        </p:txBody>
      </p:sp>
      <p:sp>
        <p:nvSpPr>
          <p:cNvPr id="24" name="Rectangle 23">
            <a:extLst>
              <a:ext uri="{FF2B5EF4-FFF2-40B4-BE49-F238E27FC236}">
                <a16:creationId xmlns:a16="http://schemas.microsoft.com/office/drawing/2014/main" id="{EFC8FE76-E418-B282-F32E-7D1726CF4610}"/>
              </a:ext>
            </a:extLst>
          </p:cNvPr>
          <p:cNvSpPr/>
          <p:nvPr/>
        </p:nvSpPr>
        <p:spPr>
          <a:xfrm>
            <a:off x="1946912" y="1533211"/>
            <a:ext cx="8298175" cy="435654"/>
          </a:xfrm>
          <a:prstGeom prst="rect">
            <a:avLst/>
          </a:prstGeom>
          <a:solidFill>
            <a:srgbClr val="FFFFFF"/>
          </a:solidFill>
          <a:ln w="10372"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 name="Rectangle 25">
            <a:extLst>
              <a:ext uri="{FF2B5EF4-FFF2-40B4-BE49-F238E27FC236}">
                <a16:creationId xmlns:a16="http://schemas.microsoft.com/office/drawing/2014/main" id="{CA90087D-1DFA-8D5C-CA8E-3F3870F9C723}"/>
              </a:ext>
            </a:extLst>
          </p:cNvPr>
          <p:cNvSpPr/>
          <p:nvPr/>
        </p:nvSpPr>
        <p:spPr>
          <a:xfrm>
            <a:off x="2154367" y="1636938"/>
            <a:ext cx="207454" cy="207454"/>
          </a:xfrm>
          <a:prstGeom prst="rect">
            <a:avLst/>
          </a:prstGeom>
          <a:solidFill>
            <a:srgbClr val="C23592"/>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8" name="TextBox 27">
            <a:extLst>
              <a:ext uri="{FF2B5EF4-FFF2-40B4-BE49-F238E27FC236}">
                <a16:creationId xmlns:a16="http://schemas.microsoft.com/office/drawing/2014/main" id="{B5071184-B2DF-841E-375C-9409514191C5}"/>
              </a:ext>
            </a:extLst>
          </p:cNvPr>
          <p:cNvSpPr txBox="1"/>
          <p:nvPr/>
        </p:nvSpPr>
        <p:spPr>
          <a:xfrm>
            <a:off x="2353363" y="1589283"/>
            <a:ext cx="1080565"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BeachFinder</a:t>
            </a:r>
          </a:p>
        </p:txBody>
      </p:sp>
      <p:sp>
        <p:nvSpPr>
          <p:cNvPr id="29" name="TextBox 28">
            <a:extLst>
              <a:ext uri="{FF2B5EF4-FFF2-40B4-BE49-F238E27FC236}">
                <a16:creationId xmlns:a16="http://schemas.microsoft.com/office/drawing/2014/main" id="{FF06F2FE-3109-FE1E-9D02-360CC2EB62EF}"/>
              </a:ext>
            </a:extLst>
          </p:cNvPr>
          <p:cNvSpPr txBox="1"/>
          <p:nvPr/>
        </p:nvSpPr>
        <p:spPr>
          <a:xfrm>
            <a:off x="4116725" y="1600476"/>
            <a:ext cx="729645"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Discover</a:t>
            </a:r>
          </a:p>
        </p:txBody>
      </p:sp>
      <p:sp>
        <p:nvSpPr>
          <p:cNvPr id="30" name="TextBox 29">
            <a:extLst>
              <a:ext uri="{FF2B5EF4-FFF2-40B4-BE49-F238E27FC236}">
                <a16:creationId xmlns:a16="http://schemas.microsoft.com/office/drawing/2014/main" id="{23B888B6-864B-2396-C48E-C22EFEAA656D}"/>
              </a:ext>
            </a:extLst>
          </p:cNvPr>
          <p:cNvSpPr txBox="1"/>
          <p:nvPr/>
        </p:nvSpPr>
        <p:spPr>
          <a:xfrm>
            <a:off x="4842815" y="1600476"/>
            <a:ext cx="76226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By Mood</a:t>
            </a:r>
          </a:p>
        </p:txBody>
      </p:sp>
      <p:sp>
        <p:nvSpPr>
          <p:cNvPr id="31" name="TextBox 30">
            <a:extLst>
              <a:ext uri="{FF2B5EF4-FFF2-40B4-BE49-F238E27FC236}">
                <a16:creationId xmlns:a16="http://schemas.microsoft.com/office/drawing/2014/main" id="{8C77B2FD-3892-889A-B00F-63BA861864C4}"/>
              </a:ext>
            </a:extLst>
          </p:cNvPr>
          <p:cNvSpPr txBox="1"/>
          <p:nvPr/>
        </p:nvSpPr>
        <p:spPr>
          <a:xfrm>
            <a:off x="5568906" y="1600476"/>
            <a:ext cx="73794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Near Me</a:t>
            </a:r>
          </a:p>
        </p:txBody>
      </p:sp>
      <p:sp>
        <p:nvSpPr>
          <p:cNvPr id="32" name="TextBox 31">
            <a:extLst>
              <a:ext uri="{FF2B5EF4-FFF2-40B4-BE49-F238E27FC236}">
                <a16:creationId xmlns:a16="http://schemas.microsoft.com/office/drawing/2014/main" id="{76305968-5001-F5DD-1E5D-2BA517705C86}"/>
              </a:ext>
            </a:extLst>
          </p:cNvPr>
          <p:cNvSpPr txBox="1"/>
          <p:nvPr/>
        </p:nvSpPr>
        <p:spPr>
          <a:xfrm>
            <a:off x="6191269" y="1600476"/>
            <a:ext cx="56492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Saved</a:t>
            </a:r>
          </a:p>
        </p:txBody>
      </p:sp>
      <p:sp>
        <p:nvSpPr>
          <p:cNvPr id="33" name="TextBox 32">
            <a:extLst>
              <a:ext uri="{FF2B5EF4-FFF2-40B4-BE49-F238E27FC236}">
                <a16:creationId xmlns:a16="http://schemas.microsoft.com/office/drawing/2014/main" id="{0B49E9C8-80B3-F5F7-E3B6-91A2D3449204}"/>
              </a:ext>
            </a:extLst>
          </p:cNvPr>
          <p:cNvSpPr txBox="1"/>
          <p:nvPr/>
        </p:nvSpPr>
        <p:spPr>
          <a:xfrm>
            <a:off x="6772141" y="1600476"/>
            <a:ext cx="68866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Reviews</a:t>
            </a:r>
          </a:p>
        </p:txBody>
      </p:sp>
      <p:sp>
        <p:nvSpPr>
          <p:cNvPr id="34" name="Rectangle 33">
            <a:extLst>
              <a:ext uri="{FF2B5EF4-FFF2-40B4-BE49-F238E27FC236}">
                <a16:creationId xmlns:a16="http://schemas.microsoft.com/office/drawing/2014/main" id="{62D03105-C9B3-D663-744F-7DE88641FC78}"/>
              </a:ext>
            </a:extLst>
          </p:cNvPr>
          <p:cNvSpPr/>
          <p:nvPr/>
        </p:nvSpPr>
        <p:spPr>
          <a:xfrm>
            <a:off x="7548181" y="1626565"/>
            <a:ext cx="2344234" cy="248945"/>
          </a:xfrm>
          <a:prstGeom prst="rect">
            <a:avLst/>
          </a:prstGeom>
          <a:solidFill>
            <a:srgbClr val="FEF8DD"/>
          </a:solidFill>
          <a:ln w="12446" cap="flat">
            <a:solidFill>
              <a:srgbClr val="FDE379"/>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5" name="TextBox 34">
            <a:extLst>
              <a:ext uri="{FF2B5EF4-FFF2-40B4-BE49-F238E27FC236}">
                <a16:creationId xmlns:a16="http://schemas.microsoft.com/office/drawing/2014/main" id="{A04A15FF-164A-D2C0-CA5C-1BCDB9182D8D}"/>
              </a:ext>
            </a:extLst>
          </p:cNvPr>
          <p:cNvSpPr txBox="1"/>
          <p:nvPr/>
        </p:nvSpPr>
        <p:spPr>
          <a:xfrm>
            <a:off x="7893301" y="1590104"/>
            <a:ext cx="165399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quiet beach weekend…</a:t>
            </a:r>
          </a:p>
        </p:txBody>
      </p:sp>
      <p:sp>
        <p:nvSpPr>
          <p:cNvPr id="36" name="Rectangle 35">
            <a:extLst>
              <a:ext uri="{FF2B5EF4-FFF2-40B4-BE49-F238E27FC236}">
                <a16:creationId xmlns:a16="http://schemas.microsoft.com/office/drawing/2014/main" id="{F2ECCB4C-497C-893F-2C4D-0B15E5CD59FF}"/>
              </a:ext>
            </a:extLst>
          </p:cNvPr>
          <p:cNvSpPr/>
          <p:nvPr/>
        </p:nvSpPr>
        <p:spPr>
          <a:xfrm>
            <a:off x="1946912" y="1968865"/>
            <a:ext cx="8298175" cy="643108"/>
          </a:xfrm>
          <a:prstGeom prst="rect">
            <a:avLst/>
          </a:prstGeom>
          <a:solidFill>
            <a:srgbClr val="FFFFFF"/>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7" name="Freeform: Shape 36">
            <a:extLst>
              <a:ext uri="{FF2B5EF4-FFF2-40B4-BE49-F238E27FC236}">
                <a16:creationId xmlns:a16="http://schemas.microsoft.com/office/drawing/2014/main" id="{3421B5CD-5535-AC4B-588F-A17039A0BE28}"/>
              </a:ext>
            </a:extLst>
          </p:cNvPr>
          <p:cNvSpPr/>
          <p:nvPr/>
        </p:nvSpPr>
        <p:spPr>
          <a:xfrm>
            <a:off x="6614636" y="1968865"/>
            <a:ext cx="3215542" cy="643108"/>
          </a:xfrm>
          <a:custGeom>
            <a:avLst/>
            <a:gdLst>
              <a:gd name="csX0" fmla="*/ 0 w 3215542"/>
              <a:gd name="csY0" fmla="*/ 0 h 643108"/>
              <a:gd name="csX1" fmla="*/ 3215543 w 3215542"/>
              <a:gd name="csY1" fmla="*/ 0 h 643108"/>
              <a:gd name="csX2" fmla="*/ 3215543 w 3215542"/>
              <a:gd name="csY2" fmla="*/ 643109 h 643108"/>
              <a:gd name="csX3" fmla="*/ 1244726 w 3215542"/>
              <a:gd name="csY3" fmla="*/ 643109 h 643108"/>
            </a:gdLst>
            <a:ahLst/>
            <a:cxnLst>
              <a:cxn ang="0">
                <a:pos x="csX0" y="csY0"/>
              </a:cxn>
              <a:cxn ang="0">
                <a:pos x="csX1" y="csY1"/>
              </a:cxn>
              <a:cxn ang="0">
                <a:pos x="csX2" y="csY2"/>
              </a:cxn>
              <a:cxn ang="0">
                <a:pos x="csX3" y="csY3"/>
              </a:cxn>
            </a:cxnLst>
            <a:rect l="l" t="t" r="r" b="b"/>
            <a:pathLst>
              <a:path w="3215542" h="643108">
                <a:moveTo>
                  <a:pt x="0" y="0"/>
                </a:moveTo>
                <a:lnTo>
                  <a:pt x="3215543" y="0"/>
                </a:lnTo>
                <a:lnTo>
                  <a:pt x="3215543" y="643109"/>
                </a:lnTo>
                <a:lnTo>
                  <a:pt x="1244726" y="643109"/>
                </a:lnTo>
                <a:close/>
              </a:path>
            </a:pathLst>
          </a:custGeom>
          <a:solidFill>
            <a:srgbClr val="FEF8DD">
              <a:alpha val="4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8" name="TextBox 37">
            <a:extLst>
              <a:ext uri="{FF2B5EF4-FFF2-40B4-BE49-F238E27FC236}">
                <a16:creationId xmlns:a16="http://schemas.microsoft.com/office/drawing/2014/main" id="{55F7B136-109B-2514-1FA9-DB3FD80ED50D}"/>
              </a:ext>
            </a:extLst>
          </p:cNvPr>
          <p:cNvSpPr txBox="1"/>
          <p:nvPr/>
        </p:nvSpPr>
        <p:spPr>
          <a:xfrm>
            <a:off x="2560817" y="2002551"/>
            <a:ext cx="2145739" cy="3259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solidFill>
                  <a:srgbClr val="444F9C"/>
                </a:solidFill>
                <a:effectLst/>
                <a:uLnTx/>
                <a:uFillTx/>
                <a:latin typeface="Segoe UI"/>
                <a:ea typeface="+mn-ea"/>
                <a:cs typeface="Segoe UI"/>
                <a:sym typeface="Segoe UI"/>
                <a:rtl val="0"/>
              </a:rPr>
              <a:t>Find Your Perfect Beach</a:t>
            </a:r>
          </a:p>
        </p:txBody>
      </p:sp>
      <p:sp>
        <p:nvSpPr>
          <p:cNvPr id="39" name="TextBox 38">
            <a:extLst>
              <a:ext uri="{FF2B5EF4-FFF2-40B4-BE49-F238E27FC236}">
                <a16:creationId xmlns:a16="http://schemas.microsoft.com/office/drawing/2014/main" id="{0CE0A94C-AF02-17E9-1056-CDE1A6423E99}"/>
              </a:ext>
            </a:extLst>
          </p:cNvPr>
          <p:cNvSpPr txBox="1"/>
          <p:nvPr/>
        </p:nvSpPr>
        <p:spPr>
          <a:xfrm>
            <a:off x="2560817" y="2243585"/>
            <a:ext cx="3957344"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Not sure where to go? Explore by vibe, distance, or activity.</a:t>
            </a:r>
          </a:p>
        </p:txBody>
      </p:sp>
      <p:sp>
        <p:nvSpPr>
          <p:cNvPr id="40" name="Rectangle 39">
            <a:extLst>
              <a:ext uri="{FF2B5EF4-FFF2-40B4-BE49-F238E27FC236}">
                <a16:creationId xmlns:a16="http://schemas.microsoft.com/office/drawing/2014/main" id="{35F04D1E-F12F-41B3-AAC6-C3AA0F2D7C23}"/>
              </a:ext>
            </a:extLst>
          </p:cNvPr>
          <p:cNvSpPr/>
          <p:nvPr/>
        </p:nvSpPr>
        <p:spPr>
          <a:xfrm>
            <a:off x="1946912" y="2611974"/>
            <a:ext cx="8298175" cy="414908"/>
          </a:xfrm>
          <a:prstGeom prst="rect">
            <a:avLst/>
          </a:prstGeom>
          <a:solidFill>
            <a:srgbClr val="F0F1F7"/>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1" name="TextBox 40">
            <a:extLst>
              <a:ext uri="{FF2B5EF4-FFF2-40B4-BE49-F238E27FC236}">
                <a16:creationId xmlns:a16="http://schemas.microsoft.com/office/drawing/2014/main" id="{6D0AB738-97C8-D5F2-CBA8-212CF8BE69A4}"/>
              </a:ext>
            </a:extLst>
          </p:cNvPr>
          <p:cNvSpPr txBox="1"/>
          <p:nvPr/>
        </p:nvSpPr>
        <p:spPr>
          <a:xfrm>
            <a:off x="2166654" y="2658494"/>
            <a:ext cx="88330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E5760"/>
                </a:solidFill>
                <a:effectLst/>
                <a:uLnTx/>
                <a:uFillTx/>
                <a:latin typeface="Segoe UI"/>
                <a:ea typeface="+mn-ea"/>
                <a:cs typeface="Segoe UI"/>
                <a:sym typeface="Segoe UI"/>
                <a:rtl val="0"/>
              </a:rPr>
              <a:t>FILTER BY:</a:t>
            </a:r>
          </a:p>
        </p:txBody>
      </p:sp>
      <p:sp>
        <p:nvSpPr>
          <p:cNvPr id="42" name="Rectangle 41">
            <a:extLst>
              <a:ext uri="{FF2B5EF4-FFF2-40B4-BE49-F238E27FC236}">
                <a16:creationId xmlns:a16="http://schemas.microsoft.com/office/drawing/2014/main" id="{849437E3-EA8B-16A6-5E3B-D194D3EC009D}"/>
              </a:ext>
            </a:extLst>
          </p:cNvPr>
          <p:cNvSpPr/>
          <p:nvPr/>
        </p:nvSpPr>
        <p:spPr>
          <a:xfrm>
            <a:off x="3253875" y="2674210"/>
            <a:ext cx="684599" cy="248945"/>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3" name="TextBox 42">
            <a:extLst>
              <a:ext uri="{FF2B5EF4-FFF2-40B4-BE49-F238E27FC236}">
                <a16:creationId xmlns:a16="http://schemas.microsoft.com/office/drawing/2014/main" id="{349B40F6-59C3-DCF8-3322-569250EFFA78}"/>
              </a:ext>
            </a:extLst>
          </p:cNvPr>
          <p:cNvSpPr txBox="1"/>
          <p:nvPr/>
        </p:nvSpPr>
        <p:spPr>
          <a:xfrm>
            <a:off x="3328743" y="2637748"/>
            <a:ext cx="53486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Quiet</a:t>
            </a:r>
          </a:p>
        </p:txBody>
      </p:sp>
      <p:sp>
        <p:nvSpPr>
          <p:cNvPr id="44" name="Rectangle 43">
            <a:extLst>
              <a:ext uri="{FF2B5EF4-FFF2-40B4-BE49-F238E27FC236}">
                <a16:creationId xmlns:a16="http://schemas.microsoft.com/office/drawing/2014/main" id="{2AD2EF7A-5A34-E0CB-CD43-9D2123BCF5D4}"/>
              </a:ext>
            </a:extLst>
          </p:cNvPr>
          <p:cNvSpPr/>
          <p:nvPr/>
        </p:nvSpPr>
        <p:spPr>
          <a:xfrm>
            <a:off x="4021456" y="2674210"/>
            <a:ext cx="788326" cy="248945"/>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5" name="TextBox 44">
            <a:extLst>
              <a:ext uri="{FF2B5EF4-FFF2-40B4-BE49-F238E27FC236}">
                <a16:creationId xmlns:a16="http://schemas.microsoft.com/office/drawing/2014/main" id="{7C546C70-E9AF-DC8F-5099-B438032D63CF}"/>
              </a:ext>
            </a:extLst>
          </p:cNvPr>
          <p:cNvSpPr txBox="1"/>
          <p:nvPr/>
        </p:nvSpPr>
        <p:spPr>
          <a:xfrm>
            <a:off x="4070190" y="2637748"/>
            <a:ext cx="69085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Families</a:t>
            </a:r>
          </a:p>
        </p:txBody>
      </p:sp>
      <p:sp>
        <p:nvSpPr>
          <p:cNvPr id="46" name="Rectangle 45">
            <a:extLst>
              <a:ext uri="{FF2B5EF4-FFF2-40B4-BE49-F238E27FC236}">
                <a16:creationId xmlns:a16="http://schemas.microsoft.com/office/drawing/2014/main" id="{A559344F-C5F8-6282-5916-7EFC62F97EA0}"/>
              </a:ext>
            </a:extLst>
          </p:cNvPr>
          <p:cNvSpPr/>
          <p:nvPr/>
        </p:nvSpPr>
        <p:spPr>
          <a:xfrm>
            <a:off x="4892765" y="2674210"/>
            <a:ext cx="1099508" cy="248945"/>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7" name="TextBox 46">
            <a:extLst>
              <a:ext uri="{FF2B5EF4-FFF2-40B4-BE49-F238E27FC236}">
                <a16:creationId xmlns:a16="http://schemas.microsoft.com/office/drawing/2014/main" id="{82A2ED84-B9E0-8E71-9F40-B9EA3082334A}"/>
              </a:ext>
            </a:extLst>
          </p:cNvPr>
          <p:cNvSpPr txBox="1"/>
          <p:nvPr/>
        </p:nvSpPr>
        <p:spPr>
          <a:xfrm>
            <a:off x="4917339" y="2637748"/>
            <a:ext cx="105035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This weekend</a:t>
            </a:r>
          </a:p>
        </p:txBody>
      </p:sp>
      <p:sp>
        <p:nvSpPr>
          <p:cNvPr id="48" name="Rectangle 47">
            <a:extLst>
              <a:ext uri="{FF2B5EF4-FFF2-40B4-BE49-F238E27FC236}">
                <a16:creationId xmlns:a16="http://schemas.microsoft.com/office/drawing/2014/main" id="{9B6008EB-2D75-F677-65ED-56DB0CEB4A32}"/>
              </a:ext>
            </a:extLst>
          </p:cNvPr>
          <p:cNvSpPr/>
          <p:nvPr/>
        </p:nvSpPr>
        <p:spPr>
          <a:xfrm>
            <a:off x="6075255" y="2674210"/>
            <a:ext cx="1037271" cy="248945"/>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9" name="TextBox 48">
            <a:extLst>
              <a:ext uri="{FF2B5EF4-FFF2-40B4-BE49-F238E27FC236}">
                <a16:creationId xmlns:a16="http://schemas.microsoft.com/office/drawing/2014/main" id="{822D5BFE-D9FF-CAA2-E117-0E6FE22BE1CF}"/>
              </a:ext>
            </a:extLst>
          </p:cNvPr>
          <p:cNvSpPr txBox="1"/>
          <p:nvPr/>
        </p:nvSpPr>
        <p:spPr>
          <a:xfrm>
            <a:off x="6095266" y="2637748"/>
            <a:ext cx="99724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2 hrs away</a:t>
            </a:r>
          </a:p>
        </p:txBody>
      </p:sp>
      <p:sp>
        <p:nvSpPr>
          <p:cNvPr id="50" name="Rectangle 49">
            <a:extLst>
              <a:ext uri="{FF2B5EF4-FFF2-40B4-BE49-F238E27FC236}">
                <a16:creationId xmlns:a16="http://schemas.microsoft.com/office/drawing/2014/main" id="{20B2A009-3213-002F-92EB-0AAB8F075F17}"/>
              </a:ext>
            </a:extLst>
          </p:cNvPr>
          <p:cNvSpPr/>
          <p:nvPr/>
        </p:nvSpPr>
        <p:spPr>
          <a:xfrm>
            <a:off x="7195508" y="2674210"/>
            <a:ext cx="1120253" cy="248945"/>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1" name="TextBox 50">
            <a:extLst>
              <a:ext uri="{FF2B5EF4-FFF2-40B4-BE49-F238E27FC236}">
                <a16:creationId xmlns:a16="http://schemas.microsoft.com/office/drawing/2014/main" id="{F9A784FF-66ED-5291-8F96-A76A9A21EE22}"/>
              </a:ext>
            </a:extLst>
          </p:cNvPr>
          <p:cNvSpPr txBox="1"/>
          <p:nvPr/>
        </p:nvSpPr>
        <p:spPr>
          <a:xfrm>
            <a:off x="7258854" y="2637748"/>
            <a:ext cx="99356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Dog-friendly</a:t>
            </a:r>
          </a:p>
        </p:txBody>
      </p:sp>
      <p:sp>
        <p:nvSpPr>
          <p:cNvPr id="52" name="Rectangle 51">
            <a:extLst>
              <a:ext uri="{FF2B5EF4-FFF2-40B4-BE49-F238E27FC236}">
                <a16:creationId xmlns:a16="http://schemas.microsoft.com/office/drawing/2014/main" id="{89BBFC5C-22FB-1D03-B39A-89347E3E02EA}"/>
              </a:ext>
            </a:extLst>
          </p:cNvPr>
          <p:cNvSpPr/>
          <p:nvPr/>
        </p:nvSpPr>
        <p:spPr>
          <a:xfrm>
            <a:off x="8398744" y="2674210"/>
            <a:ext cx="933544" cy="248945"/>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3" name="TextBox 52">
            <a:extLst>
              <a:ext uri="{FF2B5EF4-FFF2-40B4-BE49-F238E27FC236}">
                <a16:creationId xmlns:a16="http://schemas.microsoft.com/office/drawing/2014/main" id="{E3E25361-A83F-2E0B-D57C-AB7F85322D81}"/>
              </a:ext>
            </a:extLst>
          </p:cNvPr>
          <p:cNvSpPr txBox="1"/>
          <p:nvPr/>
        </p:nvSpPr>
        <p:spPr>
          <a:xfrm>
            <a:off x="8453504" y="2637748"/>
            <a:ext cx="82402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Free entry</a:t>
            </a:r>
          </a:p>
        </p:txBody>
      </p:sp>
      <p:sp>
        <p:nvSpPr>
          <p:cNvPr id="54" name="TextBox 53">
            <a:extLst>
              <a:ext uri="{FF2B5EF4-FFF2-40B4-BE49-F238E27FC236}">
                <a16:creationId xmlns:a16="http://schemas.microsoft.com/office/drawing/2014/main" id="{36FDC206-2C5A-AE1A-2E6B-6BEBBFB3167C}"/>
              </a:ext>
            </a:extLst>
          </p:cNvPr>
          <p:cNvSpPr txBox="1"/>
          <p:nvPr/>
        </p:nvSpPr>
        <p:spPr>
          <a:xfrm>
            <a:off x="3837953" y="2969675"/>
            <a:ext cx="451609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C23592"/>
                </a:solidFill>
                <a:effectLst/>
                <a:uLnTx/>
                <a:uFillTx/>
                <a:latin typeface="Segoe UI"/>
                <a:ea typeface="+mn-ea"/>
                <a:cs typeface="Segoe UI"/>
                <a:sym typeface="Segoe UI"/>
                <a:rtl val="0"/>
              </a:rPr>
              <a:t>↑ Faceted filters let users gradually narrow an open-ended need</a:t>
            </a:r>
          </a:p>
        </p:txBody>
      </p:sp>
      <p:sp>
        <p:nvSpPr>
          <p:cNvPr id="55" name="Rectangle 54">
            <a:extLst>
              <a:ext uri="{FF2B5EF4-FFF2-40B4-BE49-F238E27FC236}">
                <a16:creationId xmlns:a16="http://schemas.microsoft.com/office/drawing/2014/main" id="{EFC6AEFA-816B-7F95-1AF3-A0241C706A69}"/>
              </a:ext>
            </a:extLst>
          </p:cNvPr>
          <p:cNvSpPr/>
          <p:nvPr/>
        </p:nvSpPr>
        <p:spPr>
          <a:xfrm>
            <a:off x="2133621" y="3296573"/>
            <a:ext cx="2427216" cy="2655416"/>
          </a:xfrm>
          <a:prstGeom prst="rect">
            <a:avLst/>
          </a:prstGeom>
          <a:solidFill>
            <a:srgbClr val="FFFFFF"/>
          </a:solidFill>
          <a:ln w="15558"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6" name="Rectangle 55">
            <a:extLst>
              <a:ext uri="{FF2B5EF4-FFF2-40B4-BE49-F238E27FC236}">
                <a16:creationId xmlns:a16="http://schemas.microsoft.com/office/drawing/2014/main" id="{E31FD42D-C89C-657E-0F5A-6C2BFF0BE198}"/>
              </a:ext>
            </a:extLst>
          </p:cNvPr>
          <p:cNvSpPr/>
          <p:nvPr/>
        </p:nvSpPr>
        <p:spPr>
          <a:xfrm>
            <a:off x="2133621" y="3296573"/>
            <a:ext cx="2427216" cy="1223980"/>
          </a:xfrm>
          <a:prstGeom prst="rect">
            <a:avLst/>
          </a:prstGeom>
          <a:solidFill>
            <a:srgbClr val="CECDED"/>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7" name="Rectangle 56">
            <a:extLst>
              <a:ext uri="{FF2B5EF4-FFF2-40B4-BE49-F238E27FC236}">
                <a16:creationId xmlns:a16="http://schemas.microsoft.com/office/drawing/2014/main" id="{178249BC-F77A-F2EC-B4E4-0078A7B906C4}"/>
              </a:ext>
            </a:extLst>
          </p:cNvPr>
          <p:cNvSpPr/>
          <p:nvPr/>
        </p:nvSpPr>
        <p:spPr>
          <a:xfrm>
            <a:off x="2133621" y="4230118"/>
            <a:ext cx="2427216" cy="290436"/>
          </a:xfrm>
          <a:prstGeom prst="rect">
            <a:avLst/>
          </a:prstGeom>
          <a:solidFill>
            <a:srgbClr val="CECDED"/>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8" name="TextBox 57">
            <a:extLst>
              <a:ext uri="{FF2B5EF4-FFF2-40B4-BE49-F238E27FC236}">
                <a16:creationId xmlns:a16="http://schemas.microsoft.com/office/drawing/2014/main" id="{F39E0D9D-C748-5434-9934-0164E0510CCE}"/>
              </a:ext>
            </a:extLst>
          </p:cNvPr>
          <p:cNvSpPr txBox="1"/>
          <p:nvPr/>
        </p:nvSpPr>
        <p:spPr>
          <a:xfrm>
            <a:off x="3120944" y="3602938"/>
            <a:ext cx="452570" cy="45014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50" b="0" i="0" u="none" strike="noStrike" kern="1200" cap="none" spc="0" normalizeH="0" baseline="0" noProof="0">
                <a:ln/>
                <a:solidFill>
                  <a:srgbClr val="FFFFFF"/>
                </a:solidFill>
                <a:effectLst/>
                <a:uLnTx/>
                <a:uFillTx/>
                <a:latin typeface="Segoe UI Symbol"/>
                <a:ea typeface="Segoe UI Symbol"/>
                <a:cs typeface="+mn-cs"/>
                <a:sym typeface="Segoe UI Symbol"/>
                <a:rtl val="0"/>
              </a:rPr>
              <a:t>🏖</a:t>
            </a:r>
          </a:p>
        </p:txBody>
      </p:sp>
      <p:sp>
        <p:nvSpPr>
          <p:cNvPr id="59" name="Rectangle 58">
            <a:extLst>
              <a:ext uri="{FF2B5EF4-FFF2-40B4-BE49-F238E27FC236}">
                <a16:creationId xmlns:a16="http://schemas.microsoft.com/office/drawing/2014/main" id="{949FF9B7-7452-6C0D-9BBF-8C53DE6B9891}"/>
              </a:ext>
            </a:extLst>
          </p:cNvPr>
          <p:cNvSpPr/>
          <p:nvPr/>
        </p:nvSpPr>
        <p:spPr>
          <a:xfrm>
            <a:off x="2258094" y="3379555"/>
            <a:ext cx="684599" cy="207454"/>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0" name="TextBox 59">
            <a:extLst>
              <a:ext uri="{FF2B5EF4-FFF2-40B4-BE49-F238E27FC236}">
                <a16:creationId xmlns:a16="http://schemas.microsoft.com/office/drawing/2014/main" id="{64AC7500-DD1B-2F80-50C4-6BB08F9C8CE7}"/>
              </a:ext>
            </a:extLst>
          </p:cNvPr>
          <p:cNvSpPr txBox="1"/>
          <p:nvPr/>
        </p:nvSpPr>
        <p:spPr>
          <a:xfrm>
            <a:off x="2253829" y="3322348"/>
            <a:ext cx="69312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Symbol"/>
                <a:ea typeface="Segoe UI Symbol"/>
                <a:cs typeface="+mn-cs"/>
                <a:sym typeface="Segoe UI Symbol"/>
                <a:rtl val="0"/>
              </a:rPr>
              <a:t>✦</a:t>
            </a:r>
            <a:r>
              <a:rPr kumimoji="0" lang="en-US" sz="1050" b="0" i="0" u="none" strike="noStrike" kern="1200" cap="none" spc="0" normalizeH="0" baseline="0" noProof="0">
                <a:ln/>
                <a:solidFill>
                  <a:srgbClr val="FFFFFF"/>
                </a:solidFill>
                <a:effectLst/>
                <a:uLnTx/>
                <a:uFillTx/>
                <a:latin typeface="Segoe UI"/>
                <a:ea typeface="Segoe UI Symbol"/>
                <a:cs typeface="Segoe UI"/>
                <a:sym typeface="Segoe UI"/>
                <a:rtl val="0"/>
              </a:rPr>
              <a:t> Quiet</a:t>
            </a:r>
          </a:p>
        </p:txBody>
      </p:sp>
      <p:sp>
        <p:nvSpPr>
          <p:cNvPr id="61" name="TextBox 60">
            <a:extLst>
              <a:ext uri="{FF2B5EF4-FFF2-40B4-BE49-F238E27FC236}">
                <a16:creationId xmlns:a16="http://schemas.microsoft.com/office/drawing/2014/main" id="{AA15EF53-7F88-58C5-4EB3-E64A08C3B1C1}"/>
              </a:ext>
            </a:extLst>
          </p:cNvPr>
          <p:cNvSpPr txBox="1"/>
          <p:nvPr/>
        </p:nvSpPr>
        <p:spPr>
          <a:xfrm>
            <a:off x="2187399" y="4514390"/>
            <a:ext cx="1263886"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Caladesi Island</a:t>
            </a:r>
          </a:p>
        </p:txBody>
      </p:sp>
      <p:sp>
        <p:nvSpPr>
          <p:cNvPr id="62" name="TextBox 61">
            <a:extLst>
              <a:ext uri="{FF2B5EF4-FFF2-40B4-BE49-F238E27FC236}">
                <a16:creationId xmlns:a16="http://schemas.microsoft.com/office/drawing/2014/main" id="{900C2798-B475-2F93-927B-AD5F8C7BDBDC}"/>
              </a:ext>
            </a:extLst>
          </p:cNvPr>
          <p:cNvSpPr txBox="1"/>
          <p:nvPr/>
        </p:nvSpPr>
        <p:spPr>
          <a:xfrm>
            <a:off x="2187399" y="4722665"/>
            <a:ext cx="177871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Dunedin, FL · 1 hr 20 min</a:t>
            </a:r>
          </a:p>
        </p:txBody>
      </p:sp>
      <p:sp>
        <p:nvSpPr>
          <p:cNvPr id="63" name="TextBox 62">
            <a:extLst>
              <a:ext uri="{FF2B5EF4-FFF2-40B4-BE49-F238E27FC236}">
                <a16:creationId xmlns:a16="http://schemas.microsoft.com/office/drawing/2014/main" id="{31B31A77-CB7C-C6A5-9EC2-4A9D534EF6D6}"/>
              </a:ext>
            </a:extLst>
          </p:cNvPr>
          <p:cNvSpPr txBox="1"/>
          <p:nvPr/>
        </p:nvSpPr>
        <p:spPr>
          <a:xfrm>
            <a:off x="2187399" y="4919747"/>
            <a:ext cx="78771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DE379"/>
                </a:solidFill>
                <a:effectLst/>
                <a:uLnTx/>
                <a:uFillTx/>
                <a:latin typeface="Segoe UI Symbol"/>
                <a:ea typeface="Segoe UI Symbol"/>
                <a:cs typeface="+mn-cs"/>
                <a:sym typeface="Segoe UI Symbol"/>
                <a:rtl val="0"/>
              </a:rPr>
              <a:t>★★★★★</a:t>
            </a:r>
          </a:p>
        </p:txBody>
      </p:sp>
      <p:sp>
        <p:nvSpPr>
          <p:cNvPr id="64" name="TextBox 63">
            <a:extLst>
              <a:ext uri="{FF2B5EF4-FFF2-40B4-BE49-F238E27FC236}">
                <a16:creationId xmlns:a16="http://schemas.microsoft.com/office/drawing/2014/main" id="{D53C2C16-79D5-08F3-BB37-1D4ACDCBFFA8}"/>
              </a:ext>
            </a:extLst>
          </p:cNvPr>
          <p:cNvSpPr txBox="1"/>
          <p:nvPr/>
        </p:nvSpPr>
        <p:spPr>
          <a:xfrm>
            <a:off x="2830508" y="4919747"/>
            <a:ext cx="73319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4.8 (312)</a:t>
            </a:r>
          </a:p>
        </p:txBody>
      </p:sp>
      <p:sp>
        <p:nvSpPr>
          <p:cNvPr id="65" name="TextBox 64">
            <a:extLst>
              <a:ext uri="{FF2B5EF4-FFF2-40B4-BE49-F238E27FC236}">
                <a16:creationId xmlns:a16="http://schemas.microsoft.com/office/drawing/2014/main" id="{D3CB624A-DC1C-E8E4-A79F-2FCBA52E2F26}"/>
              </a:ext>
            </a:extLst>
          </p:cNvPr>
          <p:cNvSpPr txBox="1"/>
          <p:nvPr/>
        </p:nvSpPr>
        <p:spPr>
          <a:xfrm>
            <a:off x="2187399" y="5106456"/>
            <a:ext cx="186572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Secluded, no cars allowed.</a:t>
            </a:r>
          </a:p>
        </p:txBody>
      </p:sp>
      <p:sp>
        <p:nvSpPr>
          <p:cNvPr id="66" name="TextBox 65">
            <a:extLst>
              <a:ext uri="{FF2B5EF4-FFF2-40B4-BE49-F238E27FC236}">
                <a16:creationId xmlns:a16="http://schemas.microsoft.com/office/drawing/2014/main" id="{2CA3EDC2-D732-26D1-90AD-C03ED98D25D0}"/>
              </a:ext>
            </a:extLst>
          </p:cNvPr>
          <p:cNvSpPr txBox="1"/>
          <p:nvPr/>
        </p:nvSpPr>
        <p:spPr>
          <a:xfrm>
            <a:off x="2187399" y="5282792"/>
            <a:ext cx="139979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Crystal-clear water.</a:t>
            </a:r>
          </a:p>
        </p:txBody>
      </p:sp>
      <p:sp>
        <p:nvSpPr>
          <p:cNvPr id="67" name="Rectangle 66">
            <a:extLst>
              <a:ext uri="{FF2B5EF4-FFF2-40B4-BE49-F238E27FC236}">
                <a16:creationId xmlns:a16="http://schemas.microsoft.com/office/drawing/2014/main" id="{2A59D0B7-8A85-19C5-CEE6-4FAEC53B15CD}"/>
              </a:ext>
            </a:extLst>
          </p:cNvPr>
          <p:cNvSpPr/>
          <p:nvPr/>
        </p:nvSpPr>
        <p:spPr>
          <a:xfrm>
            <a:off x="2278839" y="5599317"/>
            <a:ext cx="1140999" cy="228199"/>
          </a:xfrm>
          <a:prstGeom prst="rect">
            <a:avLst/>
          </a:prstGeom>
          <a:solidFill>
            <a:srgbClr val="C23592"/>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8" name="TextBox 67">
            <a:extLst>
              <a:ext uri="{FF2B5EF4-FFF2-40B4-BE49-F238E27FC236}">
                <a16:creationId xmlns:a16="http://schemas.microsoft.com/office/drawing/2014/main" id="{673BB6D0-0840-47BD-B7D8-AE7083ED9AF8}"/>
              </a:ext>
            </a:extLst>
          </p:cNvPr>
          <p:cNvSpPr txBox="1"/>
          <p:nvPr/>
        </p:nvSpPr>
        <p:spPr>
          <a:xfrm>
            <a:off x="2332704" y="5552483"/>
            <a:ext cx="103327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See details →</a:t>
            </a:r>
          </a:p>
        </p:txBody>
      </p:sp>
      <p:sp>
        <p:nvSpPr>
          <p:cNvPr id="69" name="Rectangle 68">
            <a:extLst>
              <a:ext uri="{FF2B5EF4-FFF2-40B4-BE49-F238E27FC236}">
                <a16:creationId xmlns:a16="http://schemas.microsoft.com/office/drawing/2014/main" id="{3EAC0BBF-2349-7C30-2F3F-343C9DF80116}"/>
              </a:ext>
            </a:extLst>
          </p:cNvPr>
          <p:cNvSpPr/>
          <p:nvPr/>
        </p:nvSpPr>
        <p:spPr>
          <a:xfrm>
            <a:off x="4789037" y="3296573"/>
            <a:ext cx="2427216" cy="2655416"/>
          </a:xfrm>
          <a:prstGeom prst="rect">
            <a:avLst/>
          </a:prstGeom>
          <a:solidFill>
            <a:srgbClr val="FFFFFF"/>
          </a:solidFill>
          <a:ln w="15558"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0" name="Rectangle 69">
            <a:extLst>
              <a:ext uri="{FF2B5EF4-FFF2-40B4-BE49-F238E27FC236}">
                <a16:creationId xmlns:a16="http://schemas.microsoft.com/office/drawing/2014/main" id="{CF8CA735-694B-B970-543E-9664F4FC99A7}"/>
              </a:ext>
            </a:extLst>
          </p:cNvPr>
          <p:cNvSpPr/>
          <p:nvPr/>
        </p:nvSpPr>
        <p:spPr>
          <a:xfrm>
            <a:off x="4789037" y="3296573"/>
            <a:ext cx="2427216" cy="1223980"/>
          </a:xfrm>
          <a:prstGeom prst="rect">
            <a:avLst/>
          </a:prstGeom>
          <a:solidFill>
            <a:srgbClr val="C8CCE2"/>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1" name="Rectangle 70">
            <a:extLst>
              <a:ext uri="{FF2B5EF4-FFF2-40B4-BE49-F238E27FC236}">
                <a16:creationId xmlns:a16="http://schemas.microsoft.com/office/drawing/2014/main" id="{9938BF87-9C90-70F6-A961-462F52E3B996}"/>
              </a:ext>
            </a:extLst>
          </p:cNvPr>
          <p:cNvSpPr/>
          <p:nvPr/>
        </p:nvSpPr>
        <p:spPr>
          <a:xfrm>
            <a:off x="4789037" y="4230118"/>
            <a:ext cx="2427216" cy="290436"/>
          </a:xfrm>
          <a:prstGeom prst="rect">
            <a:avLst/>
          </a:prstGeom>
          <a:solidFill>
            <a:srgbClr val="C8CCE2"/>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2" name="TextBox 71">
            <a:extLst>
              <a:ext uri="{FF2B5EF4-FFF2-40B4-BE49-F238E27FC236}">
                <a16:creationId xmlns:a16="http://schemas.microsoft.com/office/drawing/2014/main" id="{6A74C9BD-1DD9-581D-593C-C311BC14C2B0}"/>
              </a:ext>
            </a:extLst>
          </p:cNvPr>
          <p:cNvSpPr txBox="1"/>
          <p:nvPr/>
        </p:nvSpPr>
        <p:spPr>
          <a:xfrm>
            <a:off x="5726057" y="3602938"/>
            <a:ext cx="553177" cy="45014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50" b="0" i="0" u="none" strike="noStrike" kern="1200" cap="none" spc="0" normalizeH="0" baseline="0" noProof="0">
                <a:ln/>
                <a:solidFill>
                  <a:srgbClr val="FFFFFF"/>
                </a:solidFill>
                <a:effectLst/>
                <a:uLnTx/>
                <a:uFillTx/>
                <a:latin typeface="Segoe UI Emoji"/>
                <a:ea typeface="Segoe UI Emoji"/>
                <a:cs typeface="+mn-cs"/>
                <a:sym typeface="Segoe UI Emoji"/>
                <a:rtl val="0"/>
              </a:rPr>
              <a:t>🌊</a:t>
            </a:r>
          </a:p>
        </p:txBody>
      </p:sp>
      <p:sp>
        <p:nvSpPr>
          <p:cNvPr id="73" name="Rectangle 72">
            <a:extLst>
              <a:ext uri="{FF2B5EF4-FFF2-40B4-BE49-F238E27FC236}">
                <a16:creationId xmlns:a16="http://schemas.microsoft.com/office/drawing/2014/main" id="{46D7ED9E-687A-2F9A-A401-C3D9B6D6A5A8}"/>
              </a:ext>
            </a:extLst>
          </p:cNvPr>
          <p:cNvSpPr/>
          <p:nvPr/>
        </p:nvSpPr>
        <p:spPr>
          <a:xfrm>
            <a:off x="4913510" y="3379555"/>
            <a:ext cx="871308" cy="207454"/>
          </a:xfrm>
          <a:prstGeom prst="rect">
            <a:avLst/>
          </a:prstGeom>
          <a:solidFill>
            <a:srgbClr val="4E42DA"/>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4" name="TextBox 73">
            <a:extLst>
              <a:ext uri="{FF2B5EF4-FFF2-40B4-BE49-F238E27FC236}">
                <a16:creationId xmlns:a16="http://schemas.microsoft.com/office/drawing/2014/main" id="{283A0AB2-362C-03F0-B676-E4E8E5ADB8AA}"/>
              </a:ext>
            </a:extLst>
          </p:cNvPr>
          <p:cNvSpPr txBox="1"/>
          <p:nvPr/>
        </p:nvSpPr>
        <p:spPr>
          <a:xfrm>
            <a:off x="4886347" y="3322348"/>
            <a:ext cx="92563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Symbol"/>
                <a:ea typeface="Segoe UI Symbol"/>
                <a:cs typeface="+mn-cs"/>
                <a:sym typeface="Segoe UI Symbol"/>
                <a:rtl val="0"/>
              </a:rPr>
              <a:t>✦</a:t>
            </a:r>
            <a:r>
              <a:rPr kumimoji="0" lang="en-US" sz="1050" b="0" i="0" u="none" strike="noStrike" kern="1200" cap="none" spc="0" normalizeH="0" baseline="0" noProof="0">
                <a:ln/>
                <a:solidFill>
                  <a:srgbClr val="FFFFFF"/>
                </a:solidFill>
                <a:effectLst/>
                <a:uLnTx/>
                <a:uFillTx/>
                <a:latin typeface="Segoe UI"/>
                <a:ea typeface="Segoe UI Symbol"/>
                <a:cs typeface="Segoe UI"/>
                <a:sym typeface="Segoe UI"/>
                <a:rtl val="0"/>
              </a:rPr>
              <a:t> Secluded</a:t>
            </a:r>
          </a:p>
        </p:txBody>
      </p:sp>
      <p:sp>
        <p:nvSpPr>
          <p:cNvPr id="75" name="TextBox 74">
            <a:extLst>
              <a:ext uri="{FF2B5EF4-FFF2-40B4-BE49-F238E27FC236}">
                <a16:creationId xmlns:a16="http://schemas.microsoft.com/office/drawing/2014/main" id="{D35C7460-B2E2-574D-E7EB-226C70EEBFC0}"/>
              </a:ext>
            </a:extLst>
          </p:cNvPr>
          <p:cNvSpPr txBox="1"/>
          <p:nvPr/>
        </p:nvSpPr>
        <p:spPr>
          <a:xfrm>
            <a:off x="4842815" y="4514390"/>
            <a:ext cx="1565191"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Honeymoon Island</a:t>
            </a:r>
          </a:p>
        </p:txBody>
      </p:sp>
      <p:sp>
        <p:nvSpPr>
          <p:cNvPr id="76" name="TextBox 75">
            <a:extLst>
              <a:ext uri="{FF2B5EF4-FFF2-40B4-BE49-F238E27FC236}">
                <a16:creationId xmlns:a16="http://schemas.microsoft.com/office/drawing/2014/main" id="{D92301F9-D6B0-E387-9108-47A0B26040A0}"/>
              </a:ext>
            </a:extLst>
          </p:cNvPr>
          <p:cNvSpPr txBox="1"/>
          <p:nvPr/>
        </p:nvSpPr>
        <p:spPr>
          <a:xfrm>
            <a:off x="4842815" y="4722665"/>
            <a:ext cx="177871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Dunedin, FL · 1 hr 25 min</a:t>
            </a:r>
          </a:p>
        </p:txBody>
      </p:sp>
      <p:sp>
        <p:nvSpPr>
          <p:cNvPr id="77" name="TextBox 76">
            <a:extLst>
              <a:ext uri="{FF2B5EF4-FFF2-40B4-BE49-F238E27FC236}">
                <a16:creationId xmlns:a16="http://schemas.microsoft.com/office/drawing/2014/main" id="{D5865536-F4AA-D670-95B9-AF6CD581B914}"/>
              </a:ext>
            </a:extLst>
          </p:cNvPr>
          <p:cNvSpPr txBox="1"/>
          <p:nvPr/>
        </p:nvSpPr>
        <p:spPr>
          <a:xfrm>
            <a:off x="4842815" y="4919747"/>
            <a:ext cx="78771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DE379"/>
                </a:solidFill>
                <a:effectLst/>
                <a:uLnTx/>
                <a:uFillTx/>
                <a:latin typeface="Segoe UI Symbol"/>
                <a:ea typeface="Segoe UI Symbol"/>
                <a:cs typeface="+mn-cs"/>
                <a:sym typeface="Segoe UI Symbol"/>
                <a:rtl val="0"/>
              </a:rPr>
              <a:t>★★★★☆</a:t>
            </a:r>
          </a:p>
        </p:txBody>
      </p:sp>
      <p:sp>
        <p:nvSpPr>
          <p:cNvPr id="78" name="TextBox 77">
            <a:extLst>
              <a:ext uri="{FF2B5EF4-FFF2-40B4-BE49-F238E27FC236}">
                <a16:creationId xmlns:a16="http://schemas.microsoft.com/office/drawing/2014/main" id="{EA449473-9C23-813D-3A5E-E3F0F6771C70}"/>
              </a:ext>
            </a:extLst>
          </p:cNvPr>
          <p:cNvSpPr txBox="1"/>
          <p:nvPr/>
        </p:nvSpPr>
        <p:spPr>
          <a:xfrm>
            <a:off x="5485924" y="4919747"/>
            <a:ext cx="73319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4.5 (890)</a:t>
            </a:r>
          </a:p>
        </p:txBody>
      </p:sp>
      <p:sp>
        <p:nvSpPr>
          <p:cNvPr id="79" name="TextBox 78">
            <a:extLst>
              <a:ext uri="{FF2B5EF4-FFF2-40B4-BE49-F238E27FC236}">
                <a16:creationId xmlns:a16="http://schemas.microsoft.com/office/drawing/2014/main" id="{DCCDD8E1-21DE-414B-BC64-7419355BCF9D}"/>
              </a:ext>
            </a:extLst>
          </p:cNvPr>
          <p:cNvSpPr txBox="1"/>
          <p:nvPr/>
        </p:nvSpPr>
        <p:spPr>
          <a:xfrm>
            <a:off x="4842815" y="5106456"/>
            <a:ext cx="170213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State park, osprey trails.</a:t>
            </a:r>
          </a:p>
        </p:txBody>
      </p:sp>
      <p:sp>
        <p:nvSpPr>
          <p:cNvPr id="80" name="TextBox 79">
            <a:extLst>
              <a:ext uri="{FF2B5EF4-FFF2-40B4-BE49-F238E27FC236}">
                <a16:creationId xmlns:a16="http://schemas.microsoft.com/office/drawing/2014/main" id="{A5FDB473-E8DD-DC04-96E4-70A5BF8E8D2D}"/>
              </a:ext>
            </a:extLst>
          </p:cNvPr>
          <p:cNvSpPr txBox="1"/>
          <p:nvPr/>
        </p:nvSpPr>
        <p:spPr>
          <a:xfrm>
            <a:off x="4842815" y="5282792"/>
            <a:ext cx="148962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Great for snorkeling.</a:t>
            </a:r>
          </a:p>
        </p:txBody>
      </p:sp>
      <p:sp>
        <p:nvSpPr>
          <p:cNvPr id="81" name="Rectangle 80">
            <a:extLst>
              <a:ext uri="{FF2B5EF4-FFF2-40B4-BE49-F238E27FC236}">
                <a16:creationId xmlns:a16="http://schemas.microsoft.com/office/drawing/2014/main" id="{B8EBEAB9-D70C-1672-8D21-35936BC7EE63}"/>
              </a:ext>
            </a:extLst>
          </p:cNvPr>
          <p:cNvSpPr/>
          <p:nvPr/>
        </p:nvSpPr>
        <p:spPr>
          <a:xfrm>
            <a:off x="4934255" y="5599317"/>
            <a:ext cx="1140999" cy="228199"/>
          </a:xfrm>
          <a:prstGeom prst="rect">
            <a:avLst/>
          </a:prstGeom>
          <a:solidFill>
            <a:srgbClr val="C23592"/>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2" name="TextBox 81">
            <a:extLst>
              <a:ext uri="{FF2B5EF4-FFF2-40B4-BE49-F238E27FC236}">
                <a16:creationId xmlns:a16="http://schemas.microsoft.com/office/drawing/2014/main" id="{B4CDB8C1-B32A-6D10-DEC7-025D6832F077}"/>
              </a:ext>
            </a:extLst>
          </p:cNvPr>
          <p:cNvSpPr txBox="1"/>
          <p:nvPr/>
        </p:nvSpPr>
        <p:spPr>
          <a:xfrm>
            <a:off x="4988120" y="5552483"/>
            <a:ext cx="103327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See details →</a:t>
            </a:r>
          </a:p>
        </p:txBody>
      </p:sp>
      <p:sp>
        <p:nvSpPr>
          <p:cNvPr id="83" name="Rectangle 82">
            <a:extLst>
              <a:ext uri="{FF2B5EF4-FFF2-40B4-BE49-F238E27FC236}">
                <a16:creationId xmlns:a16="http://schemas.microsoft.com/office/drawing/2014/main" id="{2D03FBD1-CA98-35E6-B29B-47F152128E97}"/>
              </a:ext>
            </a:extLst>
          </p:cNvPr>
          <p:cNvSpPr/>
          <p:nvPr/>
        </p:nvSpPr>
        <p:spPr>
          <a:xfrm>
            <a:off x="7444453" y="3296573"/>
            <a:ext cx="2427216" cy="2655416"/>
          </a:xfrm>
          <a:prstGeom prst="rect">
            <a:avLst/>
          </a:prstGeom>
          <a:solidFill>
            <a:srgbClr val="FFFFFF"/>
          </a:solidFill>
          <a:ln w="20743" cap="flat">
            <a:solidFill>
              <a:srgbClr val="FDE379"/>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4" name="Rectangle 83">
            <a:extLst>
              <a:ext uri="{FF2B5EF4-FFF2-40B4-BE49-F238E27FC236}">
                <a16:creationId xmlns:a16="http://schemas.microsoft.com/office/drawing/2014/main" id="{07294C12-6CAB-C79C-DF4E-531E4985A0DB}"/>
              </a:ext>
            </a:extLst>
          </p:cNvPr>
          <p:cNvSpPr/>
          <p:nvPr/>
        </p:nvSpPr>
        <p:spPr>
          <a:xfrm>
            <a:off x="7444453" y="3296573"/>
            <a:ext cx="2427216" cy="1223980"/>
          </a:xfrm>
          <a:prstGeom prst="rect">
            <a:avLst/>
          </a:prstGeom>
          <a:solidFill>
            <a:srgbClr val="EDEEF5"/>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5" name="Freeform: Shape 84">
            <a:extLst>
              <a:ext uri="{FF2B5EF4-FFF2-40B4-BE49-F238E27FC236}">
                <a16:creationId xmlns:a16="http://schemas.microsoft.com/office/drawing/2014/main" id="{9B22894E-8D29-8F56-8187-F1D4A781D906}"/>
              </a:ext>
            </a:extLst>
          </p:cNvPr>
          <p:cNvSpPr/>
          <p:nvPr/>
        </p:nvSpPr>
        <p:spPr>
          <a:xfrm>
            <a:off x="7444453" y="3296573"/>
            <a:ext cx="1037271" cy="518635"/>
          </a:xfrm>
          <a:custGeom>
            <a:avLst/>
            <a:gdLst>
              <a:gd name="csX0" fmla="*/ 0 w 1037271"/>
              <a:gd name="csY0" fmla="*/ 0 h 518635"/>
              <a:gd name="csX1" fmla="*/ 1037272 w 1037271"/>
              <a:gd name="csY1" fmla="*/ 0 h 518635"/>
              <a:gd name="csX2" fmla="*/ 518636 w 1037271"/>
              <a:gd name="csY2" fmla="*/ 518636 h 518635"/>
            </a:gdLst>
            <a:ahLst/>
            <a:cxnLst>
              <a:cxn ang="0">
                <a:pos x="csX0" y="csY0"/>
              </a:cxn>
              <a:cxn ang="0">
                <a:pos x="csX1" y="csY1"/>
              </a:cxn>
              <a:cxn ang="0">
                <a:pos x="csX2" y="csY2"/>
              </a:cxn>
            </a:cxnLst>
            <a:rect l="l" t="t" r="r" b="b"/>
            <a:pathLst>
              <a:path w="1037271" h="518635">
                <a:moveTo>
                  <a:pt x="0" y="0"/>
                </a:moveTo>
                <a:lnTo>
                  <a:pt x="1037272" y="0"/>
                </a:lnTo>
                <a:lnTo>
                  <a:pt x="518636" y="518636"/>
                </a:lnTo>
                <a:close/>
              </a:path>
            </a:pathLst>
          </a:custGeom>
          <a:solidFill>
            <a:srgbClr val="FEF8DD">
              <a:alpha val="6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6" name="TextBox 85">
            <a:extLst>
              <a:ext uri="{FF2B5EF4-FFF2-40B4-BE49-F238E27FC236}">
                <a16:creationId xmlns:a16="http://schemas.microsoft.com/office/drawing/2014/main" id="{013D6B9A-8479-6F73-2757-ACF0604E7C2E}"/>
              </a:ext>
            </a:extLst>
          </p:cNvPr>
          <p:cNvSpPr txBox="1"/>
          <p:nvPr/>
        </p:nvSpPr>
        <p:spPr>
          <a:xfrm>
            <a:off x="8381473" y="3602938"/>
            <a:ext cx="553177" cy="45014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50" b="0" i="0" u="none" strike="noStrike" kern="1200" cap="none" spc="0" normalizeH="0" baseline="0" noProof="0">
                <a:ln/>
                <a:solidFill>
                  <a:srgbClr val="444F9C"/>
                </a:solidFill>
                <a:effectLst/>
                <a:uLnTx/>
                <a:uFillTx/>
                <a:latin typeface="Segoe UI Emoji"/>
                <a:ea typeface="Segoe UI Emoji"/>
                <a:cs typeface="+mn-cs"/>
                <a:sym typeface="Segoe UI Emoji"/>
                <a:rtl val="0"/>
              </a:rPr>
              <a:t>🌅</a:t>
            </a:r>
          </a:p>
        </p:txBody>
      </p:sp>
      <p:sp>
        <p:nvSpPr>
          <p:cNvPr id="87" name="Rectangle 86">
            <a:extLst>
              <a:ext uri="{FF2B5EF4-FFF2-40B4-BE49-F238E27FC236}">
                <a16:creationId xmlns:a16="http://schemas.microsoft.com/office/drawing/2014/main" id="{6B6E2722-A3CA-EC4C-DC7C-46AB94CC02FB}"/>
              </a:ext>
            </a:extLst>
          </p:cNvPr>
          <p:cNvSpPr/>
          <p:nvPr/>
        </p:nvSpPr>
        <p:spPr>
          <a:xfrm>
            <a:off x="7568926" y="3379555"/>
            <a:ext cx="1058017" cy="207454"/>
          </a:xfrm>
          <a:prstGeom prst="rect">
            <a:avLst/>
          </a:prstGeom>
          <a:solidFill>
            <a:srgbClr val="FDE379"/>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8" name="TextBox 87">
            <a:extLst>
              <a:ext uri="{FF2B5EF4-FFF2-40B4-BE49-F238E27FC236}">
                <a16:creationId xmlns:a16="http://schemas.microsoft.com/office/drawing/2014/main" id="{1A002C4E-E0D6-F2F4-EE57-64C2AEECD5C8}"/>
              </a:ext>
            </a:extLst>
          </p:cNvPr>
          <p:cNvSpPr txBox="1"/>
          <p:nvPr/>
        </p:nvSpPr>
        <p:spPr>
          <a:xfrm>
            <a:off x="7463320" y="3322348"/>
            <a:ext cx="126922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Emoji"/>
                <a:ea typeface="Segoe UI Emoji"/>
                <a:cs typeface="+mn-cs"/>
                <a:sym typeface="Segoe UI Emoji"/>
                <a:rtl val="0"/>
              </a:rPr>
              <a:t>⭐</a:t>
            </a:r>
            <a:r>
              <a:rPr kumimoji="0" lang="en-US" sz="1050" b="1" i="0" u="none" strike="noStrike" kern="1200" cap="none" spc="0" normalizeH="0" baseline="0" noProof="0">
                <a:ln/>
                <a:solidFill>
                  <a:srgbClr val="3A3A3A"/>
                </a:solidFill>
                <a:effectLst/>
                <a:uLnTx/>
                <a:uFillTx/>
                <a:latin typeface="Segoe UI"/>
                <a:ea typeface="Segoe UI Emoji"/>
                <a:cs typeface="Segoe UI"/>
                <a:sym typeface="Segoe UI"/>
                <a:rtl val="0"/>
              </a:rPr>
              <a:t> Editor's Pick</a:t>
            </a:r>
          </a:p>
        </p:txBody>
      </p:sp>
      <p:sp>
        <p:nvSpPr>
          <p:cNvPr id="89" name="TextBox 88">
            <a:extLst>
              <a:ext uri="{FF2B5EF4-FFF2-40B4-BE49-F238E27FC236}">
                <a16:creationId xmlns:a16="http://schemas.microsoft.com/office/drawing/2014/main" id="{4F8EC86F-261C-7F01-998B-162DF9FD9B56}"/>
              </a:ext>
            </a:extLst>
          </p:cNvPr>
          <p:cNvSpPr txBox="1"/>
          <p:nvPr/>
        </p:nvSpPr>
        <p:spPr>
          <a:xfrm>
            <a:off x="7498232" y="4514390"/>
            <a:ext cx="1475240"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Fort De Soto Park</a:t>
            </a:r>
          </a:p>
        </p:txBody>
      </p:sp>
      <p:sp>
        <p:nvSpPr>
          <p:cNvPr id="90" name="TextBox 89">
            <a:extLst>
              <a:ext uri="{FF2B5EF4-FFF2-40B4-BE49-F238E27FC236}">
                <a16:creationId xmlns:a16="http://schemas.microsoft.com/office/drawing/2014/main" id="{E731E8DC-2A03-E931-9CEA-EE7528488AFA}"/>
              </a:ext>
            </a:extLst>
          </p:cNvPr>
          <p:cNvSpPr txBox="1"/>
          <p:nvPr/>
        </p:nvSpPr>
        <p:spPr>
          <a:xfrm>
            <a:off x="7498232" y="4722665"/>
            <a:ext cx="1618326"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St. Petersburg · 55 min</a:t>
            </a:r>
          </a:p>
        </p:txBody>
      </p:sp>
      <p:sp>
        <p:nvSpPr>
          <p:cNvPr id="91" name="TextBox 90">
            <a:extLst>
              <a:ext uri="{FF2B5EF4-FFF2-40B4-BE49-F238E27FC236}">
                <a16:creationId xmlns:a16="http://schemas.microsoft.com/office/drawing/2014/main" id="{E1B365CD-790D-1B3F-A7C0-DA31DB6AB2B5}"/>
              </a:ext>
            </a:extLst>
          </p:cNvPr>
          <p:cNvSpPr txBox="1"/>
          <p:nvPr/>
        </p:nvSpPr>
        <p:spPr>
          <a:xfrm>
            <a:off x="7498232" y="4919747"/>
            <a:ext cx="78771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DE379"/>
                </a:solidFill>
                <a:effectLst/>
                <a:uLnTx/>
                <a:uFillTx/>
                <a:latin typeface="Segoe UI Symbol"/>
                <a:ea typeface="Segoe UI Symbol"/>
                <a:cs typeface="+mn-cs"/>
                <a:sym typeface="Segoe UI Symbol"/>
                <a:rtl val="0"/>
              </a:rPr>
              <a:t>★★★★★</a:t>
            </a:r>
          </a:p>
        </p:txBody>
      </p:sp>
      <p:sp>
        <p:nvSpPr>
          <p:cNvPr id="92" name="TextBox 91">
            <a:extLst>
              <a:ext uri="{FF2B5EF4-FFF2-40B4-BE49-F238E27FC236}">
                <a16:creationId xmlns:a16="http://schemas.microsoft.com/office/drawing/2014/main" id="{4ED2094D-BDE8-9CB0-2A8A-EBF4B33D261F}"/>
              </a:ext>
            </a:extLst>
          </p:cNvPr>
          <p:cNvSpPr txBox="1"/>
          <p:nvPr/>
        </p:nvSpPr>
        <p:spPr>
          <a:xfrm>
            <a:off x="8141340" y="4919747"/>
            <a:ext cx="758576"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4.9 (2.1k)</a:t>
            </a:r>
          </a:p>
        </p:txBody>
      </p:sp>
      <p:sp>
        <p:nvSpPr>
          <p:cNvPr id="93" name="TextBox 92">
            <a:extLst>
              <a:ext uri="{FF2B5EF4-FFF2-40B4-BE49-F238E27FC236}">
                <a16:creationId xmlns:a16="http://schemas.microsoft.com/office/drawing/2014/main" id="{4E942166-F5B6-4F11-A187-58A6C1D78990}"/>
              </a:ext>
            </a:extLst>
          </p:cNvPr>
          <p:cNvSpPr txBox="1"/>
          <p:nvPr/>
        </p:nvSpPr>
        <p:spPr>
          <a:xfrm>
            <a:off x="7498232" y="5106456"/>
            <a:ext cx="162775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5 miles of quiet beach.</a:t>
            </a:r>
          </a:p>
        </p:txBody>
      </p:sp>
      <p:sp>
        <p:nvSpPr>
          <p:cNvPr id="94" name="TextBox 93">
            <a:extLst>
              <a:ext uri="{FF2B5EF4-FFF2-40B4-BE49-F238E27FC236}">
                <a16:creationId xmlns:a16="http://schemas.microsoft.com/office/drawing/2014/main" id="{2AC3942E-D047-26A8-9B45-8DABAF99DF54}"/>
              </a:ext>
            </a:extLst>
          </p:cNvPr>
          <p:cNvSpPr txBox="1"/>
          <p:nvPr/>
        </p:nvSpPr>
        <p:spPr>
          <a:xfrm>
            <a:off x="7498232" y="5282792"/>
            <a:ext cx="181793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Camping &amp; kayak rentals.</a:t>
            </a:r>
          </a:p>
        </p:txBody>
      </p:sp>
      <p:sp>
        <p:nvSpPr>
          <p:cNvPr id="95" name="Rectangle 94">
            <a:extLst>
              <a:ext uri="{FF2B5EF4-FFF2-40B4-BE49-F238E27FC236}">
                <a16:creationId xmlns:a16="http://schemas.microsoft.com/office/drawing/2014/main" id="{5CF45D7B-E9DB-8B36-250F-CD6C85002738}"/>
              </a:ext>
            </a:extLst>
          </p:cNvPr>
          <p:cNvSpPr/>
          <p:nvPr/>
        </p:nvSpPr>
        <p:spPr>
          <a:xfrm>
            <a:off x="7589672" y="5599317"/>
            <a:ext cx="1140999" cy="228199"/>
          </a:xfrm>
          <a:prstGeom prst="rect">
            <a:avLst/>
          </a:prstGeom>
          <a:solidFill>
            <a:srgbClr val="C23592"/>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6" name="TextBox 95">
            <a:extLst>
              <a:ext uri="{FF2B5EF4-FFF2-40B4-BE49-F238E27FC236}">
                <a16:creationId xmlns:a16="http://schemas.microsoft.com/office/drawing/2014/main" id="{B879D9A6-2814-A2C0-CEF4-B2232D306996}"/>
              </a:ext>
            </a:extLst>
          </p:cNvPr>
          <p:cNvSpPr txBox="1"/>
          <p:nvPr/>
        </p:nvSpPr>
        <p:spPr>
          <a:xfrm>
            <a:off x="7643536" y="5552483"/>
            <a:ext cx="103327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See details →</a:t>
            </a:r>
          </a:p>
        </p:txBody>
      </p:sp>
      <p:sp>
        <p:nvSpPr>
          <p:cNvPr id="97" name="TextBox 96">
            <a:extLst>
              <a:ext uri="{FF2B5EF4-FFF2-40B4-BE49-F238E27FC236}">
                <a16:creationId xmlns:a16="http://schemas.microsoft.com/office/drawing/2014/main" id="{640CB89E-C6EA-A8F8-B7A9-B06898F6D057}"/>
              </a:ext>
            </a:extLst>
          </p:cNvPr>
          <p:cNvSpPr txBox="1"/>
          <p:nvPr/>
        </p:nvSpPr>
        <p:spPr>
          <a:xfrm>
            <a:off x="2312135" y="5936273"/>
            <a:ext cx="756772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Rich preview cards surface variety — users browse and compare rather than drilling down to a single answer</a:t>
            </a:r>
          </a:p>
        </p:txBody>
      </p:sp>
      <p:sp>
        <p:nvSpPr>
          <p:cNvPr id="98" name="Freeform: Shape 97">
            <a:extLst>
              <a:ext uri="{FF2B5EF4-FFF2-40B4-BE49-F238E27FC236}">
                <a16:creationId xmlns:a16="http://schemas.microsoft.com/office/drawing/2014/main" id="{1A157B89-FEB9-399E-A324-279BFAC36BF5}"/>
              </a:ext>
            </a:extLst>
          </p:cNvPr>
          <p:cNvSpPr/>
          <p:nvPr/>
        </p:nvSpPr>
        <p:spPr>
          <a:xfrm>
            <a:off x="9560488" y="3856700"/>
            <a:ext cx="352672" cy="165963"/>
          </a:xfrm>
          <a:custGeom>
            <a:avLst/>
            <a:gdLst>
              <a:gd name="csX0" fmla="*/ 0 w 352672"/>
              <a:gd name="csY0" fmla="*/ 165964 h 165963"/>
              <a:gd name="csX1" fmla="*/ 352672 w 352672"/>
              <a:gd name="csY1" fmla="*/ 0 h 165963"/>
            </a:gdLst>
            <a:ahLst/>
            <a:cxnLst>
              <a:cxn ang="0">
                <a:pos x="csX0" y="csY0"/>
              </a:cxn>
              <a:cxn ang="0">
                <a:pos x="csX1" y="csY1"/>
              </a:cxn>
            </a:cxnLst>
            <a:rect l="l" t="t" r="r" b="b"/>
            <a:pathLst>
              <a:path w="352672" h="165963">
                <a:moveTo>
                  <a:pt x="0" y="165964"/>
                </a:moveTo>
                <a:lnTo>
                  <a:pt x="352672" y="0"/>
                </a:lnTo>
              </a:path>
            </a:pathLst>
          </a:custGeom>
          <a:ln w="16595" cap="flat">
            <a:solidFill>
              <a:srgbClr val="1E282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9" name="Rectangle 98">
            <a:extLst>
              <a:ext uri="{FF2B5EF4-FFF2-40B4-BE49-F238E27FC236}">
                <a16:creationId xmlns:a16="http://schemas.microsoft.com/office/drawing/2014/main" id="{623F91D8-A586-0E30-1AD1-8308026EA777}"/>
              </a:ext>
            </a:extLst>
          </p:cNvPr>
          <p:cNvSpPr/>
          <p:nvPr/>
        </p:nvSpPr>
        <p:spPr>
          <a:xfrm>
            <a:off x="9892415" y="3649246"/>
            <a:ext cx="829817" cy="414908"/>
          </a:xfrm>
          <a:prstGeom prst="rect">
            <a:avLst/>
          </a:prstGeom>
          <a:solidFill>
            <a:srgbClr val="FFFFFF"/>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0" name="TextBox 99">
            <a:extLst>
              <a:ext uri="{FF2B5EF4-FFF2-40B4-BE49-F238E27FC236}">
                <a16:creationId xmlns:a16="http://schemas.microsoft.com/office/drawing/2014/main" id="{82BFE4F6-E4A2-B819-4B74-067CD4FB9CCE}"/>
              </a:ext>
            </a:extLst>
          </p:cNvPr>
          <p:cNvSpPr txBox="1"/>
          <p:nvPr/>
        </p:nvSpPr>
        <p:spPr>
          <a:xfrm>
            <a:off x="9842466" y="3612784"/>
            <a:ext cx="1043876" cy="49244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solidFill>
                  <a:srgbClr val="3E5760"/>
                </a:solidFill>
                <a:effectLst/>
                <a:uLnTx/>
                <a:uFillTx/>
                <a:latin typeface="Segoe UI"/>
                <a:ea typeface="+mn-ea"/>
                <a:cs typeface="Segoe UI"/>
                <a:sym typeface="Segoe UI"/>
                <a:rtl val="0"/>
              </a:rPr>
              <a:t>Curated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solidFill>
                  <a:srgbClr val="3E5760"/>
                </a:solidFill>
                <a:effectLst/>
                <a:uLnTx/>
                <a:uFillTx/>
                <a:latin typeface="Segoe UI"/>
                <a:ea typeface="+mn-ea"/>
                <a:cs typeface="Segoe UI"/>
                <a:sym typeface="Segoe UI"/>
                <a:rtl val="0"/>
              </a:rPr>
              <a:t>suggestion</a:t>
            </a:r>
          </a:p>
        </p:txBody>
      </p:sp>
      <p:sp>
        <p:nvSpPr>
          <p:cNvPr id="27" name="Isosceles Triangle 26">
            <a:extLst>
              <a:ext uri="{FF2B5EF4-FFF2-40B4-BE49-F238E27FC236}">
                <a16:creationId xmlns:a16="http://schemas.microsoft.com/office/drawing/2014/main" id="{F8DF2678-2EB4-2988-0817-8120AA028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102" name="TextBox 101">
            <a:extLst>
              <a:ext uri="{FF2B5EF4-FFF2-40B4-BE49-F238E27FC236}">
                <a16:creationId xmlns:a16="http://schemas.microsoft.com/office/drawing/2014/main" id="{9CDB7DB7-3CA3-D395-19FA-CC856BA04796}"/>
              </a:ext>
            </a:extLst>
          </p:cNvPr>
          <p:cNvSpPr txBox="1"/>
          <p:nvPr/>
        </p:nvSpPr>
        <p:spPr>
          <a:xfrm>
            <a:off x="4199487" y="236016"/>
            <a:ext cx="3869970"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solidFill>
                  <a:srgbClr val="444F9C"/>
                </a:solidFill>
                <a:effectLst/>
                <a:uLnTx/>
                <a:uFillTx/>
                <a:latin typeface="Source Sans Pro" panose="020B0503030403020204" pitchFamily="34" charset="0"/>
                <a:ea typeface="Source Sans Pro" panose="020B0503030403020204" pitchFamily="34" charset="0"/>
                <a:cs typeface="Segoe UI"/>
                <a:sym typeface="Segoe UI"/>
                <a:rtl val="0"/>
              </a:rPr>
              <a:t>Exploratory Seeking</a:t>
            </a:r>
          </a:p>
        </p:txBody>
      </p:sp>
    </p:spTree>
    <p:extLst>
      <p:ext uri="{BB962C8B-B14F-4D97-AF65-F5344CB8AC3E}">
        <p14:creationId xmlns:p14="http://schemas.microsoft.com/office/powerpoint/2010/main" val="1289659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679" name="Rectangle 2867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8681" name="Freeform: Shape 2868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8674" name="Rectangle 2"/>
          <p:cNvSpPr>
            <a:spLocks noGrp="1" noChangeArrowheads="1"/>
          </p:cNvSpPr>
          <p:nvPr>
            <p:ph type="title"/>
          </p:nvPr>
        </p:nvSpPr>
        <p:spPr>
          <a:xfrm>
            <a:off x="838200" y="365125"/>
            <a:ext cx="10515600" cy="1325563"/>
          </a:xfrm>
        </p:spPr>
        <p:txBody>
          <a:bodyPr vert="horz" lIns="91440" tIns="45720" rIns="91440" bIns="45720" rtlCol="0" anchor="ctr">
            <a:normAutofit/>
          </a:bodyPr>
          <a:lstStyle/>
          <a:p>
            <a:pPr>
              <a:defRPr/>
            </a:pPr>
            <a:r>
              <a:rPr lang="en-US" kern="1200" dirty="0"/>
              <a:t>Creating Labels &amp; Defining Structure</a:t>
            </a:r>
          </a:p>
        </p:txBody>
      </p:sp>
      <p:sp>
        <p:nvSpPr>
          <p:cNvPr id="28683" name="Arc 2868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venir"/>
              <a:ea typeface="+mn-ea"/>
              <a:cs typeface="+mn-cs"/>
            </a:endParaRPr>
          </a:p>
        </p:txBody>
      </p:sp>
      <p:sp>
        <p:nvSpPr>
          <p:cNvPr id="22531" name="Rectangle 3"/>
          <p:cNvSpPr>
            <a:spLocks noGrp="1" noChangeArrowheads="1"/>
          </p:cNvSpPr>
          <p:nvPr>
            <p:ph idx="1"/>
          </p:nvPr>
        </p:nvSpPr>
        <p:spPr>
          <a:xfrm>
            <a:off x="969055" y="1690688"/>
            <a:ext cx="8445500" cy="4351338"/>
          </a:xfrm>
        </p:spPr>
        <p:txBody>
          <a:bodyPr vert="horz" lIns="91440" tIns="45720" rIns="91440" bIns="45720" rtlCol="0">
            <a:normAutofit/>
          </a:bodyPr>
          <a:lstStyle/>
          <a:p>
            <a:pPr>
              <a:spcAft>
                <a:spcPts val="1200"/>
              </a:spcAft>
            </a:pPr>
            <a:r>
              <a:rPr lang="en-US" altLang="en-US" dirty="0">
                <a:latin typeface="+mn-lt"/>
              </a:rPr>
              <a:t>Decide succinct, descriptive terms can be used to guide navigation</a:t>
            </a:r>
          </a:p>
          <a:p>
            <a:pPr marL="457200" lvl="1">
              <a:spcAft>
                <a:spcPts val="1200"/>
              </a:spcAft>
            </a:pPr>
            <a:r>
              <a:rPr lang="en-US" altLang="en-US" b="1" dirty="0">
                <a:solidFill>
                  <a:schemeClr val="accent5">
                    <a:lumMod val="75000"/>
                  </a:schemeClr>
                </a:solidFill>
                <a:latin typeface="+mn-lt"/>
              </a:rPr>
              <a:t>Think like the user </a:t>
            </a:r>
            <a:r>
              <a:rPr lang="en-US" altLang="en-US" dirty="0">
                <a:latin typeface="+mn-lt"/>
              </a:rPr>
              <a:t>not “an insider”</a:t>
            </a:r>
          </a:p>
          <a:p>
            <a:pPr>
              <a:spcAft>
                <a:spcPts val="1200"/>
              </a:spcAft>
            </a:pPr>
            <a:r>
              <a:rPr lang="en-US" altLang="en-US" dirty="0">
                <a:latin typeface="+mn-lt"/>
              </a:rPr>
              <a:t>Evaluate and improve resulting proposed structure</a:t>
            </a:r>
          </a:p>
          <a:p>
            <a:pPr>
              <a:spcAft>
                <a:spcPts val="1200"/>
              </a:spcAft>
            </a:pPr>
            <a:r>
              <a:rPr lang="en-US" altLang="en-US" dirty="0">
                <a:latin typeface="+mn-lt"/>
              </a:rPr>
              <a:t>How we organize content and is just as important as the content itself, if not more so</a:t>
            </a:r>
          </a:p>
          <a:p>
            <a:pPr>
              <a:spcAft>
                <a:spcPts val="1200"/>
              </a:spcAft>
            </a:pPr>
            <a:endParaRPr lang="en-US" altLang="en-US" dirty="0">
              <a:solidFill>
                <a:schemeClr val="tx1"/>
              </a:solidFill>
              <a:latin typeface="+mn-lt"/>
            </a:endParaRPr>
          </a:p>
        </p:txBody>
      </p:sp>
      <p:grpSp>
        <p:nvGrpSpPr>
          <p:cNvPr id="10" name="Group 9">
            <a:extLst>
              <a:ext uri="{FF2B5EF4-FFF2-40B4-BE49-F238E27FC236}">
                <a16:creationId xmlns:a16="http://schemas.microsoft.com/office/drawing/2014/main" id="{763C6B23-7C52-39C1-2C73-E145084BBC53}"/>
              </a:ext>
            </a:extLst>
          </p:cNvPr>
          <p:cNvGrpSpPr/>
          <p:nvPr/>
        </p:nvGrpSpPr>
        <p:grpSpPr>
          <a:xfrm>
            <a:off x="8991889" y="2055812"/>
            <a:ext cx="3047711" cy="3501717"/>
            <a:chOff x="8991889" y="1930400"/>
            <a:chExt cx="3047711" cy="3627129"/>
          </a:xfrm>
        </p:grpSpPr>
        <p:grpSp>
          <p:nvGrpSpPr>
            <p:cNvPr id="8" name="Group 7">
              <a:extLst>
                <a:ext uri="{FF2B5EF4-FFF2-40B4-BE49-F238E27FC236}">
                  <a16:creationId xmlns:a16="http://schemas.microsoft.com/office/drawing/2014/main" id="{78004776-A6A3-ADCD-1330-E501171B9760}"/>
                </a:ext>
              </a:extLst>
            </p:cNvPr>
            <p:cNvGrpSpPr/>
            <p:nvPr/>
          </p:nvGrpSpPr>
          <p:grpSpPr>
            <a:xfrm>
              <a:off x="9470172" y="1930400"/>
              <a:ext cx="2569428" cy="2844298"/>
              <a:chOff x="9866900" y="1074899"/>
              <a:chExt cx="2213864" cy="2381344"/>
            </a:xfrm>
          </p:grpSpPr>
          <p:pic>
            <p:nvPicPr>
              <p:cNvPr id="6" name="Graphic 5" descr="Tag with solid fill">
                <a:extLst>
                  <a:ext uri="{FF2B5EF4-FFF2-40B4-BE49-F238E27FC236}">
                    <a16:creationId xmlns:a16="http://schemas.microsoft.com/office/drawing/2014/main" id="{27E1F379-D471-868F-F7DD-D4E3D075BF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562165">
                <a:off x="9870964" y="1074899"/>
                <a:ext cx="2209800" cy="2209800"/>
              </a:xfrm>
              <a:prstGeom prst="rect">
                <a:avLst/>
              </a:prstGeom>
            </p:spPr>
          </p:pic>
          <p:pic>
            <p:nvPicPr>
              <p:cNvPr id="3" name="Graphic 2" descr="Label outline">
                <a:extLst>
                  <a:ext uri="{FF2B5EF4-FFF2-40B4-BE49-F238E27FC236}">
                    <a16:creationId xmlns:a16="http://schemas.microsoft.com/office/drawing/2014/main" id="{917287DE-5427-906C-BED0-524C1EFAE1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416268">
                <a:off x="9866900" y="1246443"/>
                <a:ext cx="2209800" cy="2209800"/>
              </a:xfrm>
              <a:prstGeom prst="rect">
                <a:avLst/>
              </a:prstGeom>
            </p:spPr>
          </p:pic>
        </p:grpSp>
        <p:grpSp>
          <p:nvGrpSpPr>
            <p:cNvPr id="9" name="Group 8">
              <a:extLst>
                <a:ext uri="{FF2B5EF4-FFF2-40B4-BE49-F238E27FC236}">
                  <a16:creationId xmlns:a16="http://schemas.microsoft.com/office/drawing/2014/main" id="{8EE90C34-033E-25EA-8093-A8CE073D1A43}"/>
                </a:ext>
              </a:extLst>
            </p:cNvPr>
            <p:cNvGrpSpPr/>
            <p:nvPr/>
          </p:nvGrpSpPr>
          <p:grpSpPr>
            <a:xfrm>
              <a:off x="8991889" y="2742446"/>
              <a:ext cx="2728405" cy="2815083"/>
              <a:chOff x="8942232" y="2742489"/>
              <a:chExt cx="2350841" cy="2356884"/>
            </a:xfrm>
          </p:grpSpPr>
          <p:pic>
            <p:nvPicPr>
              <p:cNvPr id="7" name="Graphic 6" descr="Tag with solid fill">
                <a:extLst>
                  <a:ext uri="{FF2B5EF4-FFF2-40B4-BE49-F238E27FC236}">
                    <a16:creationId xmlns:a16="http://schemas.microsoft.com/office/drawing/2014/main" id="{F6BA5BE2-555F-03C8-9325-66013A58CA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2232" y="2742489"/>
                <a:ext cx="2209800" cy="2209800"/>
              </a:xfrm>
              <a:prstGeom prst="rect">
                <a:avLst/>
              </a:prstGeom>
            </p:spPr>
          </p:pic>
          <p:pic>
            <p:nvPicPr>
              <p:cNvPr id="4" name="Graphic 3" descr="Label outline">
                <a:extLst>
                  <a:ext uri="{FF2B5EF4-FFF2-40B4-BE49-F238E27FC236}">
                    <a16:creationId xmlns:a16="http://schemas.microsoft.com/office/drawing/2014/main" id="{2A9D62A7-8581-CE55-81E5-4509D348E3B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83273" y="2889573"/>
                <a:ext cx="2209800" cy="2209800"/>
              </a:xfrm>
              <a:prstGeom prst="rect">
                <a:avLst/>
              </a:prstGeom>
            </p:spPr>
          </p:pic>
        </p:grpSp>
      </p:grpSp>
    </p:spTree>
    <p:extLst>
      <p:ext uri="{BB962C8B-B14F-4D97-AF65-F5344CB8AC3E}">
        <p14:creationId xmlns:p14="http://schemas.microsoft.com/office/powerpoint/2010/main" val="1867893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37900" name="Rectangle 37899">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30722" name="Rectangle 2"/>
          <p:cNvSpPr>
            <a:spLocks noGrp="1" noChangeArrowheads="1"/>
          </p:cNvSpPr>
          <p:nvPr>
            <p:ph type="title"/>
          </p:nvPr>
        </p:nvSpPr>
        <p:spPr>
          <a:xfrm>
            <a:off x="838199" y="962036"/>
            <a:ext cx="9931401" cy="863284"/>
          </a:xfrm>
        </p:spPr>
        <p:txBody>
          <a:bodyPr vert="horz" lIns="91440" tIns="45720" rIns="91440" bIns="45720" rtlCol="0" anchor="b">
            <a:normAutofit fontScale="90000"/>
          </a:bodyPr>
          <a:lstStyle/>
          <a:p>
            <a:pPr>
              <a:defRPr/>
            </a:pPr>
            <a:r>
              <a:rPr lang="en-US" sz="4600" kern="1200" dirty="0"/>
              <a:t>Exercise – </a:t>
            </a:r>
            <a:r>
              <a:rPr lang="en-US" kern="1200" dirty="0">
                <a:solidFill>
                  <a:schemeClr val="accent4">
                    <a:lumMod val="50000"/>
                  </a:schemeClr>
                </a:solidFill>
              </a:rPr>
              <a:t>Organizing Items Into Categories</a:t>
            </a:r>
          </a:p>
        </p:txBody>
      </p:sp>
      <p:cxnSp>
        <p:nvCxnSpPr>
          <p:cNvPr id="37902" name="Straight Connector 37901">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7891" name="Rectangle 3"/>
          <p:cNvSpPr>
            <a:spLocks noGrp="1" noChangeArrowheads="1"/>
          </p:cNvSpPr>
          <p:nvPr>
            <p:ph idx="1"/>
          </p:nvPr>
        </p:nvSpPr>
        <p:spPr>
          <a:xfrm>
            <a:off x="864000" y="1968804"/>
            <a:ext cx="6190412" cy="505547"/>
          </a:xfrm>
        </p:spPr>
        <p:txBody>
          <a:bodyPr vert="horz" lIns="91440" tIns="45720" rIns="91440" bIns="45720" rtlCol="0" anchor="t">
            <a:noAutofit/>
          </a:bodyPr>
          <a:lstStyle/>
          <a:p>
            <a:pPr marL="0" indent="0">
              <a:spcAft>
                <a:spcPts val="300"/>
              </a:spcAft>
              <a:buNone/>
            </a:pPr>
            <a:r>
              <a:rPr lang="en-US" altLang="en-US" sz="2900" dirty="0">
                <a:solidFill>
                  <a:schemeClr val="tx1">
                    <a:alpha val="80000"/>
                  </a:schemeClr>
                </a:solidFill>
                <a:latin typeface="+mn-lt"/>
              </a:rPr>
              <a:t>Organize the following list of items:</a:t>
            </a:r>
          </a:p>
        </p:txBody>
      </p:sp>
      <p:pic>
        <p:nvPicPr>
          <p:cNvPr id="37895" name="Graphic 37894" descr="Mop and bucket">
            <a:extLst>
              <a:ext uri="{FF2B5EF4-FFF2-40B4-BE49-F238E27FC236}">
                <a16:creationId xmlns:a16="http://schemas.microsoft.com/office/drawing/2014/main" id="{87ECC4FE-9B98-6A57-B504-01ED43831C8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2653" y="1980885"/>
            <a:ext cx="3548404" cy="3548404"/>
          </a:xfrm>
          <a:prstGeom prst="rect">
            <a:avLst/>
          </a:prstGeom>
        </p:spPr>
      </p:pic>
      <p:sp>
        <p:nvSpPr>
          <p:cNvPr id="3790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790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 name="TextBox 2">
            <a:extLst>
              <a:ext uri="{FF2B5EF4-FFF2-40B4-BE49-F238E27FC236}">
                <a16:creationId xmlns:a16="http://schemas.microsoft.com/office/drawing/2014/main" id="{5817C120-7878-2143-CFC6-13452A2FEE26}"/>
              </a:ext>
            </a:extLst>
          </p:cNvPr>
          <p:cNvSpPr txBox="1"/>
          <p:nvPr/>
        </p:nvSpPr>
        <p:spPr>
          <a:xfrm>
            <a:off x="3739460" y="2617835"/>
            <a:ext cx="2762250" cy="1808187"/>
          </a:xfrm>
          <a:prstGeom prst="rect">
            <a:avLst/>
          </a:prstGeom>
          <a:noFill/>
        </p:spPr>
        <p:txBody>
          <a:bodyPr wrap="square">
            <a:spAutoFit/>
          </a:bodyPr>
          <a:lstStyle/>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Kitchen</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Milk</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Bookshelf</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Bedroom</a:t>
            </a:r>
          </a:p>
        </p:txBody>
      </p:sp>
      <p:sp>
        <p:nvSpPr>
          <p:cNvPr id="5" name="TextBox 4">
            <a:extLst>
              <a:ext uri="{FF2B5EF4-FFF2-40B4-BE49-F238E27FC236}">
                <a16:creationId xmlns:a16="http://schemas.microsoft.com/office/drawing/2014/main" id="{3982E851-4328-A16D-4322-E1EA12795AEF}"/>
              </a:ext>
            </a:extLst>
          </p:cNvPr>
          <p:cNvSpPr txBox="1"/>
          <p:nvPr/>
        </p:nvSpPr>
        <p:spPr>
          <a:xfrm>
            <a:off x="645944" y="2617835"/>
            <a:ext cx="3270250" cy="2246769"/>
          </a:xfrm>
          <a:prstGeom prst="rect">
            <a:avLst/>
          </a:prstGeom>
          <a:noFill/>
        </p:spPr>
        <p:txBody>
          <a:bodyPr wrap="square">
            <a:spAutoFit/>
          </a:bodyPr>
          <a:lstStyle/>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Refrigerator</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Socks</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Dresser</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Living room</a:t>
            </a:r>
          </a:p>
          <a:p>
            <a:pPr marL="742813" marR="0" lvl="1" indent="-2857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alpha val="80000"/>
                  </a:prstClr>
                </a:solidFill>
                <a:effectLst/>
                <a:uLnTx/>
                <a:uFillTx/>
                <a:latin typeface="Avenir"/>
                <a:ea typeface="+mn-ea"/>
                <a:cs typeface="+mn-cs"/>
              </a:rPr>
              <a:t>Dictionary</a:t>
            </a:r>
          </a:p>
        </p:txBody>
      </p:sp>
    </p:spTree>
    <p:extLst>
      <p:ext uri="{BB962C8B-B14F-4D97-AF65-F5344CB8AC3E}">
        <p14:creationId xmlns:p14="http://schemas.microsoft.com/office/powerpoint/2010/main" val="2966196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fade">
                                      <p:cBhvr>
                                        <p:cTn id="7" dur="500"/>
                                        <p:tgtEl>
                                          <p:spTgt spid="378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a:extLst>
            <a:ext uri="{FF2B5EF4-FFF2-40B4-BE49-F238E27FC236}">
              <a16:creationId xmlns:a16="http://schemas.microsoft.com/office/drawing/2014/main" id="{BEE304C6-9F09-6D59-4B35-B3CD252091BB}"/>
            </a:ext>
          </a:extLst>
        </p:cNvPr>
        <p:cNvGrpSpPr/>
        <p:nvPr/>
      </p:nvGrpSpPr>
      <p:grpSpPr>
        <a:xfrm>
          <a:off x="0" y="0"/>
          <a:ext cx="0" cy="0"/>
          <a:chOff x="0" y="0"/>
          <a:chExt cx="0" cy="0"/>
        </a:xfrm>
      </p:grpSpPr>
      <p:sp useBgFill="1">
        <p:nvSpPr>
          <p:cNvPr id="37900" name="Rectangle 37899">
            <a:extLst>
              <a:ext uri="{FF2B5EF4-FFF2-40B4-BE49-F238E27FC236}">
                <a16:creationId xmlns:a16="http://schemas.microsoft.com/office/drawing/2014/main" id="{75554570-2332-A6BA-D4A0-893796BA66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30722" name="Rectangle 2">
            <a:extLst>
              <a:ext uri="{FF2B5EF4-FFF2-40B4-BE49-F238E27FC236}">
                <a16:creationId xmlns:a16="http://schemas.microsoft.com/office/drawing/2014/main" id="{BB5B6848-6B0D-B435-6401-58E36C17315A}"/>
              </a:ext>
            </a:extLst>
          </p:cNvPr>
          <p:cNvSpPr>
            <a:spLocks noGrp="1" noChangeArrowheads="1"/>
          </p:cNvSpPr>
          <p:nvPr>
            <p:ph type="title"/>
          </p:nvPr>
        </p:nvSpPr>
        <p:spPr>
          <a:xfrm>
            <a:off x="838200" y="962036"/>
            <a:ext cx="6155988" cy="863284"/>
          </a:xfrm>
        </p:spPr>
        <p:txBody>
          <a:bodyPr vert="horz" lIns="91440" tIns="45720" rIns="91440" bIns="45720" rtlCol="0" anchor="b">
            <a:normAutofit/>
          </a:bodyPr>
          <a:lstStyle/>
          <a:p>
            <a:pPr>
              <a:defRPr/>
            </a:pPr>
            <a:r>
              <a:rPr lang="en-US" kern="1200" dirty="0"/>
              <a:t>Many Ways to Organize</a:t>
            </a:r>
          </a:p>
        </p:txBody>
      </p:sp>
      <p:cxnSp>
        <p:nvCxnSpPr>
          <p:cNvPr id="37902" name="Straight Connector 37901">
            <a:extLst>
              <a:ext uri="{FF2B5EF4-FFF2-40B4-BE49-F238E27FC236}">
                <a16:creationId xmlns:a16="http://schemas.microsoft.com/office/drawing/2014/main" id="{47AD64DB-3F8C-754E-9F17-9E779CBAEF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7904" name="Graphic 11">
            <a:extLst>
              <a:ext uri="{FF2B5EF4-FFF2-40B4-BE49-F238E27FC236}">
                <a16:creationId xmlns:a16="http://schemas.microsoft.com/office/drawing/2014/main" id="{86610A76-C54E-9326-0FFD-EFAB01E80B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7906" name="Graphic 10">
            <a:extLst>
              <a:ext uri="{FF2B5EF4-FFF2-40B4-BE49-F238E27FC236}">
                <a16:creationId xmlns:a16="http://schemas.microsoft.com/office/drawing/2014/main" id="{33BD8BF6-368B-5599-8EC4-9ABC688D5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 name="Rectangle 3">
            <a:extLst>
              <a:ext uri="{FF2B5EF4-FFF2-40B4-BE49-F238E27FC236}">
                <a16:creationId xmlns:a16="http://schemas.microsoft.com/office/drawing/2014/main" id="{DAB7DD9C-9E31-7B44-E15E-38D5C001DE85}"/>
              </a:ext>
            </a:extLst>
          </p:cNvPr>
          <p:cNvSpPr>
            <a:spLocks noGrp="1" noChangeArrowheads="1"/>
          </p:cNvSpPr>
          <p:nvPr>
            <p:ph idx="1"/>
          </p:nvPr>
        </p:nvSpPr>
        <p:spPr>
          <a:xfrm>
            <a:off x="6844939" y="2334405"/>
            <a:ext cx="3821086" cy="589916"/>
          </a:xfrm>
        </p:spPr>
        <p:txBody>
          <a:bodyPr rtlCol="0">
            <a:normAutofit/>
          </a:bodyPr>
          <a:lstStyle/>
          <a:p>
            <a:pPr marL="0" indent="0">
              <a:buNone/>
              <a:defRPr/>
            </a:pPr>
            <a:r>
              <a:rPr lang="en-US" dirty="0">
                <a:solidFill>
                  <a:schemeClr val="accent4">
                    <a:lumMod val="50000"/>
                  </a:schemeClr>
                </a:solidFill>
              </a:rPr>
              <a:t>Simple alphabetic list?</a:t>
            </a:r>
          </a:p>
        </p:txBody>
      </p:sp>
      <p:grpSp>
        <p:nvGrpSpPr>
          <p:cNvPr id="22" name="Group 21">
            <a:extLst>
              <a:ext uri="{FF2B5EF4-FFF2-40B4-BE49-F238E27FC236}">
                <a16:creationId xmlns:a16="http://schemas.microsoft.com/office/drawing/2014/main" id="{01967E51-3160-D13E-ABFF-053F340C01D4}"/>
              </a:ext>
            </a:extLst>
          </p:cNvPr>
          <p:cNvGrpSpPr/>
          <p:nvPr/>
        </p:nvGrpSpPr>
        <p:grpSpPr>
          <a:xfrm>
            <a:off x="841082" y="2042801"/>
            <a:ext cx="5928018" cy="1661993"/>
            <a:chOff x="841082" y="2042801"/>
            <a:chExt cx="5928018" cy="1661993"/>
          </a:xfrm>
        </p:grpSpPr>
        <p:sp>
          <p:nvSpPr>
            <p:cNvPr id="9" name="TextBox 8">
              <a:extLst>
                <a:ext uri="{FF2B5EF4-FFF2-40B4-BE49-F238E27FC236}">
                  <a16:creationId xmlns:a16="http://schemas.microsoft.com/office/drawing/2014/main" id="{1C206244-35C5-F3AD-7477-4F4D809BE18B}"/>
                </a:ext>
              </a:extLst>
            </p:cNvPr>
            <p:cNvSpPr txBox="1"/>
            <p:nvPr/>
          </p:nvSpPr>
          <p:spPr>
            <a:xfrm>
              <a:off x="995194" y="2042801"/>
              <a:ext cx="5773906" cy="166199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4A3ED0"/>
                  </a:solidFill>
                  <a:effectLst/>
                  <a:uLnTx/>
                  <a:uFillTx/>
                  <a:latin typeface="Avenir"/>
                  <a:ea typeface="+mn-ea"/>
                  <a:cs typeface="+mn-cs"/>
                </a:rPr>
                <a:t>By size:</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venir"/>
                  <a:ea typeface="+mn-ea"/>
                  <a:cs typeface="+mn-cs"/>
                </a:rPr>
                <a:t>Large:  kitchen, bedroom, living room</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venir"/>
                  <a:ea typeface="+mn-ea"/>
                  <a:cs typeface="+mn-cs"/>
                </a:rPr>
                <a:t>Medium:  bookshelf, refrigerator, dresser</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venir"/>
                  <a:ea typeface="+mn-ea"/>
                  <a:cs typeface="+mn-cs"/>
                </a:rPr>
                <a:t>Small:  socks, dictionary, milk</a:t>
              </a:r>
            </a:p>
          </p:txBody>
        </p:sp>
        <p:pic>
          <p:nvPicPr>
            <p:cNvPr id="13" name="Graphic 12" descr="Maximize with solid fill">
              <a:extLst>
                <a:ext uri="{FF2B5EF4-FFF2-40B4-BE49-F238E27FC236}">
                  <a16:creationId xmlns:a16="http://schemas.microsoft.com/office/drawing/2014/main" id="{CCAF184C-218C-A49D-668D-4B7583DE27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1082" y="2771051"/>
              <a:ext cx="589916" cy="589916"/>
            </a:xfrm>
            <a:prstGeom prst="rect">
              <a:avLst/>
            </a:prstGeom>
          </p:spPr>
        </p:pic>
      </p:grpSp>
      <p:grpSp>
        <p:nvGrpSpPr>
          <p:cNvPr id="24" name="Group 23">
            <a:extLst>
              <a:ext uri="{FF2B5EF4-FFF2-40B4-BE49-F238E27FC236}">
                <a16:creationId xmlns:a16="http://schemas.microsoft.com/office/drawing/2014/main" id="{8389E893-D09F-4C0F-FFD9-40A8EA0B5825}"/>
              </a:ext>
            </a:extLst>
          </p:cNvPr>
          <p:cNvGrpSpPr/>
          <p:nvPr/>
        </p:nvGrpSpPr>
        <p:grpSpPr>
          <a:xfrm>
            <a:off x="838200" y="4278487"/>
            <a:ext cx="5257800" cy="1661993"/>
            <a:chOff x="838200" y="4278487"/>
            <a:chExt cx="5257800" cy="1661993"/>
          </a:xfrm>
        </p:grpSpPr>
        <p:sp>
          <p:nvSpPr>
            <p:cNvPr id="11" name="TextBox 10">
              <a:extLst>
                <a:ext uri="{FF2B5EF4-FFF2-40B4-BE49-F238E27FC236}">
                  <a16:creationId xmlns:a16="http://schemas.microsoft.com/office/drawing/2014/main" id="{3405AD71-4F60-4C1D-B12C-CCC7588D1FD6}"/>
                </a:ext>
              </a:extLst>
            </p:cNvPr>
            <p:cNvSpPr txBox="1"/>
            <p:nvPr/>
          </p:nvSpPr>
          <p:spPr>
            <a:xfrm>
              <a:off x="938383" y="4278487"/>
              <a:ext cx="5157617" cy="166199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0" i="0" u="none" strike="noStrike" kern="1200" cap="none" spc="0" normalizeH="0" baseline="0" noProof="0" dirty="0">
                  <a:ln>
                    <a:noFill/>
                  </a:ln>
                  <a:solidFill>
                    <a:srgbClr val="FF5DBA">
                      <a:lumMod val="50000"/>
                    </a:srgbClr>
                  </a:solidFill>
                  <a:effectLst/>
                  <a:uLnTx/>
                  <a:uFillTx/>
                  <a:latin typeface="Avenir"/>
                  <a:ea typeface="+mn-ea"/>
                  <a:cs typeface="+mn-cs"/>
                </a:rPr>
                <a:t>By exact location: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8E8E8">
                      <a:lumMod val="25000"/>
                    </a:srgbClr>
                  </a:solidFill>
                  <a:effectLst/>
                  <a:uLnTx/>
                  <a:uFillTx/>
                  <a:latin typeface="Avenir"/>
                  <a:ea typeface="+mn-ea"/>
                  <a:cs typeface="+mn-cs"/>
                </a:rPr>
                <a:t>Kitchen &gt; refrigerator &gt; milk</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8E8E8">
                      <a:lumMod val="25000"/>
                    </a:srgbClr>
                  </a:solidFill>
                  <a:effectLst/>
                  <a:uLnTx/>
                  <a:uFillTx/>
                  <a:latin typeface="Avenir"/>
                  <a:ea typeface="+mn-ea"/>
                  <a:cs typeface="+mn-cs"/>
                </a:rPr>
                <a:t>Living room: bookshelf &gt; dictionary</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8E8E8">
                      <a:lumMod val="25000"/>
                    </a:srgbClr>
                  </a:solidFill>
                  <a:effectLst/>
                  <a:uLnTx/>
                  <a:uFillTx/>
                  <a:latin typeface="Avenir"/>
                  <a:ea typeface="+mn-ea"/>
                  <a:cs typeface="+mn-cs"/>
                </a:rPr>
                <a:t>Bedroom: dresser &gt; socks</a:t>
              </a:r>
            </a:p>
          </p:txBody>
        </p:sp>
        <p:pic>
          <p:nvPicPr>
            <p:cNvPr id="14" name="Graphic 13" descr="Marker with solid fill">
              <a:extLst>
                <a:ext uri="{FF2B5EF4-FFF2-40B4-BE49-F238E27FC236}">
                  <a16:creationId xmlns:a16="http://schemas.microsoft.com/office/drawing/2014/main" id="{9D9B976F-B5D9-473A-3F14-DE63C0C0E2B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38200" y="5042171"/>
              <a:ext cx="589916" cy="589916"/>
            </a:xfrm>
            <a:prstGeom prst="rect">
              <a:avLst/>
            </a:prstGeom>
          </p:spPr>
        </p:pic>
      </p:grpSp>
      <p:grpSp>
        <p:nvGrpSpPr>
          <p:cNvPr id="23" name="Group 22">
            <a:extLst>
              <a:ext uri="{FF2B5EF4-FFF2-40B4-BE49-F238E27FC236}">
                <a16:creationId xmlns:a16="http://schemas.microsoft.com/office/drawing/2014/main" id="{2F10415B-ADEC-B174-9F8A-4679C3F9B02C}"/>
              </a:ext>
            </a:extLst>
          </p:cNvPr>
          <p:cNvGrpSpPr/>
          <p:nvPr/>
        </p:nvGrpSpPr>
        <p:grpSpPr>
          <a:xfrm>
            <a:off x="6328610" y="3646519"/>
            <a:ext cx="5036432" cy="1931646"/>
            <a:chOff x="6328610" y="3646519"/>
            <a:chExt cx="5036432" cy="1931646"/>
          </a:xfrm>
        </p:grpSpPr>
        <p:sp>
          <p:nvSpPr>
            <p:cNvPr id="7" name="Rectangle 3">
              <a:extLst>
                <a:ext uri="{FF2B5EF4-FFF2-40B4-BE49-F238E27FC236}">
                  <a16:creationId xmlns:a16="http://schemas.microsoft.com/office/drawing/2014/main" id="{9939B8C2-817A-F030-95A3-D69DEC10E56D}"/>
                </a:ext>
              </a:extLst>
            </p:cNvPr>
            <p:cNvSpPr txBox="1">
              <a:spLocks noChangeArrowheads="1"/>
            </p:cNvSpPr>
            <p:nvPr/>
          </p:nvSpPr>
          <p:spPr>
            <a:xfrm>
              <a:off x="6415184" y="3646519"/>
              <a:ext cx="4949858" cy="19316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3000" b="0" i="0" u="none" strike="noStrike" kern="1200" cap="none" spc="0" normalizeH="0" baseline="0" noProof="0" dirty="0">
                  <a:ln>
                    <a:noFill/>
                  </a:ln>
                  <a:solidFill>
                    <a:srgbClr val="9B8BBD">
                      <a:lumMod val="75000"/>
                    </a:srgbClr>
                  </a:solidFill>
                  <a:effectLst/>
                  <a:uLnTx/>
                  <a:uFillTx/>
                  <a:latin typeface="Avenir"/>
                  <a:ea typeface="+mn-ea"/>
                  <a:cs typeface="+mn-cs"/>
                </a:rPr>
                <a:t>By room:</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E8E8E8">
                      <a:lumMod val="25000"/>
                    </a:srgbClr>
                  </a:solidFill>
                  <a:effectLst/>
                  <a:uLnTx/>
                  <a:uFillTx/>
                  <a:latin typeface="Avenir"/>
                  <a:ea typeface="+mn-ea"/>
                  <a:cs typeface="+mn-cs"/>
                </a:rPr>
                <a:t>Kitchen:  refrigerator, milk</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E8E8E8">
                      <a:lumMod val="25000"/>
                    </a:srgbClr>
                  </a:solidFill>
                  <a:effectLst/>
                  <a:uLnTx/>
                  <a:uFillTx/>
                  <a:latin typeface="Avenir"/>
                  <a:ea typeface="+mn-ea"/>
                  <a:cs typeface="+mn-cs"/>
                </a:rPr>
                <a:t>Living Room:  dictionary, bookshelf</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E8E8E8">
                      <a:lumMod val="25000"/>
                    </a:srgbClr>
                  </a:solidFill>
                  <a:effectLst/>
                  <a:uLnTx/>
                  <a:uFillTx/>
                  <a:latin typeface="Avenir"/>
                  <a:ea typeface="+mn-ea"/>
                  <a:cs typeface="+mn-cs"/>
                </a:rPr>
                <a:t>Bedroom:  dresser, socks</a:t>
              </a:r>
            </a:p>
          </p:txBody>
        </p:sp>
        <p:pic>
          <p:nvPicPr>
            <p:cNvPr id="17" name="Graphic 16" descr="Building Brick Wall with solid fill">
              <a:extLst>
                <a:ext uri="{FF2B5EF4-FFF2-40B4-BE49-F238E27FC236}">
                  <a16:creationId xmlns:a16="http://schemas.microsoft.com/office/drawing/2014/main" id="{7E729B96-D3A9-0985-24A9-1F357419567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328610" y="4371730"/>
              <a:ext cx="589916" cy="589916"/>
            </a:xfrm>
            <a:prstGeom prst="rect">
              <a:avLst/>
            </a:prstGeom>
          </p:spPr>
        </p:pic>
      </p:grpSp>
      <p:pic>
        <p:nvPicPr>
          <p:cNvPr id="21" name="Picture 20">
            <a:extLst>
              <a:ext uri="{FF2B5EF4-FFF2-40B4-BE49-F238E27FC236}">
                <a16:creationId xmlns:a16="http://schemas.microsoft.com/office/drawing/2014/main" id="{00BC492F-3F61-2F40-E78C-9EA530E8E9FB}"/>
              </a:ext>
            </a:extLst>
          </p:cNvPr>
          <p:cNvPicPr>
            <a:picLocks noChangeAspect="1"/>
          </p:cNvPicPr>
          <p:nvPr/>
        </p:nvPicPr>
        <p:blipFill>
          <a:blip r:embed="rId6"/>
          <a:stretch>
            <a:fillRect/>
          </a:stretch>
        </p:blipFill>
        <p:spPr>
          <a:xfrm>
            <a:off x="10666025" y="2385664"/>
            <a:ext cx="456701" cy="456701"/>
          </a:xfrm>
          <a:prstGeom prst="rect">
            <a:avLst/>
          </a:prstGeom>
        </p:spPr>
      </p:pic>
    </p:spTree>
    <p:extLst>
      <p:ext uri="{BB962C8B-B14F-4D97-AF65-F5344CB8AC3E}">
        <p14:creationId xmlns:p14="http://schemas.microsoft.com/office/powerpoint/2010/main" val="3630451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7B5B1A9-337A-4F33-F287-21567023C3A5}"/>
              </a:ext>
            </a:extLst>
          </p:cNvPr>
          <p:cNvSpPr>
            <a:spLocks noGrp="1"/>
          </p:cNvSpPr>
          <p:nvPr>
            <p:ph type="title"/>
          </p:nvPr>
        </p:nvSpPr>
        <p:spPr>
          <a:xfrm>
            <a:off x="458788" y="274638"/>
            <a:ext cx="11274552" cy="1143000"/>
          </a:xfrm>
        </p:spPr>
        <p:txBody>
          <a:bodyPr vert="horz" lIns="0" tIns="45720" rIns="10" bIns="45720" rtlCol="0" anchor="ctr">
            <a:noAutofit/>
          </a:bodyPr>
          <a:lstStyle/>
          <a:p>
            <a:pPr algn="l"/>
            <a:r>
              <a:rPr dirty="0"/>
              <a:t>Information Architecture (IA)</a:t>
            </a:r>
          </a:p>
        </p:txBody>
      </p:sp>
      <p:sp>
        <p:nvSpPr>
          <p:cNvPr id="7" name="Content Placeholder 2">
            <a:extLst>
              <a:ext uri="{FF2B5EF4-FFF2-40B4-BE49-F238E27FC236}">
                <a16:creationId xmlns:a16="http://schemas.microsoft.com/office/drawing/2014/main" id="{40AA31E9-7AC4-A953-CCEB-6680D801646B}"/>
              </a:ext>
            </a:extLst>
          </p:cNvPr>
          <p:cNvSpPr txBox="1">
            <a:spLocks/>
          </p:cNvSpPr>
          <p:nvPr/>
        </p:nvSpPr>
        <p:spPr>
          <a:xfrm>
            <a:off x="1010093" y="1626781"/>
            <a:ext cx="10723247" cy="4761319"/>
          </a:xfrm>
          <a:prstGeom prst="rect">
            <a:avLst/>
          </a:prstGeom>
        </p:spPr>
        <p:txBody>
          <a:bodyPr vert="horz" wrap="square" lIns="0" tIns="45720" rIns="10" bIns="45720" rtlCol="0">
            <a:noAutofit/>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3100" kern="1200">
                <a:solidFill>
                  <a:schemeClr val="bg2">
                    <a:lumMod val="25000"/>
                  </a:schemeClr>
                </a:solidFill>
                <a:latin typeface="Avenir"/>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sz="2700" kern="1200">
                <a:solidFill>
                  <a:schemeClr val="bg2">
                    <a:lumMod val="25000"/>
                  </a:schemeClr>
                </a:solidFill>
                <a:latin typeface="Avenir"/>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bg2">
                    <a:lumMod val="25000"/>
                  </a:schemeClr>
                </a:solidFill>
                <a:latin typeface="Avenir"/>
                <a:ea typeface="+mn-ea"/>
                <a:cs typeface="+mn-cs"/>
              </a:defRPr>
            </a:lvl3pPr>
            <a:lvl4pPr marL="1600200" indent="-228600" algn="l" defTabSz="914400" rtl="0" eaLnBrk="1" latinLnBrk="0" hangingPunct="1">
              <a:lnSpc>
                <a:spcPct val="90000"/>
              </a:lnSpc>
              <a:spcBef>
                <a:spcPts val="500"/>
              </a:spcBef>
              <a:spcAft>
                <a:spcPts val="600"/>
              </a:spcAft>
              <a:buFont typeface="Arial" panose="020B0604020202020204" pitchFamily="34" charset="0"/>
              <a:buChar char="•"/>
              <a:defRPr sz="2100" kern="1200">
                <a:solidFill>
                  <a:schemeClr val="bg2">
                    <a:lumMod val="25000"/>
                  </a:schemeClr>
                </a:solidFill>
                <a:latin typeface="Avenir"/>
                <a:ea typeface="+mn-ea"/>
                <a:cs typeface="+mn-cs"/>
              </a:defRPr>
            </a:lvl4pPr>
            <a:lvl5pPr marL="2057400" indent="-228600" algn="l" defTabSz="914400" rtl="0" eaLnBrk="1" latinLnBrk="0" hangingPunct="1">
              <a:lnSpc>
                <a:spcPct val="90000"/>
              </a:lnSpc>
              <a:spcBef>
                <a:spcPts val="500"/>
              </a:spcBef>
              <a:spcAft>
                <a:spcPts val="300"/>
              </a:spcAft>
              <a:buFont typeface="Arial" panose="020B0604020202020204" pitchFamily="34" charset="0"/>
              <a:buChar char="•"/>
              <a:defRPr sz="2000" kern="1200">
                <a:solidFill>
                  <a:schemeClr val="bg2">
                    <a:lumMod val="25000"/>
                  </a:schemeClr>
                </a:solidFill>
                <a:latin typeface="Avenir"/>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1200"/>
              </a:spcAft>
              <a:buClrTx/>
              <a:buSzTx/>
              <a:buFont typeface="Arial" panose="020B0604020202020204" pitchFamily="34" charset="0"/>
              <a:buNone/>
              <a:tabLst/>
              <a:defRPr/>
            </a:pPr>
            <a:r>
              <a:rPr kumimoji="0" lang="en-US" altLang="en-US" sz="2900" b="1" i="0" u="none" strike="noStrike" kern="1200" cap="none" spc="0" normalizeH="0" baseline="0" noProof="0" dirty="0">
                <a:ln>
                  <a:noFill/>
                </a:ln>
                <a:solidFill>
                  <a:srgbClr val="9B8BBD">
                    <a:lumMod val="75000"/>
                  </a:srgbClr>
                </a:solidFill>
                <a:effectLst/>
                <a:uLnTx/>
                <a:uFillTx/>
                <a:latin typeface="Avenir"/>
                <a:ea typeface="+mn-ea"/>
                <a:cs typeface="+mn-cs"/>
              </a:rPr>
              <a:t>Structural: </a:t>
            </a:r>
            <a:r>
              <a:rPr kumimoji="0" lang="en-US" altLang="en-US" sz="2900" b="0" i="0" u="none" strike="noStrike" kern="1200" cap="none" spc="0" normalizeH="0" baseline="0" noProof="0" dirty="0">
                <a:ln>
                  <a:noFill/>
                </a:ln>
                <a:solidFill>
                  <a:srgbClr val="E8E8E8">
                    <a:lumMod val="25000"/>
                  </a:srgbClr>
                </a:solidFill>
                <a:effectLst/>
                <a:uLnTx/>
                <a:uFillTx/>
                <a:latin typeface="Avenir"/>
                <a:ea typeface="+mn-ea"/>
                <a:cs typeface="+mn-cs"/>
              </a:rPr>
              <a:t>basic linkage between pages defining overall site structure</a:t>
            </a:r>
          </a:p>
          <a:p>
            <a:pPr marL="0" marR="0" lvl="0" indent="0" algn="l" defTabSz="914400" rtl="0" eaLnBrk="1" fontAlgn="auto" latinLnBrk="0" hangingPunct="1">
              <a:lnSpc>
                <a:spcPct val="90000"/>
              </a:lnSpc>
              <a:spcBef>
                <a:spcPts val="1000"/>
              </a:spcBef>
              <a:spcAft>
                <a:spcPts val="1200"/>
              </a:spcAft>
              <a:buClrTx/>
              <a:buSzTx/>
              <a:buFont typeface="Arial" panose="020B0604020202020204" pitchFamily="34" charset="0"/>
              <a:buNone/>
              <a:tabLst/>
              <a:defRPr/>
            </a:pPr>
            <a:r>
              <a:rPr kumimoji="0" lang="en-US" altLang="en-US" sz="2900" b="1" i="0" u="none" strike="noStrike" kern="1200" cap="none" spc="0" normalizeH="0" baseline="0" noProof="0" dirty="0">
                <a:ln>
                  <a:noFill/>
                </a:ln>
                <a:solidFill>
                  <a:srgbClr val="9B8BBD">
                    <a:lumMod val="75000"/>
                  </a:srgbClr>
                </a:solidFill>
                <a:effectLst/>
                <a:uLnTx/>
                <a:uFillTx/>
                <a:latin typeface="Avenir"/>
                <a:ea typeface="+mn-ea"/>
                <a:cs typeface="+mn-cs"/>
              </a:rPr>
              <a:t>Categorical: </a:t>
            </a:r>
            <a:r>
              <a:rPr kumimoji="0" lang="en-US" altLang="en-US" sz="2900" b="0" i="0" u="none" strike="noStrike" kern="1200" cap="none" spc="0" normalizeH="0" baseline="0" noProof="0" dirty="0">
                <a:ln>
                  <a:noFill/>
                </a:ln>
                <a:solidFill>
                  <a:srgbClr val="E8E8E8">
                    <a:lumMod val="25000"/>
                  </a:srgbClr>
                </a:solidFill>
                <a:effectLst/>
                <a:uLnTx/>
                <a:uFillTx/>
                <a:latin typeface="Avenir"/>
                <a:ea typeface="+mn-ea"/>
                <a:cs typeface="+mn-cs"/>
              </a:rPr>
              <a:t>breaking of content into different categories understandable to user</a:t>
            </a:r>
          </a:p>
          <a:p>
            <a:pPr marL="0" marR="0" lvl="0" indent="0" algn="l" defTabSz="914400" rtl="0" eaLnBrk="1" fontAlgn="auto" latinLnBrk="0" hangingPunct="1">
              <a:lnSpc>
                <a:spcPct val="90000"/>
              </a:lnSpc>
              <a:spcBef>
                <a:spcPts val="1000"/>
              </a:spcBef>
              <a:spcAft>
                <a:spcPts val="1200"/>
              </a:spcAft>
              <a:buClrTx/>
              <a:buSzTx/>
              <a:buFont typeface="Arial" panose="020B0604020202020204" pitchFamily="34" charset="0"/>
              <a:buNone/>
              <a:tabLst/>
              <a:defRPr/>
            </a:pPr>
            <a:r>
              <a:rPr kumimoji="0" lang="en-US" altLang="en-US" sz="2900" b="1" i="0" u="none" strike="noStrike" kern="1200" cap="none" spc="0" normalizeH="0" baseline="0" noProof="0" dirty="0">
                <a:ln>
                  <a:noFill/>
                </a:ln>
                <a:solidFill>
                  <a:srgbClr val="9B8BBD">
                    <a:lumMod val="75000"/>
                  </a:srgbClr>
                </a:solidFill>
                <a:effectLst/>
                <a:uLnTx/>
                <a:uFillTx/>
                <a:latin typeface="Avenir"/>
                <a:ea typeface="+mn-ea"/>
                <a:cs typeface="+mn-cs"/>
              </a:rPr>
              <a:t>Relational: </a:t>
            </a:r>
            <a:r>
              <a:rPr kumimoji="0" lang="en-US" altLang="en-US" sz="2900" b="0" i="0" u="none" strike="noStrike" kern="1200" cap="none" spc="0" normalizeH="0" baseline="0" noProof="0" dirty="0">
                <a:ln>
                  <a:noFill/>
                </a:ln>
                <a:solidFill>
                  <a:srgbClr val="E8E8E8">
                    <a:lumMod val="25000"/>
                  </a:srgbClr>
                </a:solidFill>
                <a:effectLst/>
                <a:uLnTx/>
                <a:uFillTx/>
                <a:latin typeface="Avenir"/>
                <a:ea typeface="+mn-ea"/>
                <a:cs typeface="+mn-cs"/>
              </a:rPr>
              <a:t>linkage between content related in some manner in thought process</a:t>
            </a:r>
          </a:p>
          <a:p>
            <a:pPr marL="0" marR="0" lvl="0" indent="0" algn="l" defTabSz="914400" rtl="0" eaLnBrk="1" fontAlgn="auto" latinLnBrk="0" hangingPunct="1">
              <a:lnSpc>
                <a:spcPct val="90000"/>
              </a:lnSpc>
              <a:spcBef>
                <a:spcPts val="1000"/>
              </a:spcBef>
              <a:spcAft>
                <a:spcPts val="1200"/>
              </a:spcAft>
              <a:buClrTx/>
              <a:buSzTx/>
              <a:buFont typeface="Arial" panose="020B0604020202020204" pitchFamily="34" charset="0"/>
              <a:buNone/>
              <a:tabLst/>
              <a:defRPr/>
            </a:pPr>
            <a:r>
              <a:rPr kumimoji="0" lang="en-US" altLang="en-US" sz="2900" b="1" i="0" u="none" strike="noStrike" kern="1200" cap="none" spc="0" normalizeH="0" baseline="0" noProof="0" dirty="0">
                <a:ln>
                  <a:noFill/>
                </a:ln>
                <a:solidFill>
                  <a:srgbClr val="9B8BBD">
                    <a:lumMod val="75000"/>
                  </a:srgbClr>
                </a:solidFill>
                <a:effectLst/>
                <a:uLnTx/>
                <a:uFillTx/>
                <a:latin typeface="Avenir"/>
                <a:ea typeface="+mn-ea"/>
                <a:cs typeface="+mn-cs"/>
              </a:rPr>
              <a:t>Promotional: </a:t>
            </a:r>
            <a:r>
              <a:rPr kumimoji="0" lang="en-US" altLang="en-US" sz="2900" b="0" i="0" u="none" strike="noStrike" kern="1200" cap="none" spc="0" normalizeH="0" baseline="0" noProof="0" dirty="0">
                <a:ln>
                  <a:noFill/>
                </a:ln>
                <a:solidFill>
                  <a:srgbClr val="E8E8E8">
                    <a:lumMod val="25000"/>
                  </a:srgbClr>
                </a:solidFill>
                <a:effectLst/>
                <a:uLnTx/>
                <a:uFillTx/>
                <a:latin typeface="Avenir"/>
                <a:ea typeface="+mn-ea"/>
                <a:cs typeface="+mn-cs"/>
              </a:rPr>
              <a:t>calls attention to special items or content</a:t>
            </a:r>
          </a:p>
          <a:p>
            <a:pPr marL="0" marR="0" lvl="0" indent="0" algn="l" defTabSz="914400" rtl="0" eaLnBrk="1" fontAlgn="auto" latinLnBrk="0" hangingPunct="1">
              <a:lnSpc>
                <a:spcPct val="90000"/>
              </a:lnSpc>
              <a:spcBef>
                <a:spcPts val="1000"/>
              </a:spcBef>
              <a:spcAft>
                <a:spcPts val="1200"/>
              </a:spcAft>
              <a:buClrTx/>
              <a:buSzTx/>
              <a:buFont typeface="Arial" panose="020B0604020202020204" pitchFamily="34" charset="0"/>
              <a:buNone/>
              <a:tabLst/>
              <a:defRPr/>
            </a:pPr>
            <a:r>
              <a:rPr kumimoji="0" lang="en-US" altLang="en-US" sz="2900" b="1" i="0" u="none" strike="noStrike" kern="1200" cap="none" spc="0" normalizeH="0" baseline="0" noProof="0" dirty="0">
                <a:ln>
                  <a:noFill/>
                </a:ln>
                <a:solidFill>
                  <a:srgbClr val="9B8BBD">
                    <a:lumMod val="75000"/>
                  </a:srgbClr>
                </a:solidFill>
                <a:effectLst/>
                <a:uLnTx/>
                <a:uFillTx/>
                <a:latin typeface="Avenir"/>
                <a:ea typeface="+mn-ea"/>
                <a:cs typeface="+mn-cs"/>
              </a:rPr>
              <a:t>Search: </a:t>
            </a:r>
            <a:r>
              <a:rPr kumimoji="0" lang="en-US" altLang="en-US" sz="2900" b="0" i="0" u="none" strike="noStrike" kern="1200" cap="none" spc="0" normalizeH="0" baseline="0" noProof="0" dirty="0">
                <a:ln>
                  <a:noFill/>
                </a:ln>
                <a:solidFill>
                  <a:srgbClr val="E8E8E8">
                    <a:lumMod val="25000"/>
                  </a:srgbClr>
                </a:solidFill>
                <a:effectLst/>
                <a:uLnTx/>
                <a:uFillTx/>
                <a:latin typeface="Avenir"/>
                <a:ea typeface="+mn-ea"/>
                <a:cs typeface="+mn-cs"/>
              </a:rPr>
              <a:t>direct path to items specifically identified by user</a:t>
            </a:r>
          </a:p>
        </p:txBody>
      </p:sp>
    </p:spTree>
    <p:extLst>
      <p:ext uri="{BB962C8B-B14F-4D97-AF65-F5344CB8AC3E}">
        <p14:creationId xmlns:p14="http://schemas.microsoft.com/office/powerpoint/2010/main" val="4129266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E70ED9-8C29-4FDF-ACC6-9D716C7EFFE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E57B98-D01A-7D62-F3CA-5B30D237B5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graphicFrame>
        <p:nvGraphicFramePr>
          <p:cNvPr id="5" name="Content Placeholder 2">
            <a:extLst>
              <a:ext uri="{FF2B5EF4-FFF2-40B4-BE49-F238E27FC236}">
                <a16:creationId xmlns:a16="http://schemas.microsoft.com/office/drawing/2014/main" id="{E38C73B6-B775-295A-470D-23804A036C94}"/>
              </a:ext>
            </a:extLst>
          </p:cNvPr>
          <p:cNvGraphicFramePr>
            <a:graphicFrameLocks noGrp="1"/>
          </p:cNvGraphicFramePr>
          <p:nvPr>
            <p:ph idx="1"/>
          </p:nvPr>
        </p:nvGraphicFramePr>
        <p:xfrm>
          <a:off x="680484" y="1417638"/>
          <a:ext cx="9409814" cy="4667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1">
            <a:extLst>
              <a:ext uri="{FF2B5EF4-FFF2-40B4-BE49-F238E27FC236}">
                <a16:creationId xmlns:a16="http://schemas.microsoft.com/office/drawing/2014/main" id="{98930E41-F0AA-7DD9-23D7-6478A23937F4}"/>
              </a:ext>
            </a:extLst>
          </p:cNvPr>
          <p:cNvSpPr>
            <a:spLocks noGrp="1"/>
          </p:cNvSpPr>
          <p:nvPr>
            <p:ph type="title"/>
          </p:nvPr>
        </p:nvSpPr>
        <p:spPr>
          <a:xfrm>
            <a:off x="680484" y="274638"/>
            <a:ext cx="11052856" cy="1143000"/>
          </a:xfrm>
        </p:spPr>
        <p:txBody>
          <a:bodyPr vert="horz" lIns="0" tIns="45720" rIns="10" bIns="45720" rtlCol="0" anchor="ctr">
            <a:noAutofit/>
          </a:bodyPr>
          <a:lstStyle/>
          <a:p>
            <a:pPr algn="l"/>
            <a:r>
              <a:rPr lang="en-US" dirty="0"/>
              <a:t>Balancing Browsing Needs </a:t>
            </a:r>
            <a:r>
              <a:rPr lang="en-US" sz="3100" dirty="0">
                <a:solidFill>
                  <a:schemeClr val="accent4">
                    <a:lumMod val="50000"/>
                  </a:schemeClr>
                </a:solidFill>
              </a:rPr>
              <a:t>Known &amp; Exploratory</a:t>
            </a:r>
            <a:endParaRPr sz="3100" dirty="0">
              <a:solidFill>
                <a:schemeClr val="accent4">
                  <a:lumMod val="50000"/>
                </a:schemeClr>
              </a:solidFill>
            </a:endParaRPr>
          </a:p>
        </p:txBody>
      </p:sp>
      <p:pic>
        <p:nvPicPr>
          <p:cNvPr id="7" name="Graphic 6" descr="Stacked Rocks outline">
            <a:extLst>
              <a:ext uri="{FF2B5EF4-FFF2-40B4-BE49-F238E27FC236}">
                <a16:creationId xmlns:a16="http://schemas.microsoft.com/office/drawing/2014/main" id="{8343699F-BD49-B290-2EA7-E4F88C20C97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802323" y="1322872"/>
            <a:ext cx="2614434" cy="2614434"/>
          </a:xfrm>
          <a:prstGeom prst="rect">
            <a:avLst/>
          </a:prstGeom>
        </p:spPr>
      </p:pic>
    </p:spTree>
    <p:extLst>
      <p:ext uri="{BB962C8B-B14F-4D97-AF65-F5344CB8AC3E}">
        <p14:creationId xmlns:p14="http://schemas.microsoft.com/office/powerpoint/2010/main" val="30948923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2D693E-BD73-48D7-5559-89B924F0D0FF}"/>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07E5272-D942-44F0-25F3-B2E5AEDE1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17" name="Freeform: Shape 16">
            <a:extLst>
              <a:ext uri="{FF2B5EF4-FFF2-40B4-BE49-F238E27FC236}">
                <a16:creationId xmlns:a16="http://schemas.microsoft.com/office/drawing/2014/main" id="{D2EACF26-9B9B-B57D-1E80-6E67DB7486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19" name="Rectangle 18">
            <a:extLst>
              <a:ext uri="{FF2B5EF4-FFF2-40B4-BE49-F238E27FC236}">
                <a16:creationId xmlns:a16="http://schemas.microsoft.com/office/drawing/2014/main" id="{A3F552DA-F11E-C62F-8C98-5052EEF38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1" name="Rectangle 20">
            <a:extLst>
              <a:ext uri="{FF2B5EF4-FFF2-40B4-BE49-F238E27FC236}">
                <a16:creationId xmlns:a16="http://schemas.microsoft.com/office/drawing/2014/main" id="{68380F64-8C63-0928-A39B-A170808C75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3" name="Freeform: Shape 22">
            <a:extLst>
              <a:ext uri="{FF2B5EF4-FFF2-40B4-BE49-F238E27FC236}">
                <a16:creationId xmlns:a16="http://schemas.microsoft.com/office/drawing/2014/main" id="{76989CDB-BE1E-E85A-B0CB-2565C6C7A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a:ea typeface="+mn-ea"/>
              <a:cs typeface="+mn-cs"/>
            </a:endParaRPr>
          </a:p>
        </p:txBody>
      </p:sp>
      <p:sp>
        <p:nvSpPr>
          <p:cNvPr id="25" name="Isosceles Triangle 24">
            <a:extLst>
              <a:ext uri="{FF2B5EF4-FFF2-40B4-BE49-F238E27FC236}">
                <a16:creationId xmlns:a16="http://schemas.microsoft.com/office/drawing/2014/main" id="{924CE5AC-027D-61A4-ECDA-C143CC26E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4" name="Freeform: Shape 3">
            <a:extLst>
              <a:ext uri="{FF2B5EF4-FFF2-40B4-BE49-F238E27FC236}">
                <a16:creationId xmlns:a16="http://schemas.microsoft.com/office/drawing/2014/main" id="{58482019-B9FC-988F-3F75-125AF8D53CF4}"/>
              </a:ext>
            </a:extLst>
          </p:cNvPr>
          <p:cNvSpPr/>
          <p:nvPr/>
        </p:nvSpPr>
        <p:spPr>
          <a:xfrm>
            <a:off x="1428277" y="288485"/>
            <a:ext cx="2074543" cy="1659634"/>
          </a:xfrm>
          <a:custGeom>
            <a:avLst/>
            <a:gdLst>
              <a:gd name="csX0" fmla="*/ 0 w 2074543"/>
              <a:gd name="csY0" fmla="*/ 0 h 1659634"/>
              <a:gd name="csX1" fmla="*/ 2074544 w 2074543"/>
              <a:gd name="csY1" fmla="*/ 0 h 1659634"/>
              <a:gd name="csX2" fmla="*/ 0 w 2074543"/>
              <a:gd name="csY2" fmla="*/ 1659635 h 1659634"/>
            </a:gdLst>
            <a:ahLst/>
            <a:cxnLst>
              <a:cxn ang="0">
                <a:pos x="csX0" y="csY0"/>
              </a:cxn>
              <a:cxn ang="0">
                <a:pos x="csX1" y="csY1"/>
              </a:cxn>
              <a:cxn ang="0">
                <a:pos x="csX2" y="csY2"/>
              </a:cxn>
            </a:cxnLst>
            <a:rect l="l" t="t" r="r" b="b"/>
            <a:pathLst>
              <a:path w="2074543" h="1659634">
                <a:moveTo>
                  <a:pt x="0" y="0"/>
                </a:moveTo>
                <a:lnTo>
                  <a:pt x="2074544" y="0"/>
                </a:lnTo>
                <a:lnTo>
                  <a:pt x="0" y="1659635"/>
                </a:lnTo>
                <a:close/>
              </a:path>
            </a:pathLst>
          </a:custGeom>
          <a:solidFill>
            <a:srgbClr val="FEF8DD">
              <a:alpha val="5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 name="Freeform: Shape 4">
            <a:extLst>
              <a:ext uri="{FF2B5EF4-FFF2-40B4-BE49-F238E27FC236}">
                <a16:creationId xmlns:a16="http://schemas.microsoft.com/office/drawing/2014/main" id="{6E6C568D-3505-0840-6C02-2C219EBC8659}"/>
              </a:ext>
            </a:extLst>
          </p:cNvPr>
          <p:cNvSpPr/>
          <p:nvPr/>
        </p:nvSpPr>
        <p:spPr>
          <a:xfrm>
            <a:off x="8689180" y="5059935"/>
            <a:ext cx="2074543" cy="1659634"/>
          </a:xfrm>
          <a:custGeom>
            <a:avLst/>
            <a:gdLst>
              <a:gd name="csX0" fmla="*/ 2074544 w 2074543"/>
              <a:gd name="csY0" fmla="*/ 0 h 1659634"/>
              <a:gd name="csX1" fmla="*/ 2074544 w 2074543"/>
              <a:gd name="csY1" fmla="*/ 1659635 h 1659634"/>
              <a:gd name="csX2" fmla="*/ 0 w 2074543"/>
              <a:gd name="csY2" fmla="*/ 1659635 h 1659634"/>
            </a:gdLst>
            <a:ahLst/>
            <a:cxnLst>
              <a:cxn ang="0">
                <a:pos x="csX0" y="csY0"/>
              </a:cxn>
              <a:cxn ang="0">
                <a:pos x="csX1" y="csY1"/>
              </a:cxn>
              <a:cxn ang="0">
                <a:pos x="csX2" y="csY2"/>
              </a:cxn>
            </a:cxnLst>
            <a:rect l="l" t="t" r="r" b="b"/>
            <a:pathLst>
              <a:path w="2074543" h="1659634">
                <a:moveTo>
                  <a:pt x="2074544" y="0"/>
                </a:moveTo>
                <a:lnTo>
                  <a:pt x="2074544" y="1659635"/>
                </a:lnTo>
                <a:lnTo>
                  <a:pt x="0" y="1659635"/>
                </a:lnTo>
                <a:close/>
              </a:path>
            </a:pathLst>
          </a:custGeom>
          <a:solidFill>
            <a:srgbClr val="EDEEF5">
              <a:alpha val="7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 name="Oval 6">
            <a:extLst>
              <a:ext uri="{FF2B5EF4-FFF2-40B4-BE49-F238E27FC236}">
                <a16:creationId xmlns:a16="http://schemas.microsoft.com/office/drawing/2014/main" id="{EE13560A-BA2E-7F77-870C-C39873B2E758}"/>
              </a:ext>
            </a:extLst>
          </p:cNvPr>
          <p:cNvSpPr/>
          <p:nvPr/>
        </p:nvSpPr>
        <p:spPr>
          <a:xfrm>
            <a:off x="2154367" y="1222029"/>
            <a:ext cx="7883266" cy="4563995"/>
          </a:xfrm>
          <a:prstGeom prst="ellipse">
            <a:avLst/>
          </a:prstGeom>
          <a:solidFill>
            <a:srgbClr val="F4F4F4">
              <a:alpha val="18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 name="TextBox 8">
            <a:extLst>
              <a:ext uri="{FF2B5EF4-FFF2-40B4-BE49-F238E27FC236}">
                <a16:creationId xmlns:a16="http://schemas.microsoft.com/office/drawing/2014/main" id="{CCE319E0-6E90-FEDE-76CA-CB98945F3D12}"/>
              </a:ext>
            </a:extLst>
          </p:cNvPr>
          <p:cNvSpPr txBox="1"/>
          <p:nvPr/>
        </p:nvSpPr>
        <p:spPr>
          <a:xfrm>
            <a:off x="2978416" y="693947"/>
            <a:ext cx="62351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solidFill>
                  <a:srgbClr val="E8E8E8">
                    <a:lumMod val="25000"/>
                  </a:srgbClr>
                </a:solidFill>
                <a:effectLst/>
                <a:uLnTx/>
                <a:uFillTx/>
                <a:latin typeface="Avenir"/>
                <a:ea typeface="+mn-ea"/>
                <a:cs typeface="Segoe UI"/>
                <a:sym typeface="Segoe UI"/>
                <a:rtl val="0"/>
              </a:rPr>
              <a:t>Supports both known-item lookup and open-ended exploration</a:t>
            </a:r>
          </a:p>
        </p:txBody>
      </p:sp>
      <p:sp>
        <p:nvSpPr>
          <p:cNvPr id="10" name="Rectangle 9">
            <a:extLst>
              <a:ext uri="{FF2B5EF4-FFF2-40B4-BE49-F238E27FC236}">
                <a16:creationId xmlns:a16="http://schemas.microsoft.com/office/drawing/2014/main" id="{63703D1A-471D-8918-030B-A9141E13DC4F}"/>
              </a:ext>
            </a:extLst>
          </p:cNvPr>
          <p:cNvSpPr/>
          <p:nvPr/>
        </p:nvSpPr>
        <p:spPr>
          <a:xfrm>
            <a:off x="1946912" y="1118302"/>
            <a:ext cx="8298175" cy="5310831"/>
          </a:xfrm>
          <a:prstGeom prst="rect">
            <a:avLst/>
          </a:prstGeom>
          <a:solidFill>
            <a:srgbClr val="F0F1F7"/>
          </a:solidFill>
          <a:ln w="15558"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 name="Rectangle 10">
            <a:extLst>
              <a:ext uri="{FF2B5EF4-FFF2-40B4-BE49-F238E27FC236}">
                <a16:creationId xmlns:a16="http://schemas.microsoft.com/office/drawing/2014/main" id="{16E0404A-05EB-6B18-F8D2-5C0E8F79F206}"/>
              </a:ext>
            </a:extLst>
          </p:cNvPr>
          <p:cNvSpPr/>
          <p:nvPr/>
        </p:nvSpPr>
        <p:spPr>
          <a:xfrm>
            <a:off x="1946912" y="1118302"/>
            <a:ext cx="8298175" cy="394163"/>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 name="Rectangle 11">
            <a:extLst>
              <a:ext uri="{FF2B5EF4-FFF2-40B4-BE49-F238E27FC236}">
                <a16:creationId xmlns:a16="http://schemas.microsoft.com/office/drawing/2014/main" id="{AEF1553C-583E-2834-1F5A-95A2C9D7931C}"/>
              </a:ext>
            </a:extLst>
          </p:cNvPr>
          <p:cNvSpPr/>
          <p:nvPr/>
        </p:nvSpPr>
        <p:spPr>
          <a:xfrm>
            <a:off x="1946912" y="1346502"/>
            <a:ext cx="8298175" cy="165963"/>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3" name="Oval 12">
            <a:extLst>
              <a:ext uri="{FF2B5EF4-FFF2-40B4-BE49-F238E27FC236}">
                <a16:creationId xmlns:a16="http://schemas.microsoft.com/office/drawing/2014/main" id="{4C06F6C2-AB76-02F4-7B4F-7131285E9A91}"/>
              </a:ext>
            </a:extLst>
          </p:cNvPr>
          <p:cNvSpPr/>
          <p:nvPr/>
        </p:nvSpPr>
        <p:spPr>
          <a:xfrm>
            <a:off x="2175112" y="1253147"/>
            <a:ext cx="124472" cy="124472"/>
          </a:xfrm>
          <a:prstGeom prst="ellipse">
            <a:avLst/>
          </a:prstGeom>
          <a:solidFill>
            <a:srgbClr val="C23592">
              <a:alpha val="9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4" name="Oval 13">
            <a:extLst>
              <a:ext uri="{FF2B5EF4-FFF2-40B4-BE49-F238E27FC236}">
                <a16:creationId xmlns:a16="http://schemas.microsoft.com/office/drawing/2014/main" id="{47AC9312-CEF5-D32D-7076-B4A7BA4BFE51}"/>
              </a:ext>
            </a:extLst>
          </p:cNvPr>
          <p:cNvSpPr/>
          <p:nvPr/>
        </p:nvSpPr>
        <p:spPr>
          <a:xfrm>
            <a:off x="2382567" y="1253147"/>
            <a:ext cx="124472" cy="124472"/>
          </a:xfrm>
          <a:prstGeom prst="ellipse">
            <a:avLst/>
          </a:prstGeom>
          <a:solidFill>
            <a:srgbClr val="FDE379"/>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6" name="Oval 15">
            <a:extLst>
              <a:ext uri="{FF2B5EF4-FFF2-40B4-BE49-F238E27FC236}">
                <a16:creationId xmlns:a16="http://schemas.microsoft.com/office/drawing/2014/main" id="{408877ED-AA45-E3C3-68AD-A33FCAB15981}"/>
              </a:ext>
            </a:extLst>
          </p:cNvPr>
          <p:cNvSpPr/>
          <p:nvPr/>
        </p:nvSpPr>
        <p:spPr>
          <a:xfrm>
            <a:off x="2590021" y="1253147"/>
            <a:ext cx="124472" cy="124472"/>
          </a:xfrm>
          <a:prstGeom prst="ellipse">
            <a:avLst/>
          </a:prstGeom>
          <a:solidFill>
            <a:srgbClr val="4E42DA">
              <a:alpha val="7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8" name="Rectangle 17">
            <a:extLst>
              <a:ext uri="{FF2B5EF4-FFF2-40B4-BE49-F238E27FC236}">
                <a16:creationId xmlns:a16="http://schemas.microsoft.com/office/drawing/2014/main" id="{5FDE1431-EBDC-CE84-8879-CA14484B6792}"/>
              </a:ext>
            </a:extLst>
          </p:cNvPr>
          <p:cNvSpPr/>
          <p:nvPr/>
        </p:nvSpPr>
        <p:spPr>
          <a:xfrm>
            <a:off x="2921948" y="1180538"/>
            <a:ext cx="5808722" cy="248945"/>
          </a:xfrm>
          <a:prstGeom prst="rect">
            <a:avLst/>
          </a:prstGeom>
          <a:solidFill>
            <a:srgbClr val="FFFFFF">
              <a:alpha val="2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 name="TextBox 19">
            <a:extLst>
              <a:ext uri="{FF2B5EF4-FFF2-40B4-BE49-F238E27FC236}">
                <a16:creationId xmlns:a16="http://schemas.microsoft.com/office/drawing/2014/main" id="{579D2C24-8863-2CDB-2B74-C2FAD0EA8DEC}"/>
              </a:ext>
            </a:extLst>
          </p:cNvPr>
          <p:cNvSpPr txBox="1"/>
          <p:nvPr/>
        </p:nvSpPr>
        <p:spPr>
          <a:xfrm>
            <a:off x="5191294" y="1144077"/>
            <a:ext cx="127003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librarysearch.edu</a:t>
            </a:r>
          </a:p>
        </p:txBody>
      </p:sp>
      <p:sp>
        <p:nvSpPr>
          <p:cNvPr id="22" name="Rectangle 21">
            <a:extLst>
              <a:ext uri="{FF2B5EF4-FFF2-40B4-BE49-F238E27FC236}">
                <a16:creationId xmlns:a16="http://schemas.microsoft.com/office/drawing/2014/main" id="{6DFD7CEC-C62C-7381-139C-0D11791FEC04}"/>
              </a:ext>
            </a:extLst>
          </p:cNvPr>
          <p:cNvSpPr/>
          <p:nvPr/>
        </p:nvSpPr>
        <p:spPr>
          <a:xfrm>
            <a:off x="1946912" y="1512465"/>
            <a:ext cx="8298175" cy="414908"/>
          </a:xfrm>
          <a:prstGeom prst="rect">
            <a:avLst/>
          </a:prstGeom>
          <a:solidFill>
            <a:srgbClr val="FFFFFF"/>
          </a:solidFill>
          <a:ln w="10372"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4" name="Rectangle 23">
            <a:extLst>
              <a:ext uri="{FF2B5EF4-FFF2-40B4-BE49-F238E27FC236}">
                <a16:creationId xmlns:a16="http://schemas.microsoft.com/office/drawing/2014/main" id="{EF784B93-1812-EF09-CD2C-2CF7061B6328}"/>
              </a:ext>
            </a:extLst>
          </p:cNvPr>
          <p:cNvSpPr/>
          <p:nvPr/>
        </p:nvSpPr>
        <p:spPr>
          <a:xfrm>
            <a:off x="2154367" y="1605820"/>
            <a:ext cx="207454" cy="207454"/>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 name="TextBox 25">
            <a:extLst>
              <a:ext uri="{FF2B5EF4-FFF2-40B4-BE49-F238E27FC236}">
                <a16:creationId xmlns:a16="http://schemas.microsoft.com/office/drawing/2014/main" id="{A6081646-CD8C-A24F-60DF-5165C9814F2D}"/>
              </a:ext>
            </a:extLst>
          </p:cNvPr>
          <p:cNvSpPr txBox="1"/>
          <p:nvPr/>
        </p:nvSpPr>
        <p:spPr>
          <a:xfrm>
            <a:off x="2353363" y="1558165"/>
            <a:ext cx="1185407"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LibrarySearch</a:t>
            </a:r>
          </a:p>
        </p:txBody>
      </p:sp>
      <p:sp>
        <p:nvSpPr>
          <p:cNvPr id="28" name="TextBox 27">
            <a:extLst>
              <a:ext uri="{FF2B5EF4-FFF2-40B4-BE49-F238E27FC236}">
                <a16:creationId xmlns:a16="http://schemas.microsoft.com/office/drawing/2014/main" id="{07F1C219-15FC-DB9D-A93E-FA5D6F04C4EB}"/>
              </a:ext>
            </a:extLst>
          </p:cNvPr>
          <p:cNvSpPr txBox="1"/>
          <p:nvPr/>
        </p:nvSpPr>
        <p:spPr>
          <a:xfrm>
            <a:off x="4116725" y="1569358"/>
            <a:ext cx="67554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Catalog</a:t>
            </a:r>
          </a:p>
        </p:txBody>
      </p:sp>
      <p:sp>
        <p:nvSpPr>
          <p:cNvPr id="29" name="TextBox 28">
            <a:extLst>
              <a:ext uri="{FF2B5EF4-FFF2-40B4-BE49-F238E27FC236}">
                <a16:creationId xmlns:a16="http://schemas.microsoft.com/office/drawing/2014/main" id="{6756552C-84E9-01D0-0852-7CABE588F25E}"/>
              </a:ext>
            </a:extLst>
          </p:cNvPr>
          <p:cNvSpPr txBox="1"/>
          <p:nvPr/>
        </p:nvSpPr>
        <p:spPr>
          <a:xfrm>
            <a:off x="4759834" y="1569358"/>
            <a:ext cx="84011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Databases</a:t>
            </a:r>
          </a:p>
        </p:txBody>
      </p:sp>
      <p:sp>
        <p:nvSpPr>
          <p:cNvPr id="30" name="TextBox 29">
            <a:extLst>
              <a:ext uri="{FF2B5EF4-FFF2-40B4-BE49-F238E27FC236}">
                <a16:creationId xmlns:a16="http://schemas.microsoft.com/office/drawing/2014/main" id="{57B7C8F7-1305-34DF-607C-7EC8951DE8DB}"/>
              </a:ext>
            </a:extLst>
          </p:cNvPr>
          <p:cNvSpPr txBox="1"/>
          <p:nvPr/>
        </p:nvSpPr>
        <p:spPr>
          <a:xfrm>
            <a:off x="5548160" y="1569358"/>
            <a:ext cx="705324"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Journals</a:t>
            </a:r>
          </a:p>
        </p:txBody>
      </p:sp>
      <p:sp>
        <p:nvSpPr>
          <p:cNvPr id="31" name="TextBox 30">
            <a:extLst>
              <a:ext uri="{FF2B5EF4-FFF2-40B4-BE49-F238E27FC236}">
                <a16:creationId xmlns:a16="http://schemas.microsoft.com/office/drawing/2014/main" id="{DD92A8DB-040B-5DA2-3DBF-0A6AD2F1D436}"/>
              </a:ext>
            </a:extLst>
          </p:cNvPr>
          <p:cNvSpPr txBox="1"/>
          <p:nvPr/>
        </p:nvSpPr>
        <p:spPr>
          <a:xfrm>
            <a:off x="6149778" y="1569358"/>
            <a:ext cx="64420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Browse</a:t>
            </a:r>
          </a:p>
        </p:txBody>
      </p:sp>
      <p:sp>
        <p:nvSpPr>
          <p:cNvPr id="32" name="TextBox 31">
            <a:extLst>
              <a:ext uri="{FF2B5EF4-FFF2-40B4-BE49-F238E27FC236}">
                <a16:creationId xmlns:a16="http://schemas.microsoft.com/office/drawing/2014/main" id="{8EF548B1-7574-3463-9406-BC7E486789B3}"/>
              </a:ext>
            </a:extLst>
          </p:cNvPr>
          <p:cNvSpPr txBox="1"/>
          <p:nvPr/>
        </p:nvSpPr>
        <p:spPr>
          <a:xfrm>
            <a:off x="6772141" y="1569358"/>
            <a:ext cx="94981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My Account</a:t>
            </a:r>
          </a:p>
        </p:txBody>
      </p:sp>
      <p:sp>
        <p:nvSpPr>
          <p:cNvPr id="33" name="Rectangle 32">
            <a:extLst>
              <a:ext uri="{FF2B5EF4-FFF2-40B4-BE49-F238E27FC236}">
                <a16:creationId xmlns:a16="http://schemas.microsoft.com/office/drawing/2014/main" id="{A1D18EA3-FB20-4167-D38F-C954191D0538}"/>
              </a:ext>
            </a:extLst>
          </p:cNvPr>
          <p:cNvSpPr/>
          <p:nvPr/>
        </p:nvSpPr>
        <p:spPr>
          <a:xfrm>
            <a:off x="7797126" y="1605820"/>
            <a:ext cx="2053798" cy="228199"/>
          </a:xfrm>
          <a:prstGeom prst="rect">
            <a:avLst/>
          </a:prstGeom>
          <a:solidFill>
            <a:srgbClr val="F0F1F7"/>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4" name="TextBox 33">
            <a:extLst>
              <a:ext uri="{FF2B5EF4-FFF2-40B4-BE49-F238E27FC236}">
                <a16:creationId xmlns:a16="http://schemas.microsoft.com/office/drawing/2014/main" id="{276113D7-2D4E-831D-509E-36220212B77E}"/>
              </a:ext>
            </a:extLst>
          </p:cNvPr>
          <p:cNvSpPr txBox="1"/>
          <p:nvPr/>
        </p:nvSpPr>
        <p:spPr>
          <a:xfrm>
            <a:off x="8466009" y="1558985"/>
            <a:ext cx="71603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Search…</a:t>
            </a:r>
          </a:p>
        </p:txBody>
      </p:sp>
      <p:sp>
        <p:nvSpPr>
          <p:cNvPr id="35" name="Rectangle 34">
            <a:extLst>
              <a:ext uri="{FF2B5EF4-FFF2-40B4-BE49-F238E27FC236}">
                <a16:creationId xmlns:a16="http://schemas.microsoft.com/office/drawing/2014/main" id="{817FAF6A-3CAD-4F6C-33FC-F9E83F47FC20}"/>
              </a:ext>
            </a:extLst>
          </p:cNvPr>
          <p:cNvSpPr/>
          <p:nvPr/>
        </p:nvSpPr>
        <p:spPr>
          <a:xfrm>
            <a:off x="1946912" y="1927374"/>
            <a:ext cx="8298175" cy="1140998"/>
          </a:xfrm>
          <a:prstGeom prst="rect">
            <a:avLst/>
          </a:prstGeom>
          <a:solidFill>
            <a:srgbClr val="FFFFFF"/>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6" name="Rectangle 35">
            <a:extLst>
              <a:ext uri="{FF2B5EF4-FFF2-40B4-BE49-F238E27FC236}">
                <a16:creationId xmlns:a16="http://schemas.microsoft.com/office/drawing/2014/main" id="{6FCFDBC7-A955-7B20-EF80-B0D301E471F6}"/>
              </a:ext>
            </a:extLst>
          </p:cNvPr>
          <p:cNvSpPr/>
          <p:nvPr/>
        </p:nvSpPr>
        <p:spPr>
          <a:xfrm>
            <a:off x="1946912" y="1927374"/>
            <a:ext cx="5165614" cy="1140998"/>
          </a:xfrm>
          <a:prstGeom prst="rect">
            <a:avLst/>
          </a:prstGeom>
          <a:solidFill>
            <a:srgbClr val="FFFFFF"/>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7" name="Rectangle 36">
            <a:extLst>
              <a:ext uri="{FF2B5EF4-FFF2-40B4-BE49-F238E27FC236}">
                <a16:creationId xmlns:a16="http://schemas.microsoft.com/office/drawing/2014/main" id="{3EEAC2F5-F03A-3DB4-8175-F813CC855642}"/>
              </a:ext>
            </a:extLst>
          </p:cNvPr>
          <p:cNvSpPr/>
          <p:nvPr/>
        </p:nvSpPr>
        <p:spPr>
          <a:xfrm>
            <a:off x="1946912" y="1927374"/>
            <a:ext cx="51863" cy="1140998"/>
          </a:xfrm>
          <a:prstGeom prst="rect">
            <a:avLst/>
          </a:prstGeom>
          <a:solidFill>
            <a:srgbClr val="444F9C">
              <a:alpha val="7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8" name="TextBox 37">
            <a:extLst>
              <a:ext uri="{FF2B5EF4-FFF2-40B4-BE49-F238E27FC236}">
                <a16:creationId xmlns:a16="http://schemas.microsoft.com/office/drawing/2014/main" id="{AC4B1385-A570-71B6-D3A6-B70DBCC851B6}"/>
              </a:ext>
            </a:extLst>
          </p:cNvPr>
          <p:cNvSpPr txBox="1"/>
          <p:nvPr/>
        </p:nvSpPr>
        <p:spPr>
          <a:xfrm>
            <a:off x="2083672" y="1961060"/>
            <a:ext cx="2169762" cy="3259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solidFill>
                  <a:srgbClr val="444F9C"/>
                </a:solidFill>
                <a:effectLst/>
                <a:uLnTx/>
                <a:uFillTx/>
                <a:latin typeface="Segoe UI"/>
                <a:ea typeface="+mn-ea"/>
                <a:cs typeface="Segoe UI"/>
                <a:sym typeface="Segoe UI"/>
                <a:rtl val="0"/>
              </a:rPr>
              <a:t>Find a Specific Resource</a:t>
            </a:r>
          </a:p>
        </p:txBody>
      </p:sp>
      <p:sp>
        <p:nvSpPr>
          <p:cNvPr id="39" name="TextBox 38">
            <a:extLst>
              <a:ext uri="{FF2B5EF4-FFF2-40B4-BE49-F238E27FC236}">
                <a16:creationId xmlns:a16="http://schemas.microsoft.com/office/drawing/2014/main" id="{F9133044-B952-7296-37D8-E32DB755F2DD}"/>
              </a:ext>
            </a:extLst>
          </p:cNvPr>
          <p:cNvSpPr txBox="1"/>
          <p:nvPr/>
        </p:nvSpPr>
        <p:spPr>
          <a:xfrm>
            <a:off x="2083672" y="2202094"/>
            <a:ext cx="388728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Enter a title, ISBN, author, or keyword for a precise lookup</a:t>
            </a:r>
          </a:p>
        </p:txBody>
      </p:sp>
      <p:sp>
        <p:nvSpPr>
          <p:cNvPr id="40" name="Rectangle 39">
            <a:extLst>
              <a:ext uri="{FF2B5EF4-FFF2-40B4-BE49-F238E27FC236}">
                <a16:creationId xmlns:a16="http://schemas.microsoft.com/office/drawing/2014/main" id="{4678848B-F033-37F2-0313-A06F3505E3FF}"/>
              </a:ext>
            </a:extLst>
          </p:cNvPr>
          <p:cNvSpPr/>
          <p:nvPr/>
        </p:nvSpPr>
        <p:spPr>
          <a:xfrm>
            <a:off x="2175112" y="2528992"/>
            <a:ext cx="3609706" cy="311181"/>
          </a:xfrm>
          <a:prstGeom prst="rect">
            <a:avLst/>
          </a:prstGeom>
          <a:solidFill>
            <a:srgbClr val="F0F1F7"/>
          </a:solidFill>
          <a:ln w="20743" cap="flat">
            <a:solidFill>
              <a:srgbClr val="444F9C"/>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1" name="TextBox 40">
            <a:extLst>
              <a:ext uri="{FF2B5EF4-FFF2-40B4-BE49-F238E27FC236}">
                <a16:creationId xmlns:a16="http://schemas.microsoft.com/office/drawing/2014/main" id="{67DD5370-1327-1BBF-E62A-50B965E9AAEC}"/>
              </a:ext>
            </a:extLst>
          </p:cNvPr>
          <p:cNvSpPr txBox="1"/>
          <p:nvPr/>
        </p:nvSpPr>
        <p:spPr>
          <a:xfrm>
            <a:off x="3262911" y="2523648"/>
            <a:ext cx="143410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Title, ISBN, author…</a:t>
            </a:r>
          </a:p>
        </p:txBody>
      </p:sp>
      <p:sp>
        <p:nvSpPr>
          <p:cNvPr id="42" name="Rectangle 41">
            <a:extLst>
              <a:ext uri="{FF2B5EF4-FFF2-40B4-BE49-F238E27FC236}">
                <a16:creationId xmlns:a16="http://schemas.microsoft.com/office/drawing/2014/main" id="{DF231E1D-2FF9-19E0-F0F0-5F51010142E0}"/>
              </a:ext>
            </a:extLst>
          </p:cNvPr>
          <p:cNvSpPr/>
          <p:nvPr/>
        </p:nvSpPr>
        <p:spPr>
          <a:xfrm>
            <a:off x="5867800" y="2528992"/>
            <a:ext cx="995781" cy="311181"/>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3" name="TextBox 42">
            <a:extLst>
              <a:ext uri="{FF2B5EF4-FFF2-40B4-BE49-F238E27FC236}">
                <a16:creationId xmlns:a16="http://schemas.microsoft.com/office/drawing/2014/main" id="{DB8DC7DD-2649-CBA6-7D75-8285E70A796A}"/>
              </a:ext>
            </a:extLst>
          </p:cNvPr>
          <p:cNvSpPr txBox="1"/>
          <p:nvPr/>
        </p:nvSpPr>
        <p:spPr>
          <a:xfrm>
            <a:off x="6048021" y="2523648"/>
            <a:ext cx="63533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solidFill>
                  <a:srgbClr val="FFFFFF"/>
                </a:solidFill>
                <a:effectLst/>
                <a:uLnTx/>
                <a:uFillTx/>
                <a:latin typeface="Segoe UI"/>
                <a:ea typeface="+mn-ea"/>
                <a:cs typeface="Segoe UI"/>
                <a:sym typeface="Segoe UI"/>
                <a:rtl val="0"/>
              </a:rPr>
              <a:t>Search</a:t>
            </a:r>
          </a:p>
        </p:txBody>
      </p:sp>
      <p:sp>
        <p:nvSpPr>
          <p:cNvPr id="44" name="Freeform: Shape 43">
            <a:extLst>
              <a:ext uri="{FF2B5EF4-FFF2-40B4-BE49-F238E27FC236}">
                <a16:creationId xmlns:a16="http://schemas.microsoft.com/office/drawing/2014/main" id="{0F97F3E1-840F-8E4E-A931-9855EA4B6DF5}"/>
              </a:ext>
            </a:extLst>
          </p:cNvPr>
          <p:cNvSpPr/>
          <p:nvPr/>
        </p:nvSpPr>
        <p:spPr>
          <a:xfrm>
            <a:off x="7112526" y="2031101"/>
            <a:ext cx="10372" cy="933544"/>
          </a:xfrm>
          <a:custGeom>
            <a:avLst/>
            <a:gdLst>
              <a:gd name="csX0" fmla="*/ 0 w 10372"/>
              <a:gd name="csY0" fmla="*/ 0 h 933544"/>
              <a:gd name="csX1" fmla="*/ 0 w 10372"/>
              <a:gd name="csY1" fmla="*/ 933545 h 933544"/>
            </a:gdLst>
            <a:ahLst/>
            <a:cxnLst>
              <a:cxn ang="0">
                <a:pos x="csX0" y="csY0"/>
              </a:cxn>
              <a:cxn ang="0">
                <a:pos x="csX1" y="csY1"/>
              </a:cxn>
            </a:cxnLst>
            <a:rect l="l" t="t" r="r" b="b"/>
            <a:pathLst>
              <a:path w="10372" h="933544">
                <a:moveTo>
                  <a:pt x="0" y="0"/>
                </a:moveTo>
                <a:lnTo>
                  <a:pt x="0" y="933545"/>
                </a:lnTo>
              </a:path>
            </a:pathLst>
          </a:custGeom>
          <a:ln w="16595" cap="flat">
            <a:solidFill>
              <a:srgbClr val="EDEEF5"/>
            </a:solidFill>
            <a:custDash>
              <a:ds d="375000" sp="30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5" name="Rectangle 44">
            <a:extLst>
              <a:ext uri="{FF2B5EF4-FFF2-40B4-BE49-F238E27FC236}">
                <a16:creationId xmlns:a16="http://schemas.microsoft.com/office/drawing/2014/main" id="{14AFF9CA-C4F5-452B-1F35-D90DC8B3402E}"/>
              </a:ext>
            </a:extLst>
          </p:cNvPr>
          <p:cNvSpPr/>
          <p:nvPr/>
        </p:nvSpPr>
        <p:spPr>
          <a:xfrm>
            <a:off x="6998427" y="2404519"/>
            <a:ext cx="228199" cy="186708"/>
          </a:xfrm>
          <a:prstGeom prst="rect">
            <a:avLst/>
          </a:prstGeom>
          <a:solidFill>
            <a:srgbClr val="FFFFFF"/>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6" name="TextBox 45">
            <a:extLst>
              <a:ext uri="{FF2B5EF4-FFF2-40B4-BE49-F238E27FC236}">
                <a16:creationId xmlns:a16="http://schemas.microsoft.com/office/drawing/2014/main" id="{E02365B0-BB32-AD84-8978-56CA31E989B5}"/>
              </a:ext>
            </a:extLst>
          </p:cNvPr>
          <p:cNvSpPr txBox="1"/>
          <p:nvPr/>
        </p:nvSpPr>
        <p:spPr>
          <a:xfrm>
            <a:off x="6953299" y="2326567"/>
            <a:ext cx="318454"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CECDED"/>
                </a:solidFill>
                <a:effectLst/>
                <a:uLnTx/>
                <a:uFillTx/>
                <a:latin typeface="Segoe UI"/>
                <a:ea typeface="+mn-ea"/>
                <a:cs typeface="Segoe UI"/>
                <a:sym typeface="Segoe UI"/>
                <a:rtl val="0"/>
              </a:rPr>
              <a:t>or</a:t>
            </a:r>
          </a:p>
        </p:txBody>
      </p:sp>
      <p:sp>
        <p:nvSpPr>
          <p:cNvPr id="47" name="Rectangle 46">
            <a:extLst>
              <a:ext uri="{FF2B5EF4-FFF2-40B4-BE49-F238E27FC236}">
                <a16:creationId xmlns:a16="http://schemas.microsoft.com/office/drawing/2014/main" id="{E16952C9-E9DA-4CFF-E84E-4311BFF01CC1}"/>
              </a:ext>
            </a:extLst>
          </p:cNvPr>
          <p:cNvSpPr/>
          <p:nvPr/>
        </p:nvSpPr>
        <p:spPr>
          <a:xfrm>
            <a:off x="7174763" y="1927374"/>
            <a:ext cx="3070324" cy="1140998"/>
          </a:xfrm>
          <a:prstGeom prst="rect">
            <a:avLst/>
          </a:prstGeom>
          <a:solidFill>
            <a:srgbClr val="FEF8DD">
              <a:alpha val="4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8" name="TextBox 47">
            <a:extLst>
              <a:ext uri="{FF2B5EF4-FFF2-40B4-BE49-F238E27FC236}">
                <a16:creationId xmlns:a16="http://schemas.microsoft.com/office/drawing/2014/main" id="{48D2C5D1-7D5F-1441-9703-8B70C8FCDA3B}"/>
              </a:ext>
            </a:extLst>
          </p:cNvPr>
          <p:cNvSpPr txBox="1"/>
          <p:nvPr/>
        </p:nvSpPr>
        <p:spPr>
          <a:xfrm>
            <a:off x="7290777" y="1961060"/>
            <a:ext cx="1762931" cy="3259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solidFill>
                  <a:srgbClr val="C23592"/>
                </a:solidFill>
                <a:effectLst/>
                <a:uLnTx/>
                <a:uFillTx/>
                <a:latin typeface="Segoe UI"/>
                <a:ea typeface="+mn-ea"/>
                <a:cs typeface="Segoe UI"/>
                <a:sym typeface="Segoe UI"/>
                <a:rtl val="0"/>
              </a:rPr>
              <a:t>Explore &amp; Discover</a:t>
            </a:r>
          </a:p>
        </p:txBody>
      </p:sp>
      <p:sp>
        <p:nvSpPr>
          <p:cNvPr id="49" name="TextBox 48">
            <a:extLst>
              <a:ext uri="{FF2B5EF4-FFF2-40B4-BE49-F238E27FC236}">
                <a16:creationId xmlns:a16="http://schemas.microsoft.com/office/drawing/2014/main" id="{B15A3529-ECF6-E429-C294-E312EB0C935B}"/>
              </a:ext>
            </a:extLst>
          </p:cNvPr>
          <p:cNvSpPr txBox="1"/>
          <p:nvPr/>
        </p:nvSpPr>
        <p:spPr>
          <a:xfrm>
            <a:off x="7290777" y="2202094"/>
            <a:ext cx="189061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Not sure? Browse by topic.</a:t>
            </a:r>
          </a:p>
        </p:txBody>
      </p:sp>
      <p:sp>
        <p:nvSpPr>
          <p:cNvPr id="50" name="Rectangle 49">
            <a:extLst>
              <a:ext uri="{FF2B5EF4-FFF2-40B4-BE49-F238E27FC236}">
                <a16:creationId xmlns:a16="http://schemas.microsoft.com/office/drawing/2014/main" id="{6E328745-132E-AB63-2268-6550D497EC99}"/>
              </a:ext>
            </a:extLst>
          </p:cNvPr>
          <p:cNvSpPr/>
          <p:nvPr/>
        </p:nvSpPr>
        <p:spPr>
          <a:xfrm>
            <a:off x="7382217" y="2508246"/>
            <a:ext cx="767581" cy="248945"/>
          </a:xfrm>
          <a:prstGeom prst="rect">
            <a:avLst/>
          </a:prstGeom>
          <a:solidFill>
            <a:srgbClr val="C23592">
              <a:alpha val="8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1" name="TextBox 50">
            <a:extLst>
              <a:ext uri="{FF2B5EF4-FFF2-40B4-BE49-F238E27FC236}">
                <a16:creationId xmlns:a16="http://schemas.microsoft.com/office/drawing/2014/main" id="{AEBAFB75-912C-6373-8CA8-C839367FA63E}"/>
              </a:ext>
            </a:extLst>
          </p:cNvPr>
          <p:cNvSpPr txBox="1"/>
          <p:nvPr/>
        </p:nvSpPr>
        <p:spPr>
          <a:xfrm>
            <a:off x="7453443" y="2471785"/>
            <a:ext cx="62512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Design</a:t>
            </a:r>
          </a:p>
        </p:txBody>
      </p:sp>
      <p:sp>
        <p:nvSpPr>
          <p:cNvPr id="52" name="Rectangle 51">
            <a:extLst>
              <a:ext uri="{FF2B5EF4-FFF2-40B4-BE49-F238E27FC236}">
                <a16:creationId xmlns:a16="http://schemas.microsoft.com/office/drawing/2014/main" id="{0FE5C764-3866-66A1-01F6-F2B62B5D080D}"/>
              </a:ext>
            </a:extLst>
          </p:cNvPr>
          <p:cNvSpPr/>
          <p:nvPr/>
        </p:nvSpPr>
        <p:spPr>
          <a:xfrm>
            <a:off x="8232780" y="2508246"/>
            <a:ext cx="1016526" cy="248945"/>
          </a:xfrm>
          <a:prstGeom prst="rect">
            <a:avLst/>
          </a:prstGeom>
          <a:solidFill>
            <a:srgbClr val="444F9C">
              <a:alpha val="7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3" name="TextBox 52">
            <a:extLst>
              <a:ext uri="{FF2B5EF4-FFF2-40B4-BE49-F238E27FC236}">
                <a16:creationId xmlns:a16="http://schemas.microsoft.com/office/drawing/2014/main" id="{C1DF0B82-B203-D31D-3255-7BBD914033F0}"/>
              </a:ext>
            </a:extLst>
          </p:cNvPr>
          <p:cNvSpPr txBox="1"/>
          <p:nvPr/>
        </p:nvSpPr>
        <p:spPr>
          <a:xfrm>
            <a:off x="8240043" y="2471785"/>
            <a:ext cx="100200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Data Science</a:t>
            </a:r>
          </a:p>
        </p:txBody>
      </p:sp>
      <p:sp>
        <p:nvSpPr>
          <p:cNvPr id="54" name="Rectangle 53">
            <a:extLst>
              <a:ext uri="{FF2B5EF4-FFF2-40B4-BE49-F238E27FC236}">
                <a16:creationId xmlns:a16="http://schemas.microsoft.com/office/drawing/2014/main" id="{BD6F6E27-EA11-9F7B-5796-E1D23694813B}"/>
              </a:ext>
            </a:extLst>
          </p:cNvPr>
          <p:cNvSpPr/>
          <p:nvPr/>
        </p:nvSpPr>
        <p:spPr>
          <a:xfrm>
            <a:off x="7382217" y="2798682"/>
            <a:ext cx="1037271" cy="248945"/>
          </a:xfrm>
          <a:prstGeom prst="rect">
            <a:avLst/>
          </a:prstGeom>
          <a:solidFill>
            <a:srgbClr val="4E42DA">
              <a:alpha val="70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5" name="TextBox 54">
            <a:extLst>
              <a:ext uri="{FF2B5EF4-FFF2-40B4-BE49-F238E27FC236}">
                <a16:creationId xmlns:a16="http://schemas.microsoft.com/office/drawing/2014/main" id="{C2DECF40-3A7B-9DDA-D62F-EC87C50FD599}"/>
              </a:ext>
            </a:extLst>
          </p:cNvPr>
          <p:cNvSpPr txBox="1"/>
          <p:nvPr/>
        </p:nvSpPr>
        <p:spPr>
          <a:xfrm>
            <a:off x="7365888" y="2762221"/>
            <a:ext cx="106992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All subjects →</a:t>
            </a:r>
          </a:p>
        </p:txBody>
      </p:sp>
      <p:sp>
        <p:nvSpPr>
          <p:cNvPr id="56" name="Rectangle 55">
            <a:extLst>
              <a:ext uri="{FF2B5EF4-FFF2-40B4-BE49-F238E27FC236}">
                <a16:creationId xmlns:a16="http://schemas.microsoft.com/office/drawing/2014/main" id="{55D6C7A6-8E43-02E0-2862-3B128C2DAA6A}"/>
              </a:ext>
            </a:extLst>
          </p:cNvPr>
          <p:cNvSpPr/>
          <p:nvPr/>
        </p:nvSpPr>
        <p:spPr>
          <a:xfrm>
            <a:off x="8502471" y="2798682"/>
            <a:ext cx="850562" cy="248945"/>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7" name="TextBox 56">
            <a:extLst>
              <a:ext uri="{FF2B5EF4-FFF2-40B4-BE49-F238E27FC236}">
                <a16:creationId xmlns:a16="http://schemas.microsoft.com/office/drawing/2014/main" id="{8648BAEF-3A2B-C3E8-22F9-85CADA31E8BF}"/>
              </a:ext>
            </a:extLst>
          </p:cNvPr>
          <p:cNvSpPr txBox="1"/>
          <p:nvPr/>
        </p:nvSpPr>
        <p:spPr>
          <a:xfrm>
            <a:off x="8498156" y="2762221"/>
            <a:ext cx="85919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New items</a:t>
            </a:r>
          </a:p>
        </p:txBody>
      </p:sp>
      <p:sp>
        <p:nvSpPr>
          <p:cNvPr id="58" name="TextBox 57">
            <a:extLst>
              <a:ext uri="{FF2B5EF4-FFF2-40B4-BE49-F238E27FC236}">
                <a16:creationId xmlns:a16="http://schemas.microsoft.com/office/drawing/2014/main" id="{EEAF3E81-CA57-46C1-7576-1962B1B1F427}"/>
              </a:ext>
            </a:extLst>
          </p:cNvPr>
          <p:cNvSpPr txBox="1"/>
          <p:nvPr/>
        </p:nvSpPr>
        <p:spPr>
          <a:xfrm>
            <a:off x="3631932" y="3011166"/>
            <a:ext cx="4928135"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C23592"/>
                </a:solidFill>
                <a:effectLst/>
                <a:uLnTx/>
                <a:uFillTx/>
                <a:latin typeface="Segoe UI"/>
                <a:ea typeface="+mn-ea"/>
                <a:cs typeface="Segoe UI"/>
                <a:sym typeface="Segoe UI"/>
                <a:rtl val="0"/>
              </a:rPr>
              <a:t>↑ Dual entry point: precision search (left) + topical exploration (right)</a:t>
            </a:r>
          </a:p>
        </p:txBody>
      </p:sp>
      <p:sp>
        <p:nvSpPr>
          <p:cNvPr id="59" name="Rectangle 58">
            <a:extLst>
              <a:ext uri="{FF2B5EF4-FFF2-40B4-BE49-F238E27FC236}">
                <a16:creationId xmlns:a16="http://schemas.microsoft.com/office/drawing/2014/main" id="{B8D43CF7-5BDB-B0C0-5DE3-B8D53F12075D}"/>
              </a:ext>
            </a:extLst>
          </p:cNvPr>
          <p:cNvSpPr/>
          <p:nvPr/>
        </p:nvSpPr>
        <p:spPr>
          <a:xfrm>
            <a:off x="1946912" y="3317318"/>
            <a:ext cx="5539031" cy="269690"/>
          </a:xfrm>
          <a:prstGeom prst="rect">
            <a:avLst/>
          </a:prstGeom>
          <a:solidFill>
            <a:srgbClr val="EDEEF5"/>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0" name="TextBox 59">
            <a:extLst>
              <a:ext uri="{FF2B5EF4-FFF2-40B4-BE49-F238E27FC236}">
                <a16:creationId xmlns:a16="http://schemas.microsoft.com/office/drawing/2014/main" id="{ACB51248-C2DA-7166-3858-9C51728DB922}"/>
              </a:ext>
            </a:extLst>
          </p:cNvPr>
          <p:cNvSpPr txBox="1"/>
          <p:nvPr/>
        </p:nvSpPr>
        <p:spPr>
          <a:xfrm>
            <a:off x="2062927" y="3291229"/>
            <a:ext cx="115856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Search Results</a:t>
            </a:r>
          </a:p>
        </p:txBody>
      </p:sp>
      <p:sp>
        <p:nvSpPr>
          <p:cNvPr id="61" name="TextBox 60">
            <a:extLst>
              <a:ext uri="{FF2B5EF4-FFF2-40B4-BE49-F238E27FC236}">
                <a16:creationId xmlns:a16="http://schemas.microsoft.com/office/drawing/2014/main" id="{C4F134F0-CECA-6D33-2A86-97E693A1BCB0}"/>
              </a:ext>
            </a:extLst>
          </p:cNvPr>
          <p:cNvSpPr txBox="1"/>
          <p:nvPr/>
        </p:nvSpPr>
        <p:spPr>
          <a:xfrm>
            <a:off x="5694645" y="3291229"/>
            <a:ext cx="173752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Sort: Relevance ▼ Filters</a:t>
            </a:r>
          </a:p>
        </p:txBody>
      </p:sp>
      <p:sp>
        <p:nvSpPr>
          <p:cNvPr id="62" name="Rectangle 61">
            <a:extLst>
              <a:ext uri="{FF2B5EF4-FFF2-40B4-BE49-F238E27FC236}">
                <a16:creationId xmlns:a16="http://schemas.microsoft.com/office/drawing/2014/main" id="{9875B7F9-A35F-F7A0-589B-01C41145C87E}"/>
              </a:ext>
            </a:extLst>
          </p:cNvPr>
          <p:cNvSpPr/>
          <p:nvPr/>
        </p:nvSpPr>
        <p:spPr>
          <a:xfrm>
            <a:off x="1946912" y="3587009"/>
            <a:ext cx="5539031" cy="726090"/>
          </a:xfrm>
          <a:prstGeom prst="rect">
            <a:avLst/>
          </a:prstGeom>
          <a:solidFill>
            <a:srgbClr val="FFFFFF"/>
          </a:solidFill>
          <a:ln w="18669" cap="flat">
            <a:solidFill>
              <a:srgbClr val="444F9C"/>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3" name="Rectangle 62">
            <a:extLst>
              <a:ext uri="{FF2B5EF4-FFF2-40B4-BE49-F238E27FC236}">
                <a16:creationId xmlns:a16="http://schemas.microsoft.com/office/drawing/2014/main" id="{6A650E12-1B5F-1FF0-916C-3E80F1515744}"/>
              </a:ext>
            </a:extLst>
          </p:cNvPr>
          <p:cNvSpPr/>
          <p:nvPr/>
        </p:nvSpPr>
        <p:spPr>
          <a:xfrm>
            <a:off x="1946912" y="3587009"/>
            <a:ext cx="62236" cy="726090"/>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4" name="Rectangle 63">
            <a:extLst>
              <a:ext uri="{FF2B5EF4-FFF2-40B4-BE49-F238E27FC236}">
                <a16:creationId xmlns:a16="http://schemas.microsoft.com/office/drawing/2014/main" id="{77DBBC18-2BC3-90C2-E765-B239C840E097}"/>
              </a:ext>
            </a:extLst>
          </p:cNvPr>
          <p:cNvSpPr/>
          <p:nvPr/>
        </p:nvSpPr>
        <p:spPr>
          <a:xfrm>
            <a:off x="2112876" y="3690736"/>
            <a:ext cx="456399" cy="539381"/>
          </a:xfrm>
          <a:prstGeom prst="rect">
            <a:avLst/>
          </a:prstGeom>
          <a:solidFill>
            <a:srgbClr val="EDEEF5"/>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5" name="TextBox 64">
            <a:extLst>
              <a:ext uri="{FF2B5EF4-FFF2-40B4-BE49-F238E27FC236}">
                <a16:creationId xmlns:a16="http://schemas.microsoft.com/office/drawing/2014/main" id="{9A785A6C-70CC-AA88-F42E-442CF28A7FAB}"/>
              </a:ext>
            </a:extLst>
          </p:cNvPr>
          <p:cNvSpPr txBox="1"/>
          <p:nvPr/>
        </p:nvSpPr>
        <p:spPr>
          <a:xfrm>
            <a:off x="2092971" y="3730692"/>
            <a:ext cx="496209" cy="39496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0" i="0" u="none" strike="noStrike" kern="1200" cap="none" spc="0" normalizeH="0" baseline="0" noProof="0">
                <a:ln/>
                <a:solidFill>
                  <a:srgbClr val="444F9C"/>
                </a:solidFill>
                <a:effectLst/>
                <a:uLnTx/>
                <a:uFillTx/>
                <a:latin typeface="Segoe UI Emoji"/>
                <a:ea typeface="Segoe UI Emoji"/>
                <a:cs typeface="+mn-cs"/>
                <a:sym typeface="Segoe UI Emoji"/>
                <a:rtl val="0"/>
              </a:rPr>
              <a:t>📘</a:t>
            </a:r>
          </a:p>
        </p:txBody>
      </p:sp>
      <p:sp>
        <p:nvSpPr>
          <p:cNvPr id="66" name="TextBox 65">
            <a:extLst>
              <a:ext uri="{FF2B5EF4-FFF2-40B4-BE49-F238E27FC236}">
                <a16:creationId xmlns:a16="http://schemas.microsoft.com/office/drawing/2014/main" id="{CEDA7E7D-F1D0-72BE-622E-A33C372FFB4C}"/>
              </a:ext>
            </a:extLst>
          </p:cNvPr>
          <p:cNvSpPr txBox="1"/>
          <p:nvPr/>
        </p:nvSpPr>
        <p:spPr>
          <a:xfrm>
            <a:off x="2602308" y="3601590"/>
            <a:ext cx="2788493"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Designing Information Architecture</a:t>
            </a:r>
          </a:p>
        </p:txBody>
      </p:sp>
      <p:sp>
        <p:nvSpPr>
          <p:cNvPr id="67" name="TextBox 66">
            <a:extLst>
              <a:ext uri="{FF2B5EF4-FFF2-40B4-BE49-F238E27FC236}">
                <a16:creationId xmlns:a16="http://schemas.microsoft.com/office/drawing/2014/main" id="{E54A4B2C-8C74-9515-309A-AA76302E78DD}"/>
              </a:ext>
            </a:extLst>
          </p:cNvPr>
          <p:cNvSpPr txBox="1"/>
          <p:nvPr/>
        </p:nvSpPr>
        <p:spPr>
          <a:xfrm>
            <a:off x="2602308" y="3799492"/>
            <a:ext cx="343085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Gabriel-Petit · O'Reilly, 2025 · ISBN 9781838827199</a:t>
            </a:r>
          </a:p>
        </p:txBody>
      </p:sp>
      <p:sp>
        <p:nvSpPr>
          <p:cNvPr id="68" name="TextBox 67">
            <a:extLst>
              <a:ext uri="{FF2B5EF4-FFF2-40B4-BE49-F238E27FC236}">
                <a16:creationId xmlns:a16="http://schemas.microsoft.com/office/drawing/2014/main" id="{1CCF2D8F-61A3-A83F-E2AE-ECCC6589BC57}"/>
              </a:ext>
            </a:extLst>
          </p:cNvPr>
          <p:cNvSpPr txBox="1"/>
          <p:nvPr/>
        </p:nvSpPr>
        <p:spPr>
          <a:xfrm>
            <a:off x="2602308" y="3986201"/>
            <a:ext cx="3329105"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Available: 3 print copies · Full text online · 2 holds</a:t>
            </a:r>
          </a:p>
        </p:txBody>
      </p:sp>
      <p:sp>
        <p:nvSpPr>
          <p:cNvPr id="69" name="Rectangle 68">
            <a:extLst>
              <a:ext uri="{FF2B5EF4-FFF2-40B4-BE49-F238E27FC236}">
                <a16:creationId xmlns:a16="http://schemas.microsoft.com/office/drawing/2014/main" id="{78BB6579-5BCF-DDA4-53B6-0CC50123342E}"/>
              </a:ext>
            </a:extLst>
          </p:cNvPr>
          <p:cNvSpPr/>
          <p:nvPr/>
        </p:nvSpPr>
        <p:spPr>
          <a:xfrm>
            <a:off x="5992905" y="3687576"/>
            <a:ext cx="1140999" cy="186708"/>
          </a:xfrm>
          <a:prstGeom prst="rect">
            <a:avLst/>
          </a:prstGeom>
          <a:solidFill>
            <a:srgbClr val="444F9C"/>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0" name="TextBox 69">
            <a:extLst>
              <a:ext uri="{FF2B5EF4-FFF2-40B4-BE49-F238E27FC236}">
                <a16:creationId xmlns:a16="http://schemas.microsoft.com/office/drawing/2014/main" id="{A5EE5248-8A52-E143-03C4-B00F116451B5}"/>
              </a:ext>
            </a:extLst>
          </p:cNvPr>
          <p:cNvSpPr txBox="1"/>
          <p:nvPr/>
        </p:nvSpPr>
        <p:spPr>
          <a:xfrm>
            <a:off x="6013464" y="3662132"/>
            <a:ext cx="110424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solidFill>
                  <a:srgbClr val="FFFFFF"/>
                </a:solidFill>
                <a:effectLst/>
                <a:uLnTx/>
                <a:uFillTx/>
                <a:latin typeface="Segoe UI Symbol"/>
                <a:ea typeface="Segoe UI Symbol"/>
                <a:cs typeface="+mn-cs"/>
                <a:sym typeface="Segoe UI Symbol"/>
                <a:rtl val="0"/>
              </a:rPr>
              <a:t>✓</a:t>
            </a:r>
            <a:r>
              <a:rPr kumimoji="0" lang="en-US" sz="1050" b="0" i="0" u="none" strike="noStrike" kern="1200" cap="none" spc="0" normalizeH="0" baseline="0" noProof="0" dirty="0">
                <a:ln/>
                <a:solidFill>
                  <a:srgbClr val="FFFFFF"/>
                </a:solidFill>
                <a:effectLst/>
                <a:uLnTx/>
                <a:uFillTx/>
                <a:latin typeface="Segoe UI"/>
                <a:ea typeface="Segoe UI Symbol"/>
                <a:cs typeface="Segoe UI"/>
                <a:sym typeface="Segoe UI"/>
                <a:rtl val="0"/>
              </a:rPr>
              <a:t> Exact Match</a:t>
            </a:r>
          </a:p>
        </p:txBody>
      </p:sp>
      <p:sp>
        <p:nvSpPr>
          <p:cNvPr id="71" name="Rectangle 70">
            <a:extLst>
              <a:ext uri="{FF2B5EF4-FFF2-40B4-BE49-F238E27FC236}">
                <a16:creationId xmlns:a16="http://schemas.microsoft.com/office/drawing/2014/main" id="{030C063A-D99E-4BE8-5E73-B49C8F9B47A7}"/>
              </a:ext>
            </a:extLst>
          </p:cNvPr>
          <p:cNvSpPr/>
          <p:nvPr/>
        </p:nvSpPr>
        <p:spPr>
          <a:xfrm>
            <a:off x="5998799" y="3960426"/>
            <a:ext cx="1452180" cy="207454"/>
          </a:xfrm>
          <a:prstGeom prst="rect">
            <a:avLst/>
          </a:prstGeom>
          <a:solidFill>
            <a:srgbClr val="4E42DA">
              <a:alpha val="8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2" name="TextBox 71">
            <a:extLst>
              <a:ext uri="{FF2B5EF4-FFF2-40B4-BE49-F238E27FC236}">
                <a16:creationId xmlns:a16="http://schemas.microsoft.com/office/drawing/2014/main" id="{0BBB353A-921F-744B-CC59-27AD651BFF7D}"/>
              </a:ext>
            </a:extLst>
          </p:cNvPr>
          <p:cNvSpPr txBox="1"/>
          <p:nvPr/>
        </p:nvSpPr>
        <p:spPr>
          <a:xfrm>
            <a:off x="5931413" y="3947225"/>
            <a:ext cx="157308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Request · View Online</a:t>
            </a:r>
          </a:p>
        </p:txBody>
      </p:sp>
      <p:sp>
        <p:nvSpPr>
          <p:cNvPr id="73" name="TextBox 72">
            <a:extLst>
              <a:ext uri="{FF2B5EF4-FFF2-40B4-BE49-F238E27FC236}">
                <a16:creationId xmlns:a16="http://schemas.microsoft.com/office/drawing/2014/main" id="{F7302ABD-0370-C7E6-8275-68917F780AD1}"/>
              </a:ext>
            </a:extLst>
          </p:cNvPr>
          <p:cNvSpPr txBox="1"/>
          <p:nvPr/>
        </p:nvSpPr>
        <p:spPr>
          <a:xfrm>
            <a:off x="2042181" y="4235147"/>
            <a:ext cx="409596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solidFill>
                  <a:srgbClr val="444F9C"/>
                </a:solidFill>
                <a:effectLst/>
                <a:uLnTx/>
                <a:uFillTx/>
                <a:latin typeface="Segoe UI"/>
                <a:ea typeface="+mn-ea"/>
                <a:cs typeface="Segoe UI"/>
                <a:sym typeface="Segoe UI"/>
                <a:rtl val="0"/>
              </a:rPr>
              <a:t>↑ Known item: exact match surfaced first with clear availability</a:t>
            </a:r>
          </a:p>
        </p:txBody>
      </p:sp>
      <p:sp>
        <p:nvSpPr>
          <p:cNvPr id="74" name="Rectangle 73">
            <a:extLst>
              <a:ext uri="{FF2B5EF4-FFF2-40B4-BE49-F238E27FC236}">
                <a16:creationId xmlns:a16="http://schemas.microsoft.com/office/drawing/2014/main" id="{E8B24F25-B4ED-C46A-511A-97DF2A3A699C}"/>
              </a:ext>
            </a:extLst>
          </p:cNvPr>
          <p:cNvSpPr/>
          <p:nvPr/>
        </p:nvSpPr>
        <p:spPr>
          <a:xfrm>
            <a:off x="1946912" y="4541299"/>
            <a:ext cx="5539031" cy="622363"/>
          </a:xfrm>
          <a:prstGeom prst="rect">
            <a:avLst/>
          </a:prstGeom>
          <a:solidFill>
            <a:srgbClr val="FFFFFF"/>
          </a:solidFill>
          <a:ln w="10372"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5" name="Rectangle 74">
            <a:extLst>
              <a:ext uri="{FF2B5EF4-FFF2-40B4-BE49-F238E27FC236}">
                <a16:creationId xmlns:a16="http://schemas.microsoft.com/office/drawing/2014/main" id="{0CFE1EAD-0688-6E2C-E4C8-5F3B42DF62DD}"/>
              </a:ext>
            </a:extLst>
          </p:cNvPr>
          <p:cNvSpPr/>
          <p:nvPr/>
        </p:nvSpPr>
        <p:spPr>
          <a:xfrm>
            <a:off x="2112876" y="4645026"/>
            <a:ext cx="456399" cy="435654"/>
          </a:xfrm>
          <a:prstGeom prst="rect">
            <a:avLst/>
          </a:prstGeom>
          <a:solidFill>
            <a:srgbClr val="F4F4F4"/>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6" name="TextBox 75">
            <a:extLst>
              <a:ext uri="{FF2B5EF4-FFF2-40B4-BE49-F238E27FC236}">
                <a16:creationId xmlns:a16="http://schemas.microsoft.com/office/drawing/2014/main" id="{D83E5FEE-22D3-1DAB-626F-616D93E3482F}"/>
              </a:ext>
            </a:extLst>
          </p:cNvPr>
          <p:cNvSpPr txBox="1"/>
          <p:nvPr/>
        </p:nvSpPr>
        <p:spPr>
          <a:xfrm>
            <a:off x="2107213" y="4655505"/>
            <a:ext cx="467724" cy="3673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solidFill>
                  <a:srgbClr val="3E5760"/>
                </a:solidFill>
                <a:effectLst/>
                <a:uLnTx/>
                <a:uFillTx/>
                <a:latin typeface="Segoe UI Emoji"/>
                <a:ea typeface="Segoe UI Emoji"/>
                <a:cs typeface="+mn-cs"/>
                <a:sym typeface="Segoe UI Emoji"/>
                <a:rtl val="0"/>
              </a:rPr>
              <a:t>📄</a:t>
            </a:r>
          </a:p>
        </p:txBody>
      </p:sp>
      <p:sp>
        <p:nvSpPr>
          <p:cNvPr id="77" name="TextBox 76">
            <a:extLst>
              <a:ext uri="{FF2B5EF4-FFF2-40B4-BE49-F238E27FC236}">
                <a16:creationId xmlns:a16="http://schemas.microsoft.com/office/drawing/2014/main" id="{19AC4D43-863C-9CC4-E7CA-794CBD7292E4}"/>
              </a:ext>
            </a:extLst>
          </p:cNvPr>
          <p:cNvSpPr txBox="1"/>
          <p:nvPr/>
        </p:nvSpPr>
        <p:spPr>
          <a:xfrm>
            <a:off x="2602308" y="4576626"/>
            <a:ext cx="2740403"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3A3A3A"/>
                </a:solidFill>
                <a:effectLst/>
                <a:uLnTx/>
                <a:uFillTx/>
                <a:latin typeface="Segoe UI"/>
                <a:ea typeface="+mn-ea"/>
                <a:cs typeface="Segoe UI"/>
                <a:sym typeface="Segoe UI"/>
                <a:rtl val="0"/>
              </a:rPr>
              <a:t>Pervasive Information Architecture</a:t>
            </a:r>
          </a:p>
        </p:txBody>
      </p:sp>
      <p:sp>
        <p:nvSpPr>
          <p:cNvPr id="78" name="TextBox 77">
            <a:extLst>
              <a:ext uri="{FF2B5EF4-FFF2-40B4-BE49-F238E27FC236}">
                <a16:creationId xmlns:a16="http://schemas.microsoft.com/office/drawing/2014/main" id="{8BCF06D8-D3B6-68AE-9038-E715DC634D71}"/>
              </a:ext>
            </a:extLst>
          </p:cNvPr>
          <p:cNvSpPr txBox="1"/>
          <p:nvPr/>
        </p:nvSpPr>
        <p:spPr>
          <a:xfrm>
            <a:off x="2602308" y="4774528"/>
            <a:ext cx="2831336"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Resmini, Rosati · Morgan Kaufmann, 2011</a:t>
            </a:r>
          </a:p>
        </p:txBody>
      </p:sp>
      <p:sp>
        <p:nvSpPr>
          <p:cNvPr id="79" name="TextBox 78">
            <a:extLst>
              <a:ext uri="{FF2B5EF4-FFF2-40B4-BE49-F238E27FC236}">
                <a16:creationId xmlns:a16="http://schemas.microsoft.com/office/drawing/2014/main" id="{813C15EB-0F63-3DCE-A277-4D8ABB0E2064}"/>
              </a:ext>
            </a:extLst>
          </p:cNvPr>
          <p:cNvSpPr txBox="1"/>
          <p:nvPr/>
        </p:nvSpPr>
        <p:spPr>
          <a:xfrm>
            <a:off x="2602308" y="4940491"/>
            <a:ext cx="2360016"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Available: 1 print · eBook available</a:t>
            </a:r>
          </a:p>
        </p:txBody>
      </p:sp>
      <p:sp>
        <p:nvSpPr>
          <p:cNvPr id="80" name="Rectangle 79">
            <a:extLst>
              <a:ext uri="{FF2B5EF4-FFF2-40B4-BE49-F238E27FC236}">
                <a16:creationId xmlns:a16="http://schemas.microsoft.com/office/drawing/2014/main" id="{59431E9B-E7FA-36DE-BB2E-9B8D13E3590B}"/>
              </a:ext>
            </a:extLst>
          </p:cNvPr>
          <p:cNvSpPr/>
          <p:nvPr/>
        </p:nvSpPr>
        <p:spPr>
          <a:xfrm>
            <a:off x="6096000" y="4624281"/>
            <a:ext cx="1244726" cy="207454"/>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1" name="TextBox 80">
            <a:extLst>
              <a:ext uri="{FF2B5EF4-FFF2-40B4-BE49-F238E27FC236}">
                <a16:creationId xmlns:a16="http://schemas.microsoft.com/office/drawing/2014/main" id="{806857B9-6E4E-D9FE-1FFE-8D4102CB6ECE}"/>
              </a:ext>
            </a:extLst>
          </p:cNvPr>
          <p:cNvSpPr txBox="1"/>
          <p:nvPr/>
        </p:nvSpPr>
        <p:spPr>
          <a:xfrm>
            <a:off x="6068209" y="4567074"/>
            <a:ext cx="130030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Request · Preview</a:t>
            </a:r>
          </a:p>
        </p:txBody>
      </p:sp>
      <p:sp>
        <p:nvSpPr>
          <p:cNvPr id="82" name="Rectangle 81">
            <a:extLst>
              <a:ext uri="{FF2B5EF4-FFF2-40B4-BE49-F238E27FC236}">
                <a16:creationId xmlns:a16="http://schemas.microsoft.com/office/drawing/2014/main" id="{34C443D9-01D4-B093-992E-0CC79274C6CB}"/>
              </a:ext>
            </a:extLst>
          </p:cNvPr>
          <p:cNvSpPr/>
          <p:nvPr/>
        </p:nvSpPr>
        <p:spPr>
          <a:xfrm>
            <a:off x="1946912" y="5163662"/>
            <a:ext cx="5539031" cy="622363"/>
          </a:xfrm>
          <a:prstGeom prst="rect">
            <a:avLst/>
          </a:prstGeom>
          <a:solidFill>
            <a:srgbClr val="F4F4F4"/>
          </a:solidFill>
          <a:ln w="10372"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3" name="Rectangle 82">
            <a:extLst>
              <a:ext uri="{FF2B5EF4-FFF2-40B4-BE49-F238E27FC236}">
                <a16:creationId xmlns:a16="http://schemas.microsoft.com/office/drawing/2014/main" id="{9AB3F797-FF31-C7E2-80AF-AE4FA208F270}"/>
              </a:ext>
            </a:extLst>
          </p:cNvPr>
          <p:cNvSpPr/>
          <p:nvPr/>
        </p:nvSpPr>
        <p:spPr>
          <a:xfrm>
            <a:off x="2112876" y="5267389"/>
            <a:ext cx="456399" cy="435654"/>
          </a:xfrm>
          <a:prstGeom prst="rect">
            <a:avLst/>
          </a:prstGeom>
          <a:solidFill>
            <a:srgbClr val="EDEEF5"/>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4" name="TextBox 83">
            <a:extLst>
              <a:ext uri="{FF2B5EF4-FFF2-40B4-BE49-F238E27FC236}">
                <a16:creationId xmlns:a16="http://schemas.microsoft.com/office/drawing/2014/main" id="{12D24935-7F7F-D6B6-3464-1B400FD95324}"/>
              </a:ext>
            </a:extLst>
          </p:cNvPr>
          <p:cNvSpPr txBox="1"/>
          <p:nvPr/>
        </p:nvSpPr>
        <p:spPr>
          <a:xfrm>
            <a:off x="2107213" y="5277868"/>
            <a:ext cx="467724" cy="36737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solidFill>
                  <a:srgbClr val="3E5760"/>
                </a:solidFill>
                <a:effectLst/>
                <a:uLnTx/>
                <a:uFillTx/>
                <a:latin typeface="Segoe UI Emoji"/>
                <a:ea typeface="Segoe UI Emoji"/>
                <a:cs typeface="+mn-cs"/>
                <a:sym typeface="Segoe UI Emoji"/>
                <a:rtl val="0"/>
              </a:rPr>
              <a:t>📄</a:t>
            </a:r>
          </a:p>
        </p:txBody>
      </p:sp>
      <p:sp>
        <p:nvSpPr>
          <p:cNvPr id="85" name="TextBox 84">
            <a:extLst>
              <a:ext uri="{FF2B5EF4-FFF2-40B4-BE49-F238E27FC236}">
                <a16:creationId xmlns:a16="http://schemas.microsoft.com/office/drawing/2014/main" id="{697BDFAA-2B38-54CF-3F01-C6F4300E7EB2}"/>
              </a:ext>
            </a:extLst>
          </p:cNvPr>
          <p:cNvSpPr txBox="1"/>
          <p:nvPr/>
        </p:nvSpPr>
        <p:spPr>
          <a:xfrm>
            <a:off x="2602308" y="5198989"/>
            <a:ext cx="2715712"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3A3A3A"/>
                </a:solidFill>
                <a:effectLst/>
                <a:uLnTx/>
                <a:uFillTx/>
                <a:latin typeface="Segoe UI"/>
                <a:ea typeface="+mn-ea"/>
                <a:cs typeface="Segoe UI"/>
                <a:sym typeface="Segoe UI"/>
                <a:rtl val="0"/>
              </a:rPr>
              <a:t>Everyday Information Architecture</a:t>
            </a:r>
          </a:p>
        </p:txBody>
      </p:sp>
      <p:sp>
        <p:nvSpPr>
          <p:cNvPr id="86" name="TextBox 85">
            <a:extLst>
              <a:ext uri="{FF2B5EF4-FFF2-40B4-BE49-F238E27FC236}">
                <a16:creationId xmlns:a16="http://schemas.microsoft.com/office/drawing/2014/main" id="{9B30C24D-DD3C-6728-F5BB-453F45D1ACAA}"/>
              </a:ext>
            </a:extLst>
          </p:cNvPr>
          <p:cNvSpPr txBox="1"/>
          <p:nvPr/>
        </p:nvSpPr>
        <p:spPr>
          <a:xfrm>
            <a:off x="2602308" y="5396891"/>
            <a:ext cx="194003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Carver · A Book Apart, 2019</a:t>
            </a:r>
          </a:p>
        </p:txBody>
      </p:sp>
      <p:sp>
        <p:nvSpPr>
          <p:cNvPr id="87" name="TextBox 86">
            <a:extLst>
              <a:ext uri="{FF2B5EF4-FFF2-40B4-BE49-F238E27FC236}">
                <a16:creationId xmlns:a16="http://schemas.microsoft.com/office/drawing/2014/main" id="{C075C228-72EE-CB4F-6578-919B59D8D56C}"/>
              </a:ext>
            </a:extLst>
          </p:cNvPr>
          <p:cNvSpPr txBox="1"/>
          <p:nvPr/>
        </p:nvSpPr>
        <p:spPr>
          <a:xfrm>
            <a:off x="2602308" y="5562854"/>
            <a:ext cx="1543164"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Available: eBook only</a:t>
            </a:r>
          </a:p>
        </p:txBody>
      </p:sp>
      <p:sp>
        <p:nvSpPr>
          <p:cNvPr id="88" name="Rectangle 87">
            <a:extLst>
              <a:ext uri="{FF2B5EF4-FFF2-40B4-BE49-F238E27FC236}">
                <a16:creationId xmlns:a16="http://schemas.microsoft.com/office/drawing/2014/main" id="{A13DBEB5-9A0E-368A-43AC-C7FB94A60297}"/>
              </a:ext>
            </a:extLst>
          </p:cNvPr>
          <p:cNvSpPr/>
          <p:nvPr/>
        </p:nvSpPr>
        <p:spPr>
          <a:xfrm>
            <a:off x="6096000" y="5246644"/>
            <a:ext cx="1244726" cy="207454"/>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9" name="TextBox 88">
            <a:extLst>
              <a:ext uri="{FF2B5EF4-FFF2-40B4-BE49-F238E27FC236}">
                <a16:creationId xmlns:a16="http://schemas.microsoft.com/office/drawing/2014/main" id="{16E4D665-A025-5FF0-0262-CD286FC63D2D}"/>
              </a:ext>
            </a:extLst>
          </p:cNvPr>
          <p:cNvSpPr txBox="1"/>
          <p:nvPr/>
        </p:nvSpPr>
        <p:spPr>
          <a:xfrm>
            <a:off x="6068209" y="5189437"/>
            <a:ext cx="130030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Request · Preview</a:t>
            </a:r>
          </a:p>
        </p:txBody>
      </p:sp>
      <p:sp>
        <p:nvSpPr>
          <p:cNvPr id="90" name="TextBox 89">
            <a:extLst>
              <a:ext uri="{FF2B5EF4-FFF2-40B4-BE49-F238E27FC236}">
                <a16:creationId xmlns:a16="http://schemas.microsoft.com/office/drawing/2014/main" id="{BD6152EF-F30C-AE38-1278-380C43652CD8}"/>
              </a:ext>
            </a:extLst>
          </p:cNvPr>
          <p:cNvSpPr txBox="1"/>
          <p:nvPr/>
        </p:nvSpPr>
        <p:spPr>
          <a:xfrm>
            <a:off x="3824228" y="5770309"/>
            <a:ext cx="1162038"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Cambria Math"/>
                <a:ea typeface="Cambria Math"/>
                <a:cs typeface="+mn-cs"/>
                <a:sym typeface="Cambria Math"/>
                <a:rtl val="0"/>
              </a:rPr>
              <a:t>◀</a:t>
            </a:r>
            <a:r>
              <a:rPr kumimoji="0" lang="en-US" sz="1050" b="0" i="0" u="none" strike="noStrike" kern="1200" cap="none" spc="0" normalizeH="0" baseline="0" noProof="0">
                <a:ln/>
                <a:solidFill>
                  <a:srgbClr val="3E5760"/>
                </a:solidFill>
                <a:effectLst/>
                <a:uLnTx/>
                <a:uFillTx/>
                <a:latin typeface="Segoe UI"/>
                <a:ea typeface="Cambria Math"/>
                <a:cs typeface="Segoe UI"/>
                <a:sym typeface="Segoe UI"/>
                <a:rtl val="0"/>
              </a:rPr>
              <a:t> 1 2 3 … 47 </a:t>
            </a:r>
            <a:r>
              <a:rPr kumimoji="0" lang="en-US" sz="1050" b="0" i="0" u="none" strike="noStrike" kern="1200" cap="none" spc="0" normalizeH="0" baseline="0" noProof="0">
                <a:ln/>
                <a:solidFill>
                  <a:srgbClr val="3E5760"/>
                </a:solidFill>
                <a:effectLst/>
                <a:uLnTx/>
                <a:uFillTx/>
                <a:latin typeface="Cambria Math"/>
                <a:ea typeface="Cambria Math"/>
                <a:cs typeface="Segoe UI"/>
                <a:sym typeface="Cambria Math"/>
                <a:rtl val="0"/>
              </a:rPr>
              <a:t>▶</a:t>
            </a:r>
          </a:p>
        </p:txBody>
      </p:sp>
      <p:sp>
        <p:nvSpPr>
          <p:cNvPr id="91" name="Rectangle 90">
            <a:extLst>
              <a:ext uri="{FF2B5EF4-FFF2-40B4-BE49-F238E27FC236}">
                <a16:creationId xmlns:a16="http://schemas.microsoft.com/office/drawing/2014/main" id="{1C9984A7-C0E9-E96A-DD42-9F13A2E71E83}"/>
              </a:ext>
            </a:extLst>
          </p:cNvPr>
          <p:cNvSpPr/>
          <p:nvPr/>
        </p:nvSpPr>
        <p:spPr>
          <a:xfrm>
            <a:off x="7610417" y="3317318"/>
            <a:ext cx="2634670" cy="3091069"/>
          </a:xfrm>
          <a:prstGeom prst="rect">
            <a:avLst/>
          </a:prstGeom>
          <a:solidFill>
            <a:srgbClr val="FEF8DD">
              <a:alpha val="45000"/>
            </a:srgbClr>
          </a:solidFill>
          <a:ln w="14520" cap="flat">
            <a:solidFill>
              <a:srgbClr val="FDE379">
                <a:alpha val="45000"/>
              </a:srgb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2" name="Rectangle 91">
            <a:extLst>
              <a:ext uri="{FF2B5EF4-FFF2-40B4-BE49-F238E27FC236}">
                <a16:creationId xmlns:a16="http://schemas.microsoft.com/office/drawing/2014/main" id="{EADB98A2-59E8-87DE-E8AD-6863668D20F2}"/>
              </a:ext>
            </a:extLst>
          </p:cNvPr>
          <p:cNvSpPr/>
          <p:nvPr/>
        </p:nvSpPr>
        <p:spPr>
          <a:xfrm>
            <a:off x="7610417" y="3317318"/>
            <a:ext cx="2634670" cy="269690"/>
          </a:xfrm>
          <a:prstGeom prst="rect">
            <a:avLst/>
          </a:prstGeom>
          <a:solidFill>
            <a:srgbClr val="FDE379">
              <a:alpha val="85000"/>
            </a:srgbClr>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3" name="TextBox 92">
            <a:extLst>
              <a:ext uri="{FF2B5EF4-FFF2-40B4-BE49-F238E27FC236}">
                <a16:creationId xmlns:a16="http://schemas.microsoft.com/office/drawing/2014/main" id="{DEB09C8E-A961-86CD-FA7B-7D6DA95472B2}"/>
              </a:ext>
            </a:extLst>
          </p:cNvPr>
          <p:cNvSpPr txBox="1"/>
          <p:nvPr/>
        </p:nvSpPr>
        <p:spPr>
          <a:xfrm>
            <a:off x="8175814" y="3280036"/>
            <a:ext cx="1503877"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3A3A3A"/>
                </a:solidFill>
                <a:effectLst/>
                <a:uLnTx/>
                <a:uFillTx/>
                <a:latin typeface="Segoe UI Symbol"/>
                <a:ea typeface="Segoe UI Symbol"/>
                <a:cs typeface="+mn-cs"/>
                <a:sym typeface="Segoe UI Symbol"/>
                <a:rtl val="0"/>
              </a:rPr>
              <a:t>✦</a:t>
            </a:r>
            <a:r>
              <a:rPr kumimoji="0" lang="en-US" sz="1125" b="1" i="0" u="none" strike="noStrike" kern="1200" cap="none" spc="0" normalizeH="0" baseline="0" noProof="0">
                <a:ln/>
                <a:solidFill>
                  <a:srgbClr val="3A3A3A"/>
                </a:solidFill>
                <a:effectLst/>
                <a:uLnTx/>
                <a:uFillTx/>
                <a:latin typeface="Segoe UI"/>
                <a:ea typeface="Segoe UI Symbol"/>
                <a:cs typeface="Segoe UI"/>
                <a:sym typeface="Segoe UI"/>
                <a:rtl val="0"/>
              </a:rPr>
              <a:t> Explore Related</a:t>
            </a:r>
          </a:p>
        </p:txBody>
      </p:sp>
      <p:sp>
        <p:nvSpPr>
          <p:cNvPr id="94" name="TextBox 93">
            <a:extLst>
              <a:ext uri="{FF2B5EF4-FFF2-40B4-BE49-F238E27FC236}">
                <a16:creationId xmlns:a16="http://schemas.microsoft.com/office/drawing/2014/main" id="{04181656-1FCF-94B8-6ABC-74C61017FD2C}"/>
              </a:ext>
            </a:extLst>
          </p:cNvPr>
          <p:cNvSpPr txBox="1"/>
          <p:nvPr/>
        </p:nvSpPr>
        <p:spPr>
          <a:xfrm>
            <a:off x="7705686" y="3592038"/>
            <a:ext cx="1305767"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Related Subjects</a:t>
            </a:r>
          </a:p>
        </p:txBody>
      </p:sp>
      <p:sp>
        <p:nvSpPr>
          <p:cNvPr id="95" name="Rectangle 94">
            <a:extLst>
              <a:ext uri="{FF2B5EF4-FFF2-40B4-BE49-F238E27FC236}">
                <a16:creationId xmlns:a16="http://schemas.microsoft.com/office/drawing/2014/main" id="{277204C4-C009-6A47-11B3-6E538F94A5E5}"/>
              </a:ext>
            </a:extLst>
          </p:cNvPr>
          <p:cNvSpPr/>
          <p:nvPr/>
        </p:nvSpPr>
        <p:spPr>
          <a:xfrm>
            <a:off x="7797126" y="3877445"/>
            <a:ext cx="829817" cy="228199"/>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6" name="TextBox 95">
            <a:extLst>
              <a:ext uri="{FF2B5EF4-FFF2-40B4-BE49-F238E27FC236}">
                <a16:creationId xmlns:a16="http://schemas.microsoft.com/office/drawing/2014/main" id="{0F1085A2-B58C-4181-9563-861A6AE40089}"/>
              </a:ext>
            </a:extLst>
          </p:cNvPr>
          <p:cNvSpPr txBox="1"/>
          <p:nvPr/>
        </p:nvSpPr>
        <p:spPr>
          <a:xfrm>
            <a:off x="7786870" y="3830611"/>
            <a:ext cx="85033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solidFill>
                  <a:srgbClr val="3A3A3A"/>
                </a:solidFill>
                <a:effectLst/>
                <a:uLnTx/>
                <a:uFillTx/>
                <a:latin typeface="Segoe UI"/>
                <a:ea typeface="+mn-ea"/>
                <a:cs typeface="Segoe UI"/>
                <a:sym typeface="Segoe UI"/>
                <a:rtl val="0"/>
              </a:rPr>
              <a:t>UX Design</a:t>
            </a:r>
          </a:p>
        </p:txBody>
      </p:sp>
      <p:sp>
        <p:nvSpPr>
          <p:cNvPr id="97" name="Rectangle 96">
            <a:extLst>
              <a:ext uri="{FF2B5EF4-FFF2-40B4-BE49-F238E27FC236}">
                <a16:creationId xmlns:a16="http://schemas.microsoft.com/office/drawing/2014/main" id="{D3B8F23F-4ACC-F4DB-BC3D-D7A73CC7BBD8}"/>
              </a:ext>
            </a:extLst>
          </p:cNvPr>
          <p:cNvSpPr/>
          <p:nvPr/>
        </p:nvSpPr>
        <p:spPr>
          <a:xfrm>
            <a:off x="8709925" y="3877445"/>
            <a:ext cx="912799" cy="228199"/>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8" name="TextBox 97">
            <a:extLst>
              <a:ext uri="{FF2B5EF4-FFF2-40B4-BE49-F238E27FC236}">
                <a16:creationId xmlns:a16="http://schemas.microsoft.com/office/drawing/2014/main" id="{47B3BADF-CCA9-A8E5-23FA-7B6A165AAF7F}"/>
              </a:ext>
            </a:extLst>
          </p:cNvPr>
          <p:cNvSpPr txBox="1"/>
          <p:nvPr/>
        </p:nvSpPr>
        <p:spPr>
          <a:xfrm>
            <a:off x="8712230" y="3830611"/>
            <a:ext cx="90819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Wayfinding</a:t>
            </a:r>
          </a:p>
        </p:txBody>
      </p:sp>
      <p:sp>
        <p:nvSpPr>
          <p:cNvPr id="99" name="Rectangle 98">
            <a:extLst>
              <a:ext uri="{FF2B5EF4-FFF2-40B4-BE49-F238E27FC236}">
                <a16:creationId xmlns:a16="http://schemas.microsoft.com/office/drawing/2014/main" id="{202BE893-E899-1F9F-9DFF-1EAD94586C02}"/>
              </a:ext>
            </a:extLst>
          </p:cNvPr>
          <p:cNvSpPr/>
          <p:nvPr/>
        </p:nvSpPr>
        <p:spPr>
          <a:xfrm>
            <a:off x="7797126" y="4167881"/>
            <a:ext cx="1265471" cy="228199"/>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0" name="TextBox 99">
            <a:extLst>
              <a:ext uri="{FF2B5EF4-FFF2-40B4-BE49-F238E27FC236}">
                <a16:creationId xmlns:a16="http://schemas.microsoft.com/office/drawing/2014/main" id="{3CC9A3A1-B717-2B37-1FB5-41B3D85EB308}"/>
              </a:ext>
            </a:extLst>
          </p:cNvPr>
          <p:cNvSpPr txBox="1"/>
          <p:nvPr/>
        </p:nvSpPr>
        <p:spPr>
          <a:xfrm>
            <a:off x="7798179" y="4121047"/>
            <a:ext cx="1263364"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Content Strategy</a:t>
            </a:r>
          </a:p>
        </p:txBody>
      </p:sp>
      <p:sp>
        <p:nvSpPr>
          <p:cNvPr id="101" name="Rectangle 100">
            <a:extLst>
              <a:ext uri="{FF2B5EF4-FFF2-40B4-BE49-F238E27FC236}">
                <a16:creationId xmlns:a16="http://schemas.microsoft.com/office/drawing/2014/main" id="{80D48FD6-66B2-27A5-53EA-E1FF07FFBD0B}"/>
              </a:ext>
            </a:extLst>
          </p:cNvPr>
          <p:cNvSpPr/>
          <p:nvPr/>
        </p:nvSpPr>
        <p:spPr>
          <a:xfrm>
            <a:off x="9145579" y="4167881"/>
            <a:ext cx="912799" cy="228199"/>
          </a:xfrm>
          <a:prstGeom prst="rect">
            <a:avLst/>
          </a:prstGeom>
          <a:solidFill>
            <a:srgbClr val="EDEEF5"/>
          </a:solidFill>
          <a:ln w="10372"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2" name="TextBox 101">
            <a:extLst>
              <a:ext uri="{FF2B5EF4-FFF2-40B4-BE49-F238E27FC236}">
                <a16:creationId xmlns:a16="http://schemas.microsoft.com/office/drawing/2014/main" id="{715964C3-195E-EB51-08E2-A6E6A4C27D47}"/>
              </a:ext>
            </a:extLst>
          </p:cNvPr>
          <p:cNvSpPr txBox="1"/>
          <p:nvPr/>
        </p:nvSpPr>
        <p:spPr>
          <a:xfrm>
            <a:off x="9158307" y="4121047"/>
            <a:ext cx="88734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Ontologies</a:t>
            </a:r>
          </a:p>
        </p:txBody>
      </p:sp>
      <p:sp>
        <p:nvSpPr>
          <p:cNvPr id="103" name="TextBox 102">
            <a:extLst>
              <a:ext uri="{FF2B5EF4-FFF2-40B4-BE49-F238E27FC236}">
                <a16:creationId xmlns:a16="http://schemas.microsoft.com/office/drawing/2014/main" id="{E4995FF8-AF33-8B68-DE2F-F1EF231D14E4}"/>
              </a:ext>
            </a:extLst>
          </p:cNvPr>
          <p:cNvSpPr txBox="1"/>
          <p:nvPr/>
        </p:nvSpPr>
        <p:spPr>
          <a:xfrm>
            <a:off x="7705686" y="4421855"/>
            <a:ext cx="1309312"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New This Month</a:t>
            </a:r>
          </a:p>
        </p:txBody>
      </p:sp>
      <p:sp>
        <p:nvSpPr>
          <p:cNvPr id="104" name="Rectangle 103">
            <a:extLst>
              <a:ext uri="{FF2B5EF4-FFF2-40B4-BE49-F238E27FC236}">
                <a16:creationId xmlns:a16="http://schemas.microsoft.com/office/drawing/2014/main" id="{07C47572-FE70-C9C8-ACC2-42D1292E8CF6}"/>
              </a:ext>
            </a:extLst>
          </p:cNvPr>
          <p:cNvSpPr/>
          <p:nvPr/>
        </p:nvSpPr>
        <p:spPr>
          <a:xfrm>
            <a:off x="7797126" y="4707262"/>
            <a:ext cx="2261252" cy="497890"/>
          </a:xfrm>
          <a:prstGeom prst="rect">
            <a:avLst/>
          </a:prstGeom>
          <a:solidFill>
            <a:srgbClr val="FFFFFF"/>
          </a:solidFill>
          <a:ln w="10372"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5" name="TextBox 104">
            <a:extLst>
              <a:ext uri="{FF2B5EF4-FFF2-40B4-BE49-F238E27FC236}">
                <a16:creationId xmlns:a16="http://schemas.microsoft.com/office/drawing/2014/main" id="{C4AFC2FF-B111-99E8-FA00-9E6C5E8E13E4}"/>
              </a:ext>
            </a:extLst>
          </p:cNvPr>
          <p:cNvSpPr txBox="1"/>
          <p:nvPr/>
        </p:nvSpPr>
        <p:spPr>
          <a:xfrm>
            <a:off x="7830159" y="4680353"/>
            <a:ext cx="1730658" cy="2983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3A3A3A"/>
                </a:solidFill>
                <a:effectLst/>
                <a:uLnTx/>
                <a:uFillTx/>
                <a:latin typeface="Segoe UI"/>
                <a:ea typeface="+mn-ea"/>
                <a:cs typeface="Segoe UI"/>
                <a:sym typeface="Segoe UI"/>
                <a:rtl val="0"/>
              </a:rPr>
              <a:t>Living in Information</a:t>
            </a:r>
          </a:p>
        </p:txBody>
      </p:sp>
      <p:sp>
        <p:nvSpPr>
          <p:cNvPr id="106" name="TextBox 105">
            <a:extLst>
              <a:ext uri="{FF2B5EF4-FFF2-40B4-BE49-F238E27FC236}">
                <a16:creationId xmlns:a16="http://schemas.microsoft.com/office/drawing/2014/main" id="{9139982E-E3D4-A309-6DA5-38ED05EDB446}"/>
              </a:ext>
            </a:extLst>
          </p:cNvPr>
          <p:cNvSpPr txBox="1"/>
          <p:nvPr/>
        </p:nvSpPr>
        <p:spPr>
          <a:xfrm>
            <a:off x="7830159" y="4878255"/>
            <a:ext cx="1617404"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Resmini · 2024 · eBook</a:t>
            </a:r>
          </a:p>
        </p:txBody>
      </p:sp>
      <p:sp>
        <p:nvSpPr>
          <p:cNvPr id="107" name="TextBox 106">
            <a:extLst>
              <a:ext uri="{FF2B5EF4-FFF2-40B4-BE49-F238E27FC236}">
                <a16:creationId xmlns:a16="http://schemas.microsoft.com/office/drawing/2014/main" id="{C986290D-EAA6-4064-11F1-80229EC5919E}"/>
              </a:ext>
            </a:extLst>
          </p:cNvPr>
          <p:cNvSpPr txBox="1"/>
          <p:nvPr/>
        </p:nvSpPr>
        <p:spPr>
          <a:xfrm>
            <a:off x="9439743" y="4691546"/>
            <a:ext cx="637466"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C23592"/>
                </a:solidFill>
                <a:effectLst/>
                <a:uLnTx/>
                <a:uFillTx/>
                <a:latin typeface="Segoe UI"/>
                <a:ea typeface="+mn-ea"/>
                <a:cs typeface="Segoe UI"/>
                <a:sym typeface="Segoe UI"/>
                <a:rtl val="0"/>
              </a:rPr>
              <a:t>New →</a:t>
            </a:r>
          </a:p>
        </p:txBody>
      </p:sp>
      <p:sp>
        <p:nvSpPr>
          <p:cNvPr id="108" name="TextBox 107">
            <a:extLst>
              <a:ext uri="{FF2B5EF4-FFF2-40B4-BE49-F238E27FC236}">
                <a16:creationId xmlns:a16="http://schemas.microsoft.com/office/drawing/2014/main" id="{64B788DF-709F-11D4-6711-ACCC4B6D42B0}"/>
              </a:ext>
            </a:extLst>
          </p:cNvPr>
          <p:cNvSpPr txBox="1"/>
          <p:nvPr/>
        </p:nvSpPr>
        <p:spPr>
          <a:xfrm>
            <a:off x="7705686" y="5189437"/>
            <a:ext cx="828065"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Staff Pick</a:t>
            </a:r>
          </a:p>
        </p:txBody>
      </p:sp>
      <p:sp>
        <p:nvSpPr>
          <p:cNvPr id="109" name="Rectangle 108">
            <a:extLst>
              <a:ext uri="{FF2B5EF4-FFF2-40B4-BE49-F238E27FC236}">
                <a16:creationId xmlns:a16="http://schemas.microsoft.com/office/drawing/2014/main" id="{B947F836-B0B2-11B0-A6C4-C5E68EA0C821}"/>
              </a:ext>
            </a:extLst>
          </p:cNvPr>
          <p:cNvSpPr/>
          <p:nvPr/>
        </p:nvSpPr>
        <p:spPr>
          <a:xfrm>
            <a:off x="7797126" y="5474843"/>
            <a:ext cx="2261252" cy="497890"/>
          </a:xfrm>
          <a:prstGeom prst="rect">
            <a:avLst/>
          </a:prstGeom>
          <a:solidFill>
            <a:srgbClr val="FFFFFF"/>
          </a:solidFill>
          <a:ln w="18669" cap="flat">
            <a:solidFill>
              <a:srgbClr val="FDE379"/>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0" name="TextBox 109">
            <a:extLst>
              <a:ext uri="{FF2B5EF4-FFF2-40B4-BE49-F238E27FC236}">
                <a16:creationId xmlns:a16="http://schemas.microsoft.com/office/drawing/2014/main" id="{ACF1910D-41FB-4955-A2E6-EE0A76AFF808}"/>
              </a:ext>
            </a:extLst>
          </p:cNvPr>
          <p:cNvSpPr txBox="1"/>
          <p:nvPr/>
        </p:nvSpPr>
        <p:spPr>
          <a:xfrm>
            <a:off x="7830159" y="5438382"/>
            <a:ext cx="164676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How to Make Sense...</a:t>
            </a:r>
          </a:p>
        </p:txBody>
      </p:sp>
      <p:sp>
        <p:nvSpPr>
          <p:cNvPr id="111" name="TextBox 110">
            <a:extLst>
              <a:ext uri="{FF2B5EF4-FFF2-40B4-BE49-F238E27FC236}">
                <a16:creationId xmlns:a16="http://schemas.microsoft.com/office/drawing/2014/main" id="{87B72526-9B00-1B8F-E7FA-02ACC062A162}"/>
              </a:ext>
            </a:extLst>
          </p:cNvPr>
          <p:cNvSpPr txBox="1"/>
          <p:nvPr/>
        </p:nvSpPr>
        <p:spPr>
          <a:xfrm>
            <a:off x="7830159" y="5625091"/>
            <a:ext cx="1027243"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Covert · 2014</a:t>
            </a:r>
          </a:p>
        </p:txBody>
      </p:sp>
      <p:sp>
        <p:nvSpPr>
          <p:cNvPr id="112" name="TextBox 111">
            <a:extLst>
              <a:ext uri="{FF2B5EF4-FFF2-40B4-BE49-F238E27FC236}">
                <a16:creationId xmlns:a16="http://schemas.microsoft.com/office/drawing/2014/main" id="{3FB52FBD-475F-D2E9-F320-AA5203A488D5}"/>
              </a:ext>
            </a:extLst>
          </p:cNvPr>
          <p:cNvSpPr txBox="1"/>
          <p:nvPr/>
        </p:nvSpPr>
        <p:spPr>
          <a:xfrm>
            <a:off x="9423009" y="5438382"/>
            <a:ext cx="65420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C23592"/>
                </a:solidFill>
                <a:effectLst/>
                <a:uLnTx/>
                <a:uFillTx/>
                <a:latin typeface="Segoe UI"/>
                <a:ea typeface="+mn-ea"/>
                <a:cs typeface="Segoe UI"/>
                <a:sym typeface="Segoe UI"/>
                <a:rtl val="0"/>
              </a:rPr>
              <a:t>View →</a:t>
            </a:r>
          </a:p>
        </p:txBody>
      </p:sp>
      <p:sp>
        <p:nvSpPr>
          <p:cNvPr id="113" name="TextBox 112">
            <a:extLst>
              <a:ext uri="{FF2B5EF4-FFF2-40B4-BE49-F238E27FC236}">
                <a16:creationId xmlns:a16="http://schemas.microsoft.com/office/drawing/2014/main" id="{D7C580F6-340A-97F1-F084-15A91C65949A}"/>
              </a:ext>
            </a:extLst>
          </p:cNvPr>
          <p:cNvSpPr txBox="1"/>
          <p:nvPr/>
        </p:nvSpPr>
        <p:spPr>
          <a:xfrm>
            <a:off x="7810107" y="5998509"/>
            <a:ext cx="2235290"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C23592"/>
                </a:solidFill>
                <a:effectLst/>
                <a:uLnTx/>
                <a:uFillTx/>
                <a:latin typeface="Segoe UI"/>
                <a:ea typeface="+mn-ea"/>
                <a:cs typeface="Segoe UI"/>
                <a:sym typeface="Segoe UI"/>
                <a:rtl val="0"/>
              </a:rPr>
              <a:t>Exploratory sidebar: browsing</a:t>
            </a:r>
          </a:p>
        </p:txBody>
      </p:sp>
      <p:sp>
        <p:nvSpPr>
          <p:cNvPr id="114" name="TextBox 113">
            <a:extLst>
              <a:ext uri="{FF2B5EF4-FFF2-40B4-BE49-F238E27FC236}">
                <a16:creationId xmlns:a16="http://schemas.microsoft.com/office/drawing/2014/main" id="{4317FA4F-81D2-EC5F-ADD9-B9EA3F81074C}"/>
              </a:ext>
            </a:extLst>
          </p:cNvPr>
          <p:cNvSpPr txBox="1"/>
          <p:nvPr/>
        </p:nvSpPr>
        <p:spPr>
          <a:xfrm>
            <a:off x="7958941" y="6164472"/>
            <a:ext cx="1937621"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C23592"/>
                </a:solidFill>
                <a:effectLst/>
                <a:uLnTx/>
                <a:uFillTx/>
                <a:latin typeface="Segoe UI"/>
                <a:ea typeface="+mn-ea"/>
                <a:cs typeface="Segoe UI"/>
                <a:sym typeface="Segoe UI"/>
                <a:rtl val="0"/>
              </a:rPr>
              <a:t>without abandoning results</a:t>
            </a:r>
          </a:p>
        </p:txBody>
      </p:sp>
      <p:sp>
        <p:nvSpPr>
          <p:cNvPr id="115" name="Freeform: Shape 114">
            <a:extLst>
              <a:ext uri="{FF2B5EF4-FFF2-40B4-BE49-F238E27FC236}">
                <a16:creationId xmlns:a16="http://schemas.microsoft.com/office/drawing/2014/main" id="{447B500E-3685-3FC8-9C1E-A8FA0C93F4AD}"/>
              </a:ext>
            </a:extLst>
          </p:cNvPr>
          <p:cNvSpPr/>
          <p:nvPr/>
        </p:nvSpPr>
        <p:spPr>
          <a:xfrm>
            <a:off x="7527435" y="3317318"/>
            <a:ext cx="10372" cy="2779888"/>
          </a:xfrm>
          <a:custGeom>
            <a:avLst/>
            <a:gdLst>
              <a:gd name="csX0" fmla="*/ 0 w 10372"/>
              <a:gd name="csY0" fmla="*/ 0 h 2779888"/>
              <a:gd name="csX1" fmla="*/ 0 w 10372"/>
              <a:gd name="csY1" fmla="*/ 2779888 h 2779888"/>
            </a:gdLst>
            <a:ahLst/>
            <a:cxnLst>
              <a:cxn ang="0">
                <a:pos x="csX0" y="csY0"/>
              </a:cxn>
              <a:cxn ang="0">
                <a:pos x="csX1" y="csY1"/>
              </a:cxn>
            </a:cxnLst>
            <a:rect l="l" t="t" r="r" b="b"/>
            <a:pathLst>
              <a:path w="10372" h="2779888">
                <a:moveTo>
                  <a:pt x="0" y="0"/>
                </a:moveTo>
                <a:lnTo>
                  <a:pt x="0" y="2779888"/>
                </a:lnTo>
              </a:path>
            </a:pathLst>
          </a:custGeom>
          <a:ln w="15558"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6" name="Rectangle 115">
            <a:extLst>
              <a:ext uri="{FF2B5EF4-FFF2-40B4-BE49-F238E27FC236}">
                <a16:creationId xmlns:a16="http://schemas.microsoft.com/office/drawing/2014/main" id="{3A2F84B3-43B1-AE15-3867-EFE37D1DFEB7}"/>
              </a:ext>
            </a:extLst>
          </p:cNvPr>
          <p:cNvSpPr/>
          <p:nvPr/>
        </p:nvSpPr>
        <p:spPr>
          <a:xfrm>
            <a:off x="1946912" y="6097206"/>
            <a:ext cx="8298175" cy="331926"/>
          </a:xfrm>
          <a:prstGeom prst="rect">
            <a:avLst/>
          </a:prstGeom>
          <a:solidFill>
            <a:srgbClr val="F0F1F7"/>
          </a:solidFill>
          <a:ln w="10372"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7" name="TextBox 116">
            <a:extLst>
              <a:ext uri="{FF2B5EF4-FFF2-40B4-BE49-F238E27FC236}">
                <a16:creationId xmlns:a16="http://schemas.microsoft.com/office/drawing/2014/main" id="{E512B9D8-123B-AA55-F3DD-DED7B2A9ED6D}"/>
              </a:ext>
            </a:extLst>
          </p:cNvPr>
          <p:cNvSpPr txBox="1"/>
          <p:nvPr/>
        </p:nvSpPr>
        <p:spPr>
          <a:xfrm>
            <a:off x="2217155" y="6102236"/>
            <a:ext cx="7757689" cy="28459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444F9C"/>
                </a:solidFill>
                <a:effectLst/>
                <a:uLnTx/>
                <a:uFillTx/>
                <a:latin typeface="Segoe UI"/>
                <a:ea typeface="+mn-ea"/>
                <a:cs typeface="Segoe UI"/>
                <a:sym typeface="Segoe UI"/>
                <a:rtl val="0"/>
              </a:rPr>
              <a:t>Design strategy: Lead with precise search → highlight best match → offer curated paths for those still exploring</a:t>
            </a:r>
          </a:p>
        </p:txBody>
      </p:sp>
      <p:sp>
        <p:nvSpPr>
          <p:cNvPr id="27" name="Isosceles Triangle 26">
            <a:extLst>
              <a:ext uri="{FF2B5EF4-FFF2-40B4-BE49-F238E27FC236}">
                <a16:creationId xmlns:a16="http://schemas.microsoft.com/office/drawing/2014/main" id="{D7AEFA67-705E-6EEA-734F-412E40AA6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118" name="TextBox 117">
            <a:extLst>
              <a:ext uri="{FF2B5EF4-FFF2-40B4-BE49-F238E27FC236}">
                <a16:creationId xmlns:a16="http://schemas.microsoft.com/office/drawing/2014/main" id="{6F0F0BEF-21B8-5594-A098-3C30B5131714}"/>
              </a:ext>
            </a:extLst>
          </p:cNvPr>
          <p:cNvSpPr txBox="1"/>
          <p:nvPr/>
        </p:nvSpPr>
        <p:spPr>
          <a:xfrm>
            <a:off x="3196007" y="236016"/>
            <a:ext cx="579998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solidFill>
                  <a:srgbClr val="444F9C"/>
                </a:solidFill>
                <a:effectLst/>
                <a:uLnTx/>
                <a:uFillTx/>
                <a:latin typeface="Source Sans Pro" panose="020B0503030403020204" pitchFamily="34" charset="0"/>
                <a:ea typeface="Source Sans Pro" panose="020B0503030403020204" pitchFamily="34" charset="0"/>
                <a:cs typeface="Segoe UI"/>
                <a:sym typeface="Segoe UI"/>
                <a:rtl val="0"/>
              </a:rPr>
              <a:t>Balanced Design (Best of Both)</a:t>
            </a:r>
          </a:p>
        </p:txBody>
      </p:sp>
    </p:spTree>
    <p:extLst>
      <p:ext uri="{BB962C8B-B14F-4D97-AF65-F5344CB8AC3E}">
        <p14:creationId xmlns:p14="http://schemas.microsoft.com/office/powerpoint/2010/main" val="38356622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1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pic>
        <p:nvPicPr>
          <p:cNvPr id="5" name="Picture 4">
            <a:extLst>
              <a:ext uri="{FF2B5EF4-FFF2-40B4-BE49-F238E27FC236}">
                <a16:creationId xmlns:a16="http://schemas.microsoft.com/office/drawing/2014/main" id="{8B61AD07-652F-1CD1-4A97-6C5E1DA2BB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4358" y="1180213"/>
            <a:ext cx="7780879" cy="4221125"/>
          </a:xfrm>
          <a:prstGeom prst="rect">
            <a:avLst/>
          </a:prstGeom>
        </p:spPr>
      </p:pic>
      <p:sp>
        <p:nvSpPr>
          <p:cNvPr id="3" name="Content Placeholder 2"/>
          <p:cNvSpPr>
            <a:spLocks noGrp="1"/>
          </p:cNvSpPr>
          <p:nvPr>
            <p:ph idx="1"/>
          </p:nvPr>
        </p:nvSpPr>
        <p:spPr>
          <a:xfrm>
            <a:off x="630936" y="2222206"/>
            <a:ext cx="3528060" cy="4259762"/>
          </a:xfrm>
        </p:spPr>
        <p:txBody>
          <a:bodyPr vert="horz" lIns="91440" tIns="45720" rIns="91440" bIns="45720" rtlCol="0" anchor="t">
            <a:normAutofit/>
          </a:bodyPr>
          <a:lstStyle/>
          <a:p>
            <a:pPr marL="0" indent="0">
              <a:spcAft>
                <a:spcPts val="1200"/>
              </a:spcAft>
              <a:buNone/>
            </a:pPr>
            <a:r>
              <a:rPr lang="en-US" sz="2400" dirty="0">
                <a:solidFill>
                  <a:schemeClr val="tx1"/>
                </a:solidFill>
                <a:latin typeface="+mn-lt"/>
              </a:rPr>
              <a:t>Top-down Information Architecture starts with </a:t>
            </a:r>
            <a:r>
              <a:rPr lang="en-US" sz="2400" b="1" dirty="0">
                <a:solidFill>
                  <a:schemeClr val="accent5">
                    <a:lumMod val="75000"/>
                  </a:schemeClr>
                </a:solidFill>
                <a:latin typeface="+mn-lt"/>
              </a:rPr>
              <a:t>the big picture</a:t>
            </a:r>
            <a:r>
              <a:rPr lang="en-US" sz="2400" dirty="0">
                <a:solidFill>
                  <a:schemeClr val="tx1"/>
                </a:solidFill>
                <a:latin typeface="+mn-lt"/>
              </a:rPr>
              <a:t>—defining high-level categories, navigation, and site structure based on business goals and user needs.</a:t>
            </a:r>
          </a:p>
          <a:p>
            <a:pPr marL="0" indent="0">
              <a:buNone/>
            </a:pPr>
            <a:r>
              <a:rPr lang="en-US" sz="2400" b="1" i="1" dirty="0">
                <a:solidFill>
                  <a:schemeClr val="accent5">
                    <a:lumMod val="75000"/>
                  </a:schemeClr>
                </a:solidFill>
                <a:latin typeface="+mn-lt"/>
              </a:rPr>
              <a:t>Let's consider the ETSU landing page...</a:t>
            </a:r>
          </a:p>
        </p:txBody>
      </p:sp>
      <p:sp>
        <p:nvSpPr>
          <p:cNvPr id="8" name="Title 1">
            <a:extLst>
              <a:ext uri="{FF2B5EF4-FFF2-40B4-BE49-F238E27FC236}">
                <a16:creationId xmlns:a16="http://schemas.microsoft.com/office/drawing/2014/main" id="{872A8B94-DD99-BD9C-74ED-391DB245FCE7}"/>
              </a:ext>
            </a:extLst>
          </p:cNvPr>
          <p:cNvSpPr txBox="1">
            <a:spLocks/>
          </p:cNvSpPr>
          <p:nvPr/>
        </p:nvSpPr>
        <p:spPr>
          <a:xfrm>
            <a:off x="630936" y="375283"/>
            <a:ext cx="3419856" cy="168327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100" b="1" kern="1200">
                <a:solidFill>
                  <a:schemeClr val="tx2"/>
                </a:solidFill>
                <a:latin typeface="Text Me One" pitchFamily="2"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800" b="1" i="0" u="none" strike="noStrike" kern="1200" cap="none" spc="0" normalizeH="0" baseline="0" noProof="0" dirty="0">
                <a:ln>
                  <a:noFill/>
                </a:ln>
                <a:solidFill>
                  <a:srgbClr val="444F9C"/>
                </a:solidFill>
                <a:effectLst/>
                <a:uLnTx/>
                <a:uFillTx/>
                <a:latin typeface="Source Sans Pro" panose="020B0503030403020204" pitchFamily="34" charset="0"/>
                <a:ea typeface="Source Sans Pro" panose="020B0503030403020204" pitchFamily="34" charset="0"/>
              </a:rPr>
              <a:t>The User's Mental Model: Top-down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871276-14CB-54D4-43AB-9D39B5AA491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6333C42-F1F6-053C-11F7-E954D326B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2" name="Title 1">
            <a:extLst>
              <a:ext uri="{FF2B5EF4-FFF2-40B4-BE49-F238E27FC236}">
                <a16:creationId xmlns:a16="http://schemas.microsoft.com/office/drawing/2014/main" id="{D69F9832-8AB9-FDB3-FC04-45AE5386FE58}"/>
              </a:ext>
            </a:extLst>
          </p:cNvPr>
          <p:cNvSpPr>
            <a:spLocks noGrp="1"/>
          </p:cNvSpPr>
          <p:nvPr>
            <p:ph type="title"/>
          </p:nvPr>
        </p:nvSpPr>
        <p:spPr>
          <a:xfrm>
            <a:off x="630936" y="375283"/>
            <a:ext cx="3419856" cy="1683277"/>
          </a:xfrm>
        </p:spPr>
        <p:txBody>
          <a:bodyPr vert="horz" lIns="91440" tIns="45720" rIns="91440" bIns="45720" rtlCol="0" anchor="ctr">
            <a:normAutofit/>
          </a:bodyPr>
          <a:lstStyle/>
          <a:p>
            <a:r>
              <a:rPr lang="en-US" sz="3800" kern="1200" dirty="0"/>
              <a:t>The User's Mental Model: Top-down</a:t>
            </a:r>
          </a:p>
        </p:txBody>
      </p:sp>
      <p:sp>
        <p:nvSpPr>
          <p:cNvPr id="12" name="sketch line">
            <a:extLst>
              <a:ext uri="{FF2B5EF4-FFF2-40B4-BE49-F238E27FC236}">
                <a16:creationId xmlns:a16="http://schemas.microsoft.com/office/drawing/2014/main" id="{A23E1F88-299F-E102-2CA7-271BAC272F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pic>
        <p:nvPicPr>
          <p:cNvPr id="5" name="Picture 4">
            <a:extLst>
              <a:ext uri="{FF2B5EF4-FFF2-40B4-BE49-F238E27FC236}">
                <a16:creationId xmlns:a16="http://schemas.microsoft.com/office/drawing/2014/main" id="{408E8DCF-B2F2-B1DE-C0F3-719DD7F892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4358" y="1180213"/>
            <a:ext cx="7780879" cy="4221125"/>
          </a:xfrm>
          <a:prstGeom prst="rect">
            <a:avLst/>
          </a:prstGeom>
        </p:spPr>
      </p:pic>
      <p:sp>
        <p:nvSpPr>
          <p:cNvPr id="3" name="Content Placeholder 2">
            <a:extLst>
              <a:ext uri="{FF2B5EF4-FFF2-40B4-BE49-F238E27FC236}">
                <a16:creationId xmlns:a16="http://schemas.microsoft.com/office/drawing/2014/main" id="{65C77A9B-9F3C-3588-0C36-BE46EA2FBC16}"/>
              </a:ext>
            </a:extLst>
          </p:cNvPr>
          <p:cNvSpPr>
            <a:spLocks noGrp="1"/>
          </p:cNvSpPr>
          <p:nvPr>
            <p:ph idx="1"/>
          </p:nvPr>
        </p:nvSpPr>
        <p:spPr>
          <a:xfrm>
            <a:off x="630936" y="2149934"/>
            <a:ext cx="3597394" cy="4332034"/>
          </a:xfrm>
        </p:spPr>
        <p:txBody>
          <a:bodyPr vert="horz" lIns="91440" tIns="45720" rIns="91440" bIns="45720" rtlCol="0" anchor="t">
            <a:normAutofit lnSpcReduction="10000"/>
          </a:bodyPr>
          <a:lstStyle/>
          <a:p>
            <a:pPr marL="0" indent="0">
              <a:spcAft>
                <a:spcPts val="600"/>
              </a:spcAft>
              <a:buNone/>
            </a:pPr>
            <a:r>
              <a:rPr lang="en-US" sz="2400" dirty="0"/>
              <a:t>Features of the landing page address some "top-down" questions:</a:t>
            </a:r>
          </a:p>
          <a:p>
            <a:pPr>
              <a:spcAft>
                <a:spcPts val="300"/>
              </a:spcAft>
            </a:pPr>
            <a:r>
              <a:rPr lang="en-US" sz="2200" dirty="0"/>
              <a:t>Where am I? (1)</a:t>
            </a:r>
          </a:p>
          <a:p>
            <a:pPr>
              <a:spcAft>
                <a:spcPts val="300"/>
              </a:spcAft>
            </a:pPr>
            <a:r>
              <a:rPr lang="en-US" sz="2200" dirty="0"/>
              <a:t>I know what I'm looking for; how do I search for it? (2)</a:t>
            </a:r>
          </a:p>
          <a:p>
            <a:pPr>
              <a:spcAft>
                <a:spcPts val="300"/>
              </a:spcAft>
            </a:pPr>
            <a:r>
              <a:rPr lang="en-US" sz="2200" dirty="0"/>
              <a:t>How do I get around this site? (3)</a:t>
            </a:r>
          </a:p>
          <a:p>
            <a:pPr>
              <a:spcAft>
                <a:spcPts val="300"/>
              </a:spcAft>
            </a:pPr>
            <a:r>
              <a:rPr lang="en-US" sz="2200" dirty="0"/>
              <a:t>What's unique about this organization? (4)</a:t>
            </a:r>
          </a:p>
          <a:p>
            <a:pPr>
              <a:spcAft>
                <a:spcPts val="300"/>
              </a:spcAft>
            </a:pPr>
            <a:r>
              <a:rPr lang="en-US" sz="2200" dirty="0"/>
              <a:t>How can I contact *someone? (5)</a:t>
            </a:r>
          </a:p>
        </p:txBody>
      </p:sp>
      <p:sp>
        <p:nvSpPr>
          <p:cNvPr id="4" name="TextBox 3">
            <a:extLst>
              <a:ext uri="{FF2B5EF4-FFF2-40B4-BE49-F238E27FC236}">
                <a16:creationId xmlns:a16="http://schemas.microsoft.com/office/drawing/2014/main" id="{A60A3673-A0BB-DDD1-8996-7F5333DAE864}"/>
              </a:ext>
            </a:extLst>
          </p:cNvPr>
          <p:cNvSpPr txBox="1"/>
          <p:nvPr/>
        </p:nvSpPr>
        <p:spPr>
          <a:xfrm>
            <a:off x="879711" y="6370381"/>
            <a:ext cx="39795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venir"/>
                <a:ea typeface="+mn-ea"/>
                <a:cs typeface="+mn-cs"/>
              </a:rPr>
              <a:t>* or some chat bot. LOL.</a:t>
            </a:r>
          </a:p>
        </p:txBody>
      </p:sp>
      <p:sp>
        <p:nvSpPr>
          <p:cNvPr id="6" name="TextBox 5">
            <a:extLst>
              <a:ext uri="{FF2B5EF4-FFF2-40B4-BE49-F238E27FC236}">
                <a16:creationId xmlns:a16="http://schemas.microsoft.com/office/drawing/2014/main" id="{701007A6-4FC7-0530-F469-673634D5CB8E}"/>
              </a:ext>
            </a:extLst>
          </p:cNvPr>
          <p:cNvSpPr txBox="1"/>
          <p:nvPr/>
        </p:nvSpPr>
        <p:spPr>
          <a:xfrm>
            <a:off x="3286252" y="6059507"/>
            <a:ext cx="8905748" cy="646331"/>
          </a:xfrm>
          <a:prstGeom prst="rect">
            <a:avLst/>
          </a:prstGeom>
          <a:solidFill>
            <a:schemeClr val="bg1"/>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venir"/>
                <a:ea typeface="+mn-ea"/>
                <a:cs typeface="+mn-cs"/>
              </a:rPr>
              <a:t>Questions based on Rosenfeld, Morville, &amp; Arango (2015). 5. The Anatomy of an Information Architecture. In </a:t>
            </a:r>
            <a:r>
              <a:rPr kumimoji="0" lang="en-US" sz="1800" b="0" i="1" u="none" strike="noStrike" kern="1200" cap="none" spc="0" normalizeH="0" baseline="0" noProof="0" dirty="0">
                <a:ln>
                  <a:noFill/>
                </a:ln>
                <a:solidFill>
                  <a:prstClr val="black"/>
                </a:solidFill>
                <a:effectLst/>
                <a:uLnTx/>
                <a:uFillTx/>
                <a:latin typeface="Avenir"/>
                <a:ea typeface="+mn-ea"/>
                <a:cs typeface="+mn-cs"/>
              </a:rPr>
              <a:t>Information Architecture, 4th Edition. </a:t>
            </a:r>
            <a:r>
              <a:rPr kumimoji="0" lang="en-US" sz="1800" b="0" i="0" u="none" strike="noStrike" kern="1200" cap="none" spc="0" normalizeH="0" baseline="0" noProof="0" dirty="0">
                <a:ln>
                  <a:noFill/>
                </a:ln>
                <a:solidFill>
                  <a:prstClr val="black"/>
                </a:solidFill>
                <a:effectLst/>
                <a:uLnTx/>
                <a:uFillTx/>
                <a:latin typeface="Avenir"/>
                <a:ea typeface="+mn-ea"/>
                <a:cs typeface="+mn-cs"/>
              </a:rPr>
              <a:t>O’Reilly Media, Inc.</a:t>
            </a:r>
          </a:p>
        </p:txBody>
      </p:sp>
    </p:spTree>
    <p:extLst>
      <p:ext uri="{BB962C8B-B14F-4D97-AF65-F5344CB8AC3E}">
        <p14:creationId xmlns:p14="http://schemas.microsoft.com/office/powerpoint/2010/main" val="360852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1840" y="1028703"/>
            <a:ext cx="5310536" cy="1510746"/>
          </a:xfrm>
        </p:spPr>
        <p:txBody>
          <a:bodyPr vert="horz" lIns="91440" tIns="45720" rIns="91440" bIns="45720" rtlCol="0" anchor="t">
            <a:normAutofit/>
          </a:bodyPr>
          <a:lstStyle/>
          <a:p>
            <a:r>
              <a:rPr lang="en-US" kern="1200" dirty="0"/>
              <a:t>The User's Mental Model: Bottom-up</a:t>
            </a:r>
          </a:p>
        </p:txBody>
      </p:sp>
      <p:cxnSp>
        <p:nvCxnSpPr>
          <p:cNvPr id="81" name="Straight Connector 8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761840" y="2307661"/>
            <a:ext cx="5415676" cy="4348320"/>
          </a:xfrm>
        </p:spPr>
        <p:txBody>
          <a:bodyPr vert="horz" lIns="91440" tIns="45720" rIns="91440" bIns="45720" rtlCol="0">
            <a:normAutofit/>
          </a:bodyPr>
          <a:lstStyle/>
          <a:p>
            <a:pPr marL="0" indent="0">
              <a:spcAft>
                <a:spcPts val="600"/>
              </a:spcAft>
              <a:buNone/>
            </a:pPr>
            <a:r>
              <a:rPr lang="en-US" sz="2200" dirty="0">
                <a:solidFill>
                  <a:schemeClr val="tx1"/>
                </a:solidFill>
                <a:latin typeface="+mn-lt"/>
              </a:rPr>
              <a:t>Bottom-up Information Architecture treats </a:t>
            </a:r>
            <a:r>
              <a:rPr lang="en-US" sz="2200" b="1" i="1" dirty="0">
                <a:solidFill>
                  <a:schemeClr val="accent4">
                    <a:lumMod val="50000"/>
                  </a:schemeClr>
                </a:solidFill>
                <a:latin typeface="+mn-lt"/>
              </a:rPr>
              <a:t>individual pages as independent "hubs" </a:t>
            </a:r>
            <a:r>
              <a:rPr lang="en-US" sz="2200" dirty="0">
                <a:solidFill>
                  <a:schemeClr val="tx1"/>
                </a:solidFill>
                <a:latin typeface="+mn-lt"/>
              </a:rPr>
              <a:t>that link to related content and provide a clear sense of "place" within the website. Bottom-up information architecture, created through content </a:t>
            </a:r>
            <a:r>
              <a:rPr lang="en-US" sz="2200" b="1" dirty="0">
                <a:solidFill>
                  <a:schemeClr val="accent4">
                    <a:lumMod val="50000"/>
                  </a:schemeClr>
                </a:solidFill>
                <a:latin typeface="+mn-lt"/>
              </a:rPr>
              <a:t>structure</a:t>
            </a:r>
            <a:r>
              <a:rPr lang="en-US" sz="2200" dirty="0">
                <a:solidFill>
                  <a:schemeClr val="tx1"/>
                </a:solidFill>
                <a:latin typeface="+mn-lt"/>
              </a:rPr>
              <a:t>, </a:t>
            </a:r>
            <a:r>
              <a:rPr lang="en-US" sz="2200" b="1" dirty="0">
                <a:solidFill>
                  <a:schemeClr val="accent4">
                    <a:lumMod val="50000"/>
                  </a:schemeClr>
                </a:solidFill>
                <a:latin typeface="+mn-lt"/>
              </a:rPr>
              <a:t>sequencing</a:t>
            </a:r>
            <a:r>
              <a:rPr lang="en-US" sz="2200" dirty="0">
                <a:solidFill>
                  <a:schemeClr val="tx1"/>
                </a:solidFill>
                <a:latin typeface="+mn-lt"/>
              </a:rPr>
              <a:t>, and </a:t>
            </a:r>
            <a:r>
              <a:rPr lang="en-US" sz="2200" b="1" dirty="0">
                <a:solidFill>
                  <a:schemeClr val="accent4">
                    <a:lumMod val="50000"/>
                  </a:schemeClr>
                </a:solidFill>
                <a:latin typeface="+mn-lt"/>
              </a:rPr>
              <a:t>tagging</a:t>
            </a:r>
            <a:r>
              <a:rPr lang="en-US" sz="2200" dirty="0">
                <a:solidFill>
                  <a:schemeClr val="tx1"/>
                </a:solidFill>
                <a:latin typeface="+mn-lt"/>
              </a:rPr>
              <a:t> help you answer questions like:</a:t>
            </a:r>
          </a:p>
          <a:p>
            <a:pPr>
              <a:spcAft>
                <a:spcPts val="300"/>
              </a:spcAft>
            </a:pPr>
            <a:r>
              <a:rPr lang="en-US" sz="2200" dirty="0">
                <a:solidFill>
                  <a:schemeClr val="tx1"/>
                </a:solidFill>
                <a:latin typeface="+mn-lt"/>
              </a:rPr>
              <a:t>Where am I (relative to the overall site)?</a:t>
            </a:r>
          </a:p>
          <a:p>
            <a:pPr>
              <a:spcAft>
                <a:spcPts val="300"/>
              </a:spcAft>
            </a:pPr>
            <a:r>
              <a:rPr lang="en-US" sz="2200" dirty="0">
                <a:solidFill>
                  <a:schemeClr val="tx1"/>
                </a:solidFill>
                <a:latin typeface="+mn-lt"/>
              </a:rPr>
              <a:t>What's here?</a:t>
            </a:r>
          </a:p>
          <a:p>
            <a:pPr>
              <a:spcAft>
                <a:spcPts val="300"/>
              </a:spcAft>
            </a:pPr>
            <a:r>
              <a:rPr lang="en-US" sz="2200" dirty="0">
                <a:solidFill>
                  <a:schemeClr val="tx1"/>
                </a:solidFill>
                <a:latin typeface="+mn-lt"/>
              </a:rPr>
              <a:t>Where can I go from here?</a:t>
            </a:r>
          </a:p>
        </p:txBody>
      </p:sp>
      <p:sp>
        <p:nvSpPr>
          <p:cNvPr id="83" name="Rectangle 82">
            <a:extLst>
              <a:ext uri="{FF2B5EF4-FFF2-40B4-BE49-F238E27FC236}">
                <a16:creationId xmlns:a16="http://schemas.microsoft.com/office/drawing/2014/main" id="{4AEEBFDF-5999-F7A5-29E0-E160AD56EC56}"/>
              </a:ext>
            </a:extLst>
          </p:cNvPr>
          <p:cNvSpPr/>
          <p:nvPr/>
        </p:nvSpPr>
        <p:spPr>
          <a:xfrm>
            <a:off x="6096000" y="1138265"/>
            <a:ext cx="5846982" cy="4677586"/>
          </a:xfrm>
          <a:prstGeom prst="rect">
            <a:avLst/>
          </a:prstGeom>
          <a:solidFill>
            <a:srgbClr val="FFFFFF"/>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4" name="Freeform: Shape 83">
            <a:extLst>
              <a:ext uri="{FF2B5EF4-FFF2-40B4-BE49-F238E27FC236}">
                <a16:creationId xmlns:a16="http://schemas.microsoft.com/office/drawing/2014/main" id="{BFDE1A15-64B0-E206-F513-34D4AF1AEBB1}"/>
              </a:ext>
            </a:extLst>
          </p:cNvPr>
          <p:cNvSpPr/>
          <p:nvPr/>
        </p:nvSpPr>
        <p:spPr>
          <a:xfrm>
            <a:off x="10335061" y="1138265"/>
            <a:ext cx="1607920" cy="1900269"/>
          </a:xfrm>
          <a:custGeom>
            <a:avLst/>
            <a:gdLst>
              <a:gd name="csX0" fmla="*/ 0 w 1607920"/>
              <a:gd name="csY0" fmla="*/ 0 h 1900269"/>
              <a:gd name="csX1" fmla="*/ 1607920 w 1607920"/>
              <a:gd name="csY1" fmla="*/ 0 h 1900269"/>
              <a:gd name="csX2" fmla="*/ 1607920 w 1607920"/>
              <a:gd name="csY2" fmla="*/ 1900269 h 1900269"/>
            </a:gdLst>
            <a:ahLst/>
            <a:cxnLst>
              <a:cxn ang="0">
                <a:pos x="csX0" y="csY0"/>
              </a:cxn>
              <a:cxn ang="0">
                <a:pos x="csX1" y="csY1"/>
              </a:cxn>
              <a:cxn ang="0">
                <a:pos x="csX2" y="csY2"/>
              </a:cxn>
            </a:cxnLst>
            <a:rect l="l" t="t" r="r" b="b"/>
            <a:pathLst>
              <a:path w="1607920" h="1900269">
                <a:moveTo>
                  <a:pt x="0" y="0"/>
                </a:moveTo>
                <a:lnTo>
                  <a:pt x="1607920" y="0"/>
                </a:lnTo>
                <a:lnTo>
                  <a:pt x="1607920" y="1900269"/>
                </a:lnTo>
                <a:close/>
              </a:path>
            </a:pathLst>
          </a:custGeom>
          <a:solidFill>
            <a:srgbClr val="F4F4F4"/>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5" name="Freeform: Shape 84">
            <a:extLst>
              <a:ext uri="{FF2B5EF4-FFF2-40B4-BE49-F238E27FC236}">
                <a16:creationId xmlns:a16="http://schemas.microsoft.com/office/drawing/2014/main" id="{D64BCFC0-2E2F-89D1-FC59-92B47730E4B6}"/>
              </a:ext>
            </a:extLst>
          </p:cNvPr>
          <p:cNvSpPr/>
          <p:nvPr/>
        </p:nvSpPr>
        <p:spPr>
          <a:xfrm>
            <a:off x="10919760" y="1138265"/>
            <a:ext cx="1023221" cy="1169396"/>
          </a:xfrm>
          <a:custGeom>
            <a:avLst/>
            <a:gdLst>
              <a:gd name="csX0" fmla="*/ 0 w 1023221"/>
              <a:gd name="csY0" fmla="*/ 0 h 1169396"/>
              <a:gd name="csX1" fmla="*/ 1023222 w 1023221"/>
              <a:gd name="csY1" fmla="*/ 0 h 1169396"/>
              <a:gd name="csX2" fmla="*/ 1023222 w 1023221"/>
              <a:gd name="csY2" fmla="*/ 1169397 h 1169396"/>
            </a:gdLst>
            <a:ahLst/>
            <a:cxnLst>
              <a:cxn ang="0">
                <a:pos x="csX0" y="csY0"/>
              </a:cxn>
              <a:cxn ang="0">
                <a:pos x="csX1" y="csY1"/>
              </a:cxn>
              <a:cxn ang="0">
                <a:pos x="csX2" y="csY2"/>
              </a:cxn>
            </a:cxnLst>
            <a:rect l="l" t="t" r="r" b="b"/>
            <a:pathLst>
              <a:path w="1023221" h="1169396">
                <a:moveTo>
                  <a:pt x="0" y="0"/>
                </a:moveTo>
                <a:lnTo>
                  <a:pt x="1023222" y="0"/>
                </a:lnTo>
                <a:lnTo>
                  <a:pt x="1023222" y="1169397"/>
                </a:lnTo>
                <a:close/>
              </a:path>
            </a:pathLst>
          </a:custGeom>
          <a:solidFill>
            <a:srgbClr val="EDEEF5"/>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6" name="Oval 85">
            <a:extLst>
              <a:ext uri="{FF2B5EF4-FFF2-40B4-BE49-F238E27FC236}">
                <a16:creationId xmlns:a16="http://schemas.microsoft.com/office/drawing/2014/main" id="{FFAED4D5-BA6C-5185-6373-1949E9BB508B}"/>
              </a:ext>
            </a:extLst>
          </p:cNvPr>
          <p:cNvSpPr/>
          <p:nvPr/>
        </p:nvSpPr>
        <p:spPr>
          <a:xfrm>
            <a:off x="5745181" y="4412575"/>
            <a:ext cx="1754094" cy="1754094"/>
          </a:xfrm>
          <a:prstGeom prst="ellipse">
            <a:avLst/>
          </a:prstGeom>
          <a:solidFill>
            <a:srgbClr val="F4F4F4">
              <a:alpha val="55000"/>
            </a:srgbClr>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7" name="Oval 86">
            <a:extLst>
              <a:ext uri="{FF2B5EF4-FFF2-40B4-BE49-F238E27FC236}">
                <a16:creationId xmlns:a16="http://schemas.microsoft.com/office/drawing/2014/main" id="{8E847455-6D50-6636-7013-66E593CD0F24}"/>
              </a:ext>
            </a:extLst>
          </p:cNvPr>
          <p:cNvSpPr/>
          <p:nvPr/>
        </p:nvSpPr>
        <p:spPr>
          <a:xfrm>
            <a:off x="6096000" y="4763394"/>
            <a:ext cx="1052456" cy="1052456"/>
          </a:xfrm>
          <a:prstGeom prst="ellipse">
            <a:avLst/>
          </a:prstGeom>
          <a:solidFill>
            <a:srgbClr val="EDEEF5">
              <a:alpha val="45000"/>
            </a:srgbClr>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8" name="TextBox 87">
            <a:extLst>
              <a:ext uri="{FF2B5EF4-FFF2-40B4-BE49-F238E27FC236}">
                <a16:creationId xmlns:a16="http://schemas.microsoft.com/office/drawing/2014/main" id="{C9FAD451-4AD7-E712-7661-9D5899206190}"/>
              </a:ext>
            </a:extLst>
          </p:cNvPr>
          <p:cNvSpPr txBox="1"/>
          <p:nvPr/>
        </p:nvSpPr>
        <p:spPr>
          <a:xfrm>
            <a:off x="6219460" y="1204445"/>
            <a:ext cx="5600060" cy="4219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solidFill>
                  <a:srgbClr val="444F9C"/>
                </a:solidFill>
                <a:effectLst/>
                <a:uLnTx/>
                <a:uFillTx/>
                <a:latin typeface="Segoe UI"/>
                <a:ea typeface="+mn-ea"/>
                <a:cs typeface="Segoe UI"/>
                <a:sym typeface="Segoe UI"/>
                <a:rtl val="0"/>
              </a:rPr>
              <a:t>Bottom-Up IA: Each page a self-contained hub</a:t>
            </a:r>
          </a:p>
        </p:txBody>
      </p:sp>
      <p:sp>
        <p:nvSpPr>
          <p:cNvPr id="89" name="Rectangle 88">
            <a:extLst>
              <a:ext uri="{FF2B5EF4-FFF2-40B4-BE49-F238E27FC236}">
                <a16:creationId xmlns:a16="http://schemas.microsoft.com/office/drawing/2014/main" id="{5D53024C-6192-FD05-D768-5F9946D061BB}"/>
              </a:ext>
            </a:extLst>
          </p:cNvPr>
          <p:cNvSpPr/>
          <p:nvPr/>
        </p:nvSpPr>
        <p:spPr>
          <a:xfrm>
            <a:off x="7762389" y="2600010"/>
            <a:ext cx="2514202" cy="1607920"/>
          </a:xfrm>
          <a:prstGeom prst="rect">
            <a:avLst/>
          </a:prstGeom>
          <a:solidFill>
            <a:srgbClr val="FFFFFF"/>
          </a:solidFill>
          <a:ln w="32114" cap="flat">
            <a:solidFill>
              <a:srgbClr val="444F9C"/>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0" name="Rectangle 89">
            <a:extLst>
              <a:ext uri="{FF2B5EF4-FFF2-40B4-BE49-F238E27FC236}">
                <a16:creationId xmlns:a16="http://schemas.microsoft.com/office/drawing/2014/main" id="{C589080D-27FF-6C0F-6068-3B2354398AC4}"/>
              </a:ext>
            </a:extLst>
          </p:cNvPr>
          <p:cNvSpPr/>
          <p:nvPr/>
        </p:nvSpPr>
        <p:spPr>
          <a:xfrm>
            <a:off x="7762389" y="2600010"/>
            <a:ext cx="102322" cy="1607920"/>
          </a:xfrm>
          <a:prstGeom prst="rect">
            <a:avLst/>
          </a:prstGeom>
          <a:solidFill>
            <a:srgbClr val="444F9C"/>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1" name="TextBox 90">
            <a:extLst>
              <a:ext uri="{FF2B5EF4-FFF2-40B4-BE49-F238E27FC236}">
                <a16:creationId xmlns:a16="http://schemas.microsoft.com/office/drawing/2014/main" id="{16BBA0EC-C122-0177-4CBB-202BFFE530FA}"/>
              </a:ext>
            </a:extLst>
          </p:cNvPr>
          <p:cNvSpPr txBox="1"/>
          <p:nvPr/>
        </p:nvSpPr>
        <p:spPr>
          <a:xfrm>
            <a:off x="8218590" y="2625807"/>
            <a:ext cx="1519968"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44F9C"/>
                </a:solidFill>
                <a:effectLst/>
                <a:uLnTx/>
                <a:uFillTx/>
                <a:latin typeface="Segoe UI"/>
                <a:ea typeface="+mn-ea"/>
                <a:cs typeface="Segoe UI"/>
                <a:sym typeface="Segoe UI"/>
                <a:rtl val="0"/>
              </a:rPr>
              <a:t>B.S. Comp. Sci.</a:t>
            </a:r>
          </a:p>
        </p:txBody>
      </p:sp>
      <p:sp>
        <p:nvSpPr>
          <p:cNvPr id="92" name="TextBox 91">
            <a:extLst>
              <a:ext uri="{FF2B5EF4-FFF2-40B4-BE49-F238E27FC236}">
                <a16:creationId xmlns:a16="http://schemas.microsoft.com/office/drawing/2014/main" id="{C56E6A1A-6B7F-286D-1E73-0F7FB1559BBE}"/>
              </a:ext>
            </a:extLst>
          </p:cNvPr>
          <p:cNvSpPr txBox="1"/>
          <p:nvPr/>
        </p:nvSpPr>
        <p:spPr>
          <a:xfrm>
            <a:off x="7904829" y="2907008"/>
            <a:ext cx="16846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2D5EBF"/>
                </a:solidFill>
                <a:effectLst/>
                <a:uLnTx/>
                <a:uFillTx/>
                <a:latin typeface="Segoe UI"/>
                <a:ea typeface="+mn-ea"/>
                <a:cs typeface="Segoe UI"/>
                <a:sym typeface="Segoe UI"/>
                <a:rtl val="0"/>
              </a:rPr>
              <a:t>Home › Programs › CS</a:t>
            </a:r>
          </a:p>
        </p:txBody>
      </p:sp>
      <p:sp>
        <p:nvSpPr>
          <p:cNvPr id="93" name="Rectangle 92">
            <a:extLst>
              <a:ext uri="{FF2B5EF4-FFF2-40B4-BE49-F238E27FC236}">
                <a16:creationId xmlns:a16="http://schemas.microsoft.com/office/drawing/2014/main" id="{21581C95-7F73-1529-888C-3EA7EC466E75}"/>
              </a:ext>
            </a:extLst>
          </p:cNvPr>
          <p:cNvSpPr/>
          <p:nvPr/>
        </p:nvSpPr>
        <p:spPr>
          <a:xfrm>
            <a:off x="7996269" y="3213943"/>
            <a:ext cx="2046443" cy="102322"/>
          </a:xfrm>
          <a:prstGeom prst="rect">
            <a:avLst/>
          </a:prstGeom>
          <a:solidFill>
            <a:srgbClr val="EDEEF5"/>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4" name="Rectangle 93">
            <a:extLst>
              <a:ext uri="{FF2B5EF4-FFF2-40B4-BE49-F238E27FC236}">
                <a16:creationId xmlns:a16="http://schemas.microsoft.com/office/drawing/2014/main" id="{90603C2C-AD17-24C9-E552-2A5F6A15CD1D}"/>
              </a:ext>
            </a:extLst>
          </p:cNvPr>
          <p:cNvSpPr/>
          <p:nvPr/>
        </p:nvSpPr>
        <p:spPr>
          <a:xfrm>
            <a:off x="7996269" y="3374735"/>
            <a:ext cx="1695624" cy="102322"/>
          </a:xfrm>
          <a:prstGeom prst="rect">
            <a:avLst/>
          </a:prstGeom>
          <a:solidFill>
            <a:srgbClr val="EDEEF5"/>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5" name="Rectangle 94">
            <a:extLst>
              <a:ext uri="{FF2B5EF4-FFF2-40B4-BE49-F238E27FC236}">
                <a16:creationId xmlns:a16="http://schemas.microsoft.com/office/drawing/2014/main" id="{56AB3016-4863-05A7-0883-BC20E1965D6E}"/>
              </a:ext>
            </a:extLst>
          </p:cNvPr>
          <p:cNvSpPr/>
          <p:nvPr/>
        </p:nvSpPr>
        <p:spPr>
          <a:xfrm>
            <a:off x="7996269" y="3535527"/>
            <a:ext cx="1871034" cy="102322"/>
          </a:xfrm>
          <a:prstGeom prst="rect">
            <a:avLst/>
          </a:prstGeom>
          <a:solidFill>
            <a:srgbClr val="EDEEF5"/>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6" name="Rectangle 95">
            <a:extLst>
              <a:ext uri="{FF2B5EF4-FFF2-40B4-BE49-F238E27FC236}">
                <a16:creationId xmlns:a16="http://schemas.microsoft.com/office/drawing/2014/main" id="{A86A6FD4-4CF2-589E-8610-0A9D8330C539}"/>
              </a:ext>
            </a:extLst>
          </p:cNvPr>
          <p:cNvSpPr/>
          <p:nvPr/>
        </p:nvSpPr>
        <p:spPr>
          <a:xfrm>
            <a:off x="7996269" y="3710937"/>
            <a:ext cx="613933" cy="233879"/>
          </a:xfrm>
          <a:prstGeom prst="rect">
            <a:avLst/>
          </a:prstGeom>
          <a:solidFill>
            <a:srgbClr val="444F9C"/>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7" name="TextBox 96">
            <a:extLst>
              <a:ext uri="{FF2B5EF4-FFF2-40B4-BE49-F238E27FC236}">
                <a16:creationId xmlns:a16="http://schemas.microsoft.com/office/drawing/2014/main" id="{4277AC41-44A4-DEBF-F17B-13573C4CB557}"/>
              </a:ext>
            </a:extLst>
          </p:cNvPr>
          <p:cNvSpPr txBox="1"/>
          <p:nvPr/>
        </p:nvSpPr>
        <p:spPr>
          <a:xfrm>
            <a:off x="8032075" y="3682889"/>
            <a:ext cx="56297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FFFFFF"/>
                </a:solidFill>
                <a:effectLst/>
                <a:uLnTx/>
                <a:uFillTx/>
                <a:latin typeface="Segoe UI"/>
                <a:ea typeface="+mn-ea"/>
                <a:cs typeface="Segoe UI"/>
                <a:sym typeface="Segoe UI"/>
                <a:rtl val="0"/>
              </a:rPr>
              <a:t>STEM</a:t>
            </a:r>
          </a:p>
        </p:txBody>
      </p:sp>
      <p:sp>
        <p:nvSpPr>
          <p:cNvPr id="98" name="Rectangle 97">
            <a:extLst>
              <a:ext uri="{FF2B5EF4-FFF2-40B4-BE49-F238E27FC236}">
                <a16:creationId xmlns:a16="http://schemas.microsoft.com/office/drawing/2014/main" id="{31DA7EDF-84BB-351C-8F09-5F96B0052A0A}"/>
              </a:ext>
            </a:extLst>
          </p:cNvPr>
          <p:cNvSpPr/>
          <p:nvPr/>
        </p:nvSpPr>
        <p:spPr>
          <a:xfrm>
            <a:off x="8697906" y="3710937"/>
            <a:ext cx="672402" cy="233879"/>
          </a:xfrm>
          <a:prstGeom prst="rect">
            <a:avLst/>
          </a:prstGeom>
          <a:solidFill>
            <a:srgbClr val="EDEEF5"/>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9" name="TextBox 98">
            <a:extLst>
              <a:ext uri="{FF2B5EF4-FFF2-40B4-BE49-F238E27FC236}">
                <a16:creationId xmlns:a16="http://schemas.microsoft.com/office/drawing/2014/main" id="{E775E353-0ED4-F4C5-F496-908D67BFAF8A}"/>
              </a:ext>
            </a:extLst>
          </p:cNvPr>
          <p:cNvSpPr txBox="1"/>
          <p:nvPr/>
        </p:nvSpPr>
        <p:spPr>
          <a:xfrm>
            <a:off x="8737859" y="3682889"/>
            <a:ext cx="61350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3A3A3A"/>
                </a:solidFill>
                <a:effectLst/>
                <a:uLnTx/>
                <a:uFillTx/>
                <a:latin typeface="Segoe UI"/>
                <a:ea typeface="+mn-ea"/>
                <a:cs typeface="Segoe UI"/>
                <a:sym typeface="Segoe UI"/>
                <a:rtl val="0"/>
              </a:rPr>
              <a:t>4-year</a:t>
            </a:r>
          </a:p>
        </p:txBody>
      </p:sp>
      <p:sp>
        <p:nvSpPr>
          <p:cNvPr id="100" name="Rectangle 99">
            <a:extLst>
              <a:ext uri="{FF2B5EF4-FFF2-40B4-BE49-F238E27FC236}">
                <a16:creationId xmlns:a16="http://schemas.microsoft.com/office/drawing/2014/main" id="{A69D5547-D0C5-257F-190D-FCD167889A9C}"/>
              </a:ext>
            </a:extLst>
          </p:cNvPr>
          <p:cNvSpPr/>
          <p:nvPr/>
        </p:nvSpPr>
        <p:spPr>
          <a:xfrm>
            <a:off x="9458014" y="3710937"/>
            <a:ext cx="672402" cy="233879"/>
          </a:xfrm>
          <a:prstGeom prst="rect">
            <a:avLst/>
          </a:prstGeom>
          <a:solidFill>
            <a:srgbClr val="EDEEF5"/>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1" name="TextBox 100">
            <a:extLst>
              <a:ext uri="{FF2B5EF4-FFF2-40B4-BE49-F238E27FC236}">
                <a16:creationId xmlns:a16="http://schemas.microsoft.com/office/drawing/2014/main" id="{94C28CC7-C478-67DE-5ADB-98D42239EAA5}"/>
              </a:ext>
            </a:extLst>
          </p:cNvPr>
          <p:cNvSpPr txBox="1"/>
          <p:nvPr/>
        </p:nvSpPr>
        <p:spPr>
          <a:xfrm>
            <a:off x="9468418" y="3682889"/>
            <a:ext cx="67473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3A3A3A"/>
                </a:solidFill>
                <a:effectLst/>
                <a:uLnTx/>
                <a:uFillTx/>
                <a:latin typeface="Segoe UI"/>
                <a:ea typeface="+mn-ea"/>
                <a:cs typeface="Segoe UI"/>
                <a:sym typeface="Segoe UI"/>
                <a:rtl val="0"/>
              </a:rPr>
              <a:t>Degree</a:t>
            </a:r>
          </a:p>
        </p:txBody>
      </p:sp>
      <p:sp>
        <p:nvSpPr>
          <p:cNvPr id="102" name="Freeform: Shape 101">
            <a:extLst>
              <a:ext uri="{FF2B5EF4-FFF2-40B4-BE49-F238E27FC236}">
                <a16:creationId xmlns:a16="http://schemas.microsoft.com/office/drawing/2014/main" id="{610FB963-250B-8DC7-EC41-687A182AC4FF}"/>
              </a:ext>
            </a:extLst>
          </p:cNvPr>
          <p:cNvSpPr/>
          <p:nvPr/>
        </p:nvSpPr>
        <p:spPr>
          <a:xfrm>
            <a:off x="9019491" y="2103017"/>
            <a:ext cx="14617" cy="496993"/>
          </a:xfrm>
          <a:custGeom>
            <a:avLst/>
            <a:gdLst>
              <a:gd name="csX0" fmla="*/ 0 w 14617"/>
              <a:gd name="csY0" fmla="*/ 496994 h 496993"/>
              <a:gd name="csX1" fmla="*/ 0 w 14617"/>
              <a:gd name="csY1" fmla="*/ 0 h 496993"/>
            </a:gdLst>
            <a:ahLst/>
            <a:cxnLst>
              <a:cxn ang="0">
                <a:pos x="csX0" y="csY0"/>
              </a:cxn>
              <a:cxn ang="0">
                <a:pos x="csX1" y="csY1"/>
              </a:cxn>
            </a:cxnLst>
            <a:rect l="l" t="t" r="r" b="b"/>
            <a:pathLst>
              <a:path w="14617" h="496993">
                <a:moveTo>
                  <a:pt x="0" y="496994"/>
                </a:moveTo>
                <a:lnTo>
                  <a:pt x="0" y="0"/>
                </a:lnTo>
              </a:path>
            </a:pathLst>
          </a:custGeom>
          <a:ln w="21896" cap="flat">
            <a:solidFill>
              <a:srgbClr val="CECDED"/>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3" name="Freeform: Shape 102">
            <a:extLst>
              <a:ext uri="{FF2B5EF4-FFF2-40B4-BE49-F238E27FC236}">
                <a16:creationId xmlns:a16="http://schemas.microsoft.com/office/drawing/2014/main" id="{42DD8D74-5B04-6C61-606A-C44B9AA09DF6}"/>
              </a:ext>
            </a:extLst>
          </p:cNvPr>
          <p:cNvSpPr/>
          <p:nvPr/>
        </p:nvSpPr>
        <p:spPr>
          <a:xfrm>
            <a:off x="8946403" y="1956842"/>
            <a:ext cx="146174" cy="175409"/>
          </a:xfrm>
          <a:custGeom>
            <a:avLst/>
            <a:gdLst>
              <a:gd name="csX0" fmla="*/ 0 w 146174"/>
              <a:gd name="csY0" fmla="*/ 175409 h 175409"/>
              <a:gd name="csX1" fmla="*/ 73087 w 146174"/>
              <a:gd name="csY1" fmla="*/ 0 h 175409"/>
              <a:gd name="csX2" fmla="*/ 146175 w 146174"/>
              <a:gd name="csY2" fmla="*/ 175409 h 175409"/>
            </a:gdLst>
            <a:ahLst/>
            <a:cxnLst>
              <a:cxn ang="0">
                <a:pos x="csX0" y="csY0"/>
              </a:cxn>
              <a:cxn ang="0">
                <a:pos x="csX1" y="csY1"/>
              </a:cxn>
              <a:cxn ang="0">
                <a:pos x="csX2" y="csY2"/>
              </a:cxn>
            </a:cxnLst>
            <a:rect l="l" t="t" r="r" b="b"/>
            <a:pathLst>
              <a:path w="146174" h="175409">
                <a:moveTo>
                  <a:pt x="0" y="175409"/>
                </a:moveTo>
                <a:lnTo>
                  <a:pt x="73087" y="0"/>
                </a:lnTo>
                <a:lnTo>
                  <a:pt x="146175" y="175409"/>
                </a:lnTo>
                <a:close/>
              </a:path>
            </a:pathLst>
          </a:custGeom>
          <a:solidFill>
            <a:srgbClr val="3E5760"/>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4" name="Rectangle 103">
            <a:extLst>
              <a:ext uri="{FF2B5EF4-FFF2-40B4-BE49-F238E27FC236}">
                <a16:creationId xmlns:a16="http://schemas.microsoft.com/office/drawing/2014/main" id="{542A3787-B21E-AE6E-AF9F-76622FE80AE3}"/>
              </a:ext>
            </a:extLst>
          </p:cNvPr>
          <p:cNvSpPr/>
          <p:nvPr/>
        </p:nvSpPr>
        <p:spPr>
          <a:xfrm>
            <a:off x="8142443" y="1781433"/>
            <a:ext cx="1754094" cy="292349"/>
          </a:xfrm>
          <a:prstGeom prst="rect">
            <a:avLst/>
          </a:prstGeom>
          <a:solidFill>
            <a:srgbClr val="F0F1F7"/>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5" name="TextBox 104">
            <a:extLst>
              <a:ext uri="{FF2B5EF4-FFF2-40B4-BE49-F238E27FC236}">
                <a16:creationId xmlns:a16="http://schemas.microsoft.com/office/drawing/2014/main" id="{80A634B5-D461-891A-E4B9-D26A5FAF4BF3}"/>
              </a:ext>
            </a:extLst>
          </p:cNvPr>
          <p:cNvSpPr txBox="1"/>
          <p:nvPr/>
        </p:nvSpPr>
        <p:spPr>
          <a:xfrm>
            <a:off x="8228682" y="1751072"/>
            <a:ext cx="1503810"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Programs (parent)</a:t>
            </a:r>
          </a:p>
        </p:txBody>
      </p:sp>
      <p:sp>
        <p:nvSpPr>
          <p:cNvPr id="106" name="Freeform: Shape 105">
            <a:extLst>
              <a:ext uri="{FF2B5EF4-FFF2-40B4-BE49-F238E27FC236}">
                <a16:creationId xmlns:a16="http://schemas.microsoft.com/office/drawing/2014/main" id="{A7A5F27E-B2E3-802A-E91E-D25358BB0824}"/>
              </a:ext>
            </a:extLst>
          </p:cNvPr>
          <p:cNvSpPr/>
          <p:nvPr/>
        </p:nvSpPr>
        <p:spPr>
          <a:xfrm>
            <a:off x="7148456" y="3403970"/>
            <a:ext cx="613933" cy="14617"/>
          </a:xfrm>
          <a:custGeom>
            <a:avLst/>
            <a:gdLst>
              <a:gd name="csX0" fmla="*/ 613933 w 613933"/>
              <a:gd name="csY0" fmla="*/ 0 h 14617"/>
              <a:gd name="csX1" fmla="*/ 0 w 613933"/>
              <a:gd name="csY1" fmla="*/ 0 h 14617"/>
            </a:gdLst>
            <a:ahLst/>
            <a:cxnLst>
              <a:cxn ang="0">
                <a:pos x="csX0" y="csY0"/>
              </a:cxn>
              <a:cxn ang="0">
                <a:pos x="csX1" y="csY1"/>
              </a:cxn>
            </a:cxnLst>
            <a:rect l="l" t="t" r="r" b="b"/>
            <a:pathLst>
              <a:path w="613933" h="14617">
                <a:moveTo>
                  <a:pt x="613933" y="0"/>
                </a:moveTo>
                <a:lnTo>
                  <a:pt x="0" y="0"/>
                </a:lnTo>
              </a:path>
            </a:pathLst>
          </a:custGeom>
          <a:ln w="21896" cap="flat">
            <a:solidFill>
              <a:srgbClr val="CECDED"/>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7" name="Rectangle 106">
            <a:extLst>
              <a:ext uri="{FF2B5EF4-FFF2-40B4-BE49-F238E27FC236}">
                <a16:creationId xmlns:a16="http://schemas.microsoft.com/office/drawing/2014/main" id="{797F0905-19DF-95D7-EA4C-D082977123C8}"/>
              </a:ext>
            </a:extLst>
          </p:cNvPr>
          <p:cNvSpPr/>
          <p:nvPr/>
        </p:nvSpPr>
        <p:spPr>
          <a:xfrm>
            <a:off x="6329879" y="3155473"/>
            <a:ext cx="818577" cy="496993"/>
          </a:xfrm>
          <a:prstGeom prst="rect">
            <a:avLst/>
          </a:prstGeom>
          <a:solidFill>
            <a:srgbClr val="F0F1F7"/>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8" name="TextBox 107">
            <a:extLst>
              <a:ext uri="{FF2B5EF4-FFF2-40B4-BE49-F238E27FC236}">
                <a16:creationId xmlns:a16="http://schemas.microsoft.com/office/drawing/2014/main" id="{3F7F7B33-C74F-A5C0-D796-53F2D21F5A10}"/>
              </a:ext>
            </a:extLst>
          </p:cNvPr>
          <p:cNvSpPr txBox="1"/>
          <p:nvPr/>
        </p:nvSpPr>
        <p:spPr>
          <a:xfrm>
            <a:off x="6524072" y="3155504"/>
            <a:ext cx="442750"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B.S.</a:t>
            </a:r>
          </a:p>
        </p:txBody>
      </p:sp>
      <p:sp>
        <p:nvSpPr>
          <p:cNvPr id="109" name="TextBox 108">
            <a:extLst>
              <a:ext uri="{FF2B5EF4-FFF2-40B4-BE49-F238E27FC236}">
                <a16:creationId xmlns:a16="http://schemas.microsoft.com/office/drawing/2014/main" id="{05135151-4E42-5B8E-894C-20A6E9D22937}"/>
              </a:ext>
            </a:extLst>
          </p:cNvPr>
          <p:cNvSpPr txBox="1"/>
          <p:nvPr/>
        </p:nvSpPr>
        <p:spPr>
          <a:xfrm>
            <a:off x="6311069" y="3345531"/>
            <a:ext cx="881523"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err="1">
                <a:ln/>
                <a:solidFill>
                  <a:srgbClr val="3E5760"/>
                </a:solidFill>
                <a:effectLst/>
                <a:uLnTx/>
                <a:uFillTx/>
                <a:latin typeface="Segoe UI"/>
                <a:ea typeface="+mn-ea"/>
                <a:cs typeface="Segoe UI"/>
                <a:sym typeface="Segoe UI"/>
                <a:rtl val="0"/>
              </a:rPr>
              <a:t>Cybersec</a:t>
            </a: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a:t>
            </a:r>
          </a:p>
        </p:txBody>
      </p:sp>
      <p:sp>
        <p:nvSpPr>
          <p:cNvPr id="110" name="Freeform: Shape 109">
            <a:extLst>
              <a:ext uri="{FF2B5EF4-FFF2-40B4-BE49-F238E27FC236}">
                <a16:creationId xmlns:a16="http://schemas.microsoft.com/office/drawing/2014/main" id="{4916EDCB-5CEA-C718-B0C8-6629A2D9D881}"/>
              </a:ext>
            </a:extLst>
          </p:cNvPr>
          <p:cNvSpPr/>
          <p:nvPr/>
        </p:nvSpPr>
        <p:spPr>
          <a:xfrm>
            <a:off x="7557745" y="4207930"/>
            <a:ext cx="701637" cy="672402"/>
          </a:xfrm>
          <a:custGeom>
            <a:avLst/>
            <a:gdLst>
              <a:gd name="csX0" fmla="*/ 701638 w 701637"/>
              <a:gd name="csY0" fmla="*/ 0 h 672402"/>
              <a:gd name="csX1" fmla="*/ 0 w 701637"/>
              <a:gd name="csY1" fmla="*/ 672403 h 672402"/>
            </a:gdLst>
            <a:ahLst/>
            <a:cxnLst>
              <a:cxn ang="0">
                <a:pos x="csX0" y="csY0"/>
              </a:cxn>
              <a:cxn ang="0">
                <a:pos x="csX1" y="csY1"/>
              </a:cxn>
            </a:cxnLst>
            <a:rect l="l" t="t" r="r" b="b"/>
            <a:pathLst>
              <a:path w="701637" h="672402">
                <a:moveTo>
                  <a:pt x="701638" y="0"/>
                </a:moveTo>
                <a:lnTo>
                  <a:pt x="0" y="672403"/>
                </a:lnTo>
              </a:path>
            </a:pathLst>
          </a:custGeom>
          <a:ln w="21896" cap="flat">
            <a:solidFill>
              <a:srgbClr val="CECDED"/>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1" name="Rectangle 110">
            <a:extLst>
              <a:ext uri="{FF2B5EF4-FFF2-40B4-BE49-F238E27FC236}">
                <a16:creationId xmlns:a16="http://schemas.microsoft.com/office/drawing/2014/main" id="{DAB8E194-B1DA-5D09-048D-447DF16E1261}"/>
              </a:ext>
            </a:extLst>
          </p:cNvPr>
          <p:cNvSpPr/>
          <p:nvPr/>
        </p:nvSpPr>
        <p:spPr>
          <a:xfrm>
            <a:off x="6914577" y="4821863"/>
            <a:ext cx="964752" cy="438523"/>
          </a:xfrm>
          <a:prstGeom prst="rect">
            <a:avLst/>
          </a:prstGeom>
          <a:solidFill>
            <a:srgbClr val="F0F1F7"/>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2" name="TextBox 111">
            <a:extLst>
              <a:ext uri="{FF2B5EF4-FFF2-40B4-BE49-F238E27FC236}">
                <a16:creationId xmlns:a16="http://schemas.microsoft.com/office/drawing/2014/main" id="{11083573-9FEE-53D2-1834-EC47678E96DE}"/>
              </a:ext>
            </a:extLst>
          </p:cNvPr>
          <p:cNvSpPr txBox="1"/>
          <p:nvPr/>
        </p:nvSpPr>
        <p:spPr>
          <a:xfrm>
            <a:off x="7059025" y="4821894"/>
            <a:ext cx="695575"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Course</a:t>
            </a:r>
          </a:p>
        </p:txBody>
      </p:sp>
      <p:sp>
        <p:nvSpPr>
          <p:cNvPr id="113" name="TextBox 112">
            <a:extLst>
              <a:ext uri="{FF2B5EF4-FFF2-40B4-BE49-F238E27FC236}">
                <a16:creationId xmlns:a16="http://schemas.microsoft.com/office/drawing/2014/main" id="{7B047511-1222-5BF5-9B68-7247A3385E6D}"/>
              </a:ext>
            </a:extLst>
          </p:cNvPr>
          <p:cNvSpPr txBox="1"/>
          <p:nvPr/>
        </p:nvSpPr>
        <p:spPr>
          <a:xfrm>
            <a:off x="7032763" y="4997304"/>
            <a:ext cx="748923"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Catalog</a:t>
            </a:r>
          </a:p>
        </p:txBody>
      </p:sp>
      <p:sp>
        <p:nvSpPr>
          <p:cNvPr id="114" name="Freeform: Shape 113">
            <a:extLst>
              <a:ext uri="{FF2B5EF4-FFF2-40B4-BE49-F238E27FC236}">
                <a16:creationId xmlns:a16="http://schemas.microsoft.com/office/drawing/2014/main" id="{617E9AC1-22EC-821C-DC00-9BECB28DBC58}"/>
              </a:ext>
            </a:extLst>
          </p:cNvPr>
          <p:cNvSpPr/>
          <p:nvPr/>
        </p:nvSpPr>
        <p:spPr>
          <a:xfrm>
            <a:off x="9019491" y="4207930"/>
            <a:ext cx="14617" cy="672402"/>
          </a:xfrm>
          <a:custGeom>
            <a:avLst/>
            <a:gdLst>
              <a:gd name="csX0" fmla="*/ 0 w 14617"/>
              <a:gd name="csY0" fmla="*/ 0 h 672402"/>
              <a:gd name="csX1" fmla="*/ 0 w 14617"/>
              <a:gd name="csY1" fmla="*/ 672403 h 672402"/>
            </a:gdLst>
            <a:ahLst/>
            <a:cxnLst>
              <a:cxn ang="0">
                <a:pos x="csX0" y="csY0"/>
              </a:cxn>
              <a:cxn ang="0">
                <a:pos x="csX1" y="csY1"/>
              </a:cxn>
            </a:cxnLst>
            <a:rect l="l" t="t" r="r" b="b"/>
            <a:pathLst>
              <a:path w="14617" h="672402">
                <a:moveTo>
                  <a:pt x="0" y="0"/>
                </a:moveTo>
                <a:lnTo>
                  <a:pt x="0" y="672403"/>
                </a:lnTo>
              </a:path>
            </a:pathLst>
          </a:custGeom>
          <a:ln w="21896" cap="flat">
            <a:solidFill>
              <a:srgbClr val="CECDED"/>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5" name="Rectangle 114">
            <a:extLst>
              <a:ext uri="{FF2B5EF4-FFF2-40B4-BE49-F238E27FC236}">
                <a16:creationId xmlns:a16="http://schemas.microsoft.com/office/drawing/2014/main" id="{C71AC6FA-DDCB-FA9F-CBDC-C1DF55B54616}"/>
              </a:ext>
            </a:extLst>
          </p:cNvPr>
          <p:cNvSpPr/>
          <p:nvPr/>
        </p:nvSpPr>
        <p:spPr>
          <a:xfrm>
            <a:off x="8493262" y="4880333"/>
            <a:ext cx="1052456" cy="438523"/>
          </a:xfrm>
          <a:prstGeom prst="rect">
            <a:avLst/>
          </a:prstGeom>
          <a:solidFill>
            <a:srgbClr val="F0F1F7"/>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6" name="TextBox 115">
            <a:extLst>
              <a:ext uri="{FF2B5EF4-FFF2-40B4-BE49-F238E27FC236}">
                <a16:creationId xmlns:a16="http://schemas.microsoft.com/office/drawing/2014/main" id="{B814FFB7-DA1B-F0C6-66C8-94DDE59BA082}"/>
              </a:ext>
            </a:extLst>
          </p:cNvPr>
          <p:cNvSpPr txBox="1"/>
          <p:nvPr/>
        </p:nvSpPr>
        <p:spPr>
          <a:xfrm>
            <a:off x="8682387" y="4880364"/>
            <a:ext cx="693075"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Faculty</a:t>
            </a:r>
          </a:p>
        </p:txBody>
      </p:sp>
      <p:sp>
        <p:nvSpPr>
          <p:cNvPr id="117" name="TextBox 116">
            <a:extLst>
              <a:ext uri="{FF2B5EF4-FFF2-40B4-BE49-F238E27FC236}">
                <a16:creationId xmlns:a16="http://schemas.microsoft.com/office/drawing/2014/main" id="{80A19632-A525-0696-FBE1-308292B89FFC}"/>
              </a:ext>
            </a:extLst>
          </p:cNvPr>
          <p:cNvSpPr txBox="1"/>
          <p:nvPr/>
        </p:nvSpPr>
        <p:spPr>
          <a:xfrm>
            <a:off x="8603876" y="5055774"/>
            <a:ext cx="857927"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Directory</a:t>
            </a:r>
          </a:p>
        </p:txBody>
      </p:sp>
      <p:sp>
        <p:nvSpPr>
          <p:cNvPr id="118" name="Freeform: Shape 117">
            <a:extLst>
              <a:ext uri="{FF2B5EF4-FFF2-40B4-BE49-F238E27FC236}">
                <a16:creationId xmlns:a16="http://schemas.microsoft.com/office/drawing/2014/main" id="{A144DB56-2F6F-B597-3B53-E4C05A7543F1}"/>
              </a:ext>
            </a:extLst>
          </p:cNvPr>
          <p:cNvSpPr/>
          <p:nvPr/>
        </p:nvSpPr>
        <p:spPr>
          <a:xfrm>
            <a:off x="9779598" y="4207930"/>
            <a:ext cx="643168" cy="672402"/>
          </a:xfrm>
          <a:custGeom>
            <a:avLst/>
            <a:gdLst>
              <a:gd name="csX0" fmla="*/ 0 w 643168"/>
              <a:gd name="csY0" fmla="*/ 0 h 672402"/>
              <a:gd name="csX1" fmla="*/ 643168 w 643168"/>
              <a:gd name="csY1" fmla="*/ 672403 h 672402"/>
            </a:gdLst>
            <a:ahLst/>
            <a:cxnLst>
              <a:cxn ang="0">
                <a:pos x="csX0" y="csY0"/>
              </a:cxn>
              <a:cxn ang="0">
                <a:pos x="csX1" y="csY1"/>
              </a:cxn>
            </a:cxnLst>
            <a:rect l="l" t="t" r="r" b="b"/>
            <a:pathLst>
              <a:path w="643168" h="672402">
                <a:moveTo>
                  <a:pt x="0" y="0"/>
                </a:moveTo>
                <a:lnTo>
                  <a:pt x="643168" y="672403"/>
                </a:lnTo>
              </a:path>
            </a:pathLst>
          </a:custGeom>
          <a:ln w="21896" cap="flat">
            <a:solidFill>
              <a:srgbClr val="CECDED"/>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9" name="Rectangle 118">
            <a:extLst>
              <a:ext uri="{FF2B5EF4-FFF2-40B4-BE49-F238E27FC236}">
                <a16:creationId xmlns:a16="http://schemas.microsoft.com/office/drawing/2014/main" id="{7B2FD617-0827-D56D-948E-47880E360B51}"/>
              </a:ext>
            </a:extLst>
          </p:cNvPr>
          <p:cNvSpPr/>
          <p:nvPr/>
        </p:nvSpPr>
        <p:spPr>
          <a:xfrm>
            <a:off x="10159652" y="4821863"/>
            <a:ext cx="964752" cy="438523"/>
          </a:xfrm>
          <a:prstGeom prst="rect">
            <a:avLst/>
          </a:prstGeom>
          <a:solidFill>
            <a:srgbClr val="F0F1F7"/>
          </a:solidFill>
          <a:ln w="1459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0" name="TextBox 119">
            <a:extLst>
              <a:ext uri="{FF2B5EF4-FFF2-40B4-BE49-F238E27FC236}">
                <a16:creationId xmlns:a16="http://schemas.microsoft.com/office/drawing/2014/main" id="{CA8E6B9C-0C7C-BBC2-C58B-EF6C74247E1D}"/>
              </a:ext>
            </a:extLst>
          </p:cNvPr>
          <p:cNvSpPr txBox="1"/>
          <p:nvPr/>
        </p:nvSpPr>
        <p:spPr>
          <a:xfrm>
            <a:off x="10345829" y="4821894"/>
            <a:ext cx="607859"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Apply</a:t>
            </a:r>
          </a:p>
        </p:txBody>
      </p:sp>
      <p:sp>
        <p:nvSpPr>
          <p:cNvPr id="121" name="TextBox 120">
            <a:extLst>
              <a:ext uri="{FF2B5EF4-FFF2-40B4-BE49-F238E27FC236}">
                <a16:creationId xmlns:a16="http://schemas.microsoft.com/office/drawing/2014/main" id="{B2318C2C-5E84-735F-A3FB-FE8FD26F8509}"/>
              </a:ext>
            </a:extLst>
          </p:cNvPr>
          <p:cNvSpPr txBox="1"/>
          <p:nvPr/>
        </p:nvSpPr>
        <p:spPr>
          <a:xfrm>
            <a:off x="10385242" y="4997304"/>
            <a:ext cx="527709"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3E5760"/>
                </a:solidFill>
                <a:effectLst/>
                <a:uLnTx/>
                <a:uFillTx/>
                <a:latin typeface="Segoe UI"/>
                <a:ea typeface="+mn-ea"/>
                <a:cs typeface="Segoe UI"/>
                <a:sym typeface="Segoe UI"/>
                <a:rtl val="0"/>
              </a:rPr>
              <a:t>Now</a:t>
            </a:r>
          </a:p>
        </p:txBody>
      </p:sp>
      <p:sp>
        <p:nvSpPr>
          <p:cNvPr id="122" name="Freeform: Shape 121">
            <a:extLst>
              <a:ext uri="{FF2B5EF4-FFF2-40B4-BE49-F238E27FC236}">
                <a16:creationId xmlns:a16="http://schemas.microsoft.com/office/drawing/2014/main" id="{4F546229-BE36-E565-B7E5-4315F0604415}"/>
              </a:ext>
            </a:extLst>
          </p:cNvPr>
          <p:cNvSpPr/>
          <p:nvPr/>
        </p:nvSpPr>
        <p:spPr>
          <a:xfrm>
            <a:off x="10276592" y="2658480"/>
            <a:ext cx="380053" cy="394671"/>
          </a:xfrm>
          <a:custGeom>
            <a:avLst/>
            <a:gdLst>
              <a:gd name="csX0" fmla="*/ 0 w 380053"/>
              <a:gd name="csY0" fmla="*/ 394671 h 394671"/>
              <a:gd name="csX1" fmla="*/ 380054 w 380053"/>
              <a:gd name="csY1" fmla="*/ 0 h 394671"/>
            </a:gdLst>
            <a:ahLst/>
            <a:cxnLst>
              <a:cxn ang="0">
                <a:pos x="csX0" y="csY0"/>
              </a:cxn>
              <a:cxn ang="0">
                <a:pos x="csX1" y="csY1"/>
              </a:cxn>
            </a:cxnLst>
            <a:rect l="l" t="t" r="r" b="b"/>
            <a:pathLst>
              <a:path w="380053" h="394671">
                <a:moveTo>
                  <a:pt x="0" y="394671"/>
                </a:moveTo>
                <a:lnTo>
                  <a:pt x="380054" y="0"/>
                </a:lnTo>
              </a:path>
            </a:pathLst>
          </a:custGeom>
          <a:ln w="20436" cap="flat">
            <a:solidFill>
              <a:srgbClr val="C23592"/>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3" name="Rectangle 122">
            <a:extLst>
              <a:ext uri="{FF2B5EF4-FFF2-40B4-BE49-F238E27FC236}">
                <a16:creationId xmlns:a16="http://schemas.microsoft.com/office/drawing/2014/main" id="{532F9F38-43E9-3387-4ACA-C972750608A2}"/>
              </a:ext>
            </a:extLst>
          </p:cNvPr>
          <p:cNvSpPr/>
          <p:nvPr/>
        </p:nvSpPr>
        <p:spPr>
          <a:xfrm>
            <a:off x="10656645" y="2424601"/>
            <a:ext cx="1227866" cy="496993"/>
          </a:xfrm>
          <a:prstGeom prst="rect">
            <a:avLst/>
          </a:prstGeom>
          <a:solidFill>
            <a:srgbClr val="FFFFFF"/>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4" name="TextBox 123">
            <a:extLst>
              <a:ext uri="{FF2B5EF4-FFF2-40B4-BE49-F238E27FC236}">
                <a16:creationId xmlns:a16="http://schemas.microsoft.com/office/drawing/2014/main" id="{DA04D127-6DA1-2440-0D63-3D319ED88E9B}"/>
              </a:ext>
            </a:extLst>
          </p:cNvPr>
          <p:cNvSpPr txBox="1"/>
          <p:nvPr/>
        </p:nvSpPr>
        <p:spPr>
          <a:xfrm>
            <a:off x="10623675" y="2378467"/>
            <a:ext cx="1310808"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C23592"/>
                </a:solidFill>
                <a:effectLst/>
                <a:uLnTx/>
                <a:uFillTx/>
                <a:latin typeface="Segoe UI"/>
                <a:ea typeface="+mn-ea"/>
                <a:cs typeface="Segoe UI"/>
                <a:sym typeface="Segoe UI"/>
                <a:rtl val="0"/>
              </a:rPr>
              <a:t>Where am I?</a:t>
            </a:r>
          </a:p>
        </p:txBody>
      </p:sp>
      <p:sp>
        <p:nvSpPr>
          <p:cNvPr id="125" name="TextBox 124">
            <a:extLst>
              <a:ext uri="{FF2B5EF4-FFF2-40B4-BE49-F238E27FC236}">
                <a16:creationId xmlns:a16="http://schemas.microsoft.com/office/drawing/2014/main" id="{00880CA1-7E99-1342-CD75-B53728BB15BD}"/>
              </a:ext>
            </a:extLst>
          </p:cNvPr>
          <p:cNvSpPr txBox="1"/>
          <p:nvPr/>
        </p:nvSpPr>
        <p:spPr>
          <a:xfrm>
            <a:off x="10623675" y="2614659"/>
            <a:ext cx="1400768"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C23592"/>
                </a:solidFill>
                <a:effectLst/>
                <a:uLnTx/>
                <a:uFillTx/>
                <a:latin typeface="Segoe UI"/>
                <a:ea typeface="+mn-ea"/>
                <a:cs typeface="Segoe UI"/>
                <a:sym typeface="Segoe UI"/>
                <a:rtl val="0"/>
              </a:rPr>
              <a:t>Breadcrumb trail</a:t>
            </a:r>
          </a:p>
        </p:txBody>
      </p:sp>
      <p:sp>
        <p:nvSpPr>
          <p:cNvPr id="126" name="Freeform: Shape 125">
            <a:extLst>
              <a:ext uri="{FF2B5EF4-FFF2-40B4-BE49-F238E27FC236}">
                <a16:creationId xmlns:a16="http://schemas.microsoft.com/office/drawing/2014/main" id="{29581D71-0ABC-F60F-3785-3EA8C77699C0}"/>
              </a:ext>
            </a:extLst>
          </p:cNvPr>
          <p:cNvSpPr/>
          <p:nvPr/>
        </p:nvSpPr>
        <p:spPr>
          <a:xfrm>
            <a:off x="10276592" y="3477058"/>
            <a:ext cx="380053" cy="14617"/>
          </a:xfrm>
          <a:custGeom>
            <a:avLst/>
            <a:gdLst>
              <a:gd name="csX0" fmla="*/ 0 w 380053"/>
              <a:gd name="csY0" fmla="*/ 0 h 14617"/>
              <a:gd name="csX1" fmla="*/ 380054 w 380053"/>
              <a:gd name="csY1" fmla="*/ 0 h 14617"/>
            </a:gdLst>
            <a:ahLst/>
            <a:cxnLst>
              <a:cxn ang="0">
                <a:pos x="csX0" y="csY0"/>
              </a:cxn>
              <a:cxn ang="0">
                <a:pos x="csX1" y="csY1"/>
              </a:cxn>
            </a:cxnLst>
            <a:rect l="l" t="t" r="r" b="b"/>
            <a:pathLst>
              <a:path w="380053" h="14617">
                <a:moveTo>
                  <a:pt x="0" y="0"/>
                </a:moveTo>
                <a:lnTo>
                  <a:pt x="380054" y="0"/>
                </a:lnTo>
              </a:path>
            </a:pathLst>
          </a:custGeom>
          <a:ln w="20436"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7" name="Rectangle 126">
            <a:extLst>
              <a:ext uri="{FF2B5EF4-FFF2-40B4-BE49-F238E27FC236}">
                <a16:creationId xmlns:a16="http://schemas.microsoft.com/office/drawing/2014/main" id="{21C01202-8ED9-63CE-8B43-D4CE5F5D0E43}"/>
              </a:ext>
            </a:extLst>
          </p:cNvPr>
          <p:cNvSpPr/>
          <p:nvPr/>
        </p:nvSpPr>
        <p:spPr>
          <a:xfrm>
            <a:off x="10656645" y="3272413"/>
            <a:ext cx="1227866" cy="496993"/>
          </a:xfrm>
          <a:prstGeom prst="rect">
            <a:avLst/>
          </a:prstGeom>
          <a:solidFill>
            <a:srgbClr val="FFFFFF"/>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28" name="TextBox 127">
            <a:extLst>
              <a:ext uri="{FF2B5EF4-FFF2-40B4-BE49-F238E27FC236}">
                <a16:creationId xmlns:a16="http://schemas.microsoft.com/office/drawing/2014/main" id="{5E64DA0C-D54C-42C2-9CCC-D151610796EA}"/>
              </a:ext>
            </a:extLst>
          </p:cNvPr>
          <p:cNvSpPr txBox="1"/>
          <p:nvPr/>
        </p:nvSpPr>
        <p:spPr>
          <a:xfrm>
            <a:off x="10623675" y="3226279"/>
            <a:ext cx="1342932"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44F9C"/>
                </a:solidFill>
                <a:effectLst/>
                <a:uLnTx/>
                <a:uFillTx/>
                <a:latin typeface="Segoe UI"/>
                <a:ea typeface="+mn-ea"/>
                <a:cs typeface="Segoe UI"/>
                <a:sym typeface="Segoe UI"/>
                <a:rtl val="0"/>
              </a:rPr>
              <a:t>What's here?</a:t>
            </a:r>
          </a:p>
        </p:txBody>
      </p:sp>
      <p:sp>
        <p:nvSpPr>
          <p:cNvPr id="129" name="TextBox 128">
            <a:extLst>
              <a:ext uri="{FF2B5EF4-FFF2-40B4-BE49-F238E27FC236}">
                <a16:creationId xmlns:a16="http://schemas.microsoft.com/office/drawing/2014/main" id="{AB9B9D5B-600A-0377-821A-28D31514806C}"/>
              </a:ext>
            </a:extLst>
          </p:cNvPr>
          <p:cNvSpPr txBox="1"/>
          <p:nvPr/>
        </p:nvSpPr>
        <p:spPr>
          <a:xfrm>
            <a:off x="10623675" y="3462471"/>
            <a:ext cx="1377749"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444F9C"/>
                </a:solidFill>
                <a:effectLst/>
                <a:uLnTx/>
                <a:uFillTx/>
                <a:latin typeface="Segoe UI"/>
                <a:ea typeface="+mn-ea"/>
                <a:cs typeface="Segoe UI"/>
                <a:sym typeface="Segoe UI"/>
                <a:rtl val="0"/>
              </a:rPr>
              <a:t>Structure &amp; tags</a:t>
            </a:r>
          </a:p>
        </p:txBody>
      </p:sp>
      <p:sp>
        <p:nvSpPr>
          <p:cNvPr id="130" name="Freeform: Shape 129">
            <a:extLst>
              <a:ext uri="{FF2B5EF4-FFF2-40B4-BE49-F238E27FC236}">
                <a16:creationId xmlns:a16="http://schemas.microsoft.com/office/drawing/2014/main" id="{72BBF317-C6AE-EA83-75E0-D03F68806F48}"/>
              </a:ext>
            </a:extLst>
          </p:cNvPr>
          <p:cNvSpPr/>
          <p:nvPr/>
        </p:nvSpPr>
        <p:spPr>
          <a:xfrm>
            <a:off x="10276592" y="4003286"/>
            <a:ext cx="380053" cy="321584"/>
          </a:xfrm>
          <a:custGeom>
            <a:avLst/>
            <a:gdLst>
              <a:gd name="csX0" fmla="*/ 0 w 380053"/>
              <a:gd name="csY0" fmla="*/ 0 h 321584"/>
              <a:gd name="csX1" fmla="*/ 380054 w 380053"/>
              <a:gd name="csY1" fmla="*/ 321584 h 321584"/>
            </a:gdLst>
            <a:ahLst/>
            <a:cxnLst>
              <a:cxn ang="0">
                <a:pos x="csX0" y="csY0"/>
              </a:cxn>
              <a:cxn ang="0">
                <a:pos x="csX1" y="csY1"/>
              </a:cxn>
            </a:cxnLst>
            <a:rect l="l" t="t" r="r" b="b"/>
            <a:pathLst>
              <a:path w="380053" h="321584">
                <a:moveTo>
                  <a:pt x="0" y="0"/>
                </a:moveTo>
                <a:lnTo>
                  <a:pt x="380054" y="321584"/>
                </a:lnTo>
              </a:path>
            </a:pathLst>
          </a:custGeom>
          <a:ln w="20436" cap="flat">
            <a:solidFill>
              <a:srgbClr val="762DBF"/>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31" name="Rectangle 130">
            <a:extLst>
              <a:ext uri="{FF2B5EF4-FFF2-40B4-BE49-F238E27FC236}">
                <a16:creationId xmlns:a16="http://schemas.microsoft.com/office/drawing/2014/main" id="{C4E20537-F5C6-795D-5DEF-B797217DAB4F}"/>
              </a:ext>
            </a:extLst>
          </p:cNvPr>
          <p:cNvSpPr/>
          <p:nvPr/>
        </p:nvSpPr>
        <p:spPr>
          <a:xfrm>
            <a:off x="10656645" y="4149460"/>
            <a:ext cx="1227866" cy="555463"/>
          </a:xfrm>
          <a:prstGeom prst="rect">
            <a:avLst/>
          </a:prstGeom>
          <a:solidFill>
            <a:srgbClr val="FFFFFF"/>
          </a:solidFill>
          <a:ln w="1459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32" name="TextBox 131">
            <a:extLst>
              <a:ext uri="{FF2B5EF4-FFF2-40B4-BE49-F238E27FC236}">
                <a16:creationId xmlns:a16="http://schemas.microsoft.com/office/drawing/2014/main" id="{B9EDCF2D-5FE1-4F10-D226-60F080D83679}"/>
              </a:ext>
            </a:extLst>
          </p:cNvPr>
          <p:cNvSpPr txBox="1"/>
          <p:nvPr/>
        </p:nvSpPr>
        <p:spPr>
          <a:xfrm>
            <a:off x="10623675" y="4103327"/>
            <a:ext cx="1259512"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762DBF"/>
                </a:solidFill>
                <a:effectLst/>
                <a:uLnTx/>
                <a:uFillTx/>
                <a:latin typeface="Segoe UI"/>
                <a:ea typeface="+mn-ea"/>
                <a:cs typeface="Segoe UI"/>
                <a:sym typeface="Segoe UI"/>
                <a:rtl val="0"/>
              </a:rPr>
              <a:t>Where can I</a:t>
            </a:r>
          </a:p>
        </p:txBody>
      </p:sp>
      <p:sp>
        <p:nvSpPr>
          <p:cNvPr id="133" name="TextBox 132">
            <a:extLst>
              <a:ext uri="{FF2B5EF4-FFF2-40B4-BE49-F238E27FC236}">
                <a16:creationId xmlns:a16="http://schemas.microsoft.com/office/drawing/2014/main" id="{9EB215D2-9ED8-69DE-9660-AD763DA7375A}"/>
              </a:ext>
            </a:extLst>
          </p:cNvPr>
          <p:cNvSpPr txBox="1"/>
          <p:nvPr/>
        </p:nvSpPr>
        <p:spPr>
          <a:xfrm>
            <a:off x="10623675" y="4307971"/>
            <a:ext cx="1219052" cy="29238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solidFill>
                  <a:srgbClr val="762DBF"/>
                </a:solidFill>
                <a:effectLst/>
                <a:uLnTx/>
                <a:uFillTx/>
                <a:latin typeface="Segoe UI"/>
                <a:ea typeface="+mn-ea"/>
                <a:cs typeface="Segoe UI"/>
                <a:sym typeface="Segoe UI"/>
                <a:rtl val="0"/>
              </a:rPr>
              <a:t>go from here?</a:t>
            </a:r>
          </a:p>
        </p:txBody>
      </p:sp>
      <p:sp>
        <p:nvSpPr>
          <p:cNvPr id="135" name="TextBox 134">
            <a:extLst>
              <a:ext uri="{FF2B5EF4-FFF2-40B4-BE49-F238E27FC236}">
                <a16:creationId xmlns:a16="http://schemas.microsoft.com/office/drawing/2014/main" id="{72288315-C800-E877-4BC1-CE0B8A1E14CE}"/>
              </a:ext>
            </a:extLst>
          </p:cNvPr>
          <p:cNvSpPr txBox="1"/>
          <p:nvPr/>
        </p:nvSpPr>
        <p:spPr>
          <a:xfrm>
            <a:off x="764729" y="6029417"/>
            <a:ext cx="1090946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venir"/>
                <a:ea typeface="+mn-ea"/>
                <a:cs typeface="+mn-cs"/>
              </a:rPr>
              <a:t>Questions based on Rosenfeld, Morville, &amp; Arango (2015). 5. The Anatomy of an Information Architecture. In </a:t>
            </a:r>
            <a:r>
              <a:rPr kumimoji="0" lang="en-US" sz="1800" b="0" i="1" u="none" strike="noStrike" kern="1200" cap="none" spc="0" normalizeH="0" baseline="0" noProof="0" dirty="0">
                <a:ln>
                  <a:noFill/>
                </a:ln>
                <a:solidFill>
                  <a:prstClr val="black"/>
                </a:solidFill>
                <a:effectLst/>
                <a:uLnTx/>
                <a:uFillTx/>
                <a:latin typeface="Avenir"/>
                <a:ea typeface="+mn-ea"/>
                <a:cs typeface="+mn-cs"/>
              </a:rPr>
              <a:t>Information Architecture, 4th Edition. </a:t>
            </a:r>
            <a:r>
              <a:rPr kumimoji="0" lang="en-US" sz="1800" b="0" i="0" u="none" strike="noStrike" kern="1200" cap="none" spc="0" normalizeH="0" baseline="0" noProof="0" dirty="0">
                <a:ln>
                  <a:noFill/>
                </a:ln>
                <a:solidFill>
                  <a:prstClr val="black"/>
                </a:solidFill>
                <a:effectLst/>
                <a:uLnTx/>
                <a:uFillTx/>
                <a:latin typeface="Avenir"/>
                <a:ea typeface="+mn-ea"/>
                <a:cs typeface="+mn-cs"/>
              </a:rPr>
              <a:t>O’Reilly Media, Inc.</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B75409-E8EA-B5A2-DABD-C45AA0D7030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E4AAA3-EB93-79A1-E368-A386E205C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a:ea typeface="+mn-ea"/>
              <a:cs typeface="+mn-cs"/>
            </a:endParaRPr>
          </a:p>
        </p:txBody>
      </p:sp>
      <p:sp>
        <p:nvSpPr>
          <p:cNvPr id="8" name="Title 1">
            <a:extLst>
              <a:ext uri="{FF2B5EF4-FFF2-40B4-BE49-F238E27FC236}">
                <a16:creationId xmlns:a16="http://schemas.microsoft.com/office/drawing/2014/main" id="{A025CBF8-4485-493D-3089-15B0CFB0D867}"/>
              </a:ext>
            </a:extLst>
          </p:cNvPr>
          <p:cNvSpPr>
            <a:spLocks noGrp="1"/>
          </p:cNvSpPr>
          <p:nvPr>
            <p:ph type="title"/>
          </p:nvPr>
        </p:nvSpPr>
        <p:spPr>
          <a:xfrm>
            <a:off x="680484" y="274638"/>
            <a:ext cx="11052856" cy="1143000"/>
          </a:xfrm>
        </p:spPr>
        <p:txBody>
          <a:bodyPr vert="horz" lIns="0" tIns="45720" rIns="10" bIns="45720" rtlCol="0" anchor="ctr">
            <a:noAutofit/>
          </a:bodyPr>
          <a:lstStyle/>
          <a:p>
            <a:pPr algn="ctr"/>
            <a:r>
              <a:rPr lang="en-US" dirty="0"/>
              <a:t>Bottom-up IA Design Features: </a:t>
            </a:r>
            <a:r>
              <a:rPr lang="en-US" sz="3100" dirty="0">
                <a:solidFill>
                  <a:schemeClr val="accent4">
                    <a:lumMod val="50000"/>
                  </a:schemeClr>
                </a:solidFill>
              </a:rPr>
              <a:t>Specific Site Page</a:t>
            </a:r>
            <a:endParaRPr sz="3100" dirty="0">
              <a:solidFill>
                <a:schemeClr val="accent4">
                  <a:lumMod val="50000"/>
                </a:schemeClr>
              </a:solidFill>
            </a:endParaRPr>
          </a:p>
        </p:txBody>
      </p:sp>
      <p:sp>
        <p:nvSpPr>
          <p:cNvPr id="13" name="Oval 12">
            <a:extLst>
              <a:ext uri="{FF2B5EF4-FFF2-40B4-BE49-F238E27FC236}">
                <a16:creationId xmlns:a16="http://schemas.microsoft.com/office/drawing/2014/main" id="{61D440F2-D988-13B0-5B70-7D5C7E4895CF}"/>
              </a:ext>
            </a:extLst>
          </p:cNvPr>
          <p:cNvSpPr/>
          <p:nvPr/>
        </p:nvSpPr>
        <p:spPr>
          <a:xfrm>
            <a:off x="1920550" y="5261747"/>
            <a:ext cx="1677242" cy="1677242"/>
          </a:xfrm>
          <a:prstGeom prst="ellipse">
            <a:avLst/>
          </a:prstGeom>
          <a:solidFill>
            <a:srgbClr val="F4F4F4">
              <a:alpha val="55000"/>
            </a:srgbClr>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4" name="Oval 13">
            <a:extLst>
              <a:ext uri="{FF2B5EF4-FFF2-40B4-BE49-F238E27FC236}">
                <a16:creationId xmlns:a16="http://schemas.microsoft.com/office/drawing/2014/main" id="{3981A1C0-2A1E-B41E-BFDA-55CDD6E4A383}"/>
              </a:ext>
            </a:extLst>
          </p:cNvPr>
          <p:cNvSpPr/>
          <p:nvPr/>
        </p:nvSpPr>
        <p:spPr>
          <a:xfrm>
            <a:off x="2247171" y="5588368"/>
            <a:ext cx="1024000" cy="1024000"/>
          </a:xfrm>
          <a:prstGeom prst="ellipse">
            <a:avLst/>
          </a:prstGeom>
          <a:solidFill>
            <a:srgbClr val="EDEEF5">
              <a:alpha val="45000"/>
            </a:srgbClr>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6" name="TextBox 15">
            <a:extLst>
              <a:ext uri="{FF2B5EF4-FFF2-40B4-BE49-F238E27FC236}">
                <a16:creationId xmlns:a16="http://schemas.microsoft.com/office/drawing/2014/main" id="{E8EF54B0-2198-3A5F-9B98-9D2A0652C614}"/>
              </a:ext>
            </a:extLst>
          </p:cNvPr>
          <p:cNvSpPr txBox="1"/>
          <p:nvPr/>
        </p:nvSpPr>
        <p:spPr>
          <a:xfrm>
            <a:off x="2577056" y="1139263"/>
            <a:ext cx="703788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solidFill>
                  <a:srgbClr val="3E5760"/>
                </a:solidFill>
                <a:effectLst/>
                <a:uLnTx/>
                <a:uFillTx/>
                <a:latin typeface="Avenir"/>
                <a:ea typeface="+mn-ea"/>
                <a:cs typeface="Segoe UI"/>
                <a:sym typeface="Segoe UI"/>
                <a:rtl val="0"/>
              </a:rPr>
              <a:t>Interior page features that orient users and connect content</a:t>
            </a:r>
          </a:p>
        </p:txBody>
      </p:sp>
      <p:sp>
        <p:nvSpPr>
          <p:cNvPr id="17" name="Rectangle 16">
            <a:extLst>
              <a:ext uri="{FF2B5EF4-FFF2-40B4-BE49-F238E27FC236}">
                <a16:creationId xmlns:a16="http://schemas.microsoft.com/office/drawing/2014/main" id="{55792E94-83EE-8BFA-A38C-53796E159E03}"/>
              </a:ext>
            </a:extLst>
          </p:cNvPr>
          <p:cNvSpPr/>
          <p:nvPr/>
        </p:nvSpPr>
        <p:spPr>
          <a:xfrm>
            <a:off x="2459033" y="1880780"/>
            <a:ext cx="7273934" cy="4660967"/>
          </a:xfrm>
          <a:prstGeom prst="rect">
            <a:avLst/>
          </a:prstGeom>
          <a:solidFill>
            <a:srgbClr val="F0F1F7"/>
          </a:solidFill>
          <a:ln w="13240"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8" name="Rectangle 17">
            <a:extLst>
              <a:ext uri="{FF2B5EF4-FFF2-40B4-BE49-F238E27FC236}">
                <a16:creationId xmlns:a16="http://schemas.microsoft.com/office/drawing/2014/main" id="{F6C20A10-57FB-DC99-ADE1-F8B844E11EC5}"/>
              </a:ext>
            </a:extLst>
          </p:cNvPr>
          <p:cNvSpPr/>
          <p:nvPr/>
        </p:nvSpPr>
        <p:spPr>
          <a:xfrm>
            <a:off x="2459033" y="1880780"/>
            <a:ext cx="7273934" cy="335448"/>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9" name="Rectangle 18">
            <a:extLst>
              <a:ext uri="{FF2B5EF4-FFF2-40B4-BE49-F238E27FC236}">
                <a16:creationId xmlns:a16="http://schemas.microsoft.com/office/drawing/2014/main" id="{6ABF0A61-E698-0B8A-B477-F7EE000AF705}"/>
              </a:ext>
            </a:extLst>
          </p:cNvPr>
          <p:cNvSpPr/>
          <p:nvPr/>
        </p:nvSpPr>
        <p:spPr>
          <a:xfrm>
            <a:off x="2459033" y="2092642"/>
            <a:ext cx="7273934" cy="123586"/>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0" name="Oval 19">
            <a:extLst>
              <a:ext uri="{FF2B5EF4-FFF2-40B4-BE49-F238E27FC236}">
                <a16:creationId xmlns:a16="http://schemas.microsoft.com/office/drawing/2014/main" id="{D57778AF-663E-CF6C-5275-D41583569FEE}"/>
              </a:ext>
            </a:extLst>
          </p:cNvPr>
          <p:cNvSpPr/>
          <p:nvPr/>
        </p:nvSpPr>
        <p:spPr>
          <a:xfrm>
            <a:off x="2653240" y="1995539"/>
            <a:ext cx="105931" cy="105931"/>
          </a:xfrm>
          <a:prstGeom prst="ellipse">
            <a:avLst/>
          </a:prstGeom>
          <a:solidFill>
            <a:srgbClr val="C23592">
              <a:alpha val="90000"/>
            </a:srgbClr>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1" name="Oval 20">
            <a:extLst>
              <a:ext uri="{FF2B5EF4-FFF2-40B4-BE49-F238E27FC236}">
                <a16:creationId xmlns:a16="http://schemas.microsoft.com/office/drawing/2014/main" id="{F188EE55-9FC0-370C-5CDA-B7614A8F13E3}"/>
              </a:ext>
            </a:extLst>
          </p:cNvPr>
          <p:cNvSpPr/>
          <p:nvPr/>
        </p:nvSpPr>
        <p:spPr>
          <a:xfrm>
            <a:off x="2829792" y="1995539"/>
            <a:ext cx="105931" cy="105931"/>
          </a:xfrm>
          <a:prstGeom prst="ellipse">
            <a:avLst/>
          </a:prstGeom>
          <a:solidFill>
            <a:srgbClr val="FDE379"/>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2" name="Oval 21">
            <a:extLst>
              <a:ext uri="{FF2B5EF4-FFF2-40B4-BE49-F238E27FC236}">
                <a16:creationId xmlns:a16="http://schemas.microsoft.com/office/drawing/2014/main" id="{F07A53B8-F010-A98A-B260-6BAA52434122}"/>
              </a:ext>
            </a:extLst>
          </p:cNvPr>
          <p:cNvSpPr/>
          <p:nvPr/>
        </p:nvSpPr>
        <p:spPr>
          <a:xfrm>
            <a:off x="3006344" y="1995539"/>
            <a:ext cx="105931" cy="105931"/>
          </a:xfrm>
          <a:prstGeom prst="ellipse">
            <a:avLst/>
          </a:prstGeom>
          <a:solidFill>
            <a:srgbClr val="4E42DA">
              <a:alpha val="70000"/>
            </a:srgbClr>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3" name="Rectangle 22">
            <a:extLst>
              <a:ext uri="{FF2B5EF4-FFF2-40B4-BE49-F238E27FC236}">
                <a16:creationId xmlns:a16="http://schemas.microsoft.com/office/drawing/2014/main" id="{880FDB22-B23B-B41C-AB90-BE3A9CCE57B1}"/>
              </a:ext>
            </a:extLst>
          </p:cNvPr>
          <p:cNvSpPr/>
          <p:nvPr/>
        </p:nvSpPr>
        <p:spPr>
          <a:xfrm>
            <a:off x="3288826" y="1933746"/>
            <a:ext cx="4943450" cy="211862"/>
          </a:xfrm>
          <a:prstGeom prst="rect">
            <a:avLst/>
          </a:prstGeom>
          <a:solidFill>
            <a:srgbClr val="FFFFFF">
              <a:alpha val="20000"/>
            </a:srgbClr>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4" name="TextBox 23">
            <a:extLst>
              <a:ext uri="{FF2B5EF4-FFF2-40B4-BE49-F238E27FC236}">
                <a16:creationId xmlns:a16="http://schemas.microsoft.com/office/drawing/2014/main" id="{ECBCF5D9-E5BF-8E91-19C5-5EF406E5943A}"/>
              </a:ext>
            </a:extLst>
          </p:cNvPr>
          <p:cNvSpPr txBox="1"/>
          <p:nvPr/>
        </p:nvSpPr>
        <p:spPr>
          <a:xfrm>
            <a:off x="4332926" y="1895905"/>
            <a:ext cx="2855251"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solidFill>
                  <a:srgbClr val="FFFFFF"/>
                </a:solidFill>
                <a:effectLst/>
                <a:uLnTx/>
                <a:uFillTx/>
                <a:latin typeface="Segoe UI"/>
                <a:ea typeface="+mn-ea"/>
                <a:cs typeface="Segoe UI"/>
                <a:sym typeface="Segoe UI"/>
                <a:rtl val="0"/>
              </a:rPr>
              <a:t>etsu.edu/academics/programs/computer-science</a:t>
            </a:r>
          </a:p>
        </p:txBody>
      </p:sp>
      <p:sp>
        <p:nvSpPr>
          <p:cNvPr id="25" name="Rectangle 24">
            <a:extLst>
              <a:ext uri="{FF2B5EF4-FFF2-40B4-BE49-F238E27FC236}">
                <a16:creationId xmlns:a16="http://schemas.microsoft.com/office/drawing/2014/main" id="{2E4C2DC2-C17A-2874-A367-85F35343A5E9}"/>
              </a:ext>
            </a:extLst>
          </p:cNvPr>
          <p:cNvSpPr/>
          <p:nvPr/>
        </p:nvSpPr>
        <p:spPr>
          <a:xfrm>
            <a:off x="2459033" y="2216228"/>
            <a:ext cx="7273934" cy="335448"/>
          </a:xfrm>
          <a:prstGeom prst="rect">
            <a:avLst/>
          </a:prstGeom>
          <a:solidFill>
            <a:srgbClr val="FFFFFF"/>
          </a:solidFill>
          <a:ln w="8827"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6" name="Rectangle 25">
            <a:extLst>
              <a:ext uri="{FF2B5EF4-FFF2-40B4-BE49-F238E27FC236}">
                <a16:creationId xmlns:a16="http://schemas.microsoft.com/office/drawing/2014/main" id="{4433A398-C5A3-D35D-09A9-1911C93839D6}"/>
              </a:ext>
            </a:extLst>
          </p:cNvPr>
          <p:cNvSpPr/>
          <p:nvPr/>
        </p:nvSpPr>
        <p:spPr>
          <a:xfrm>
            <a:off x="2582619" y="2304504"/>
            <a:ext cx="635586" cy="158896"/>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27" name="TextBox 26">
            <a:extLst>
              <a:ext uri="{FF2B5EF4-FFF2-40B4-BE49-F238E27FC236}">
                <a16:creationId xmlns:a16="http://schemas.microsoft.com/office/drawing/2014/main" id="{1C6967DA-89B7-1E6D-E916-149ECFE157BA}"/>
              </a:ext>
            </a:extLst>
          </p:cNvPr>
          <p:cNvSpPr txBox="1"/>
          <p:nvPr/>
        </p:nvSpPr>
        <p:spPr>
          <a:xfrm>
            <a:off x="2681291" y="2259233"/>
            <a:ext cx="438242" cy="23233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solidFill>
                  <a:srgbClr val="FFFFFF"/>
                </a:solidFill>
                <a:effectLst/>
                <a:uLnTx/>
                <a:uFillTx/>
                <a:latin typeface="Segoe UI"/>
                <a:ea typeface="+mn-ea"/>
                <a:cs typeface="Segoe UI"/>
                <a:sym typeface="Segoe UI"/>
                <a:rtl val="0"/>
              </a:rPr>
              <a:t>ETSU</a:t>
            </a:r>
          </a:p>
        </p:txBody>
      </p:sp>
      <p:sp>
        <p:nvSpPr>
          <p:cNvPr id="28" name="TextBox 27">
            <a:extLst>
              <a:ext uri="{FF2B5EF4-FFF2-40B4-BE49-F238E27FC236}">
                <a16:creationId xmlns:a16="http://schemas.microsoft.com/office/drawing/2014/main" id="{4C123963-3553-8763-20A3-D3848E707702}"/>
              </a:ext>
            </a:extLst>
          </p:cNvPr>
          <p:cNvSpPr txBox="1"/>
          <p:nvPr/>
        </p:nvSpPr>
        <p:spPr>
          <a:xfrm>
            <a:off x="3532835" y="2240181"/>
            <a:ext cx="765871"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Academics</a:t>
            </a:r>
          </a:p>
        </p:txBody>
      </p:sp>
      <p:sp>
        <p:nvSpPr>
          <p:cNvPr id="29" name="TextBox 28">
            <a:extLst>
              <a:ext uri="{FF2B5EF4-FFF2-40B4-BE49-F238E27FC236}">
                <a16:creationId xmlns:a16="http://schemas.microsoft.com/office/drawing/2014/main" id="{1CDAD7F7-A978-7A47-5A83-1674E8838C25}"/>
              </a:ext>
            </a:extLst>
          </p:cNvPr>
          <p:cNvSpPr txBox="1"/>
          <p:nvPr/>
        </p:nvSpPr>
        <p:spPr>
          <a:xfrm>
            <a:off x="4309663" y="2240181"/>
            <a:ext cx="66775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Research</a:t>
            </a:r>
          </a:p>
        </p:txBody>
      </p:sp>
      <p:sp>
        <p:nvSpPr>
          <p:cNvPr id="30" name="TextBox 29">
            <a:extLst>
              <a:ext uri="{FF2B5EF4-FFF2-40B4-BE49-F238E27FC236}">
                <a16:creationId xmlns:a16="http://schemas.microsoft.com/office/drawing/2014/main" id="{3068970E-9EBC-24D2-53BC-C58DEFB2A126}"/>
              </a:ext>
            </a:extLst>
          </p:cNvPr>
          <p:cNvSpPr txBox="1"/>
          <p:nvPr/>
        </p:nvSpPr>
        <p:spPr>
          <a:xfrm>
            <a:off x="4998215" y="2240181"/>
            <a:ext cx="849026"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solidFill>
                  <a:srgbClr val="3A3A3A"/>
                </a:solidFill>
                <a:effectLst/>
                <a:uLnTx/>
                <a:uFillTx/>
                <a:latin typeface="Segoe UI"/>
                <a:ea typeface="+mn-ea"/>
                <a:cs typeface="Segoe UI"/>
                <a:sym typeface="Segoe UI"/>
                <a:rtl val="0"/>
              </a:rPr>
              <a:t>Campus Life</a:t>
            </a:r>
          </a:p>
        </p:txBody>
      </p:sp>
      <p:sp>
        <p:nvSpPr>
          <p:cNvPr id="31" name="TextBox 30">
            <a:extLst>
              <a:ext uri="{FF2B5EF4-FFF2-40B4-BE49-F238E27FC236}">
                <a16:creationId xmlns:a16="http://schemas.microsoft.com/office/drawing/2014/main" id="{939010A9-DF96-0DD7-DFB1-2EBC7D90012C}"/>
              </a:ext>
            </a:extLst>
          </p:cNvPr>
          <p:cNvSpPr txBox="1"/>
          <p:nvPr/>
        </p:nvSpPr>
        <p:spPr>
          <a:xfrm>
            <a:off x="5828008" y="2240181"/>
            <a:ext cx="801354"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Admissions</a:t>
            </a:r>
          </a:p>
        </p:txBody>
      </p:sp>
      <p:sp>
        <p:nvSpPr>
          <p:cNvPr id="32" name="TextBox 31">
            <a:extLst>
              <a:ext uri="{FF2B5EF4-FFF2-40B4-BE49-F238E27FC236}">
                <a16:creationId xmlns:a16="http://schemas.microsoft.com/office/drawing/2014/main" id="{2E7F5BE4-292B-8B53-84E9-EDD51BD9072A}"/>
              </a:ext>
            </a:extLst>
          </p:cNvPr>
          <p:cNvSpPr txBox="1"/>
          <p:nvPr/>
        </p:nvSpPr>
        <p:spPr>
          <a:xfrm>
            <a:off x="6640146" y="2240181"/>
            <a:ext cx="51948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About</a:t>
            </a:r>
          </a:p>
        </p:txBody>
      </p:sp>
      <p:sp>
        <p:nvSpPr>
          <p:cNvPr id="33" name="Rectangle 32">
            <a:extLst>
              <a:ext uri="{FF2B5EF4-FFF2-40B4-BE49-F238E27FC236}">
                <a16:creationId xmlns:a16="http://schemas.microsoft.com/office/drawing/2014/main" id="{5148C271-76FD-D762-10B4-EE50195F961E}"/>
              </a:ext>
            </a:extLst>
          </p:cNvPr>
          <p:cNvSpPr/>
          <p:nvPr/>
        </p:nvSpPr>
        <p:spPr>
          <a:xfrm>
            <a:off x="8991450" y="2295677"/>
            <a:ext cx="635586" cy="176551"/>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4" name="TextBox 33">
            <a:extLst>
              <a:ext uri="{FF2B5EF4-FFF2-40B4-BE49-F238E27FC236}">
                <a16:creationId xmlns:a16="http://schemas.microsoft.com/office/drawing/2014/main" id="{EC119B69-15C7-E7B1-E891-1F18C39F8D4C}"/>
              </a:ext>
            </a:extLst>
          </p:cNvPr>
          <p:cNvSpPr txBox="1"/>
          <p:nvPr/>
        </p:nvSpPr>
        <p:spPr>
          <a:xfrm>
            <a:off x="9049195" y="2249707"/>
            <a:ext cx="520095" cy="24407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75" b="0" i="0" u="none" strike="noStrike" kern="1200" cap="none" spc="0" normalizeH="0" baseline="0" noProof="0">
                <a:ln/>
                <a:solidFill>
                  <a:srgbClr val="FFFFFF"/>
                </a:solidFill>
                <a:effectLst/>
                <a:uLnTx/>
                <a:uFillTx/>
                <a:latin typeface="Segoe UI"/>
                <a:ea typeface="+mn-ea"/>
                <a:cs typeface="Segoe UI"/>
                <a:sym typeface="Segoe UI"/>
                <a:rtl val="0"/>
              </a:rPr>
              <a:t>Search</a:t>
            </a:r>
          </a:p>
        </p:txBody>
      </p:sp>
      <p:sp>
        <p:nvSpPr>
          <p:cNvPr id="35" name="Rectangle 34">
            <a:extLst>
              <a:ext uri="{FF2B5EF4-FFF2-40B4-BE49-F238E27FC236}">
                <a16:creationId xmlns:a16="http://schemas.microsoft.com/office/drawing/2014/main" id="{FF11D848-C748-FB44-8253-DEFE3C88934A}"/>
              </a:ext>
            </a:extLst>
          </p:cNvPr>
          <p:cNvSpPr/>
          <p:nvPr/>
        </p:nvSpPr>
        <p:spPr>
          <a:xfrm>
            <a:off x="2459033" y="2551677"/>
            <a:ext cx="7273934" cy="3990070"/>
          </a:xfrm>
          <a:prstGeom prst="rect">
            <a:avLst/>
          </a:prstGeom>
          <a:solidFill>
            <a:srgbClr val="FFFFFF"/>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6" name="Rectangle 35">
            <a:extLst>
              <a:ext uri="{FF2B5EF4-FFF2-40B4-BE49-F238E27FC236}">
                <a16:creationId xmlns:a16="http://schemas.microsoft.com/office/drawing/2014/main" id="{3055A511-CC12-ECC5-AAC7-8D322D28457A}"/>
              </a:ext>
            </a:extLst>
          </p:cNvPr>
          <p:cNvSpPr/>
          <p:nvPr/>
        </p:nvSpPr>
        <p:spPr>
          <a:xfrm>
            <a:off x="2459033" y="2551677"/>
            <a:ext cx="7273934" cy="264827"/>
          </a:xfrm>
          <a:prstGeom prst="rect">
            <a:avLst/>
          </a:prstGeom>
          <a:solidFill>
            <a:srgbClr val="F0F1F7"/>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37" name="TextBox 36">
            <a:extLst>
              <a:ext uri="{FF2B5EF4-FFF2-40B4-BE49-F238E27FC236}">
                <a16:creationId xmlns:a16="http://schemas.microsoft.com/office/drawing/2014/main" id="{3B82E3C4-7065-1C1A-529D-D0CEFE0A8BAF}"/>
              </a:ext>
            </a:extLst>
          </p:cNvPr>
          <p:cNvSpPr txBox="1"/>
          <p:nvPr/>
        </p:nvSpPr>
        <p:spPr>
          <a:xfrm>
            <a:off x="2544145" y="2549147"/>
            <a:ext cx="514112"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Home</a:t>
            </a:r>
          </a:p>
        </p:txBody>
      </p:sp>
      <p:sp>
        <p:nvSpPr>
          <p:cNvPr id="38" name="TextBox 37">
            <a:extLst>
              <a:ext uri="{FF2B5EF4-FFF2-40B4-BE49-F238E27FC236}">
                <a16:creationId xmlns:a16="http://schemas.microsoft.com/office/drawing/2014/main" id="{A3A37434-EA06-60F6-D722-169005AF77AD}"/>
              </a:ext>
            </a:extLst>
          </p:cNvPr>
          <p:cNvSpPr txBox="1"/>
          <p:nvPr/>
        </p:nvSpPr>
        <p:spPr>
          <a:xfrm>
            <a:off x="2932559" y="2549147"/>
            <a:ext cx="22192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t>
            </a:r>
          </a:p>
        </p:txBody>
      </p:sp>
      <p:sp>
        <p:nvSpPr>
          <p:cNvPr id="39" name="TextBox 38">
            <a:extLst>
              <a:ext uri="{FF2B5EF4-FFF2-40B4-BE49-F238E27FC236}">
                <a16:creationId xmlns:a16="http://schemas.microsoft.com/office/drawing/2014/main" id="{197DF424-BA6E-57AA-1C50-6615A54A870D}"/>
              </a:ext>
            </a:extLst>
          </p:cNvPr>
          <p:cNvSpPr txBox="1"/>
          <p:nvPr/>
        </p:nvSpPr>
        <p:spPr>
          <a:xfrm>
            <a:off x="3056145" y="2549147"/>
            <a:ext cx="765871"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Academics</a:t>
            </a:r>
          </a:p>
        </p:txBody>
      </p:sp>
      <p:sp>
        <p:nvSpPr>
          <p:cNvPr id="40" name="TextBox 39">
            <a:extLst>
              <a:ext uri="{FF2B5EF4-FFF2-40B4-BE49-F238E27FC236}">
                <a16:creationId xmlns:a16="http://schemas.microsoft.com/office/drawing/2014/main" id="{5D96AFD7-589F-434C-1A64-43DFABAE32A2}"/>
              </a:ext>
            </a:extLst>
          </p:cNvPr>
          <p:cNvSpPr txBox="1"/>
          <p:nvPr/>
        </p:nvSpPr>
        <p:spPr>
          <a:xfrm>
            <a:off x="3682904" y="2549147"/>
            <a:ext cx="22192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t>
            </a:r>
          </a:p>
        </p:txBody>
      </p:sp>
      <p:sp>
        <p:nvSpPr>
          <p:cNvPr id="41" name="TextBox 40">
            <a:extLst>
              <a:ext uri="{FF2B5EF4-FFF2-40B4-BE49-F238E27FC236}">
                <a16:creationId xmlns:a16="http://schemas.microsoft.com/office/drawing/2014/main" id="{C6876236-BE3E-1FA5-9827-34E66802FC44}"/>
              </a:ext>
            </a:extLst>
          </p:cNvPr>
          <p:cNvSpPr txBox="1"/>
          <p:nvPr/>
        </p:nvSpPr>
        <p:spPr>
          <a:xfrm>
            <a:off x="3806490" y="2549147"/>
            <a:ext cx="70498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Programs</a:t>
            </a:r>
          </a:p>
        </p:txBody>
      </p:sp>
      <p:sp>
        <p:nvSpPr>
          <p:cNvPr id="42" name="TextBox 41">
            <a:extLst>
              <a:ext uri="{FF2B5EF4-FFF2-40B4-BE49-F238E27FC236}">
                <a16:creationId xmlns:a16="http://schemas.microsoft.com/office/drawing/2014/main" id="{79EDA595-E91B-B50D-84DB-0C09E3E1F060}"/>
              </a:ext>
            </a:extLst>
          </p:cNvPr>
          <p:cNvSpPr txBox="1"/>
          <p:nvPr/>
        </p:nvSpPr>
        <p:spPr>
          <a:xfrm>
            <a:off x="4362628" y="2549147"/>
            <a:ext cx="22192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a:t>
            </a:r>
          </a:p>
        </p:txBody>
      </p:sp>
      <p:sp>
        <p:nvSpPr>
          <p:cNvPr id="43" name="TextBox 42">
            <a:extLst>
              <a:ext uri="{FF2B5EF4-FFF2-40B4-BE49-F238E27FC236}">
                <a16:creationId xmlns:a16="http://schemas.microsoft.com/office/drawing/2014/main" id="{B8BC7824-BEB8-9E2E-3357-0D6B4B2E3A24}"/>
              </a:ext>
            </a:extLst>
          </p:cNvPr>
          <p:cNvSpPr txBox="1"/>
          <p:nvPr/>
        </p:nvSpPr>
        <p:spPr>
          <a:xfrm>
            <a:off x="4486215" y="2549147"/>
            <a:ext cx="122944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solidFill>
                  <a:srgbClr val="3A3A3A"/>
                </a:solidFill>
                <a:effectLst/>
                <a:uLnTx/>
                <a:uFillTx/>
                <a:latin typeface="Segoe UI"/>
                <a:ea typeface="+mn-ea"/>
                <a:cs typeface="Segoe UI"/>
                <a:sym typeface="Segoe UI"/>
                <a:rtl val="0"/>
              </a:rPr>
              <a:t>Computer Science</a:t>
            </a:r>
          </a:p>
        </p:txBody>
      </p:sp>
      <p:sp>
        <p:nvSpPr>
          <p:cNvPr id="44" name="TextBox 43">
            <a:extLst>
              <a:ext uri="{FF2B5EF4-FFF2-40B4-BE49-F238E27FC236}">
                <a16:creationId xmlns:a16="http://schemas.microsoft.com/office/drawing/2014/main" id="{037838A0-5D2C-E577-5209-D7942331EBCE}"/>
              </a:ext>
            </a:extLst>
          </p:cNvPr>
          <p:cNvSpPr txBox="1"/>
          <p:nvPr/>
        </p:nvSpPr>
        <p:spPr>
          <a:xfrm>
            <a:off x="2544145" y="2845095"/>
            <a:ext cx="2034518" cy="32626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solidFill>
                  <a:srgbClr val="444F9C"/>
                </a:solidFill>
                <a:effectLst/>
                <a:uLnTx/>
                <a:uFillTx/>
                <a:latin typeface="Segoe UI"/>
                <a:ea typeface="+mn-ea"/>
                <a:cs typeface="Segoe UI"/>
                <a:sym typeface="Segoe UI"/>
                <a:rtl val="0"/>
              </a:rPr>
              <a:t>B.S. Computer Science</a:t>
            </a:r>
          </a:p>
        </p:txBody>
      </p:sp>
      <p:sp>
        <p:nvSpPr>
          <p:cNvPr id="45" name="TextBox 44">
            <a:extLst>
              <a:ext uri="{FF2B5EF4-FFF2-40B4-BE49-F238E27FC236}">
                <a16:creationId xmlns:a16="http://schemas.microsoft.com/office/drawing/2014/main" id="{A2F8B5BD-8123-8DD8-624D-D76531A73CD7}"/>
              </a:ext>
            </a:extLst>
          </p:cNvPr>
          <p:cNvSpPr txBox="1"/>
          <p:nvPr/>
        </p:nvSpPr>
        <p:spPr>
          <a:xfrm>
            <a:off x="2544145" y="3078802"/>
            <a:ext cx="3673165"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solidFill>
                  <a:srgbClr val="3E5760"/>
                </a:solidFill>
                <a:effectLst/>
                <a:uLnTx/>
                <a:uFillTx/>
                <a:latin typeface="Segoe UI"/>
                <a:ea typeface="+mn-ea"/>
                <a:cs typeface="Segoe UI"/>
                <a:sym typeface="Segoe UI"/>
                <a:rtl val="0"/>
              </a:rPr>
              <a:t>Department of Computing | College of Business and Technology</a:t>
            </a:r>
          </a:p>
        </p:txBody>
      </p:sp>
      <p:sp>
        <p:nvSpPr>
          <p:cNvPr id="46" name="Freeform: Shape 45">
            <a:extLst>
              <a:ext uri="{FF2B5EF4-FFF2-40B4-BE49-F238E27FC236}">
                <a16:creationId xmlns:a16="http://schemas.microsoft.com/office/drawing/2014/main" id="{1DE57CBA-BEE3-439A-38F6-41CF060E164A}"/>
              </a:ext>
            </a:extLst>
          </p:cNvPr>
          <p:cNvSpPr/>
          <p:nvPr/>
        </p:nvSpPr>
        <p:spPr>
          <a:xfrm>
            <a:off x="2635585" y="3346160"/>
            <a:ext cx="6920830" cy="8827"/>
          </a:xfrm>
          <a:custGeom>
            <a:avLst/>
            <a:gdLst>
              <a:gd name="csX0" fmla="*/ 0 w 6920830"/>
              <a:gd name="csY0" fmla="*/ 0 h 8827"/>
              <a:gd name="csX1" fmla="*/ 6920831 w 6920830"/>
              <a:gd name="csY1" fmla="*/ 0 h 8827"/>
            </a:gdLst>
            <a:ahLst/>
            <a:cxnLst>
              <a:cxn ang="0">
                <a:pos x="csX0" y="csY0"/>
              </a:cxn>
              <a:cxn ang="0">
                <a:pos x="csX1" y="csY1"/>
              </a:cxn>
            </a:cxnLst>
            <a:rect l="l" t="t" r="r" b="b"/>
            <a:pathLst>
              <a:path w="6920830" h="8827">
                <a:moveTo>
                  <a:pt x="0" y="0"/>
                </a:moveTo>
                <a:lnTo>
                  <a:pt x="6920831" y="0"/>
                </a:lnTo>
              </a:path>
            </a:pathLst>
          </a:custGeom>
          <a:ln w="13240"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47" name="TextBox 46">
            <a:extLst>
              <a:ext uri="{FF2B5EF4-FFF2-40B4-BE49-F238E27FC236}">
                <a16:creationId xmlns:a16="http://schemas.microsoft.com/office/drawing/2014/main" id="{0E586096-7D7F-5FD2-41AF-E76AFC927CFD}"/>
              </a:ext>
            </a:extLst>
          </p:cNvPr>
          <p:cNvSpPr txBox="1"/>
          <p:nvPr/>
        </p:nvSpPr>
        <p:spPr>
          <a:xfrm>
            <a:off x="2544145" y="3332707"/>
            <a:ext cx="1549035" cy="29104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75" b="1" i="0" u="none" strike="noStrike" kern="1200" cap="none" spc="0" normalizeH="0" baseline="0" noProof="0">
                <a:ln/>
                <a:solidFill>
                  <a:srgbClr val="3A3A3A"/>
                </a:solidFill>
                <a:effectLst/>
                <a:uLnTx/>
                <a:uFillTx/>
                <a:latin typeface="Segoe UI"/>
                <a:ea typeface="+mn-ea"/>
                <a:cs typeface="Segoe UI"/>
                <a:sym typeface="Segoe UI"/>
                <a:rtl val="0"/>
              </a:rPr>
              <a:t>About the Program</a:t>
            </a:r>
          </a:p>
        </p:txBody>
      </p:sp>
      <p:sp>
        <p:nvSpPr>
          <p:cNvPr id="48" name="TextBox 47">
            <a:extLst>
              <a:ext uri="{FF2B5EF4-FFF2-40B4-BE49-F238E27FC236}">
                <a16:creationId xmlns:a16="http://schemas.microsoft.com/office/drawing/2014/main" id="{9CB46D4E-668B-F994-CEA9-90B2676C3089}"/>
              </a:ext>
            </a:extLst>
          </p:cNvPr>
          <p:cNvSpPr txBox="1"/>
          <p:nvPr/>
        </p:nvSpPr>
        <p:spPr>
          <a:xfrm>
            <a:off x="2544145" y="3520181"/>
            <a:ext cx="351651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The B.S. in Computer Science prepares students for careers in</a:t>
            </a:r>
          </a:p>
        </p:txBody>
      </p:sp>
      <p:sp>
        <p:nvSpPr>
          <p:cNvPr id="49" name="TextBox 48">
            <a:extLst>
              <a:ext uri="{FF2B5EF4-FFF2-40B4-BE49-F238E27FC236}">
                <a16:creationId xmlns:a16="http://schemas.microsoft.com/office/drawing/2014/main" id="{AE74A108-5C77-5BC0-F937-C2D1CB715438}"/>
              </a:ext>
            </a:extLst>
          </p:cNvPr>
          <p:cNvSpPr txBox="1"/>
          <p:nvPr/>
        </p:nvSpPr>
        <p:spPr>
          <a:xfrm>
            <a:off x="2544145" y="3661423"/>
            <a:ext cx="3632131"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software development, data science, systems design, and more.</a:t>
            </a:r>
          </a:p>
        </p:txBody>
      </p:sp>
      <p:sp>
        <p:nvSpPr>
          <p:cNvPr id="50" name="Rectangle 49">
            <a:extLst>
              <a:ext uri="{FF2B5EF4-FFF2-40B4-BE49-F238E27FC236}">
                <a16:creationId xmlns:a16="http://schemas.microsoft.com/office/drawing/2014/main" id="{151A14C9-C33D-F13D-DF8E-CA925271B7F9}"/>
              </a:ext>
            </a:extLst>
          </p:cNvPr>
          <p:cNvSpPr/>
          <p:nvPr/>
        </p:nvSpPr>
        <p:spPr>
          <a:xfrm>
            <a:off x="2635585" y="3964091"/>
            <a:ext cx="4148967" cy="688552"/>
          </a:xfrm>
          <a:prstGeom prst="rect">
            <a:avLst/>
          </a:prstGeom>
          <a:solidFill>
            <a:srgbClr val="FFFFFF"/>
          </a:solidFill>
          <a:ln w="13240"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1" name="Rectangle 50">
            <a:extLst>
              <a:ext uri="{FF2B5EF4-FFF2-40B4-BE49-F238E27FC236}">
                <a16:creationId xmlns:a16="http://schemas.microsoft.com/office/drawing/2014/main" id="{81F36954-78B7-244C-7F6C-1D22C004EF73}"/>
              </a:ext>
            </a:extLst>
          </p:cNvPr>
          <p:cNvSpPr/>
          <p:nvPr/>
        </p:nvSpPr>
        <p:spPr>
          <a:xfrm>
            <a:off x="2635585" y="3964091"/>
            <a:ext cx="70620" cy="688552"/>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2" name="TextBox 51">
            <a:extLst>
              <a:ext uri="{FF2B5EF4-FFF2-40B4-BE49-F238E27FC236}">
                <a16:creationId xmlns:a16="http://schemas.microsoft.com/office/drawing/2014/main" id="{33315232-A21B-0B49-B82E-B018A099B989}"/>
              </a:ext>
            </a:extLst>
          </p:cNvPr>
          <p:cNvSpPr txBox="1"/>
          <p:nvPr/>
        </p:nvSpPr>
        <p:spPr>
          <a:xfrm>
            <a:off x="2720697" y="3942509"/>
            <a:ext cx="1616880" cy="2793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solidFill>
                  <a:srgbClr val="444F9C"/>
                </a:solidFill>
                <a:effectLst/>
                <a:uLnTx/>
                <a:uFillTx/>
                <a:latin typeface="Segoe UI"/>
                <a:ea typeface="+mn-ea"/>
                <a:cs typeface="Segoe UI"/>
                <a:sym typeface="Segoe UI"/>
                <a:rtl val="0"/>
              </a:rPr>
              <a:t>Degree Requirements</a:t>
            </a:r>
          </a:p>
        </p:txBody>
      </p:sp>
      <p:sp>
        <p:nvSpPr>
          <p:cNvPr id="53" name="TextBox 52">
            <a:extLst>
              <a:ext uri="{FF2B5EF4-FFF2-40B4-BE49-F238E27FC236}">
                <a16:creationId xmlns:a16="http://schemas.microsoft.com/office/drawing/2014/main" id="{B239DCB8-1047-34AD-C46D-1BBDBF301C60}"/>
              </a:ext>
            </a:extLst>
          </p:cNvPr>
          <p:cNvSpPr txBox="1"/>
          <p:nvPr/>
        </p:nvSpPr>
        <p:spPr>
          <a:xfrm>
            <a:off x="2720697" y="4120458"/>
            <a:ext cx="1434311"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120 credit hours total</a:t>
            </a:r>
          </a:p>
        </p:txBody>
      </p:sp>
      <p:sp>
        <p:nvSpPr>
          <p:cNvPr id="54" name="TextBox 53">
            <a:extLst>
              <a:ext uri="{FF2B5EF4-FFF2-40B4-BE49-F238E27FC236}">
                <a16:creationId xmlns:a16="http://schemas.microsoft.com/office/drawing/2014/main" id="{A0402E38-278A-9717-1A6A-09BCD7F6877B}"/>
              </a:ext>
            </a:extLst>
          </p:cNvPr>
          <p:cNvSpPr txBox="1"/>
          <p:nvPr/>
        </p:nvSpPr>
        <p:spPr>
          <a:xfrm>
            <a:off x="2720697" y="4261699"/>
            <a:ext cx="223201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Core courses + electives + capstone</a:t>
            </a:r>
          </a:p>
        </p:txBody>
      </p:sp>
      <p:sp>
        <p:nvSpPr>
          <p:cNvPr id="55" name="TextBox 54">
            <a:extLst>
              <a:ext uri="{FF2B5EF4-FFF2-40B4-BE49-F238E27FC236}">
                <a16:creationId xmlns:a16="http://schemas.microsoft.com/office/drawing/2014/main" id="{2EFD12A1-E38A-13A5-4651-691DB71E9F52}"/>
              </a:ext>
            </a:extLst>
          </p:cNvPr>
          <p:cNvSpPr txBox="1"/>
          <p:nvPr/>
        </p:nvSpPr>
        <p:spPr>
          <a:xfrm>
            <a:off x="2720697" y="4402941"/>
            <a:ext cx="1732596"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GPA ≥ 2.5 in major courses</a:t>
            </a:r>
          </a:p>
        </p:txBody>
      </p:sp>
      <p:sp>
        <p:nvSpPr>
          <p:cNvPr id="56" name="Rectangle 55">
            <a:extLst>
              <a:ext uri="{FF2B5EF4-FFF2-40B4-BE49-F238E27FC236}">
                <a16:creationId xmlns:a16="http://schemas.microsoft.com/office/drawing/2014/main" id="{8312D230-1523-9CDD-9694-84AE3BDBD49E}"/>
              </a:ext>
            </a:extLst>
          </p:cNvPr>
          <p:cNvSpPr/>
          <p:nvPr/>
        </p:nvSpPr>
        <p:spPr>
          <a:xfrm>
            <a:off x="2635585" y="4740919"/>
            <a:ext cx="4148967" cy="688552"/>
          </a:xfrm>
          <a:prstGeom prst="rect">
            <a:avLst/>
          </a:prstGeom>
          <a:solidFill>
            <a:srgbClr val="FFFFFF"/>
          </a:solidFill>
          <a:ln w="13240"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7" name="Rectangle 56">
            <a:extLst>
              <a:ext uri="{FF2B5EF4-FFF2-40B4-BE49-F238E27FC236}">
                <a16:creationId xmlns:a16="http://schemas.microsoft.com/office/drawing/2014/main" id="{28B9E2CE-530C-32D2-35F5-6FF19D0B1F49}"/>
              </a:ext>
            </a:extLst>
          </p:cNvPr>
          <p:cNvSpPr/>
          <p:nvPr/>
        </p:nvSpPr>
        <p:spPr>
          <a:xfrm>
            <a:off x="2635585" y="4740919"/>
            <a:ext cx="70620" cy="688552"/>
          </a:xfrm>
          <a:prstGeom prst="rect">
            <a:avLst/>
          </a:prstGeom>
          <a:solidFill>
            <a:srgbClr val="762DBF"/>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58" name="TextBox 57">
            <a:extLst>
              <a:ext uri="{FF2B5EF4-FFF2-40B4-BE49-F238E27FC236}">
                <a16:creationId xmlns:a16="http://schemas.microsoft.com/office/drawing/2014/main" id="{151081FA-FCCB-2CED-91D7-55BBD1DD1F7F}"/>
              </a:ext>
            </a:extLst>
          </p:cNvPr>
          <p:cNvSpPr txBox="1"/>
          <p:nvPr/>
        </p:nvSpPr>
        <p:spPr>
          <a:xfrm>
            <a:off x="2720697" y="4719337"/>
            <a:ext cx="1319708" cy="2793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solidFill>
                  <a:srgbClr val="444F9C"/>
                </a:solidFill>
                <a:effectLst/>
                <a:uLnTx/>
                <a:uFillTx/>
                <a:latin typeface="Segoe UI"/>
                <a:ea typeface="+mn-ea"/>
                <a:cs typeface="Segoe UI"/>
                <a:sym typeface="Segoe UI"/>
                <a:rtl val="0"/>
              </a:rPr>
              <a:t>Career Outcomes</a:t>
            </a:r>
          </a:p>
        </p:txBody>
      </p:sp>
      <p:sp>
        <p:nvSpPr>
          <p:cNvPr id="59" name="TextBox 58">
            <a:extLst>
              <a:ext uri="{FF2B5EF4-FFF2-40B4-BE49-F238E27FC236}">
                <a16:creationId xmlns:a16="http://schemas.microsoft.com/office/drawing/2014/main" id="{CC63415B-D978-2524-ACF3-A993B39DE78F}"/>
              </a:ext>
            </a:extLst>
          </p:cNvPr>
          <p:cNvSpPr txBox="1"/>
          <p:nvPr/>
        </p:nvSpPr>
        <p:spPr>
          <a:xfrm>
            <a:off x="2720697" y="4897286"/>
            <a:ext cx="2035768"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Software Engineer · Data Analyst</a:t>
            </a:r>
          </a:p>
        </p:txBody>
      </p:sp>
      <p:sp>
        <p:nvSpPr>
          <p:cNvPr id="60" name="TextBox 59">
            <a:extLst>
              <a:ext uri="{FF2B5EF4-FFF2-40B4-BE49-F238E27FC236}">
                <a16:creationId xmlns:a16="http://schemas.microsoft.com/office/drawing/2014/main" id="{DE81655E-8F7C-B294-873D-CD6CF0DA451E}"/>
              </a:ext>
            </a:extLst>
          </p:cNvPr>
          <p:cNvSpPr txBox="1"/>
          <p:nvPr/>
        </p:nvSpPr>
        <p:spPr>
          <a:xfrm>
            <a:off x="2720697" y="5038527"/>
            <a:ext cx="2039329"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Systems Architect · IT Consultant</a:t>
            </a:r>
          </a:p>
        </p:txBody>
      </p:sp>
      <p:sp>
        <p:nvSpPr>
          <p:cNvPr id="61" name="TextBox 60">
            <a:extLst>
              <a:ext uri="{FF2B5EF4-FFF2-40B4-BE49-F238E27FC236}">
                <a16:creationId xmlns:a16="http://schemas.microsoft.com/office/drawing/2014/main" id="{26C46174-7D3A-FBA8-CD0D-B33CBC0C68D9}"/>
              </a:ext>
            </a:extLst>
          </p:cNvPr>
          <p:cNvSpPr txBox="1"/>
          <p:nvPr/>
        </p:nvSpPr>
        <p:spPr>
          <a:xfrm>
            <a:off x="2720697" y="5179768"/>
            <a:ext cx="1827397"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 Graduate school preparation</a:t>
            </a:r>
          </a:p>
        </p:txBody>
      </p:sp>
      <p:sp>
        <p:nvSpPr>
          <p:cNvPr id="62" name="Rectangle 61">
            <a:extLst>
              <a:ext uri="{FF2B5EF4-FFF2-40B4-BE49-F238E27FC236}">
                <a16:creationId xmlns:a16="http://schemas.microsoft.com/office/drawing/2014/main" id="{965AAD6C-0435-0857-FCD4-B9B8A01644F9}"/>
              </a:ext>
            </a:extLst>
          </p:cNvPr>
          <p:cNvSpPr/>
          <p:nvPr/>
        </p:nvSpPr>
        <p:spPr>
          <a:xfrm>
            <a:off x="6978759" y="3469746"/>
            <a:ext cx="2577656" cy="2012690"/>
          </a:xfrm>
          <a:prstGeom prst="rect">
            <a:avLst/>
          </a:prstGeom>
          <a:solidFill>
            <a:srgbClr val="F0F1F7"/>
          </a:solidFill>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3" name="Rectangle 62">
            <a:extLst>
              <a:ext uri="{FF2B5EF4-FFF2-40B4-BE49-F238E27FC236}">
                <a16:creationId xmlns:a16="http://schemas.microsoft.com/office/drawing/2014/main" id="{86AD62C6-8223-0E8C-B643-540EF663B260}"/>
              </a:ext>
            </a:extLst>
          </p:cNvPr>
          <p:cNvSpPr/>
          <p:nvPr/>
        </p:nvSpPr>
        <p:spPr>
          <a:xfrm>
            <a:off x="7120000" y="3575677"/>
            <a:ext cx="2295173" cy="317793"/>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64" name="TextBox 63">
            <a:extLst>
              <a:ext uri="{FF2B5EF4-FFF2-40B4-BE49-F238E27FC236}">
                <a16:creationId xmlns:a16="http://schemas.microsoft.com/office/drawing/2014/main" id="{23F9D0E9-1523-47B7-1711-5005E58CB434}"/>
              </a:ext>
            </a:extLst>
          </p:cNvPr>
          <p:cNvSpPr txBox="1"/>
          <p:nvPr/>
        </p:nvSpPr>
        <p:spPr>
          <a:xfrm>
            <a:off x="7806078" y="3580578"/>
            <a:ext cx="923018" cy="27930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solidFill>
                  <a:srgbClr val="FFFFFF"/>
                </a:solidFill>
                <a:effectLst/>
                <a:uLnTx/>
                <a:uFillTx/>
                <a:latin typeface="Segoe UI"/>
                <a:ea typeface="+mn-ea"/>
                <a:cs typeface="Segoe UI"/>
                <a:sym typeface="Segoe UI"/>
                <a:rtl val="0"/>
              </a:rPr>
              <a:t>Apply Now</a:t>
            </a:r>
          </a:p>
        </p:txBody>
      </p:sp>
      <p:sp>
        <p:nvSpPr>
          <p:cNvPr id="65" name="TextBox 64">
            <a:extLst>
              <a:ext uri="{FF2B5EF4-FFF2-40B4-BE49-F238E27FC236}">
                <a16:creationId xmlns:a16="http://schemas.microsoft.com/office/drawing/2014/main" id="{20AFB96E-F383-16BE-2343-3B9C2FFD5881}"/>
              </a:ext>
            </a:extLst>
          </p:cNvPr>
          <p:cNvSpPr txBox="1"/>
          <p:nvPr/>
        </p:nvSpPr>
        <p:spPr>
          <a:xfrm>
            <a:off x="7028560" y="3899070"/>
            <a:ext cx="884647" cy="2675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Quick Facts</a:t>
            </a:r>
          </a:p>
        </p:txBody>
      </p:sp>
      <p:sp>
        <p:nvSpPr>
          <p:cNvPr id="66" name="TextBox 65">
            <a:extLst>
              <a:ext uri="{FF2B5EF4-FFF2-40B4-BE49-F238E27FC236}">
                <a16:creationId xmlns:a16="http://schemas.microsoft.com/office/drawing/2014/main" id="{2C75DF10-EADC-851C-FAEB-F2A757957BBF}"/>
              </a:ext>
            </a:extLst>
          </p:cNvPr>
          <p:cNvSpPr txBox="1"/>
          <p:nvPr/>
        </p:nvSpPr>
        <p:spPr>
          <a:xfrm>
            <a:off x="7028560" y="4085147"/>
            <a:ext cx="1487415"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Emoji"/>
                <a:ea typeface="Segoe UI Emoji"/>
                <a:cs typeface="+mn-cs"/>
                <a:sym typeface="Segoe UI Emoji"/>
                <a:rtl val="0"/>
              </a:rPr>
              <a:t>📍</a:t>
            </a:r>
            <a:r>
              <a:rPr kumimoji="0" lang="en-US" sz="1050" b="0" i="0" u="none" strike="noStrike" kern="1200" cap="none" spc="0" normalizeH="0" baseline="0" noProof="0">
                <a:ln/>
                <a:solidFill>
                  <a:srgbClr val="3A3A3A"/>
                </a:solidFill>
                <a:effectLst/>
                <a:uLnTx/>
                <a:uFillTx/>
                <a:latin typeface="Segoe UI"/>
                <a:ea typeface="Segoe UI Emoji"/>
                <a:cs typeface="Segoe UI"/>
                <a:sym typeface="Segoe UI"/>
                <a:rtl val="0"/>
              </a:rPr>
              <a:t> Format: On-Campus</a:t>
            </a:r>
          </a:p>
        </p:txBody>
      </p:sp>
      <p:sp>
        <p:nvSpPr>
          <p:cNvPr id="67" name="TextBox 66">
            <a:extLst>
              <a:ext uri="{FF2B5EF4-FFF2-40B4-BE49-F238E27FC236}">
                <a16:creationId xmlns:a16="http://schemas.microsoft.com/office/drawing/2014/main" id="{82E952F0-3F74-BAA6-7D78-07185FCBA466}"/>
              </a:ext>
            </a:extLst>
          </p:cNvPr>
          <p:cNvSpPr txBox="1"/>
          <p:nvPr/>
        </p:nvSpPr>
        <p:spPr>
          <a:xfrm>
            <a:off x="7028560" y="4244044"/>
            <a:ext cx="132563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Emoji"/>
                <a:ea typeface="Segoe UI Emoji"/>
                <a:cs typeface="+mn-cs"/>
                <a:sym typeface="Segoe UI Emoji"/>
                <a:rtl val="0"/>
              </a:rPr>
              <a:t>📅</a:t>
            </a:r>
            <a:r>
              <a:rPr kumimoji="0" lang="en-US" sz="1050" b="0" i="0" u="none" strike="noStrike" kern="1200" cap="none" spc="0" normalizeH="0" baseline="0" noProof="0">
                <a:ln/>
                <a:solidFill>
                  <a:srgbClr val="3A3A3A"/>
                </a:solidFill>
                <a:effectLst/>
                <a:uLnTx/>
                <a:uFillTx/>
                <a:latin typeface="Segoe UI"/>
                <a:ea typeface="Segoe UI Emoji"/>
                <a:cs typeface="Segoe UI"/>
                <a:sym typeface="Segoe UI"/>
                <a:rtl val="0"/>
              </a:rPr>
              <a:t> Start: Fall · Spring</a:t>
            </a:r>
          </a:p>
        </p:txBody>
      </p:sp>
      <p:sp>
        <p:nvSpPr>
          <p:cNvPr id="68" name="TextBox 67">
            <a:extLst>
              <a:ext uri="{FF2B5EF4-FFF2-40B4-BE49-F238E27FC236}">
                <a16:creationId xmlns:a16="http://schemas.microsoft.com/office/drawing/2014/main" id="{9B5B3651-6B20-75F6-0B88-7CD87B1A6CEC}"/>
              </a:ext>
            </a:extLst>
          </p:cNvPr>
          <p:cNvSpPr txBox="1"/>
          <p:nvPr/>
        </p:nvSpPr>
        <p:spPr>
          <a:xfrm>
            <a:off x="7028560" y="4402941"/>
            <a:ext cx="190180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Emoji"/>
                <a:ea typeface="Segoe UI Emoji"/>
                <a:cs typeface="+mn-cs"/>
                <a:sym typeface="Segoe UI Emoji"/>
                <a:rtl val="0"/>
              </a:rPr>
              <a:t>🎓</a:t>
            </a:r>
            <a:r>
              <a:rPr kumimoji="0" lang="en-US" sz="1050" b="0" i="0" u="none" strike="noStrike" kern="1200" cap="none" spc="0" normalizeH="0" baseline="0" noProof="0">
                <a:ln/>
                <a:solidFill>
                  <a:srgbClr val="3A3A3A"/>
                </a:solidFill>
                <a:effectLst/>
                <a:uLnTx/>
                <a:uFillTx/>
                <a:latin typeface="Segoe UI"/>
                <a:ea typeface="Segoe UI Emoji"/>
                <a:cs typeface="Segoe UI"/>
                <a:sym typeface="Segoe UI"/>
                <a:rtl val="0"/>
              </a:rPr>
              <a:t> Degree: Bachelor of Science</a:t>
            </a:r>
          </a:p>
        </p:txBody>
      </p:sp>
      <p:sp>
        <p:nvSpPr>
          <p:cNvPr id="69" name="TextBox 68">
            <a:extLst>
              <a:ext uri="{FF2B5EF4-FFF2-40B4-BE49-F238E27FC236}">
                <a16:creationId xmlns:a16="http://schemas.microsoft.com/office/drawing/2014/main" id="{BE28B3DB-EA49-9044-DAE9-0F89351E32ED}"/>
              </a:ext>
            </a:extLst>
          </p:cNvPr>
          <p:cNvSpPr txBox="1"/>
          <p:nvPr/>
        </p:nvSpPr>
        <p:spPr>
          <a:xfrm>
            <a:off x="7028560" y="4561837"/>
            <a:ext cx="1248932"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Symbol"/>
                <a:ea typeface="Segoe UI Symbol"/>
                <a:cs typeface="+mn-cs"/>
                <a:sym typeface="Segoe UI Symbol"/>
                <a:rtl val="0"/>
              </a:rPr>
              <a:t>⏱</a:t>
            </a:r>
            <a:r>
              <a:rPr kumimoji="0" lang="en-US" sz="1050" b="0" i="0" u="none" strike="noStrike" kern="1200" cap="none" spc="0" normalizeH="0" baseline="0" noProof="0">
                <a:ln/>
                <a:solidFill>
                  <a:srgbClr val="3A3A3A"/>
                </a:solidFill>
                <a:effectLst/>
                <a:uLnTx/>
                <a:uFillTx/>
                <a:latin typeface="Segoe UI"/>
                <a:ea typeface="Segoe UI Symbol"/>
                <a:cs typeface="Segoe UI"/>
                <a:sym typeface="Segoe UI"/>
                <a:rtl val="0"/>
              </a:rPr>
              <a:t> Duration: 4 years</a:t>
            </a:r>
          </a:p>
        </p:txBody>
      </p:sp>
      <p:sp>
        <p:nvSpPr>
          <p:cNvPr id="70" name="Freeform: Shape 69">
            <a:extLst>
              <a:ext uri="{FF2B5EF4-FFF2-40B4-BE49-F238E27FC236}">
                <a16:creationId xmlns:a16="http://schemas.microsoft.com/office/drawing/2014/main" id="{D6BCA4F1-F6AA-D415-EE1C-26A371E04DAD}"/>
              </a:ext>
            </a:extLst>
          </p:cNvPr>
          <p:cNvSpPr/>
          <p:nvPr/>
        </p:nvSpPr>
        <p:spPr>
          <a:xfrm>
            <a:off x="7120000" y="4864506"/>
            <a:ext cx="2295173" cy="8827"/>
          </a:xfrm>
          <a:custGeom>
            <a:avLst/>
            <a:gdLst>
              <a:gd name="csX0" fmla="*/ 0 w 2295173"/>
              <a:gd name="csY0" fmla="*/ 0 h 8827"/>
              <a:gd name="csX1" fmla="*/ 2295174 w 2295173"/>
              <a:gd name="csY1" fmla="*/ 0 h 8827"/>
            </a:gdLst>
            <a:ahLst/>
            <a:cxnLst>
              <a:cxn ang="0">
                <a:pos x="csX0" y="csY0"/>
              </a:cxn>
              <a:cxn ang="0">
                <a:pos x="csX1" y="csY1"/>
              </a:cxn>
            </a:cxnLst>
            <a:rect l="l" t="t" r="r" b="b"/>
            <a:pathLst>
              <a:path w="2295173" h="8827">
                <a:moveTo>
                  <a:pt x="0" y="0"/>
                </a:moveTo>
                <a:lnTo>
                  <a:pt x="2295174" y="0"/>
                </a:lnTo>
              </a:path>
            </a:pathLst>
          </a:custGeom>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1" name="TextBox 70">
            <a:extLst>
              <a:ext uri="{FF2B5EF4-FFF2-40B4-BE49-F238E27FC236}">
                <a16:creationId xmlns:a16="http://schemas.microsoft.com/office/drawing/2014/main" id="{68385580-5DDE-886B-9B80-9A35707F2988}"/>
              </a:ext>
            </a:extLst>
          </p:cNvPr>
          <p:cNvSpPr txBox="1"/>
          <p:nvPr/>
        </p:nvSpPr>
        <p:spPr>
          <a:xfrm>
            <a:off x="7028560" y="4834794"/>
            <a:ext cx="664431" cy="2675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444F9C"/>
                </a:solidFill>
                <a:effectLst/>
                <a:uLnTx/>
                <a:uFillTx/>
                <a:latin typeface="Segoe UI"/>
                <a:ea typeface="+mn-ea"/>
                <a:cs typeface="Segoe UI"/>
                <a:sym typeface="Segoe UI"/>
                <a:rtl val="0"/>
              </a:rPr>
              <a:t>Contact</a:t>
            </a:r>
          </a:p>
        </p:txBody>
      </p:sp>
      <p:sp>
        <p:nvSpPr>
          <p:cNvPr id="72" name="TextBox 71">
            <a:extLst>
              <a:ext uri="{FF2B5EF4-FFF2-40B4-BE49-F238E27FC236}">
                <a16:creationId xmlns:a16="http://schemas.microsoft.com/office/drawing/2014/main" id="{A813CC3D-F9E0-5DE5-F89B-7ACB0F500863}"/>
              </a:ext>
            </a:extLst>
          </p:cNvPr>
          <p:cNvSpPr txBox="1"/>
          <p:nvPr/>
        </p:nvSpPr>
        <p:spPr>
          <a:xfrm>
            <a:off x="7028560" y="5003217"/>
            <a:ext cx="1357009"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computing@etsu.edu</a:t>
            </a:r>
          </a:p>
        </p:txBody>
      </p:sp>
      <p:sp>
        <p:nvSpPr>
          <p:cNvPr id="73" name="TextBox 72">
            <a:extLst>
              <a:ext uri="{FF2B5EF4-FFF2-40B4-BE49-F238E27FC236}">
                <a16:creationId xmlns:a16="http://schemas.microsoft.com/office/drawing/2014/main" id="{0E4574C0-5609-DFAD-BA15-9962D9931DC2}"/>
              </a:ext>
            </a:extLst>
          </p:cNvPr>
          <p:cNvSpPr txBox="1"/>
          <p:nvPr/>
        </p:nvSpPr>
        <p:spPr>
          <a:xfrm>
            <a:off x="7028560" y="5153286"/>
            <a:ext cx="1210492"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Emoji"/>
                <a:ea typeface="Segoe UI Emoji"/>
                <a:cs typeface="+mn-cs"/>
                <a:sym typeface="Segoe UI Emoji"/>
                <a:rtl val="0"/>
              </a:rPr>
              <a:t>📞</a:t>
            </a:r>
            <a:r>
              <a:rPr kumimoji="0" lang="en-US" sz="1050" b="0" i="0" u="none" strike="noStrike" kern="1200" cap="none" spc="0" normalizeH="0" baseline="0" noProof="0">
                <a:ln/>
                <a:solidFill>
                  <a:srgbClr val="3A3A3A"/>
                </a:solidFill>
                <a:effectLst/>
                <a:uLnTx/>
                <a:uFillTx/>
                <a:latin typeface="Segoe UI"/>
                <a:ea typeface="Segoe UI Emoji"/>
                <a:cs typeface="Segoe UI"/>
                <a:sym typeface="Segoe UI"/>
                <a:rtl val="0"/>
              </a:rPr>
              <a:t> (423) 439-5331</a:t>
            </a:r>
          </a:p>
        </p:txBody>
      </p:sp>
      <p:sp>
        <p:nvSpPr>
          <p:cNvPr id="74" name="Freeform: Shape 73">
            <a:extLst>
              <a:ext uri="{FF2B5EF4-FFF2-40B4-BE49-F238E27FC236}">
                <a16:creationId xmlns:a16="http://schemas.microsoft.com/office/drawing/2014/main" id="{D0F551C0-3C63-EB08-73A1-C8CD4E4EDF11}"/>
              </a:ext>
            </a:extLst>
          </p:cNvPr>
          <p:cNvSpPr/>
          <p:nvPr/>
        </p:nvSpPr>
        <p:spPr>
          <a:xfrm>
            <a:off x="2635585" y="5553058"/>
            <a:ext cx="6920830" cy="8827"/>
          </a:xfrm>
          <a:custGeom>
            <a:avLst/>
            <a:gdLst>
              <a:gd name="csX0" fmla="*/ 0 w 6920830"/>
              <a:gd name="csY0" fmla="*/ 0 h 8827"/>
              <a:gd name="csX1" fmla="*/ 6920831 w 6920830"/>
              <a:gd name="csY1" fmla="*/ 0 h 8827"/>
            </a:gdLst>
            <a:ahLst/>
            <a:cxnLst>
              <a:cxn ang="0">
                <a:pos x="csX0" y="csY0"/>
              </a:cxn>
              <a:cxn ang="0">
                <a:pos x="csX1" y="csY1"/>
              </a:cxn>
            </a:cxnLst>
            <a:rect l="l" t="t" r="r" b="b"/>
            <a:pathLst>
              <a:path w="6920830" h="8827">
                <a:moveTo>
                  <a:pt x="0" y="0"/>
                </a:moveTo>
                <a:lnTo>
                  <a:pt x="6920831" y="0"/>
                </a:lnTo>
              </a:path>
            </a:pathLst>
          </a:custGeom>
          <a:ln w="13240" cap="flat">
            <a:solidFill>
              <a:srgbClr val="EDEEF5"/>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5" name="TextBox 74">
            <a:extLst>
              <a:ext uri="{FF2B5EF4-FFF2-40B4-BE49-F238E27FC236}">
                <a16:creationId xmlns:a16="http://schemas.microsoft.com/office/drawing/2014/main" id="{88683F08-1363-56DA-CAFE-72232B1178C0}"/>
              </a:ext>
            </a:extLst>
          </p:cNvPr>
          <p:cNvSpPr txBox="1"/>
          <p:nvPr/>
        </p:nvSpPr>
        <p:spPr>
          <a:xfrm>
            <a:off x="2544145" y="5541001"/>
            <a:ext cx="606953" cy="2675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3A3A3A"/>
                </a:solidFill>
                <a:effectLst/>
                <a:uLnTx/>
                <a:uFillTx/>
                <a:latin typeface="Segoe UI"/>
                <a:ea typeface="+mn-ea"/>
                <a:cs typeface="Segoe UI"/>
                <a:sym typeface="Segoe UI"/>
                <a:rtl val="0"/>
              </a:rPr>
              <a:t>Topics:</a:t>
            </a:r>
          </a:p>
        </p:txBody>
      </p:sp>
      <p:sp>
        <p:nvSpPr>
          <p:cNvPr id="76" name="Rectangle 75">
            <a:extLst>
              <a:ext uri="{FF2B5EF4-FFF2-40B4-BE49-F238E27FC236}">
                <a16:creationId xmlns:a16="http://schemas.microsoft.com/office/drawing/2014/main" id="{D61C0351-3B93-FC67-ECA7-4F85F6201E3A}"/>
              </a:ext>
            </a:extLst>
          </p:cNvPr>
          <p:cNvSpPr/>
          <p:nvPr/>
        </p:nvSpPr>
        <p:spPr>
          <a:xfrm>
            <a:off x="3165240" y="5606023"/>
            <a:ext cx="1059310" cy="211862"/>
          </a:xfrm>
          <a:prstGeom prst="rect">
            <a:avLst/>
          </a:prstGeom>
          <a:solidFill>
            <a:srgbClr val="444F9C"/>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7" name="TextBox 76">
            <a:extLst>
              <a:ext uri="{FF2B5EF4-FFF2-40B4-BE49-F238E27FC236}">
                <a16:creationId xmlns:a16="http://schemas.microsoft.com/office/drawing/2014/main" id="{9E9C1353-1BDE-359C-AE76-8C1A85961889}"/>
              </a:ext>
            </a:extLst>
          </p:cNvPr>
          <p:cNvSpPr txBox="1"/>
          <p:nvPr/>
        </p:nvSpPr>
        <p:spPr>
          <a:xfrm>
            <a:off x="3108326" y="5568182"/>
            <a:ext cx="1173139"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FFFFFF"/>
                </a:solidFill>
                <a:effectLst/>
                <a:uLnTx/>
                <a:uFillTx/>
                <a:latin typeface="Segoe UI"/>
                <a:ea typeface="+mn-ea"/>
                <a:cs typeface="Segoe UI"/>
                <a:sym typeface="Segoe UI"/>
                <a:rtl val="0"/>
              </a:rPr>
              <a:t>Computer Science</a:t>
            </a:r>
          </a:p>
        </p:txBody>
      </p:sp>
      <p:sp>
        <p:nvSpPr>
          <p:cNvPr id="78" name="Rectangle 77">
            <a:extLst>
              <a:ext uri="{FF2B5EF4-FFF2-40B4-BE49-F238E27FC236}">
                <a16:creationId xmlns:a16="http://schemas.microsoft.com/office/drawing/2014/main" id="{2FB4E549-F622-0883-87F4-A847056260DA}"/>
              </a:ext>
            </a:extLst>
          </p:cNvPr>
          <p:cNvSpPr/>
          <p:nvPr/>
        </p:nvSpPr>
        <p:spPr>
          <a:xfrm>
            <a:off x="4312827" y="5606023"/>
            <a:ext cx="794483" cy="211862"/>
          </a:xfrm>
          <a:prstGeom prst="rect">
            <a:avLst/>
          </a:prstGeom>
          <a:solidFill>
            <a:srgbClr val="EDEEF5"/>
          </a:solidFill>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79" name="TextBox 78">
            <a:extLst>
              <a:ext uri="{FF2B5EF4-FFF2-40B4-BE49-F238E27FC236}">
                <a16:creationId xmlns:a16="http://schemas.microsoft.com/office/drawing/2014/main" id="{F56441F3-E8DA-2CE9-344D-411D90D178BD}"/>
              </a:ext>
            </a:extLst>
          </p:cNvPr>
          <p:cNvSpPr txBox="1"/>
          <p:nvPr/>
        </p:nvSpPr>
        <p:spPr>
          <a:xfrm>
            <a:off x="4466680" y="5568182"/>
            <a:ext cx="486776"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STEM</a:t>
            </a:r>
          </a:p>
        </p:txBody>
      </p:sp>
      <p:sp>
        <p:nvSpPr>
          <p:cNvPr id="80" name="Rectangle 79">
            <a:extLst>
              <a:ext uri="{FF2B5EF4-FFF2-40B4-BE49-F238E27FC236}">
                <a16:creationId xmlns:a16="http://schemas.microsoft.com/office/drawing/2014/main" id="{185A5791-5C5C-D308-5617-E9FA4D0B469D}"/>
              </a:ext>
            </a:extLst>
          </p:cNvPr>
          <p:cNvSpPr/>
          <p:nvPr/>
        </p:nvSpPr>
        <p:spPr>
          <a:xfrm>
            <a:off x="5195586" y="5606023"/>
            <a:ext cx="1059310" cy="211862"/>
          </a:xfrm>
          <a:prstGeom prst="rect">
            <a:avLst/>
          </a:prstGeom>
          <a:solidFill>
            <a:srgbClr val="EDEEF5"/>
          </a:solidFill>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1" name="TextBox 80">
            <a:extLst>
              <a:ext uri="{FF2B5EF4-FFF2-40B4-BE49-F238E27FC236}">
                <a16:creationId xmlns:a16="http://schemas.microsoft.com/office/drawing/2014/main" id="{6318F8B1-E121-A535-1F4C-51CBCA5C9FD8}"/>
              </a:ext>
            </a:extLst>
          </p:cNvPr>
          <p:cNvSpPr txBox="1"/>
          <p:nvPr/>
        </p:nvSpPr>
        <p:spPr>
          <a:xfrm>
            <a:off x="5220831" y="5568182"/>
            <a:ext cx="100882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Undergraduate</a:t>
            </a:r>
          </a:p>
        </p:txBody>
      </p:sp>
      <p:sp>
        <p:nvSpPr>
          <p:cNvPr id="82" name="Rectangle 81">
            <a:extLst>
              <a:ext uri="{FF2B5EF4-FFF2-40B4-BE49-F238E27FC236}">
                <a16:creationId xmlns:a16="http://schemas.microsoft.com/office/drawing/2014/main" id="{84126806-2B01-E6E5-D730-EBBBC87C98F6}"/>
              </a:ext>
            </a:extLst>
          </p:cNvPr>
          <p:cNvSpPr/>
          <p:nvPr/>
        </p:nvSpPr>
        <p:spPr>
          <a:xfrm>
            <a:off x="6343173" y="5606023"/>
            <a:ext cx="926896" cy="211862"/>
          </a:xfrm>
          <a:prstGeom prst="rect">
            <a:avLst/>
          </a:prstGeom>
          <a:solidFill>
            <a:srgbClr val="EDEEF5"/>
          </a:solidFill>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3" name="TextBox 82">
            <a:extLst>
              <a:ext uri="{FF2B5EF4-FFF2-40B4-BE49-F238E27FC236}">
                <a16:creationId xmlns:a16="http://schemas.microsoft.com/office/drawing/2014/main" id="{229C5F9C-A8AC-4454-BC3C-AC36F3A13381}"/>
              </a:ext>
            </a:extLst>
          </p:cNvPr>
          <p:cNvSpPr txBox="1"/>
          <p:nvPr/>
        </p:nvSpPr>
        <p:spPr>
          <a:xfrm>
            <a:off x="6399961" y="5568182"/>
            <a:ext cx="804492"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Technology</a:t>
            </a:r>
          </a:p>
        </p:txBody>
      </p:sp>
      <p:sp>
        <p:nvSpPr>
          <p:cNvPr id="84" name="Rectangle 83">
            <a:extLst>
              <a:ext uri="{FF2B5EF4-FFF2-40B4-BE49-F238E27FC236}">
                <a16:creationId xmlns:a16="http://schemas.microsoft.com/office/drawing/2014/main" id="{5316D97D-C39A-21F8-8A91-77C6C16835D2}"/>
              </a:ext>
            </a:extLst>
          </p:cNvPr>
          <p:cNvSpPr/>
          <p:nvPr/>
        </p:nvSpPr>
        <p:spPr>
          <a:xfrm>
            <a:off x="7358345" y="5606023"/>
            <a:ext cx="776827" cy="211862"/>
          </a:xfrm>
          <a:prstGeom prst="rect">
            <a:avLst/>
          </a:prstGeom>
          <a:solidFill>
            <a:srgbClr val="EDEEF5"/>
          </a:solidFill>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5" name="TextBox 84">
            <a:extLst>
              <a:ext uri="{FF2B5EF4-FFF2-40B4-BE49-F238E27FC236}">
                <a16:creationId xmlns:a16="http://schemas.microsoft.com/office/drawing/2014/main" id="{E096A29B-D55B-CBE5-99BF-54C7BA336137}"/>
              </a:ext>
            </a:extLst>
          </p:cNvPr>
          <p:cNvSpPr txBox="1"/>
          <p:nvPr/>
        </p:nvSpPr>
        <p:spPr>
          <a:xfrm>
            <a:off x="7430957" y="5568182"/>
            <a:ext cx="631604"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A3A3A"/>
                </a:solidFill>
                <a:effectLst/>
                <a:uLnTx/>
                <a:uFillTx/>
                <a:latin typeface="Segoe UI"/>
                <a:ea typeface="+mn-ea"/>
                <a:cs typeface="Segoe UI"/>
                <a:sym typeface="Segoe UI"/>
                <a:rtl val="0"/>
              </a:rPr>
              <a:t>Degrees</a:t>
            </a:r>
          </a:p>
        </p:txBody>
      </p:sp>
      <p:sp>
        <p:nvSpPr>
          <p:cNvPr id="86" name="Rectangle 85">
            <a:extLst>
              <a:ext uri="{FF2B5EF4-FFF2-40B4-BE49-F238E27FC236}">
                <a16:creationId xmlns:a16="http://schemas.microsoft.com/office/drawing/2014/main" id="{18C79320-6B68-739B-A2E8-C284B5203448}"/>
              </a:ext>
            </a:extLst>
          </p:cNvPr>
          <p:cNvSpPr/>
          <p:nvPr/>
        </p:nvSpPr>
        <p:spPr>
          <a:xfrm>
            <a:off x="2459033" y="5923816"/>
            <a:ext cx="7273934" cy="441379"/>
          </a:xfrm>
          <a:prstGeom prst="rect">
            <a:avLst/>
          </a:prstGeom>
          <a:solidFill>
            <a:srgbClr val="F0F1F7"/>
          </a:solidFill>
          <a:ln w="8827" cap="flat">
            <a:solidFill>
              <a:srgbClr val="CECDED"/>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87" name="TextBox 86">
            <a:extLst>
              <a:ext uri="{FF2B5EF4-FFF2-40B4-BE49-F238E27FC236}">
                <a16:creationId xmlns:a16="http://schemas.microsoft.com/office/drawing/2014/main" id="{09B97C25-5A93-9EAA-ABA3-53329E6E7BFB}"/>
              </a:ext>
            </a:extLst>
          </p:cNvPr>
          <p:cNvSpPr txBox="1"/>
          <p:nvPr/>
        </p:nvSpPr>
        <p:spPr>
          <a:xfrm>
            <a:off x="2544145" y="5911760"/>
            <a:ext cx="687061" cy="2675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25" b="1" i="0" u="none" strike="noStrike" kern="1200" cap="none" spc="0" normalizeH="0" baseline="0" noProof="0">
                <a:ln/>
                <a:solidFill>
                  <a:srgbClr val="3A3A3A"/>
                </a:solidFill>
                <a:effectLst/>
                <a:uLnTx/>
                <a:uFillTx/>
                <a:latin typeface="Segoe UI"/>
                <a:ea typeface="+mn-ea"/>
                <a:cs typeface="Segoe UI"/>
                <a:sym typeface="Segoe UI"/>
                <a:rtl val="0"/>
              </a:rPr>
              <a:t>Related:</a:t>
            </a:r>
          </a:p>
        </p:txBody>
      </p:sp>
      <p:sp>
        <p:nvSpPr>
          <p:cNvPr id="88" name="TextBox 87">
            <a:extLst>
              <a:ext uri="{FF2B5EF4-FFF2-40B4-BE49-F238E27FC236}">
                <a16:creationId xmlns:a16="http://schemas.microsoft.com/office/drawing/2014/main" id="{2C3FC9C3-72A9-56B8-9645-A2747FC8AACB}"/>
              </a:ext>
            </a:extLst>
          </p:cNvPr>
          <p:cNvSpPr txBox="1"/>
          <p:nvPr/>
        </p:nvSpPr>
        <p:spPr>
          <a:xfrm>
            <a:off x="3215042" y="5921286"/>
            <a:ext cx="1014914"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Course Catalog</a:t>
            </a:r>
          </a:p>
        </p:txBody>
      </p:sp>
      <p:sp>
        <p:nvSpPr>
          <p:cNvPr id="89" name="TextBox 88">
            <a:extLst>
              <a:ext uri="{FF2B5EF4-FFF2-40B4-BE49-F238E27FC236}">
                <a16:creationId xmlns:a16="http://schemas.microsoft.com/office/drawing/2014/main" id="{A12C2300-A674-6FF2-B120-C0A8797CE2EF}"/>
              </a:ext>
            </a:extLst>
          </p:cNvPr>
          <p:cNvSpPr txBox="1"/>
          <p:nvPr/>
        </p:nvSpPr>
        <p:spPr>
          <a:xfrm>
            <a:off x="4150766" y="5921286"/>
            <a:ext cx="20967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a:t>
            </a:r>
          </a:p>
        </p:txBody>
      </p:sp>
      <p:sp>
        <p:nvSpPr>
          <p:cNvPr id="90" name="TextBox 89">
            <a:extLst>
              <a:ext uri="{FF2B5EF4-FFF2-40B4-BE49-F238E27FC236}">
                <a16:creationId xmlns:a16="http://schemas.microsoft.com/office/drawing/2014/main" id="{AABEB33E-AEDF-3A54-5055-1A74C9E9DC88}"/>
              </a:ext>
            </a:extLst>
          </p:cNvPr>
          <p:cNvSpPr txBox="1"/>
          <p:nvPr/>
        </p:nvSpPr>
        <p:spPr>
          <a:xfrm>
            <a:off x="4274352" y="5921286"/>
            <a:ext cx="1092699"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Faculty Directory</a:t>
            </a:r>
          </a:p>
        </p:txBody>
      </p:sp>
      <p:sp>
        <p:nvSpPr>
          <p:cNvPr id="91" name="TextBox 90">
            <a:extLst>
              <a:ext uri="{FF2B5EF4-FFF2-40B4-BE49-F238E27FC236}">
                <a16:creationId xmlns:a16="http://schemas.microsoft.com/office/drawing/2014/main" id="{0C68CCA1-FFA3-3669-A224-7E5B8EFB251A}"/>
              </a:ext>
            </a:extLst>
          </p:cNvPr>
          <p:cNvSpPr txBox="1"/>
          <p:nvPr/>
        </p:nvSpPr>
        <p:spPr>
          <a:xfrm>
            <a:off x="5298353" y="5921286"/>
            <a:ext cx="20967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a:t>
            </a:r>
          </a:p>
        </p:txBody>
      </p:sp>
      <p:sp>
        <p:nvSpPr>
          <p:cNvPr id="92" name="TextBox 91">
            <a:extLst>
              <a:ext uri="{FF2B5EF4-FFF2-40B4-BE49-F238E27FC236}">
                <a16:creationId xmlns:a16="http://schemas.microsoft.com/office/drawing/2014/main" id="{2445E4BA-EBF4-B284-AADC-A173DBB0E165}"/>
              </a:ext>
            </a:extLst>
          </p:cNvPr>
          <p:cNvSpPr txBox="1"/>
          <p:nvPr/>
        </p:nvSpPr>
        <p:spPr>
          <a:xfrm>
            <a:off x="5421939" y="5921286"/>
            <a:ext cx="1241570"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Graduate Programs</a:t>
            </a:r>
          </a:p>
        </p:txBody>
      </p:sp>
      <p:sp>
        <p:nvSpPr>
          <p:cNvPr id="93" name="TextBox 92">
            <a:extLst>
              <a:ext uri="{FF2B5EF4-FFF2-40B4-BE49-F238E27FC236}">
                <a16:creationId xmlns:a16="http://schemas.microsoft.com/office/drawing/2014/main" id="{C03F3A5B-A4F0-B061-0CE4-F27A122C0ECA}"/>
              </a:ext>
            </a:extLst>
          </p:cNvPr>
          <p:cNvSpPr txBox="1"/>
          <p:nvPr/>
        </p:nvSpPr>
        <p:spPr>
          <a:xfrm>
            <a:off x="6534215" y="5921286"/>
            <a:ext cx="20967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a:t>
            </a:r>
          </a:p>
        </p:txBody>
      </p:sp>
      <p:sp>
        <p:nvSpPr>
          <p:cNvPr id="94" name="TextBox 93">
            <a:extLst>
              <a:ext uri="{FF2B5EF4-FFF2-40B4-BE49-F238E27FC236}">
                <a16:creationId xmlns:a16="http://schemas.microsoft.com/office/drawing/2014/main" id="{E70C0CF8-756E-56D8-7D15-A91623A13DC0}"/>
              </a:ext>
            </a:extLst>
          </p:cNvPr>
          <p:cNvSpPr txBox="1"/>
          <p:nvPr/>
        </p:nvSpPr>
        <p:spPr>
          <a:xfrm>
            <a:off x="6657802" y="5921286"/>
            <a:ext cx="947751"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Research Labs</a:t>
            </a:r>
          </a:p>
        </p:txBody>
      </p:sp>
      <p:sp>
        <p:nvSpPr>
          <p:cNvPr id="95" name="TextBox 94">
            <a:extLst>
              <a:ext uri="{FF2B5EF4-FFF2-40B4-BE49-F238E27FC236}">
                <a16:creationId xmlns:a16="http://schemas.microsoft.com/office/drawing/2014/main" id="{D675A915-6033-BD9A-DACB-59C24852F4BF}"/>
              </a:ext>
            </a:extLst>
          </p:cNvPr>
          <p:cNvSpPr txBox="1"/>
          <p:nvPr/>
        </p:nvSpPr>
        <p:spPr>
          <a:xfrm>
            <a:off x="7575871" y="5921286"/>
            <a:ext cx="209673"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3E5760"/>
                </a:solidFill>
                <a:effectLst/>
                <a:uLnTx/>
                <a:uFillTx/>
                <a:latin typeface="Segoe UI"/>
                <a:ea typeface="+mn-ea"/>
                <a:cs typeface="Segoe UI"/>
                <a:sym typeface="Segoe UI"/>
                <a:rtl val="0"/>
              </a:rPr>
              <a:t>·</a:t>
            </a:r>
          </a:p>
        </p:txBody>
      </p:sp>
      <p:sp>
        <p:nvSpPr>
          <p:cNvPr id="96" name="TextBox 95">
            <a:extLst>
              <a:ext uri="{FF2B5EF4-FFF2-40B4-BE49-F238E27FC236}">
                <a16:creationId xmlns:a16="http://schemas.microsoft.com/office/drawing/2014/main" id="{A0697D8C-282A-591E-F1C2-FC5F6B37AC90}"/>
              </a:ext>
            </a:extLst>
          </p:cNvPr>
          <p:cNvSpPr txBox="1"/>
          <p:nvPr/>
        </p:nvSpPr>
        <p:spPr>
          <a:xfrm>
            <a:off x="7699457" y="5921286"/>
            <a:ext cx="1186294" cy="2558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solidFill>
                  <a:srgbClr val="2D5EBF"/>
                </a:solidFill>
                <a:effectLst/>
                <a:uLnTx/>
                <a:uFillTx/>
                <a:latin typeface="Segoe UI"/>
                <a:ea typeface="+mn-ea"/>
                <a:cs typeface="Segoe UI"/>
                <a:sym typeface="Segoe UI"/>
                <a:rtl val="0"/>
              </a:rPr>
              <a:t>Student Resources</a:t>
            </a:r>
          </a:p>
        </p:txBody>
      </p:sp>
      <p:sp>
        <p:nvSpPr>
          <p:cNvPr id="97" name="TextBox 96">
            <a:extLst>
              <a:ext uri="{FF2B5EF4-FFF2-40B4-BE49-F238E27FC236}">
                <a16:creationId xmlns:a16="http://schemas.microsoft.com/office/drawing/2014/main" id="{DB8D652F-245A-A4EB-7261-05AB7937F2DA}"/>
              </a:ext>
            </a:extLst>
          </p:cNvPr>
          <p:cNvSpPr txBox="1"/>
          <p:nvPr/>
        </p:nvSpPr>
        <p:spPr>
          <a:xfrm>
            <a:off x="2544145" y="6107364"/>
            <a:ext cx="4054304" cy="24407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75" b="0" i="0" u="none" strike="noStrike" kern="1200" cap="none" spc="0" normalizeH="0" baseline="0" noProof="0">
                <a:ln/>
                <a:solidFill>
                  <a:srgbClr val="3E5760"/>
                </a:solidFill>
                <a:effectLst/>
                <a:uLnTx/>
                <a:uFillTx/>
                <a:latin typeface="Segoe UI"/>
                <a:ea typeface="+mn-ea"/>
                <a:cs typeface="Segoe UI"/>
                <a:sym typeface="Segoe UI"/>
                <a:rtl val="0"/>
              </a:rPr>
              <a:t>Also in: B.S. Cybersecurity · B.S. Information Systems · M.S. Computer Science</a:t>
            </a:r>
          </a:p>
        </p:txBody>
      </p:sp>
      <p:sp>
        <p:nvSpPr>
          <p:cNvPr id="98" name="Rectangle 97">
            <a:extLst>
              <a:ext uri="{FF2B5EF4-FFF2-40B4-BE49-F238E27FC236}">
                <a16:creationId xmlns:a16="http://schemas.microsoft.com/office/drawing/2014/main" id="{F5341A70-F640-F7FA-682D-D0F71FDAD924}"/>
              </a:ext>
            </a:extLst>
          </p:cNvPr>
          <p:cNvSpPr/>
          <p:nvPr/>
        </p:nvSpPr>
        <p:spPr>
          <a:xfrm>
            <a:off x="1495425" y="1570150"/>
            <a:ext cx="45719" cy="425389"/>
          </a:xfrm>
          <a:prstGeom prst="rect">
            <a:avLst/>
          </a:prstGeom>
          <a:solidFill>
            <a:srgbClr val="C23592"/>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99" name="Freeform: Shape 98">
            <a:extLst>
              <a:ext uri="{FF2B5EF4-FFF2-40B4-BE49-F238E27FC236}">
                <a16:creationId xmlns:a16="http://schemas.microsoft.com/office/drawing/2014/main" id="{59880246-98F7-1A34-57BB-7F0D7CCED2C8}"/>
              </a:ext>
            </a:extLst>
          </p:cNvPr>
          <p:cNvSpPr/>
          <p:nvPr/>
        </p:nvSpPr>
        <p:spPr>
          <a:xfrm>
            <a:off x="2282482" y="1969535"/>
            <a:ext cx="247172" cy="723862"/>
          </a:xfrm>
          <a:custGeom>
            <a:avLst/>
            <a:gdLst>
              <a:gd name="csX0" fmla="*/ 0 w 247172"/>
              <a:gd name="csY0" fmla="*/ 0 h 723862"/>
              <a:gd name="csX1" fmla="*/ 247173 w 247172"/>
              <a:gd name="csY1" fmla="*/ 723862 h 723862"/>
            </a:gdLst>
            <a:ahLst/>
            <a:cxnLst>
              <a:cxn ang="0">
                <a:pos x="csX0" y="csY0"/>
              </a:cxn>
              <a:cxn ang="0">
                <a:pos x="csX1" y="csY1"/>
              </a:cxn>
            </a:cxnLst>
            <a:rect l="l" t="t" r="r" b="b"/>
            <a:pathLst>
              <a:path w="247172" h="723862">
                <a:moveTo>
                  <a:pt x="0" y="0"/>
                </a:moveTo>
                <a:lnTo>
                  <a:pt x="247173" y="723862"/>
                </a:lnTo>
              </a:path>
            </a:pathLst>
          </a:custGeom>
          <a:ln w="35306" cap="flat">
            <a:solidFill>
              <a:srgbClr val="C23592"/>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0" name="TextBox 99">
            <a:extLst>
              <a:ext uri="{FF2B5EF4-FFF2-40B4-BE49-F238E27FC236}">
                <a16:creationId xmlns:a16="http://schemas.microsoft.com/office/drawing/2014/main" id="{C21B08C1-6A7D-C9A4-5C98-403DE4EA007F}"/>
              </a:ext>
            </a:extLst>
          </p:cNvPr>
          <p:cNvSpPr txBox="1"/>
          <p:nvPr/>
        </p:nvSpPr>
        <p:spPr>
          <a:xfrm>
            <a:off x="1593929" y="1494094"/>
            <a:ext cx="1677242" cy="323165"/>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C23592"/>
                </a:solidFill>
                <a:effectLst/>
                <a:uLnTx/>
                <a:uFillTx/>
                <a:latin typeface="Segoe UI"/>
                <a:ea typeface="+mn-ea"/>
                <a:cs typeface="Segoe UI"/>
                <a:sym typeface="Segoe UI"/>
                <a:rtl val="0"/>
              </a:rPr>
              <a:t>(1) Where am I?</a:t>
            </a:r>
          </a:p>
        </p:txBody>
      </p:sp>
      <p:sp>
        <p:nvSpPr>
          <p:cNvPr id="101" name="TextBox 100">
            <a:extLst>
              <a:ext uri="{FF2B5EF4-FFF2-40B4-BE49-F238E27FC236}">
                <a16:creationId xmlns:a16="http://schemas.microsoft.com/office/drawing/2014/main" id="{00E6E349-78AD-73A5-47A3-68F11B4693FC}"/>
              </a:ext>
            </a:extLst>
          </p:cNvPr>
          <p:cNvSpPr txBox="1"/>
          <p:nvPr/>
        </p:nvSpPr>
        <p:spPr>
          <a:xfrm>
            <a:off x="1636353" y="1788362"/>
            <a:ext cx="1471973"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C23592"/>
                </a:solidFill>
                <a:effectLst/>
                <a:uLnTx/>
                <a:uFillTx/>
                <a:latin typeface="Segoe UI"/>
                <a:ea typeface="+mn-ea"/>
                <a:cs typeface="Segoe UI"/>
                <a:sym typeface="Segoe UI"/>
                <a:rtl val="0"/>
              </a:rPr>
              <a:t>Breadcrumb trail</a:t>
            </a:r>
          </a:p>
        </p:txBody>
      </p:sp>
      <p:sp>
        <p:nvSpPr>
          <p:cNvPr id="102" name="Rectangle 101">
            <a:extLst>
              <a:ext uri="{FF2B5EF4-FFF2-40B4-BE49-F238E27FC236}">
                <a16:creationId xmlns:a16="http://schemas.microsoft.com/office/drawing/2014/main" id="{E429DA8E-540E-6D90-E4FF-74A7BFC70137}"/>
              </a:ext>
            </a:extLst>
          </p:cNvPr>
          <p:cNvSpPr/>
          <p:nvPr/>
        </p:nvSpPr>
        <p:spPr>
          <a:xfrm>
            <a:off x="2194205" y="3937609"/>
            <a:ext cx="441379" cy="1368276"/>
          </a:xfrm>
          <a:prstGeom prst="rect">
            <a:avLst/>
          </a:prstGeom>
          <a:solidFill>
            <a:srgbClr val="FFFFFF"/>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3" name="Freeform: Shape 102">
            <a:extLst>
              <a:ext uri="{FF2B5EF4-FFF2-40B4-BE49-F238E27FC236}">
                <a16:creationId xmlns:a16="http://schemas.microsoft.com/office/drawing/2014/main" id="{5523A690-CCF1-4390-92B3-7F52B7E94600}"/>
              </a:ext>
            </a:extLst>
          </p:cNvPr>
          <p:cNvSpPr/>
          <p:nvPr/>
        </p:nvSpPr>
        <p:spPr>
          <a:xfrm>
            <a:off x="2459033" y="4317195"/>
            <a:ext cx="176551" cy="8827"/>
          </a:xfrm>
          <a:custGeom>
            <a:avLst/>
            <a:gdLst>
              <a:gd name="csX0" fmla="*/ 0 w 176551"/>
              <a:gd name="csY0" fmla="*/ 0 h 8827"/>
              <a:gd name="csX1" fmla="*/ 176552 w 176551"/>
              <a:gd name="csY1" fmla="*/ 0 h 8827"/>
            </a:gdLst>
            <a:ahLst/>
            <a:cxnLst>
              <a:cxn ang="0">
                <a:pos x="csX0" y="csY0"/>
              </a:cxn>
              <a:cxn ang="0">
                <a:pos x="csX1" y="csY1"/>
              </a:cxn>
            </a:cxnLst>
            <a:rect l="l" t="t" r="r" b="b"/>
            <a:pathLst>
              <a:path w="176551" h="8827">
                <a:moveTo>
                  <a:pt x="0" y="0"/>
                </a:moveTo>
                <a:lnTo>
                  <a:pt x="176552" y="0"/>
                </a:lnTo>
              </a:path>
            </a:pathLst>
          </a:custGeom>
          <a:ln w="26480"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4" name="Freeform: Shape 103">
            <a:extLst>
              <a:ext uri="{FF2B5EF4-FFF2-40B4-BE49-F238E27FC236}">
                <a16:creationId xmlns:a16="http://schemas.microsoft.com/office/drawing/2014/main" id="{120BE504-2305-F0BA-FF56-98DA838ECA0F}"/>
              </a:ext>
            </a:extLst>
          </p:cNvPr>
          <p:cNvSpPr/>
          <p:nvPr/>
        </p:nvSpPr>
        <p:spPr>
          <a:xfrm>
            <a:off x="2459033" y="5085195"/>
            <a:ext cx="176551" cy="8827"/>
          </a:xfrm>
          <a:custGeom>
            <a:avLst/>
            <a:gdLst>
              <a:gd name="csX0" fmla="*/ 0 w 176551"/>
              <a:gd name="csY0" fmla="*/ 0 h 8827"/>
              <a:gd name="csX1" fmla="*/ 176552 w 176551"/>
              <a:gd name="csY1" fmla="*/ 0 h 8827"/>
            </a:gdLst>
            <a:ahLst/>
            <a:cxnLst>
              <a:cxn ang="0">
                <a:pos x="csX0" y="csY0"/>
              </a:cxn>
              <a:cxn ang="0">
                <a:pos x="csX1" y="csY1"/>
              </a:cxn>
            </a:cxnLst>
            <a:rect l="l" t="t" r="r" b="b"/>
            <a:pathLst>
              <a:path w="176551" h="8827">
                <a:moveTo>
                  <a:pt x="0" y="0"/>
                </a:moveTo>
                <a:lnTo>
                  <a:pt x="176552" y="0"/>
                </a:lnTo>
              </a:path>
            </a:pathLst>
          </a:custGeom>
          <a:ln w="26480"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5" name="Freeform: Shape 104">
            <a:extLst>
              <a:ext uri="{FF2B5EF4-FFF2-40B4-BE49-F238E27FC236}">
                <a16:creationId xmlns:a16="http://schemas.microsoft.com/office/drawing/2014/main" id="{4B9E1CC3-F598-BF9B-D57E-C594C93B18CB}"/>
              </a:ext>
            </a:extLst>
          </p:cNvPr>
          <p:cNvSpPr/>
          <p:nvPr/>
        </p:nvSpPr>
        <p:spPr>
          <a:xfrm>
            <a:off x="2459033" y="3937609"/>
            <a:ext cx="8827" cy="1368276"/>
          </a:xfrm>
          <a:custGeom>
            <a:avLst/>
            <a:gdLst>
              <a:gd name="csX0" fmla="*/ 0 w 8827"/>
              <a:gd name="csY0" fmla="*/ 0 h 1368276"/>
              <a:gd name="csX1" fmla="*/ 0 w 8827"/>
              <a:gd name="csY1" fmla="*/ 1368277 h 1368276"/>
            </a:gdLst>
            <a:ahLst/>
            <a:cxnLst>
              <a:cxn ang="0">
                <a:pos x="csX0" y="csY0"/>
              </a:cxn>
              <a:cxn ang="0">
                <a:pos x="csX1" y="csY1"/>
              </a:cxn>
            </a:cxnLst>
            <a:rect l="l" t="t" r="r" b="b"/>
            <a:pathLst>
              <a:path w="8827" h="1368276">
                <a:moveTo>
                  <a:pt x="0" y="0"/>
                </a:moveTo>
                <a:lnTo>
                  <a:pt x="0" y="1368277"/>
                </a:lnTo>
              </a:path>
            </a:pathLst>
          </a:custGeom>
          <a:ln w="26480" cap="flat">
            <a:solidFill>
              <a:srgbClr val="444F9C"/>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6" name="Rectangle 105">
            <a:extLst>
              <a:ext uri="{FF2B5EF4-FFF2-40B4-BE49-F238E27FC236}">
                <a16:creationId xmlns:a16="http://schemas.microsoft.com/office/drawing/2014/main" id="{0D4DD68C-E00B-F0F6-9DB3-A9259D064380}"/>
              </a:ext>
            </a:extLst>
          </p:cNvPr>
          <p:cNvSpPr/>
          <p:nvPr/>
        </p:nvSpPr>
        <p:spPr>
          <a:xfrm>
            <a:off x="2123585" y="4423126"/>
            <a:ext cx="459034" cy="459034"/>
          </a:xfrm>
          <a:prstGeom prst="rect">
            <a:avLst/>
          </a:prstGeom>
          <a:solidFill>
            <a:srgbClr val="FFFFFF"/>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07" name="TextBox 106">
            <a:extLst>
              <a:ext uri="{FF2B5EF4-FFF2-40B4-BE49-F238E27FC236}">
                <a16:creationId xmlns:a16="http://schemas.microsoft.com/office/drawing/2014/main" id="{6534E9F6-B589-4167-9267-D24E3AF46A9B}"/>
              </a:ext>
            </a:extLst>
          </p:cNvPr>
          <p:cNvSpPr txBox="1"/>
          <p:nvPr/>
        </p:nvSpPr>
        <p:spPr>
          <a:xfrm>
            <a:off x="1860910" y="4228025"/>
            <a:ext cx="436338"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44F9C"/>
                </a:solidFill>
                <a:effectLst/>
                <a:uLnTx/>
                <a:uFillTx/>
                <a:latin typeface="Segoe UI"/>
                <a:ea typeface="+mn-ea"/>
                <a:cs typeface="Segoe UI"/>
                <a:sym typeface="Segoe UI"/>
                <a:rtl val="0"/>
              </a:rPr>
              <a:t>(2)</a:t>
            </a:r>
          </a:p>
        </p:txBody>
      </p:sp>
      <p:sp>
        <p:nvSpPr>
          <p:cNvPr id="108" name="TextBox 107">
            <a:extLst>
              <a:ext uri="{FF2B5EF4-FFF2-40B4-BE49-F238E27FC236}">
                <a16:creationId xmlns:a16="http://schemas.microsoft.com/office/drawing/2014/main" id="{E33B0A72-B5C5-BC02-8F7C-E7659241B170}"/>
              </a:ext>
            </a:extLst>
          </p:cNvPr>
          <p:cNvSpPr txBox="1"/>
          <p:nvPr/>
        </p:nvSpPr>
        <p:spPr>
          <a:xfrm>
            <a:off x="1858952" y="4478231"/>
            <a:ext cx="750783" cy="5539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solidFill>
                  <a:srgbClr val="444F9C"/>
                </a:solidFill>
                <a:effectLst/>
                <a:uLnTx/>
                <a:uFillTx/>
                <a:latin typeface="Segoe UI"/>
                <a:ea typeface="+mn-ea"/>
                <a:cs typeface="Segoe UI"/>
                <a:sym typeface="Segoe UI"/>
                <a:rtl val="0"/>
              </a:rPr>
              <a:t>What’s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solidFill>
                  <a:srgbClr val="444F9C"/>
                </a:solidFill>
                <a:effectLst/>
                <a:uLnTx/>
                <a:uFillTx/>
                <a:latin typeface="Segoe UI"/>
                <a:ea typeface="+mn-ea"/>
                <a:cs typeface="Segoe UI"/>
                <a:sym typeface="Segoe UI"/>
                <a:rtl val="0"/>
              </a:rPr>
              <a:t>here</a:t>
            </a:r>
          </a:p>
        </p:txBody>
      </p:sp>
      <p:sp>
        <p:nvSpPr>
          <p:cNvPr id="110" name="Rectangle 109">
            <a:extLst>
              <a:ext uri="{FF2B5EF4-FFF2-40B4-BE49-F238E27FC236}">
                <a16:creationId xmlns:a16="http://schemas.microsoft.com/office/drawing/2014/main" id="{9D96CC45-FA03-5FC1-F432-12519E1EEABD}"/>
              </a:ext>
            </a:extLst>
          </p:cNvPr>
          <p:cNvSpPr/>
          <p:nvPr/>
        </p:nvSpPr>
        <p:spPr>
          <a:xfrm>
            <a:off x="9627036" y="5517747"/>
            <a:ext cx="52965" cy="264827"/>
          </a:xfrm>
          <a:prstGeom prst="rect">
            <a:avLst/>
          </a:prstGeom>
          <a:solidFill>
            <a:srgbClr val="4E42DA"/>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1" name="Rectangle 110">
            <a:extLst>
              <a:ext uri="{FF2B5EF4-FFF2-40B4-BE49-F238E27FC236}">
                <a16:creationId xmlns:a16="http://schemas.microsoft.com/office/drawing/2014/main" id="{FE19EBB8-6F57-80EF-FB5C-F1C40DFEA483}"/>
              </a:ext>
            </a:extLst>
          </p:cNvPr>
          <p:cNvSpPr/>
          <p:nvPr/>
        </p:nvSpPr>
        <p:spPr>
          <a:xfrm>
            <a:off x="8461794" y="5376506"/>
            <a:ext cx="1536000" cy="353103"/>
          </a:xfrm>
          <a:prstGeom prst="rect">
            <a:avLst/>
          </a:prstGeom>
          <a:solidFill>
            <a:srgbClr val="FFFFFF"/>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3" name="TextBox 112">
            <a:extLst>
              <a:ext uri="{FF2B5EF4-FFF2-40B4-BE49-F238E27FC236}">
                <a16:creationId xmlns:a16="http://schemas.microsoft.com/office/drawing/2014/main" id="{79764701-FB45-ECB8-4124-4925EFE2A37B}"/>
              </a:ext>
            </a:extLst>
          </p:cNvPr>
          <p:cNvSpPr txBox="1"/>
          <p:nvPr/>
        </p:nvSpPr>
        <p:spPr>
          <a:xfrm>
            <a:off x="8465556" y="5312002"/>
            <a:ext cx="1216680" cy="323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4E42DA"/>
                </a:solidFill>
                <a:effectLst/>
                <a:uLnTx/>
                <a:uFillTx/>
                <a:latin typeface="Segoe UI"/>
                <a:ea typeface="+mn-ea"/>
                <a:cs typeface="Segoe UI"/>
                <a:sym typeface="Segoe UI"/>
                <a:rtl val="0"/>
              </a:rPr>
              <a:t>(3) Tagging</a:t>
            </a:r>
          </a:p>
        </p:txBody>
      </p:sp>
      <p:sp>
        <p:nvSpPr>
          <p:cNvPr id="114" name="TextBox 113">
            <a:extLst>
              <a:ext uri="{FF2B5EF4-FFF2-40B4-BE49-F238E27FC236}">
                <a16:creationId xmlns:a16="http://schemas.microsoft.com/office/drawing/2014/main" id="{47958B1D-9A14-1547-94B4-5596949206C7}"/>
              </a:ext>
            </a:extLst>
          </p:cNvPr>
          <p:cNvSpPr txBox="1"/>
          <p:nvPr/>
        </p:nvSpPr>
        <p:spPr>
          <a:xfrm>
            <a:off x="8502166" y="5556820"/>
            <a:ext cx="1733936" cy="276999"/>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4E42DA"/>
                </a:solidFill>
                <a:effectLst/>
                <a:uLnTx/>
                <a:uFillTx/>
                <a:latin typeface="Segoe UI"/>
                <a:ea typeface="+mn-ea"/>
                <a:cs typeface="Segoe UI"/>
                <a:sym typeface="Segoe UI"/>
                <a:rtl val="0"/>
              </a:rPr>
              <a:t>Content categorization</a:t>
            </a:r>
          </a:p>
        </p:txBody>
      </p:sp>
      <p:sp>
        <p:nvSpPr>
          <p:cNvPr id="115" name="Rectangle 114">
            <a:extLst>
              <a:ext uri="{FF2B5EF4-FFF2-40B4-BE49-F238E27FC236}">
                <a16:creationId xmlns:a16="http://schemas.microsoft.com/office/drawing/2014/main" id="{2D7FFCCB-223E-B037-0D78-6A8A49E9E122}"/>
              </a:ext>
            </a:extLst>
          </p:cNvPr>
          <p:cNvSpPr/>
          <p:nvPr/>
        </p:nvSpPr>
        <p:spPr>
          <a:xfrm>
            <a:off x="8461794" y="6153334"/>
            <a:ext cx="1536000" cy="353103"/>
          </a:xfrm>
          <a:prstGeom prst="rect">
            <a:avLst/>
          </a:prstGeom>
          <a:solidFill>
            <a:srgbClr val="FFFFFF"/>
          </a:solidFill>
          <a:ln w="8827"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7" name="TextBox 116">
            <a:extLst>
              <a:ext uri="{FF2B5EF4-FFF2-40B4-BE49-F238E27FC236}">
                <a16:creationId xmlns:a16="http://schemas.microsoft.com/office/drawing/2014/main" id="{DC939C81-3FE3-E957-1949-1F5780499EE9}"/>
              </a:ext>
            </a:extLst>
          </p:cNvPr>
          <p:cNvSpPr txBox="1"/>
          <p:nvPr/>
        </p:nvSpPr>
        <p:spPr>
          <a:xfrm>
            <a:off x="8445461" y="5973914"/>
            <a:ext cx="1937582" cy="3231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solidFill>
                  <a:srgbClr val="C23592"/>
                </a:solidFill>
                <a:effectLst/>
                <a:uLnTx/>
                <a:uFillTx/>
                <a:latin typeface="Segoe UI"/>
                <a:ea typeface="+mn-ea"/>
                <a:cs typeface="Segoe UI"/>
                <a:sym typeface="Segoe UI"/>
                <a:rtl val="0"/>
              </a:rPr>
              <a:t>(4) Where can I go?</a:t>
            </a:r>
          </a:p>
        </p:txBody>
      </p:sp>
      <p:sp>
        <p:nvSpPr>
          <p:cNvPr id="118" name="TextBox 117">
            <a:extLst>
              <a:ext uri="{FF2B5EF4-FFF2-40B4-BE49-F238E27FC236}">
                <a16:creationId xmlns:a16="http://schemas.microsoft.com/office/drawing/2014/main" id="{3D018107-D615-D1C4-4863-755D97CF4871}"/>
              </a:ext>
            </a:extLst>
          </p:cNvPr>
          <p:cNvSpPr txBox="1"/>
          <p:nvPr/>
        </p:nvSpPr>
        <p:spPr>
          <a:xfrm>
            <a:off x="8465556" y="6230071"/>
            <a:ext cx="1751698"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solidFill>
                  <a:srgbClr val="C23592"/>
                </a:solidFill>
                <a:effectLst/>
                <a:uLnTx/>
                <a:uFillTx/>
                <a:latin typeface="Segoe UI"/>
                <a:ea typeface="+mn-ea"/>
                <a:cs typeface="Segoe UI"/>
                <a:sym typeface="Segoe UI"/>
                <a:rtl val="0"/>
              </a:rPr>
              <a:t>Related links &amp; siblings</a:t>
            </a:r>
          </a:p>
        </p:txBody>
      </p:sp>
      <p:sp>
        <p:nvSpPr>
          <p:cNvPr id="112" name="Freeform: Shape 111">
            <a:extLst>
              <a:ext uri="{FF2B5EF4-FFF2-40B4-BE49-F238E27FC236}">
                <a16:creationId xmlns:a16="http://schemas.microsoft.com/office/drawing/2014/main" id="{B4F67300-52F0-6207-A8E8-1E66718BAA25}"/>
              </a:ext>
            </a:extLst>
          </p:cNvPr>
          <p:cNvSpPr/>
          <p:nvPr/>
        </p:nvSpPr>
        <p:spPr>
          <a:xfrm>
            <a:off x="8241104" y="5553058"/>
            <a:ext cx="220689" cy="176551"/>
          </a:xfrm>
          <a:custGeom>
            <a:avLst/>
            <a:gdLst>
              <a:gd name="csX0" fmla="*/ 220690 w 220689"/>
              <a:gd name="csY0" fmla="*/ 0 h 176551"/>
              <a:gd name="csX1" fmla="*/ 0 w 220689"/>
              <a:gd name="csY1" fmla="*/ 176552 h 176551"/>
            </a:gdLst>
            <a:ahLst/>
            <a:cxnLst>
              <a:cxn ang="0">
                <a:pos x="csX0" y="csY0"/>
              </a:cxn>
              <a:cxn ang="0">
                <a:pos x="csX1" y="csY1"/>
              </a:cxn>
            </a:cxnLst>
            <a:rect l="l" t="t" r="r" b="b"/>
            <a:pathLst>
              <a:path w="220689" h="176551">
                <a:moveTo>
                  <a:pt x="220690" y="0"/>
                </a:moveTo>
                <a:lnTo>
                  <a:pt x="0" y="176552"/>
                </a:lnTo>
              </a:path>
            </a:pathLst>
          </a:custGeom>
          <a:ln w="26480" cap="flat">
            <a:solidFill>
              <a:srgbClr val="4E42DA"/>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
        <p:nvSpPr>
          <p:cNvPr id="116" name="Freeform: Shape 115">
            <a:extLst>
              <a:ext uri="{FF2B5EF4-FFF2-40B4-BE49-F238E27FC236}">
                <a16:creationId xmlns:a16="http://schemas.microsoft.com/office/drawing/2014/main" id="{52B36F3E-2413-DF52-AB97-5E57EE0D13CB}"/>
              </a:ext>
            </a:extLst>
          </p:cNvPr>
          <p:cNvSpPr/>
          <p:nvPr/>
        </p:nvSpPr>
        <p:spPr>
          <a:xfrm>
            <a:off x="8241104" y="6118023"/>
            <a:ext cx="220689" cy="203034"/>
          </a:xfrm>
          <a:custGeom>
            <a:avLst/>
            <a:gdLst>
              <a:gd name="csX0" fmla="*/ 0 w 220689"/>
              <a:gd name="csY0" fmla="*/ 0 h 203034"/>
              <a:gd name="csX1" fmla="*/ 220690 w 220689"/>
              <a:gd name="csY1" fmla="*/ 203035 h 203034"/>
            </a:gdLst>
            <a:ahLst/>
            <a:cxnLst>
              <a:cxn ang="0">
                <a:pos x="csX0" y="csY0"/>
              </a:cxn>
              <a:cxn ang="0">
                <a:pos x="csX1" y="csY1"/>
              </a:cxn>
            </a:cxnLst>
            <a:rect l="l" t="t" r="r" b="b"/>
            <a:pathLst>
              <a:path w="220689" h="203034">
                <a:moveTo>
                  <a:pt x="0" y="0"/>
                </a:moveTo>
                <a:lnTo>
                  <a:pt x="220690" y="203035"/>
                </a:lnTo>
              </a:path>
            </a:pathLst>
          </a:custGeom>
          <a:ln w="26480" cap="flat">
            <a:solidFill>
              <a:srgbClr val="C23592"/>
            </a:solidFill>
            <a:custDash>
              <a:ds d="300000" sp="150000"/>
            </a:custDash>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venir"/>
              <a:ea typeface="+mn-ea"/>
              <a:cs typeface="+mn-cs"/>
            </a:endParaRPr>
          </a:p>
        </p:txBody>
      </p:sp>
    </p:spTree>
    <p:extLst>
      <p:ext uri="{BB962C8B-B14F-4D97-AF65-F5344CB8AC3E}">
        <p14:creationId xmlns:p14="http://schemas.microsoft.com/office/powerpoint/2010/main" val="24872551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525C4-8F58-1803-91F0-EAB244668520}"/>
              </a:ext>
            </a:extLst>
          </p:cNvPr>
          <p:cNvSpPr>
            <a:spLocks noGrp="1"/>
          </p:cNvSpPr>
          <p:nvPr>
            <p:ph type="title"/>
          </p:nvPr>
        </p:nvSpPr>
        <p:spPr/>
        <p:txBody>
          <a:bodyPr/>
          <a:lstStyle/>
          <a:p>
            <a:r>
              <a:rPr lang="en-US" dirty="0"/>
              <a:t>Takeaways</a:t>
            </a:r>
          </a:p>
        </p:txBody>
      </p:sp>
      <p:sp>
        <p:nvSpPr>
          <p:cNvPr id="3" name="Text Placeholder 2">
            <a:extLst>
              <a:ext uri="{FF2B5EF4-FFF2-40B4-BE49-F238E27FC236}">
                <a16:creationId xmlns:a16="http://schemas.microsoft.com/office/drawing/2014/main" id="{FBB4AB0A-3FDF-F3EF-0AA2-A2F225EAF638}"/>
              </a:ext>
            </a:extLst>
          </p:cNvPr>
          <p:cNvSpPr>
            <a:spLocks noGrp="1"/>
          </p:cNvSpPr>
          <p:nvPr>
            <p:ph type="body" idx="1"/>
          </p:nvPr>
        </p:nvSpPr>
        <p:spPr>
          <a:xfrm>
            <a:off x="6096000" y="4027268"/>
            <a:ext cx="2431312" cy="480938"/>
          </a:xfrm>
        </p:spPr>
        <p:txBody>
          <a:bodyPr>
            <a:normAutofit lnSpcReduction="10000"/>
          </a:bodyPr>
          <a:lstStyle/>
          <a:p>
            <a:r>
              <a:rPr lang="en-US" sz="2900" b="1" dirty="0">
                <a:solidFill>
                  <a:schemeClr val="accent5">
                    <a:lumMod val="75000"/>
                  </a:schemeClr>
                </a:solidFill>
              </a:rPr>
              <a:t>That was a lot. </a:t>
            </a:r>
          </a:p>
        </p:txBody>
      </p:sp>
      <p:sp>
        <p:nvSpPr>
          <p:cNvPr id="5" name="TextBox 4">
            <a:extLst>
              <a:ext uri="{FF2B5EF4-FFF2-40B4-BE49-F238E27FC236}">
                <a16:creationId xmlns:a16="http://schemas.microsoft.com/office/drawing/2014/main" id="{5B187BD5-0E4C-DEF2-AC03-B2DE318E2B81}"/>
              </a:ext>
            </a:extLst>
          </p:cNvPr>
          <p:cNvSpPr txBox="1"/>
          <p:nvPr/>
        </p:nvSpPr>
        <p:spPr>
          <a:xfrm>
            <a:off x="8527312" y="3969597"/>
            <a:ext cx="2224863" cy="53860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FF5DBA">
                    <a:lumMod val="50000"/>
                  </a:srgbClr>
                </a:solidFill>
                <a:effectLst/>
                <a:uLnTx/>
                <a:uFillTx/>
                <a:latin typeface="Avenir"/>
                <a:ea typeface="+mn-ea"/>
                <a:cs typeface="+mn-cs"/>
              </a:rPr>
              <a:t>Let’s review.</a:t>
            </a:r>
            <a:endParaRPr kumimoji="0" lang="en-US" sz="2900" b="0" i="0" u="none" strike="noStrike" kern="1200" cap="none" spc="0" normalizeH="0" baseline="0" noProof="0" dirty="0">
              <a:ln>
                <a:noFill/>
              </a:ln>
              <a:solidFill>
                <a:prstClr val="black"/>
              </a:solidFill>
              <a:effectLst/>
              <a:uLnTx/>
              <a:uFillTx/>
              <a:latin typeface="Avenir"/>
              <a:ea typeface="+mn-ea"/>
              <a:cs typeface="+mn-cs"/>
            </a:endParaRPr>
          </a:p>
        </p:txBody>
      </p:sp>
    </p:spTree>
    <p:extLst>
      <p:ext uri="{BB962C8B-B14F-4D97-AF65-F5344CB8AC3E}">
        <p14:creationId xmlns:p14="http://schemas.microsoft.com/office/powerpoint/2010/main" val="80200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idx="1"/>
          </p:nvPr>
        </p:nvSpPr>
        <p:spPr>
          <a:xfrm>
            <a:off x="838200" y="1455013"/>
            <a:ext cx="10515600" cy="4351338"/>
          </a:xfrm>
        </p:spPr>
        <p:txBody>
          <a:bodyPr>
            <a:normAutofit/>
          </a:bodyPr>
          <a:lstStyle/>
          <a:p>
            <a:pPr marL="0" indent="0" eaLnBrk="1" hangingPunct="1">
              <a:spcAft>
                <a:spcPts val="600"/>
              </a:spcAft>
              <a:buNone/>
            </a:pPr>
            <a:r>
              <a:rPr lang="en-US" altLang="en-US" dirty="0">
                <a:solidFill>
                  <a:schemeClr val="accent5">
                    <a:lumMod val="75000"/>
                  </a:schemeClr>
                </a:solidFill>
              </a:rPr>
              <a:t>Labels and naming</a:t>
            </a:r>
          </a:p>
          <a:p>
            <a:pPr marL="457200" lvl="1" indent="0" eaLnBrk="1" hangingPunct="1">
              <a:spcAft>
                <a:spcPts val="600"/>
              </a:spcAft>
              <a:buNone/>
            </a:pPr>
            <a:r>
              <a:rPr lang="en-US" altLang="en-US" dirty="0"/>
              <a:t>What are things called?  Be consistent to avoid confusion</a:t>
            </a:r>
          </a:p>
          <a:p>
            <a:pPr marL="457200" lvl="1" indent="0" eaLnBrk="1" hangingPunct="1">
              <a:spcAft>
                <a:spcPts val="600"/>
              </a:spcAft>
              <a:buNone/>
            </a:pPr>
            <a:r>
              <a:rPr lang="en-US" altLang="en-US" dirty="0"/>
              <a:t>Clarity and simplicity</a:t>
            </a:r>
          </a:p>
          <a:p>
            <a:pPr marL="0" indent="0" eaLnBrk="1" hangingPunct="1">
              <a:spcAft>
                <a:spcPts val="600"/>
              </a:spcAft>
              <a:buNone/>
            </a:pPr>
            <a:r>
              <a:rPr lang="en-US" altLang="en-US" dirty="0">
                <a:solidFill>
                  <a:schemeClr val="accent5">
                    <a:lumMod val="75000"/>
                  </a:schemeClr>
                </a:solidFill>
              </a:rPr>
              <a:t>Structure of content</a:t>
            </a:r>
          </a:p>
          <a:p>
            <a:pPr marL="457200" lvl="1" indent="0" eaLnBrk="1" hangingPunct="1">
              <a:spcAft>
                <a:spcPts val="600"/>
              </a:spcAft>
              <a:buNone/>
            </a:pPr>
            <a:r>
              <a:rPr lang="en-US" altLang="en-US" dirty="0"/>
              <a:t>What goes where?</a:t>
            </a:r>
          </a:p>
          <a:p>
            <a:pPr marL="457200" lvl="1" indent="0" eaLnBrk="1" hangingPunct="1">
              <a:spcAft>
                <a:spcPts val="600"/>
              </a:spcAft>
              <a:buNone/>
            </a:pPr>
            <a:r>
              <a:rPr lang="en-US" altLang="en-US" dirty="0"/>
              <a:t>What is the relationship between elements?</a:t>
            </a:r>
          </a:p>
          <a:p>
            <a:pPr marL="0" indent="0" eaLnBrk="1" hangingPunct="1">
              <a:spcAft>
                <a:spcPts val="600"/>
              </a:spcAft>
              <a:buNone/>
            </a:pPr>
            <a:r>
              <a:rPr lang="en-US" altLang="en-US" dirty="0">
                <a:solidFill>
                  <a:schemeClr val="accent5">
                    <a:lumMod val="75000"/>
                  </a:schemeClr>
                </a:solidFill>
              </a:rPr>
              <a:t>Navigation between pages</a:t>
            </a:r>
          </a:p>
          <a:p>
            <a:pPr marL="457200" lvl="1" indent="0" eaLnBrk="1" hangingPunct="1">
              <a:spcAft>
                <a:spcPts val="600"/>
              </a:spcAft>
              <a:buNone/>
            </a:pPr>
            <a:r>
              <a:rPr lang="en-US" altLang="en-US" dirty="0"/>
              <a:t>How to map mental thought process to supported navigation?</a:t>
            </a:r>
          </a:p>
        </p:txBody>
      </p:sp>
      <p:sp>
        <p:nvSpPr>
          <p:cNvPr id="4" name="Rectangle 2">
            <a:extLst>
              <a:ext uri="{FF2B5EF4-FFF2-40B4-BE49-F238E27FC236}">
                <a16:creationId xmlns:a16="http://schemas.microsoft.com/office/drawing/2014/main" id="{8209F331-BE62-FA03-B939-41D3DAA842E4}"/>
              </a:ext>
            </a:extLst>
          </p:cNvPr>
          <p:cNvSpPr>
            <a:spLocks noGrp="1" noChangeArrowheads="1"/>
          </p:cNvSpPr>
          <p:nvPr>
            <p:ph type="title"/>
          </p:nvPr>
        </p:nvSpPr>
        <p:spPr>
          <a:xfrm>
            <a:off x="797442" y="365126"/>
            <a:ext cx="10556358" cy="768350"/>
          </a:xfrm>
        </p:spPr>
        <p:txBody>
          <a:bodyPr>
            <a:normAutofit fontScale="90000"/>
          </a:bodyPr>
          <a:lstStyle/>
          <a:p>
            <a:pPr eaLnBrk="1" hangingPunct="1"/>
            <a:r>
              <a:rPr lang="en-US" altLang="en-US" sz="4600" dirty="0"/>
              <a:t>Takeaways: </a:t>
            </a:r>
            <a:r>
              <a:rPr lang="en-US" altLang="en-US" sz="3200" dirty="0">
                <a:solidFill>
                  <a:schemeClr val="accent4">
                    <a:lumMod val="50000"/>
                  </a:schemeClr>
                </a:solidFill>
              </a:rPr>
              <a:t>Critical IA Concerns to Support Info-Seeking</a:t>
            </a:r>
          </a:p>
        </p:txBody>
      </p:sp>
    </p:spTree>
    <p:extLst>
      <p:ext uri="{BB962C8B-B14F-4D97-AF65-F5344CB8AC3E}">
        <p14:creationId xmlns:p14="http://schemas.microsoft.com/office/powerpoint/2010/main" val="390859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fade">
                                      <p:cBhvr>
                                        <p:cTn id="7" dur="500"/>
                                        <p:tgtEl>
                                          <p:spTgt spid="2355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animEffect transition="in" filter="fade">
                                      <p:cBhvr>
                                        <p:cTn id="11" dur="500"/>
                                        <p:tgtEl>
                                          <p:spTgt spid="23555">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3555">
                                            <p:txEl>
                                              <p:pRg st="2" end="2"/>
                                            </p:txEl>
                                          </p:spTgt>
                                        </p:tgtEl>
                                        <p:attrNameLst>
                                          <p:attrName>style.visibility</p:attrName>
                                        </p:attrNameLst>
                                      </p:cBhvr>
                                      <p:to>
                                        <p:strVal val="visible"/>
                                      </p:to>
                                    </p:set>
                                    <p:animEffect transition="in" filter="fade">
                                      <p:cBhvr>
                                        <p:cTn id="15" dur="500"/>
                                        <p:tgtEl>
                                          <p:spTgt spid="23555">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3555">
                                            <p:txEl>
                                              <p:pRg st="3" end="3"/>
                                            </p:txEl>
                                          </p:spTgt>
                                        </p:tgtEl>
                                        <p:attrNameLst>
                                          <p:attrName>style.visibility</p:attrName>
                                        </p:attrNameLst>
                                      </p:cBhvr>
                                      <p:to>
                                        <p:strVal val="visible"/>
                                      </p:to>
                                    </p:set>
                                    <p:animEffect transition="in" filter="fade">
                                      <p:cBhvr>
                                        <p:cTn id="19" dur="500"/>
                                        <p:tgtEl>
                                          <p:spTgt spid="23555">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3555">
                                            <p:txEl>
                                              <p:pRg st="4" end="4"/>
                                            </p:txEl>
                                          </p:spTgt>
                                        </p:tgtEl>
                                        <p:attrNameLst>
                                          <p:attrName>style.visibility</p:attrName>
                                        </p:attrNameLst>
                                      </p:cBhvr>
                                      <p:to>
                                        <p:strVal val="visible"/>
                                      </p:to>
                                    </p:set>
                                    <p:animEffect transition="in" filter="fade">
                                      <p:cBhvr>
                                        <p:cTn id="23" dur="500"/>
                                        <p:tgtEl>
                                          <p:spTgt spid="23555">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23555">
                                            <p:txEl>
                                              <p:pRg st="5" end="5"/>
                                            </p:txEl>
                                          </p:spTgt>
                                        </p:tgtEl>
                                        <p:attrNameLst>
                                          <p:attrName>style.visibility</p:attrName>
                                        </p:attrNameLst>
                                      </p:cBhvr>
                                      <p:to>
                                        <p:strVal val="visible"/>
                                      </p:to>
                                    </p:set>
                                    <p:animEffect transition="in" filter="fade">
                                      <p:cBhvr>
                                        <p:cTn id="27" dur="500"/>
                                        <p:tgtEl>
                                          <p:spTgt spid="23555">
                                            <p:txEl>
                                              <p:pRg st="5" end="5"/>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23555">
                                            <p:txEl>
                                              <p:pRg st="6" end="6"/>
                                            </p:txEl>
                                          </p:spTgt>
                                        </p:tgtEl>
                                        <p:attrNameLst>
                                          <p:attrName>style.visibility</p:attrName>
                                        </p:attrNameLst>
                                      </p:cBhvr>
                                      <p:to>
                                        <p:strVal val="visible"/>
                                      </p:to>
                                    </p:set>
                                    <p:animEffect transition="in" filter="fade">
                                      <p:cBhvr>
                                        <p:cTn id="31" dur="500"/>
                                        <p:tgtEl>
                                          <p:spTgt spid="23555">
                                            <p:txEl>
                                              <p:pRg st="6" end="6"/>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23555">
                                            <p:txEl>
                                              <p:pRg st="7" end="7"/>
                                            </p:txEl>
                                          </p:spTgt>
                                        </p:tgtEl>
                                        <p:attrNameLst>
                                          <p:attrName>style.visibility</p:attrName>
                                        </p:attrNameLst>
                                      </p:cBhvr>
                                      <p:to>
                                        <p:strVal val="visible"/>
                                      </p:to>
                                    </p:set>
                                    <p:animEffect transition="in" filter="fade">
                                      <p:cBhvr>
                                        <p:cTn id="35" dur="500"/>
                                        <p:tgtEl>
                                          <p:spTgt spid="235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838200" y="1457980"/>
            <a:ext cx="10515600" cy="4351338"/>
          </a:xfrm>
        </p:spPr>
        <p:txBody>
          <a:bodyPr>
            <a:normAutofit/>
          </a:bodyPr>
          <a:lstStyle/>
          <a:p>
            <a:pPr marL="0" indent="0">
              <a:spcAft>
                <a:spcPts val="1200"/>
              </a:spcAft>
              <a:buNone/>
            </a:pPr>
            <a:r>
              <a:rPr lang="en-US" altLang="en-US" dirty="0"/>
              <a:t>Four critical user questions:</a:t>
            </a:r>
          </a:p>
          <a:p>
            <a:pPr marL="457200" lvl="1" indent="0">
              <a:spcAft>
                <a:spcPts val="1200"/>
              </a:spcAft>
              <a:buNone/>
            </a:pPr>
            <a:r>
              <a:rPr lang="en-US" altLang="en-US" dirty="0"/>
              <a:t>Where am I?</a:t>
            </a:r>
          </a:p>
          <a:p>
            <a:pPr marL="457200" lvl="1" indent="0">
              <a:spcAft>
                <a:spcPts val="1200"/>
              </a:spcAft>
              <a:buNone/>
            </a:pPr>
            <a:r>
              <a:rPr lang="en-US" altLang="en-US" dirty="0"/>
              <a:t>Where can I go?</a:t>
            </a:r>
          </a:p>
          <a:p>
            <a:pPr marL="457200" lvl="1" indent="0">
              <a:spcAft>
                <a:spcPts val="1200"/>
              </a:spcAft>
              <a:buNone/>
            </a:pPr>
            <a:r>
              <a:rPr lang="en-US" altLang="en-US" dirty="0"/>
              <a:t>How will I get to my desired content?</a:t>
            </a:r>
          </a:p>
          <a:p>
            <a:pPr marL="457200" lvl="1" indent="0">
              <a:spcAft>
                <a:spcPts val="1200"/>
              </a:spcAft>
              <a:buNone/>
            </a:pPr>
            <a:r>
              <a:rPr lang="en-US" altLang="en-US" dirty="0"/>
              <a:t>How can I get back to where I once was?</a:t>
            </a:r>
          </a:p>
          <a:p>
            <a:pPr marL="0" indent="0">
              <a:spcAft>
                <a:spcPts val="1200"/>
              </a:spcAft>
              <a:buNone/>
            </a:pPr>
            <a:r>
              <a:rPr lang="en-US" altLang="en-US" dirty="0"/>
              <a:t>The web's non-linear presentation of content can be confusing and overwhelming</a:t>
            </a:r>
          </a:p>
        </p:txBody>
      </p:sp>
      <p:sp>
        <p:nvSpPr>
          <p:cNvPr id="6" name="Rectangle 2">
            <a:extLst>
              <a:ext uri="{FF2B5EF4-FFF2-40B4-BE49-F238E27FC236}">
                <a16:creationId xmlns:a16="http://schemas.microsoft.com/office/drawing/2014/main" id="{CCB5C547-33B9-EB50-A6A0-072CF82D4476}"/>
              </a:ext>
            </a:extLst>
          </p:cNvPr>
          <p:cNvSpPr>
            <a:spLocks noGrp="1" noChangeArrowheads="1"/>
          </p:cNvSpPr>
          <p:nvPr>
            <p:ph type="title"/>
          </p:nvPr>
        </p:nvSpPr>
        <p:spPr>
          <a:xfrm>
            <a:off x="797442" y="365126"/>
            <a:ext cx="10556358" cy="768350"/>
          </a:xfrm>
        </p:spPr>
        <p:txBody>
          <a:bodyPr>
            <a:normAutofit/>
          </a:bodyPr>
          <a:lstStyle/>
          <a:p>
            <a:pPr eaLnBrk="1" hangingPunct="1"/>
            <a:r>
              <a:rPr lang="en-US" altLang="en-US" dirty="0"/>
              <a:t>Takeaways: </a:t>
            </a:r>
            <a:r>
              <a:rPr lang="en-US" altLang="en-US" sz="3400" dirty="0">
                <a:solidFill>
                  <a:schemeClr val="accent4">
                    <a:lumMod val="50000"/>
                  </a:schemeClr>
                </a:solidFill>
              </a:rPr>
              <a:t>What good navigation should answer</a:t>
            </a:r>
          </a:p>
        </p:txBody>
      </p:sp>
    </p:spTree>
    <p:extLst>
      <p:ext uri="{BB962C8B-B14F-4D97-AF65-F5344CB8AC3E}">
        <p14:creationId xmlns:p14="http://schemas.microsoft.com/office/powerpoint/2010/main" val="212658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fade">
                                      <p:cBhvr>
                                        <p:cTn id="7" dur="500"/>
                                        <p:tgtEl>
                                          <p:spTgt spid="2867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animEffect transition="in" filter="fade">
                                      <p:cBhvr>
                                        <p:cTn id="11" dur="500"/>
                                        <p:tgtEl>
                                          <p:spTgt spid="28675">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675">
                                            <p:txEl>
                                              <p:pRg st="2" end="2"/>
                                            </p:txEl>
                                          </p:spTgt>
                                        </p:tgtEl>
                                        <p:attrNameLst>
                                          <p:attrName>style.visibility</p:attrName>
                                        </p:attrNameLst>
                                      </p:cBhvr>
                                      <p:to>
                                        <p:strVal val="visible"/>
                                      </p:to>
                                    </p:set>
                                    <p:animEffect transition="in" filter="fade">
                                      <p:cBhvr>
                                        <p:cTn id="15" dur="500"/>
                                        <p:tgtEl>
                                          <p:spTgt spid="28675">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8675">
                                            <p:txEl>
                                              <p:pRg st="3" end="3"/>
                                            </p:txEl>
                                          </p:spTgt>
                                        </p:tgtEl>
                                        <p:attrNameLst>
                                          <p:attrName>style.visibility</p:attrName>
                                        </p:attrNameLst>
                                      </p:cBhvr>
                                      <p:to>
                                        <p:strVal val="visible"/>
                                      </p:to>
                                    </p:set>
                                    <p:animEffect transition="in" filter="fade">
                                      <p:cBhvr>
                                        <p:cTn id="19" dur="500"/>
                                        <p:tgtEl>
                                          <p:spTgt spid="28675">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8675">
                                            <p:txEl>
                                              <p:pRg st="4" end="4"/>
                                            </p:txEl>
                                          </p:spTgt>
                                        </p:tgtEl>
                                        <p:attrNameLst>
                                          <p:attrName>style.visibility</p:attrName>
                                        </p:attrNameLst>
                                      </p:cBhvr>
                                      <p:to>
                                        <p:strVal val="visible"/>
                                      </p:to>
                                    </p:set>
                                    <p:animEffect transition="in" filter="fade">
                                      <p:cBhvr>
                                        <p:cTn id="23" dur="500"/>
                                        <p:tgtEl>
                                          <p:spTgt spid="28675">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28675">
                                            <p:txEl>
                                              <p:pRg st="5" end="5"/>
                                            </p:txEl>
                                          </p:spTgt>
                                        </p:tgtEl>
                                        <p:attrNameLst>
                                          <p:attrName>style.visibility</p:attrName>
                                        </p:attrNameLst>
                                      </p:cBhvr>
                                      <p:to>
                                        <p:strVal val="visible"/>
                                      </p:to>
                                    </p:set>
                                    <p:animEffect transition="in" filter="fade">
                                      <p:cBhvr>
                                        <p:cTn id="27" dur="500"/>
                                        <p:tgtEl>
                                          <p:spTgt spid="286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978195" y="1672056"/>
            <a:ext cx="10460665" cy="4351338"/>
          </a:xfrm>
        </p:spPr>
        <p:txBody>
          <a:bodyPr>
            <a:normAutofit/>
          </a:bodyPr>
          <a:lstStyle/>
          <a:p>
            <a:pPr marL="0" indent="0" eaLnBrk="1" hangingPunct="1">
              <a:spcAft>
                <a:spcPts val="1200"/>
              </a:spcAft>
              <a:buNone/>
            </a:pPr>
            <a:r>
              <a:rPr lang="en-US" altLang="en-US" dirty="0">
                <a:solidFill>
                  <a:schemeClr val="accent5">
                    <a:lumMod val="75000"/>
                  </a:schemeClr>
                </a:solidFill>
              </a:rPr>
              <a:t>Be Easy to Learn</a:t>
            </a:r>
          </a:p>
          <a:p>
            <a:pPr marL="457200" lvl="1" indent="0" eaLnBrk="1" hangingPunct="1">
              <a:spcAft>
                <a:spcPts val="1200"/>
              </a:spcAft>
              <a:buNone/>
            </a:pPr>
            <a:r>
              <a:rPr lang="en-US" altLang="en-US" sz="2800" dirty="0"/>
              <a:t>People don't invest time learning to use a website</a:t>
            </a:r>
          </a:p>
          <a:p>
            <a:pPr marL="0" indent="0" eaLnBrk="1" hangingPunct="1">
              <a:spcAft>
                <a:spcPts val="1200"/>
              </a:spcAft>
              <a:buNone/>
            </a:pPr>
            <a:r>
              <a:rPr lang="en-US" altLang="en-US" dirty="0">
                <a:solidFill>
                  <a:schemeClr val="accent5">
                    <a:lumMod val="75000"/>
                  </a:schemeClr>
                </a:solidFill>
              </a:rPr>
              <a:t>Be Consistent</a:t>
            </a:r>
          </a:p>
          <a:p>
            <a:pPr marL="457200" lvl="1" indent="0" eaLnBrk="1" hangingPunct="1">
              <a:spcAft>
                <a:spcPts val="1200"/>
              </a:spcAft>
              <a:buNone/>
            </a:pPr>
            <a:r>
              <a:rPr lang="en-US" altLang="en-US" sz="2800" dirty="0"/>
              <a:t>Should be predictable.  User shouldn't feel lost</a:t>
            </a:r>
          </a:p>
          <a:p>
            <a:pPr marL="0" indent="0" eaLnBrk="1" hangingPunct="1">
              <a:spcAft>
                <a:spcPts val="1200"/>
              </a:spcAft>
              <a:buNone/>
            </a:pPr>
            <a:r>
              <a:rPr lang="en-US" altLang="en-US" dirty="0">
                <a:solidFill>
                  <a:schemeClr val="accent5">
                    <a:lumMod val="75000"/>
                  </a:schemeClr>
                </a:solidFill>
              </a:rPr>
              <a:t>Provide feedback</a:t>
            </a:r>
          </a:p>
          <a:p>
            <a:pPr marL="457200" lvl="1" indent="0" eaLnBrk="1" hangingPunct="1">
              <a:spcAft>
                <a:spcPts val="1200"/>
              </a:spcAft>
              <a:buNone/>
            </a:pPr>
            <a:r>
              <a:rPr lang="en-US" altLang="en-US" sz="2800" dirty="0"/>
              <a:t>Let user know where they are: "You are here"</a:t>
            </a:r>
          </a:p>
          <a:p>
            <a:pPr marL="457200" lvl="1" indent="0" eaLnBrk="1" hangingPunct="1">
              <a:buNone/>
            </a:pPr>
            <a:endParaRPr lang="en-US" altLang="en-US" sz="2800" dirty="0"/>
          </a:p>
        </p:txBody>
      </p:sp>
      <p:sp>
        <p:nvSpPr>
          <p:cNvPr id="4" name="Rectangle 2">
            <a:extLst>
              <a:ext uri="{FF2B5EF4-FFF2-40B4-BE49-F238E27FC236}">
                <a16:creationId xmlns:a16="http://schemas.microsoft.com/office/drawing/2014/main" id="{E6022894-9C41-8278-E3F0-151D666C9C5A}"/>
              </a:ext>
            </a:extLst>
          </p:cNvPr>
          <p:cNvSpPr>
            <a:spLocks noGrp="1" noChangeArrowheads="1"/>
          </p:cNvSpPr>
          <p:nvPr>
            <p:ph type="title"/>
          </p:nvPr>
        </p:nvSpPr>
        <p:spPr>
          <a:xfrm>
            <a:off x="797442" y="365126"/>
            <a:ext cx="10556358" cy="768350"/>
          </a:xfrm>
        </p:spPr>
        <p:txBody>
          <a:bodyPr>
            <a:normAutofit/>
          </a:bodyPr>
          <a:lstStyle/>
          <a:p>
            <a:pPr eaLnBrk="1" hangingPunct="1"/>
            <a:r>
              <a:rPr lang="en-US" altLang="en-US" dirty="0"/>
              <a:t>Takeaways: </a:t>
            </a:r>
            <a:r>
              <a:rPr lang="en-US" altLang="en-US" sz="3400" dirty="0">
                <a:solidFill>
                  <a:schemeClr val="accent4">
                    <a:lumMod val="50000"/>
                  </a:schemeClr>
                </a:solidFill>
              </a:rPr>
              <a:t>Principles of Successful Navigation</a:t>
            </a:r>
          </a:p>
        </p:txBody>
      </p:sp>
    </p:spTree>
    <p:extLst>
      <p:ext uri="{BB962C8B-B14F-4D97-AF65-F5344CB8AC3E}">
        <p14:creationId xmlns:p14="http://schemas.microsoft.com/office/powerpoint/2010/main" val="2854395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fade">
                                      <p:cBhvr>
                                        <p:cTn id="7" dur="500"/>
                                        <p:tgtEl>
                                          <p:spTgt spid="32771">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animEffect transition="in" filter="fade">
                                      <p:cBhvr>
                                        <p:cTn id="11" dur="500"/>
                                        <p:tgtEl>
                                          <p:spTgt spid="32771">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animEffect transition="in" filter="fade">
                                      <p:cBhvr>
                                        <p:cTn id="15" dur="500"/>
                                        <p:tgtEl>
                                          <p:spTgt spid="32771">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animEffect transition="in" filter="fade">
                                      <p:cBhvr>
                                        <p:cTn id="19" dur="500"/>
                                        <p:tgtEl>
                                          <p:spTgt spid="32771">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2771">
                                            <p:txEl>
                                              <p:pRg st="4" end="4"/>
                                            </p:txEl>
                                          </p:spTgt>
                                        </p:tgtEl>
                                        <p:attrNameLst>
                                          <p:attrName>style.visibility</p:attrName>
                                        </p:attrNameLst>
                                      </p:cBhvr>
                                      <p:to>
                                        <p:strVal val="visible"/>
                                      </p:to>
                                    </p:set>
                                    <p:animEffect transition="in" filter="fade">
                                      <p:cBhvr>
                                        <p:cTn id="23" dur="500"/>
                                        <p:tgtEl>
                                          <p:spTgt spid="32771">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2771">
                                            <p:txEl>
                                              <p:pRg st="5" end="5"/>
                                            </p:txEl>
                                          </p:spTgt>
                                        </p:tgtEl>
                                        <p:attrNameLst>
                                          <p:attrName>style.visibility</p:attrName>
                                        </p:attrNameLst>
                                      </p:cBhvr>
                                      <p:to>
                                        <p:strVal val="visible"/>
                                      </p:to>
                                    </p:set>
                                    <p:animEffect transition="in" filter="fade">
                                      <p:cBhvr>
                                        <p:cTn id="27" dur="500"/>
                                        <p:tgtEl>
                                          <p:spTgt spid="327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988828" y="1690688"/>
            <a:ext cx="10364972" cy="4351338"/>
          </a:xfrm>
        </p:spPr>
        <p:txBody>
          <a:bodyPr>
            <a:normAutofit/>
          </a:bodyPr>
          <a:lstStyle/>
          <a:p>
            <a:pPr marL="0" indent="0">
              <a:spcAft>
                <a:spcPts val="1200"/>
              </a:spcAft>
              <a:buNone/>
            </a:pPr>
            <a:r>
              <a:rPr lang="en-US" altLang="en-US" dirty="0">
                <a:solidFill>
                  <a:schemeClr val="accent5">
                    <a:lumMod val="75000"/>
                  </a:schemeClr>
                </a:solidFill>
              </a:rPr>
              <a:t>Offer alternatives</a:t>
            </a:r>
          </a:p>
          <a:p>
            <a:pPr marL="457200" lvl="1" indent="0">
              <a:spcAft>
                <a:spcPts val="1200"/>
              </a:spcAft>
              <a:buNone/>
            </a:pPr>
            <a:r>
              <a:rPr lang="en-US" altLang="en-US" sz="2800" dirty="0"/>
              <a:t>Don't tie user to just one way of moving around</a:t>
            </a:r>
          </a:p>
          <a:p>
            <a:pPr marL="0" indent="0">
              <a:spcAft>
                <a:spcPts val="1200"/>
              </a:spcAft>
              <a:buNone/>
            </a:pPr>
            <a:r>
              <a:rPr lang="en-US" altLang="en-US" dirty="0">
                <a:solidFill>
                  <a:schemeClr val="accent5">
                    <a:lumMod val="75000"/>
                  </a:schemeClr>
                </a:solidFill>
              </a:rPr>
              <a:t>Economize action and time</a:t>
            </a:r>
          </a:p>
          <a:p>
            <a:pPr marL="457200" lvl="1" indent="0">
              <a:spcAft>
                <a:spcPts val="1200"/>
              </a:spcAft>
              <a:buNone/>
            </a:pPr>
            <a:r>
              <a:rPr lang="en-US" altLang="en-US" sz="2800" dirty="0"/>
              <a:t>People lose interest if the path is long</a:t>
            </a:r>
          </a:p>
          <a:p>
            <a:pPr marL="0" indent="0">
              <a:spcAft>
                <a:spcPts val="1200"/>
              </a:spcAft>
              <a:buNone/>
            </a:pPr>
            <a:r>
              <a:rPr lang="en-US" altLang="en-US" dirty="0">
                <a:solidFill>
                  <a:schemeClr val="accent5">
                    <a:lumMod val="75000"/>
                  </a:schemeClr>
                </a:solidFill>
              </a:rPr>
              <a:t>Use clear and understandable labels</a:t>
            </a:r>
          </a:p>
          <a:p>
            <a:pPr marL="457200" lvl="1" indent="0">
              <a:spcAft>
                <a:spcPts val="1200"/>
              </a:spcAft>
              <a:buNone/>
            </a:pPr>
            <a:r>
              <a:rPr lang="en-US" altLang="en-US" sz="2800" dirty="0"/>
              <a:t>Never use a big word when a small one will do</a:t>
            </a:r>
          </a:p>
          <a:p>
            <a:pPr lvl="1" eaLnBrk="1" hangingPunct="1">
              <a:spcAft>
                <a:spcPts val="1200"/>
              </a:spcAft>
            </a:pPr>
            <a:endParaRPr lang="en-US" altLang="en-US" sz="2800" dirty="0"/>
          </a:p>
        </p:txBody>
      </p:sp>
      <p:sp>
        <p:nvSpPr>
          <p:cNvPr id="9" name="Rectangle 2">
            <a:extLst>
              <a:ext uri="{FF2B5EF4-FFF2-40B4-BE49-F238E27FC236}">
                <a16:creationId xmlns:a16="http://schemas.microsoft.com/office/drawing/2014/main" id="{A397D38F-0968-80F4-C1EF-9AB530E229DA}"/>
              </a:ext>
            </a:extLst>
          </p:cNvPr>
          <p:cNvSpPr>
            <a:spLocks noGrp="1" noChangeArrowheads="1"/>
          </p:cNvSpPr>
          <p:nvPr>
            <p:ph type="title"/>
          </p:nvPr>
        </p:nvSpPr>
        <p:spPr>
          <a:xfrm>
            <a:off x="797442" y="365126"/>
            <a:ext cx="10556358" cy="768350"/>
          </a:xfrm>
        </p:spPr>
        <p:txBody>
          <a:bodyPr>
            <a:normAutofit/>
          </a:bodyPr>
          <a:lstStyle/>
          <a:p>
            <a:pPr eaLnBrk="1" hangingPunct="1"/>
            <a:r>
              <a:rPr lang="en-US" altLang="en-US" dirty="0"/>
              <a:t>Takeaways: </a:t>
            </a:r>
            <a:r>
              <a:rPr lang="en-US" altLang="en-US" sz="3400" dirty="0">
                <a:solidFill>
                  <a:schemeClr val="accent4">
                    <a:lumMod val="50000"/>
                  </a:schemeClr>
                </a:solidFill>
              </a:rPr>
              <a:t>Principles of Successful Navigation</a:t>
            </a:r>
          </a:p>
        </p:txBody>
      </p:sp>
    </p:spTree>
    <p:extLst>
      <p:ext uri="{BB962C8B-B14F-4D97-AF65-F5344CB8AC3E}">
        <p14:creationId xmlns:p14="http://schemas.microsoft.com/office/powerpoint/2010/main" val="59958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fade">
                                      <p:cBhvr>
                                        <p:cTn id="7" dur="500"/>
                                        <p:tgtEl>
                                          <p:spTgt spid="32771">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animEffect transition="in" filter="fade">
                                      <p:cBhvr>
                                        <p:cTn id="11" dur="500"/>
                                        <p:tgtEl>
                                          <p:spTgt spid="32771">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animEffect transition="in" filter="fade">
                                      <p:cBhvr>
                                        <p:cTn id="15" dur="500"/>
                                        <p:tgtEl>
                                          <p:spTgt spid="32771">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2771">
                                            <p:txEl>
                                              <p:pRg st="3" end="3"/>
                                            </p:txEl>
                                          </p:spTgt>
                                        </p:tgtEl>
                                        <p:attrNameLst>
                                          <p:attrName>style.visibility</p:attrName>
                                        </p:attrNameLst>
                                      </p:cBhvr>
                                      <p:to>
                                        <p:strVal val="visible"/>
                                      </p:to>
                                    </p:set>
                                    <p:animEffect transition="in" filter="fade">
                                      <p:cBhvr>
                                        <p:cTn id="19" dur="500"/>
                                        <p:tgtEl>
                                          <p:spTgt spid="32771">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2771">
                                            <p:txEl>
                                              <p:pRg st="4" end="4"/>
                                            </p:txEl>
                                          </p:spTgt>
                                        </p:tgtEl>
                                        <p:attrNameLst>
                                          <p:attrName>style.visibility</p:attrName>
                                        </p:attrNameLst>
                                      </p:cBhvr>
                                      <p:to>
                                        <p:strVal val="visible"/>
                                      </p:to>
                                    </p:set>
                                    <p:animEffect transition="in" filter="fade">
                                      <p:cBhvr>
                                        <p:cTn id="23" dur="500"/>
                                        <p:tgtEl>
                                          <p:spTgt spid="32771">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2771">
                                            <p:txEl>
                                              <p:pRg st="5" end="5"/>
                                            </p:txEl>
                                          </p:spTgt>
                                        </p:tgtEl>
                                        <p:attrNameLst>
                                          <p:attrName>style.visibility</p:attrName>
                                        </p:attrNameLst>
                                      </p:cBhvr>
                                      <p:to>
                                        <p:strVal val="visible"/>
                                      </p:to>
                                    </p:set>
                                    <p:animEffect transition="in" filter="fade">
                                      <p:cBhvr>
                                        <p:cTn id="27" dur="500"/>
                                        <p:tgtEl>
                                          <p:spTgt spid="327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Pseudo Classes</a:t>
            </a: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1000426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Pseudo-classes </a:t>
            </a:r>
          </a:p>
        </p:txBody>
      </p:sp>
      <p:sp>
        <p:nvSpPr>
          <p:cNvPr id="5" name="Content Placeholder 4"/>
          <p:cNvSpPr>
            <a:spLocks noGrp="1"/>
          </p:cNvSpPr>
          <p:nvPr>
            <p:ph idx="1"/>
          </p:nvPr>
        </p:nvSpPr>
        <p:spPr>
          <a:xfrm>
            <a:off x="838200" y="1690688"/>
            <a:ext cx="10515600" cy="4487863"/>
          </a:xfrm>
        </p:spPr>
        <p:txBody>
          <a:bodyPr/>
          <a:lstStyle/>
          <a:p>
            <a:pPr marL="0" indent="0">
              <a:spcAft>
                <a:spcPts val="1200"/>
              </a:spcAft>
              <a:buNone/>
            </a:pPr>
            <a:r>
              <a:rPr lang="en-US" dirty="0"/>
              <a:t>CSS pseudo-classes are designed to allow us to add special effects to some selectors  </a:t>
            </a:r>
          </a:p>
          <a:p>
            <a:pPr marL="0" indent="0">
              <a:spcAft>
                <a:spcPts val="1200"/>
              </a:spcAft>
              <a:buNone/>
            </a:pPr>
            <a:r>
              <a:rPr lang="en-US" dirty="0"/>
              <a:t>For instance, if we wanted to change the way a hyperlink looks when someone hovers over a link, we can do that with pseudo-classes</a:t>
            </a:r>
          </a:p>
        </p:txBody>
      </p:sp>
    </p:spTree>
    <p:extLst>
      <p:ext uri="{BB962C8B-B14F-4D97-AF65-F5344CB8AC3E}">
        <p14:creationId xmlns:p14="http://schemas.microsoft.com/office/powerpoint/2010/main" val="1518303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Pseudo-classes </a:t>
            </a:r>
          </a:p>
        </p:txBody>
      </p:sp>
      <p:sp>
        <p:nvSpPr>
          <p:cNvPr id="5" name="Content Placeholder 4"/>
          <p:cNvSpPr>
            <a:spLocks noGrp="1"/>
          </p:cNvSpPr>
          <p:nvPr>
            <p:ph idx="1"/>
          </p:nvPr>
        </p:nvSpPr>
        <p:spPr>
          <a:xfrm>
            <a:off x="838200" y="1690688"/>
            <a:ext cx="10515600" cy="4487863"/>
          </a:xfrm>
        </p:spPr>
        <p:txBody>
          <a:bodyPr/>
          <a:lstStyle/>
          <a:p>
            <a:pPr marL="0" indent="0">
              <a:spcAft>
                <a:spcPts val="1200"/>
              </a:spcAft>
              <a:buNone/>
            </a:pPr>
            <a:r>
              <a:rPr lang="en-US" dirty="0"/>
              <a:t>We signify a pseudo-class with the : colon character after the tag or class</a:t>
            </a:r>
          </a:p>
          <a:p>
            <a:pPr marL="457200" lvl="1" indent="0">
              <a:spcAft>
                <a:spcPts val="1200"/>
              </a:spcAft>
              <a:buNone/>
            </a:pPr>
            <a:r>
              <a:rPr lang="en-US" sz="2800" dirty="0">
                <a:solidFill>
                  <a:srgbClr val="0070C0"/>
                </a:solidFill>
              </a:rPr>
              <a:t>Example</a:t>
            </a:r>
            <a:r>
              <a:rPr lang="en-US" dirty="0"/>
              <a:t>: </a:t>
            </a:r>
          </a:p>
          <a:p>
            <a:pPr marL="457200" lvl="1" indent="0">
              <a:spcAft>
                <a:spcPts val="1200"/>
              </a:spcAft>
              <a:buNone/>
            </a:pPr>
            <a:br>
              <a:rPr lang="en-US" dirty="0"/>
            </a:br>
            <a:r>
              <a:rPr lang="en-US" dirty="0"/>
              <a:t>     </a:t>
            </a:r>
            <a:r>
              <a:rPr lang="en-US" sz="2800" dirty="0">
                <a:solidFill>
                  <a:srgbClr val="0070C0"/>
                </a:solidFill>
              </a:rPr>
              <a:t>a</a:t>
            </a:r>
            <a:r>
              <a:rPr lang="en-US" sz="2800" dirty="0">
                <a:solidFill>
                  <a:srgbClr val="FF0000"/>
                </a:solidFill>
              </a:rPr>
              <a:t>:hover</a:t>
            </a:r>
            <a:r>
              <a:rPr lang="en-US" sz="2800" dirty="0"/>
              <a:t>{ </a:t>
            </a:r>
            <a:r>
              <a:rPr lang="en-US" sz="2800" dirty="0">
                <a:solidFill>
                  <a:srgbClr val="0070C0"/>
                </a:solidFill>
              </a:rPr>
              <a:t>color</a:t>
            </a:r>
            <a:r>
              <a:rPr lang="en-US" sz="2800" dirty="0"/>
              <a:t>:green;}</a:t>
            </a:r>
          </a:p>
          <a:p>
            <a:pPr marL="457200" lvl="1" indent="0">
              <a:spcAft>
                <a:spcPts val="1200"/>
              </a:spcAft>
              <a:buNone/>
            </a:pPr>
            <a:br>
              <a:rPr lang="en-US" sz="2800" dirty="0"/>
            </a:br>
            <a:r>
              <a:rPr lang="en-US" sz="2800" dirty="0"/>
              <a:t>    </a:t>
            </a:r>
            <a:r>
              <a:rPr lang="en-US" sz="2800" dirty="0">
                <a:solidFill>
                  <a:srgbClr val="0070C0"/>
                </a:solidFill>
              </a:rPr>
              <a:t>.nav:hover{color</a:t>
            </a:r>
            <a:r>
              <a:rPr lang="en-US" sz="2800" dirty="0"/>
              <a:t>:green;}</a:t>
            </a:r>
          </a:p>
        </p:txBody>
      </p:sp>
    </p:spTree>
    <p:extLst>
      <p:ext uri="{BB962C8B-B14F-4D97-AF65-F5344CB8AC3E}">
        <p14:creationId xmlns:p14="http://schemas.microsoft.com/office/powerpoint/2010/main" val="4111713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Pseudo-classes</a:t>
            </a:r>
          </a:p>
        </p:txBody>
      </p:sp>
      <p:sp>
        <p:nvSpPr>
          <p:cNvPr id="3" name="Content Placeholder 2"/>
          <p:cNvSpPr>
            <a:spLocks noGrp="1"/>
          </p:cNvSpPr>
          <p:nvPr>
            <p:ph idx="1"/>
          </p:nvPr>
        </p:nvSpPr>
        <p:spPr>
          <a:xfrm>
            <a:off x="838200" y="1690688"/>
            <a:ext cx="10515600" cy="4351338"/>
          </a:xfrm>
        </p:spPr>
        <p:txBody>
          <a:bodyPr/>
          <a:lstStyle/>
          <a:p>
            <a:pPr marL="0" indent="0">
              <a:buNone/>
            </a:pPr>
            <a:r>
              <a:rPr lang="en-US" dirty="0"/>
              <a:t>Some examples</a:t>
            </a:r>
          </a:p>
          <a:p>
            <a:pPr marL="457200" lvl="1" indent="0">
              <a:buNone/>
            </a:pPr>
            <a:r>
              <a:rPr lang="en-US" dirty="0"/>
              <a:t>:link		a:link		unvisited links</a:t>
            </a:r>
          </a:p>
          <a:p>
            <a:pPr marL="457200" lvl="1" indent="0">
              <a:buNone/>
            </a:pPr>
            <a:r>
              <a:rPr lang="en-US" dirty="0"/>
              <a:t>:visited		a:visited	visited links</a:t>
            </a:r>
          </a:p>
          <a:p>
            <a:pPr marL="457200" lvl="1" indent="0">
              <a:buNone/>
            </a:pPr>
            <a:r>
              <a:rPr lang="en-US" dirty="0"/>
              <a:t>:active		a:active	active links</a:t>
            </a:r>
          </a:p>
          <a:p>
            <a:pPr marL="457200" lvl="1" indent="0">
              <a:buNone/>
            </a:pPr>
            <a:r>
              <a:rPr lang="en-US" dirty="0"/>
              <a:t>:hover		a:hover	moused-over links</a:t>
            </a:r>
          </a:p>
          <a:p>
            <a:pPr marL="457200" lvl="1" indent="0">
              <a:buNone/>
            </a:pPr>
            <a:r>
              <a:rPr lang="en-US" dirty="0"/>
              <a:t>:first-letter		p:first-letter	first letter of a paragraph</a:t>
            </a:r>
          </a:p>
          <a:p>
            <a:pPr marL="457200" lvl="1" indent="0">
              <a:buNone/>
            </a:pPr>
            <a:r>
              <a:rPr lang="en-US" dirty="0"/>
              <a:t>:first-line		p:first-line	first line of a paragraph</a:t>
            </a:r>
          </a:p>
        </p:txBody>
      </p:sp>
    </p:spTree>
    <p:extLst>
      <p:ext uri="{BB962C8B-B14F-4D97-AF65-F5344CB8AC3E}">
        <p14:creationId xmlns:p14="http://schemas.microsoft.com/office/powerpoint/2010/main" val="106512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Unordered List Navigation Bar</a:t>
            </a:r>
          </a:p>
        </p:txBody>
      </p:sp>
      <p:sp>
        <p:nvSpPr>
          <p:cNvPr id="5" name="Text Placeholder 4"/>
          <p:cNvSpPr>
            <a:spLocks noGrp="1"/>
          </p:cNvSpPr>
          <p:nvPr>
            <p:ph type="body" idx="1"/>
          </p:nvPr>
        </p:nvSpPr>
        <p:spPr/>
        <p:txBody>
          <a:bodyPr/>
          <a:lstStyle/>
          <a:p>
            <a:r>
              <a:rPr lang="en-US" dirty="0"/>
              <a:t>Example of using CSS to alter a set of tags</a:t>
            </a:r>
          </a:p>
        </p:txBody>
      </p:sp>
    </p:spTree>
    <p:extLst>
      <p:ext uri="{BB962C8B-B14F-4D97-AF65-F5344CB8AC3E}">
        <p14:creationId xmlns:p14="http://schemas.microsoft.com/office/powerpoint/2010/main" val="1801985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&amp; CSS – Navigation Bar</a:t>
            </a:r>
          </a:p>
        </p:txBody>
      </p:sp>
      <p:sp>
        <p:nvSpPr>
          <p:cNvPr id="3" name="Content Placeholder 2"/>
          <p:cNvSpPr>
            <a:spLocks noGrp="1"/>
          </p:cNvSpPr>
          <p:nvPr>
            <p:ph idx="1"/>
          </p:nvPr>
        </p:nvSpPr>
        <p:spPr/>
        <p:txBody>
          <a:bodyPr/>
          <a:lstStyle/>
          <a:p>
            <a:pPr marL="0" indent="0">
              <a:buNone/>
            </a:pPr>
            <a:r>
              <a:rPr lang="en-US" dirty="0"/>
              <a:t>Using HTML and CSS we can transform a basic unordered list into a navigation bar:</a:t>
            </a:r>
          </a:p>
        </p:txBody>
      </p:sp>
      <p:sp>
        <p:nvSpPr>
          <p:cNvPr id="6" name="Curved Up Arrow 5"/>
          <p:cNvSpPr/>
          <p:nvPr/>
        </p:nvSpPr>
        <p:spPr>
          <a:xfrm rot="20849710">
            <a:off x="3023798" y="4270260"/>
            <a:ext cx="1909675" cy="947848"/>
          </a:xfrm>
          <a:prstGeom prst="curvedUpArrow">
            <a:avLst>
              <a:gd name="adj1" fmla="val 25000"/>
              <a:gd name="adj2" fmla="val 50000"/>
              <a:gd name="adj3" fmla="val 493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p:cNvPicPr>
            <a:picLocks noChangeAspect="1"/>
          </p:cNvPicPr>
          <p:nvPr/>
        </p:nvPicPr>
        <p:blipFill>
          <a:blip r:embed="rId3"/>
          <a:stretch>
            <a:fillRect/>
          </a:stretch>
        </p:blipFill>
        <p:spPr>
          <a:xfrm>
            <a:off x="838200" y="2783241"/>
            <a:ext cx="2365402" cy="3026010"/>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3154642871"/>
              </p:ext>
            </p:extLst>
          </p:nvPr>
        </p:nvGraphicFramePr>
        <p:xfrm>
          <a:off x="3185475" y="3342922"/>
          <a:ext cx="8784086" cy="514858"/>
        </p:xfrm>
        <a:graphic>
          <a:graphicData uri="http://schemas.openxmlformats.org/presentationml/2006/ole">
            <mc:AlternateContent xmlns:mc="http://schemas.openxmlformats.org/markup-compatibility/2006">
              <mc:Choice xmlns:v="urn:schemas-microsoft-com:vml" Requires="v">
                <p:oleObj name="Image" r:id="rId4" imgW="10184040" imgH="596520" progId="Photoshop.Image.55">
                  <p:embed/>
                </p:oleObj>
              </mc:Choice>
              <mc:Fallback>
                <p:oleObj name="Image" r:id="rId4" imgW="10184040" imgH="596520" progId="Photoshop.Image.55">
                  <p:embed/>
                  <p:pic>
                    <p:nvPicPr>
                      <p:cNvPr id="0" name=""/>
                      <p:cNvPicPr/>
                      <p:nvPr/>
                    </p:nvPicPr>
                    <p:blipFill>
                      <a:blip r:embed="rId5"/>
                      <a:stretch>
                        <a:fillRect/>
                      </a:stretch>
                    </p:blipFill>
                    <p:spPr>
                      <a:xfrm>
                        <a:off x="3185475" y="3342922"/>
                        <a:ext cx="8784086" cy="514858"/>
                      </a:xfrm>
                      <a:prstGeom prst="rect">
                        <a:avLst/>
                      </a:prstGeom>
                    </p:spPr>
                  </p:pic>
                </p:oleObj>
              </mc:Fallback>
            </mc:AlternateContent>
          </a:graphicData>
        </a:graphic>
      </p:graphicFrame>
    </p:spTree>
    <p:extLst>
      <p:ext uri="{BB962C8B-B14F-4D97-AF65-F5344CB8AC3E}">
        <p14:creationId xmlns:p14="http://schemas.microsoft.com/office/powerpoint/2010/main" val="1288353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 Bar - HTML</a:t>
            </a:r>
          </a:p>
        </p:txBody>
      </p:sp>
      <p:pic>
        <p:nvPicPr>
          <p:cNvPr id="7" name="Picture 6">
            <a:extLst>
              <a:ext uri="{FF2B5EF4-FFF2-40B4-BE49-F238E27FC236}">
                <a16:creationId xmlns:a16="http://schemas.microsoft.com/office/drawing/2014/main" id="{90FFC135-F436-477C-96C2-A1CA26E1EF9C}"/>
              </a:ext>
            </a:extLst>
          </p:cNvPr>
          <p:cNvPicPr>
            <a:picLocks noChangeAspect="1"/>
          </p:cNvPicPr>
          <p:nvPr/>
        </p:nvPicPr>
        <p:blipFill>
          <a:blip r:embed="rId2"/>
          <a:stretch>
            <a:fillRect/>
          </a:stretch>
        </p:blipFill>
        <p:spPr>
          <a:xfrm>
            <a:off x="1920649" y="1690688"/>
            <a:ext cx="8350701" cy="3359777"/>
          </a:xfrm>
          <a:prstGeom prst="rect">
            <a:avLst/>
          </a:prstGeom>
        </p:spPr>
      </p:pic>
    </p:spTree>
    <p:extLst>
      <p:ext uri="{BB962C8B-B14F-4D97-AF65-F5344CB8AC3E}">
        <p14:creationId xmlns:p14="http://schemas.microsoft.com/office/powerpoint/2010/main" val="2057300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 Bar - CSS</a:t>
            </a:r>
          </a:p>
        </p:txBody>
      </p:sp>
      <p:sp>
        <p:nvSpPr>
          <p:cNvPr id="4" name="Content Placeholder 3"/>
          <p:cNvSpPr>
            <a:spLocks noGrp="1"/>
          </p:cNvSpPr>
          <p:nvPr>
            <p:ph idx="1"/>
          </p:nvPr>
        </p:nvSpPr>
        <p:spPr/>
        <p:txBody>
          <a:bodyPr/>
          <a:lstStyle/>
          <a:p>
            <a:pPr marL="0" indent="0">
              <a:spcAft>
                <a:spcPts val="1200"/>
              </a:spcAft>
              <a:buNone/>
            </a:pPr>
            <a:r>
              <a:rPr lang="en-US" sz="3200" dirty="0"/>
              <a:t>First, remove the bullets, margins, and paddings from the list:</a:t>
            </a:r>
          </a:p>
        </p:txBody>
      </p:sp>
      <p:pic>
        <p:nvPicPr>
          <p:cNvPr id="5" name="Picture 4">
            <a:extLst>
              <a:ext uri="{FF2B5EF4-FFF2-40B4-BE49-F238E27FC236}">
                <a16:creationId xmlns:a16="http://schemas.microsoft.com/office/drawing/2014/main" id="{95C8A3ED-A624-4B23-A87F-096D734A4439}"/>
              </a:ext>
            </a:extLst>
          </p:cNvPr>
          <p:cNvPicPr>
            <a:picLocks noChangeAspect="1"/>
          </p:cNvPicPr>
          <p:nvPr/>
        </p:nvPicPr>
        <p:blipFill>
          <a:blip r:embed="rId2"/>
          <a:stretch>
            <a:fillRect/>
          </a:stretch>
        </p:blipFill>
        <p:spPr>
          <a:xfrm>
            <a:off x="3299816" y="2688234"/>
            <a:ext cx="5592367" cy="2626120"/>
          </a:xfrm>
          <a:prstGeom prst="rect">
            <a:avLst/>
          </a:prstGeom>
        </p:spPr>
      </p:pic>
    </p:spTree>
    <p:extLst>
      <p:ext uri="{BB962C8B-B14F-4D97-AF65-F5344CB8AC3E}">
        <p14:creationId xmlns:p14="http://schemas.microsoft.com/office/powerpoint/2010/main" val="3053068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 Bar - CSS</a:t>
            </a:r>
          </a:p>
        </p:txBody>
      </p:sp>
      <p:sp>
        <p:nvSpPr>
          <p:cNvPr id="4" name="Content Placeholder 3"/>
          <p:cNvSpPr>
            <a:spLocks noGrp="1"/>
          </p:cNvSpPr>
          <p:nvPr>
            <p:ph idx="1"/>
          </p:nvPr>
        </p:nvSpPr>
        <p:spPr/>
        <p:txBody>
          <a:bodyPr/>
          <a:lstStyle/>
          <a:p>
            <a:pPr marL="0" indent="0">
              <a:spcAft>
                <a:spcPts val="1200"/>
              </a:spcAft>
              <a:buNone/>
            </a:pPr>
            <a:r>
              <a:rPr lang="en-US" sz="3200" dirty="0"/>
              <a:t>Second, we need to float the list items to the left:</a:t>
            </a:r>
          </a:p>
        </p:txBody>
      </p:sp>
      <p:pic>
        <p:nvPicPr>
          <p:cNvPr id="7" name="Picture 6">
            <a:extLst>
              <a:ext uri="{FF2B5EF4-FFF2-40B4-BE49-F238E27FC236}">
                <a16:creationId xmlns:a16="http://schemas.microsoft.com/office/drawing/2014/main" id="{6A21BD8A-255D-4FD8-B12D-8CCC20DED413}"/>
              </a:ext>
            </a:extLst>
          </p:cNvPr>
          <p:cNvPicPr>
            <a:picLocks noChangeAspect="1"/>
          </p:cNvPicPr>
          <p:nvPr/>
        </p:nvPicPr>
        <p:blipFill>
          <a:blip r:embed="rId2"/>
          <a:stretch>
            <a:fillRect/>
          </a:stretch>
        </p:blipFill>
        <p:spPr>
          <a:xfrm>
            <a:off x="4194676" y="2781662"/>
            <a:ext cx="3802648" cy="1875398"/>
          </a:xfrm>
          <a:prstGeom prst="rect">
            <a:avLst/>
          </a:prstGeom>
        </p:spPr>
      </p:pic>
    </p:spTree>
    <p:extLst>
      <p:ext uri="{BB962C8B-B14F-4D97-AF65-F5344CB8AC3E}">
        <p14:creationId xmlns:p14="http://schemas.microsoft.com/office/powerpoint/2010/main" val="53224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 Bar - CSS</a:t>
            </a:r>
          </a:p>
        </p:txBody>
      </p:sp>
      <p:sp>
        <p:nvSpPr>
          <p:cNvPr id="4" name="Content Placeholder 3"/>
          <p:cNvSpPr>
            <a:spLocks noGrp="1"/>
          </p:cNvSpPr>
          <p:nvPr>
            <p:ph idx="1"/>
          </p:nvPr>
        </p:nvSpPr>
        <p:spPr/>
        <p:txBody>
          <a:bodyPr/>
          <a:lstStyle/>
          <a:p>
            <a:pPr marL="0" indent="0">
              <a:spcAft>
                <a:spcPts val="1200"/>
              </a:spcAft>
              <a:buNone/>
            </a:pPr>
            <a:r>
              <a:rPr lang="en-US" sz="3200" dirty="0"/>
              <a:t>Last, we need to display the &lt;a&gt; as a block and set a width:</a:t>
            </a:r>
          </a:p>
        </p:txBody>
      </p:sp>
      <p:pic>
        <p:nvPicPr>
          <p:cNvPr id="5" name="Picture 4"/>
          <p:cNvPicPr>
            <a:picLocks noChangeAspect="1"/>
          </p:cNvPicPr>
          <p:nvPr/>
        </p:nvPicPr>
        <p:blipFill>
          <a:blip r:embed="rId2"/>
          <a:stretch>
            <a:fillRect/>
          </a:stretch>
        </p:blipFill>
        <p:spPr>
          <a:xfrm>
            <a:off x="5613368" y="3718416"/>
            <a:ext cx="5841189" cy="1304484"/>
          </a:xfrm>
          <a:prstGeom prst="rect">
            <a:avLst/>
          </a:prstGeom>
        </p:spPr>
      </p:pic>
      <p:pic>
        <p:nvPicPr>
          <p:cNvPr id="8" name="Picture 7">
            <a:extLst>
              <a:ext uri="{FF2B5EF4-FFF2-40B4-BE49-F238E27FC236}">
                <a16:creationId xmlns:a16="http://schemas.microsoft.com/office/drawing/2014/main" id="{D9CD468E-4FFA-48F8-AE9C-BEE08CC5DDC9}"/>
              </a:ext>
            </a:extLst>
          </p:cNvPr>
          <p:cNvPicPr>
            <a:picLocks noChangeAspect="1"/>
          </p:cNvPicPr>
          <p:nvPr/>
        </p:nvPicPr>
        <p:blipFill>
          <a:blip r:embed="rId3"/>
          <a:stretch>
            <a:fillRect/>
          </a:stretch>
        </p:blipFill>
        <p:spPr>
          <a:xfrm>
            <a:off x="1135560" y="2701058"/>
            <a:ext cx="3824094" cy="1956002"/>
          </a:xfrm>
          <a:prstGeom prst="rect">
            <a:avLst/>
          </a:prstGeom>
        </p:spPr>
      </p:pic>
    </p:spTree>
    <p:extLst>
      <p:ext uri="{BB962C8B-B14F-4D97-AF65-F5344CB8AC3E}">
        <p14:creationId xmlns:p14="http://schemas.microsoft.com/office/powerpoint/2010/main" val="2973795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 Bar - CSS</a:t>
            </a:r>
          </a:p>
        </p:txBody>
      </p:sp>
      <p:sp>
        <p:nvSpPr>
          <p:cNvPr id="4" name="Content Placeholder 3"/>
          <p:cNvSpPr>
            <a:spLocks noGrp="1"/>
          </p:cNvSpPr>
          <p:nvPr>
            <p:ph idx="1"/>
          </p:nvPr>
        </p:nvSpPr>
        <p:spPr/>
        <p:txBody>
          <a:bodyPr/>
          <a:lstStyle/>
          <a:p>
            <a:pPr marL="0" indent="0">
              <a:buNone/>
            </a:pPr>
            <a:r>
              <a:rPr lang="en-US" sz="3200" dirty="0"/>
              <a:t>Let’s make it pretty:</a:t>
            </a:r>
          </a:p>
          <a:p>
            <a:pPr marL="0" indent="0">
              <a:spcAft>
                <a:spcPts val="1200"/>
              </a:spcAft>
              <a:buNone/>
            </a:pPr>
            <a:r>
              <a:rPr lang="en-US" sz="3200" dirty="0"/>
              <a:t>Remove the following CSS:</a:t>
            </a:r>
          </a:p>
        </p:txBody>
      </p:sp>
      <p:pic>
        <p:nvPicPr>
          <p:cNvPr id="5" name="Picture 4">
            <a:extLst>
              <a:ext uri="{FF2B5EF4-FFF2-40B4-BE49-F238E27FC236}">
                <a16:creationId xmlns:a16="http://schemas.microsoft.com/office/drawing/2014/main" id="{D6FBF1FE-D54F-402A-8A0A-687EE97BD74A}"/>
              </a:ext>
            </a:extLst>
          </p:cNvPr>
          <p:cNvPicPr>
            <a:picLocks noChangeAspect="1"/>
          </p:cNvPicPr>
          <p:nvPr/>
        </p:nvPicPr>
        <p:blipFill>
          <a:blip r:embed="rId2"/>
          <a:stretch>
            <a:fillRect/>
          </a:stretch>
        </p:blipFill>
        <p:spPr>
          <a:xfrm>
            <a:off x="4356537" y="3175322"/>
            <a:ext cx="3478925" cy="1779450"/>
          </a:xfrm>
          <a:prstGeom prst="rect">
            <a:avLst/>
          </a:prstGeom>
        </p:spPr>
      </p:pic>
    </p:spTree>
    <p:extLst>
      <p:ext uri="{BB962C8B-B14F-4D97-AF65-F5344CB8AC3E}">
        <p14:creationId xmlns:p14="http://schemas.microsoft.com/office/powerpoint/2010/main" val="94343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1935767" y="1767582"/>
            <a:ext cx="5197097" cy="1325563"/>
          </a:xfrm>
        </p:spPr>
        <p:txBody>
          <a:bodyPr/>
          <a:lstStyle/>
          <a:p>
            <a:pPr algn="ctr"/>
            <a:r>
              <a:rPr lang="en-US" dirty="0"/>
              <a:t>Navigation Bar - CSS</a:t>
            </a:r>
            <a:endParaRPr lang="en-US" sz="1800" dirty="0">
              <a:solidFill>
                <a:srgbClr val="0070C0"/>
              </a:solidFill>
              <a:latin typeface="+mn-lt"/>
              <a:ea typeface="+mn-ea"/>
              <a:cs typeface="+mn-cs"/>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057348407"/>
              </p:ext>
            </p:extLst>
          </p:nvPr>
        </p:nvGraphicFramePr>
        <p:xfrm>
          <a:off x="1239765" y="191619"/>
          <a:ext cx="10183812" cy="596900"/>
        </p:xfrm>
        <a:graphic>
          <a:graphicData uri="http://schemas.openxmlformats.org/presentationml/2006/ole">
            <mc:AlternateContent xmlns:mc="http://schemas.openxmlformats.org/markup-compatibility/2006">
              <mc:Choice xmlns:v="urn:schemas-microsoft-com:vml" Requires="v">
                <p:oleObj name="Image" r:id="rId2" imgW="10184040" imgH="596520" progId="Photoshop.Image.55">
                  <p:embed/>
                </p:oleObj>
              </mc:Choice>
              <mc:Fallback>
                <p:oleObj name="Image" r:id="rId2" imgW="10184040" imgH="596520" progId="Photoshop.Image.55">
                  <p:embed/>
                  <p:pic>
                    <p:nvPicPr>
                      <p:cNvPr id="0" name=""/>
                      <p:cNvPicPr/>
                      <p:nvPr/>
                    </p:nvPicPr>
                    <p:blipFill>
                      <a:blip r:embed="rId3"/>
                      <a:stretch>
                        <a:fillRect/>
                      </a:stretch>
                    </p:blipFill>
                    <p:spPr>
                      <a:xfrm>
                        <a:off x="1239765" y="191619"/>
                        <a:ext cx="10183812" cy="596900"/>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BF767365-0E87-4BB4-90FB-2A45CA542057}"/>
              </a:ext>
            </a:extLst>
          </p:cNvPr>
          <p:cNvPicPr>
            <a:picLocks noChangeAspect="1"/>
          </p:cNvPicPr>
          <p:nvPr/>
        </p:nvPicPr>
        <p:blipFill>
          <a:blip r:embed="rId4"/>
          <a:stretch>
            <a:fillRect/>
          </a:stretch>
        </p:blipFill>
        <p:spPr>
          <a:xfrm>
            <a:off x="1026707" y="1122144"/>
            <a:ext cx="3492130" cy="4820124"/>
          </a:xfrm>
          <a:prstGeom prst="rect">
            <a:avLst/>
          </a:prstGeom>
        </p:spPr>
      </p:pic>
      <p:pic>
        <p:nvPicPr>
          <p:cNvPr id="10" name="Picture 9">
            <a:extLst>
              <a:ext uri="{FF2B5EF4-FFF2-40B4-BE49-F238E27FC236}">
                <a16:creationId xmlns:a16="http://schemas.microsoft.com/office/drawing/2014/main" id="{1B573A0D-4875-4579-9FA3-7105A781DA10}"/>
              </a:ext>
            </a:extLst>
          </p:cNvPr>
          <p:cNvPicPr>
            <a:picLocks noChangeAspect="1"/>
          </p:cNvPicPr>
          <p:nvPr/>
        </p:nvPicPr>
        <p:blipFill>
          <a:blip r:embed="rId5"/>
          <a:stretch>
            <a:fillRect/>
          </a:stretch>
        </p:blipFill>
        <p:spPr>
          <a:xfrm>
            <a:off x="5303301" y="1122144"/>
            <a:ext cx="3950385" cy="2000195"/>
          </a:xfrm>
          <a:prstGeom prst="rect">
            <a:avLst/>
          </a:prstGeom>
        </p:spPr>
      </p:pic>
      <p:pic>
        <p:nvPicPr>
          <p:cNvPr id="12" name="Picture 11">
            <a:extLst>
              <a:ext uri="{FF2B5EF4-FFF2-40B4-BE49-F238E27FC236}">
                <a16:creationId xmlns:a16="http://schemas.microsoft.com/office/drawing/2014/main" id="{291D7B76-15DA-4DC2-885B-E0701E7CE94C}"/>
              </a:ext>
            </a:extLst>
          </p:cNvPr>
          <p:cNvPicPr>
            <a:picLocks noChangeAspect="1"/>
          </p:cNvPicPr>
          <p:nvPr/>
        </p:nvPicPr>
        <p:blipFill>
          <a:blip r:embed="rId6"/>
          <a:stretch>
            <a:fillRect/>
          </a:stretch>
        </p:blipFill>
        <p:spPr>
          <a:xfrm>
            <a:off x="4706809" y="3334219"/>
            <a:ext cx="7201524" cy="2457663"/>
          </a:xfrm>
          <a:prstGeom prst="rect">
            <a:avLst/>
          </a:prstGeom>
        </p:spPr>
      </p:pic>
      <p:cxnSp>
        <p:nvCxnSpPr>
          <p:cNvPr id="14" name="Straight Arrow Connector 13">
            <a:extLst>
              <a:ext uri="{FF2B5EF4-FFF2-40B4-BE49-F238E27FC236}">
                <a16:creationId xmlns:a16="http://schemas.microsoft.com/office/drawing/2014/main" id="{720E0C6F-5F17-429D-AD03-3F018D6D297C}"/>
              </a:ext>
            </a:extLst>
          </p:cNvPr>
          <p:cNvCxnSpPr/>
          <p:nvPr/>
        </p:nvCxnSpPr>
        <p:spPr>
          <a:xfrm flipH="1" flipV="1">
            <a:off x="2847372" y="752354"/>
            <a:ext cx="2882096" cy="28473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832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par>
                          <p:cTn id="20" fill="hold">
                            <p:stCondLst>
                              <p:cond delay="2000"/>
                            </p:stCondLst>
                            <p:childTnLst>
                              <p:par>
                                <p:cTn id="21" presetID="22" presetClass="entr" presetSubtype="4" fill="hold" nodeType="afterEffect">
                                  <p:stCondLst>
                                    <p:cond delay="1000"/>
                                  </p:stCondLst>
                                  <p:childTnLst>
                                    <p:set>
                                      <p:cBhvr>
                                        <p:cTn id="22" dur="1" fill="hold">
                                          <p:stCondLst>
                                            <p:cond delay="0"/>
                                          </p:stCondLst>
                                        </p:cTn>
                                        <p:tgtEl>
                                          <p:spTgt spid="14"/>
                                        </p:tgtEl>
                                        <p:attrNameLst>
                                          <p:attrName>style.visibility</p:attrName>
                                        </p:attrNameLst>
                                      </p:cBhvr>
                                      <p:to>
                                        <p:strVal val="visible"/>
                                      </p:to>
                                    </p:set>
                                    <p:animEffect transition="in" filter="wipe(down)">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E5BAE-E026-DB08-8D62-0A085DBAD3DA}"/>
              </a:ext>
            </a:extLst>
          </p:cNvPr>
          <p:cNvSpPr>
            <a:spLocks noGrp="1"/>
          </p:cNvSpPr>
          <p:nvPr>
            <p:ph type="title"/>
          </p:nvPr>
        </p:nvSpPr>
        <p:spPr/>
        <p:txBody>
          <a:bodyPr/>
          <a:lstStyle/>
          <a:p>
            <a:r>
              <a:rPr lang="en-US" dirty="0"/>
              <a:t>Lecture Quiz 8</a:t>
            </a:r>
          </a:p>
        </p:txBody>
      </p:sp>
      <p:sp>
        <p:nvSpPr>
          <p:cNvPr id="3" name="Text Placeholder 2">
            <a:extLst>
              <a:ext uri="{FF2B5EF4-FFF2-40B4-BE49-F238E27FC236}">
                <a16:creationId xmlns:a16="http://schemas.microsoft.com/office/drawing/2014/main" id="{BEA31DC5-CD4B-AC14-93A3-E703BF006F5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5013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1</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&lt;section&gt; elements are more important than &lt;article&gt; elements</a:t>
            </a:r>
          </a:p>
          <a:p>
            <a:pPr marL="0" indent="0">
              <a:buNone/>
            </a:pPr>
            <a:endParaRPr lang="en-US" sz="3200" dirty="0"/>
          </a:p>
          <a:p>
            <a:pPr marL="457200" lvl="1" indent="0">
              <a:buNone/>
            </a:pPr>
            <a:r>
              <a:rPr lang="en-US" sz="2800" dirty="0"/>
              <a:t>A. True</a:t>
            </a:r>
          </a:p>
          <a:p>
            <a:pPr marL="457200" lvl="1" indent="0">
              <a:buNone/>
            </a:pPr>
            <a:r>
              <a:rPr lang="en-US" sz="2800" dirty="0"/>
              <a:t>B. False</a:t>
            </a:r>
          </a:p>
        </p:txBody>
      </p:sp>
    </p:spTree>
    <p:extLst>
      <p:ext uri="{BB962C8B-B14F-4D97-AF65-F5344CB8AC3E}">
        <p14:creationId xmlns:p14="http://schemas.microsoft.com/office/powerpoint/2010/main" val="150345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2</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Use of semantic HTML</a:t>
            </a:r>
          </a:p>
          <a:p>
            <a:pPr marL="0" indent="0">
              <a:buNone/>
            </a:pPr>
            <a:endParaRPr lang="en-US" sz="3200" dirty="0"/>
          </a:p>
          <a:p>
            <a:pPr marL="457200" lvl="1" indent="0">
              <a:buNone/>
            </a:pPr>
            <a:r>
              <a:rPr lang="en-US" sz="2800" dirty="0"/>
              <a:t>A. Makes web pages more maintainable</a:t>
            </a:r>
          </a:p>
          <a:p>
            <a:pPr marL="457200" lvl="1" indent="0">
              <a:buNone/>
            </a:pPr>
            <a:r>
              <a:rPr lang="en-US" sz="2800" dirty="0"/>
              <a:t>B. Makes web pages more search engine friendly</a:t>
            </a:r>
          </a:p>
          <a:p>
            <a:pPr marL="457200" lvl="1" indent="0">
              <a:buNone/>
            </a:pPr>
            <a:r>
              <a:rPr lang="en-US" sz="2800" dirty="0"/>
              <a:t>C. Facilitates Information Architecture</a:t>
            </a:r>
          </a:p>
          <a:p>
            <a:pPr marL="457200" lvl="1" indent="0">
              <a:buNone/>
            </a:pPr>
            <a:r>
              <a:rPr lang="en-US" sz="2800" dirty="0"/>
              <a:t>D. All of the above</a:t>
            </a:r>
          </a:p>
        </p:txBody>
      </p:sp>
    </p:spTree>
    <p:extLst>
      <p:ext uri="{BB962C8B-B14F-4D97-AF65-F5344CB8AC3E}">
        <p14:creationId xmlns:p14="http://schemas.microsoft.com/office/powerpoint/2010/main" val="3085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3</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Which of the following are the primary elements of Information Architecture?</a:t>
            </a:r>
          </a:p>
          <a:p>
            <a:pPr marL="0" indent="0">
              <a:buNone/>
            </a:pPr>
            <a:endParaRPr lang="en-US" sz="3200" dirty="0"/>
          </a:p>
          <a:p>
            <a:pPr marL="971550" lvl="1" indent="-514350">
              <a:spcAft>
                <a:spcPts val="1200"/>
              </a:spcAft>
              <a:buAutoNum type="alphaUcPeriod"/>
              <a:defRPr/>
            </a:pPr>
            <a:r>
              <a:rPr lang="en-US" sz="2800" dirty="0">
                <a:solidFill>
                  <a:schemeClr val="tx1"/>
                </a:solidFill>
              </a:rPr>
              <a:t>Organizing and labeling site content</a:t>
            </a:r>
          </a:p>
          <a:p>
            <a:pPr marL="971550" lvl="1" indent="-514350">
              <a:spcAft>
                <a:spcPts val="1200"/>
              </a:spcAft>
              <a:buAutoNum type="alphaUcPeriod"/>
              <a:defRPr/>
            </a:pPr>
            <a:r>
              <a:rPr lang="en-US" sz="2800" dirty="0"/>
              <a:t>Images</a:t>
            </a:r>
            <a:endParaRPr lang="en-US" sz="2800" dirty="0">
              <a:solidFill>
                <a:schemeClr val="tx1"/>
              </a:solidFill>
            </a:endParaRPr>
          </a:p>
          <a:p>
            <a:pPr marL="971550" lvl="1" indent="-514350">
              <a:spcAft>
                <a:spcPts val="1200"/>
              </a:spcAft>
              <a:buAutoNum type="alphaUcPeriod"/>
              <a:defRPr/>
            </a:pPr>
            <a:r>
              <a:rPr lang="en-US" sz="2800" dirty="0">
                <a:solidFill>
                  <a:schemeClr val="tx1"/>
                </a:solidFill>
              </a:rPr>
              <a:t>Designing navigation through information</a:t>
            </a:r>
          </a:p>
          <a:p>
            <a:pPr marL="971550" lvl="1" indent="-514350">
              <a:spcAft>
                <a:spcPts val="1200"/>
              </a:spcAft>
              <a:buAutoNum type="alphaUcPeriod"/>
              <a:defRPr/>
            </a:pPr>
            <a:r>
              <a:rPr lang="en-US" sz="2800" dirty="0"/>
              <a:t>File names</a:t>
            </a:r>
            <a:endParaRPr lang="en-US" sz="2800" dirty="0">
              <a:solidFill>
                <a:schemeClr val="tx1"/>
              </a:solidFill>
            </a:endParaRPr>
          </a:p>
        </p:txBody>
      </p:sp>
    </p:spTree>
    <p:extLst>
      <p:ext uri="{BB962C8B-B14F-4D97-AF65-F5344CB8AC3E}">
        <p14:creationId xmlns:p14="http://schemas.microsoft.com/office/powerpoint/2010/main" val="1184416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4</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Which type of navigation calls attention to special items or content?</a:t>
            </a:r>
          </a:p>
          <a:p>
            <a:pPr marL="0" indent="0">
              <a:buNone/>
            </a:pPr>
            <a:endParaRPr lang="en-US" sz="3200" dirty="0"/>
          </a:p>
          <a:p>
            <a:pPr marL="971550" lvl="1" indent="-514350">
              <a:spcAft>
                <a:spcPts val="1200"/>
              </a:spcAft>
              <a:buAutoNum type="alphaUcPeriod"/>
              <a:defRPr/>
            </a:pPr>
            <a:r>
              <a:rPr lang="en-US" sz="2800" dirty="0">
                <a:solidFill>
                  <a:schemeClr val="tx1"/>
                </a:solidFill>
              </a:rPr>
              <a:t>Promotional</a:t>
            </a:r>
          </a:p>
          <a:p>
            <a:pPr marL="971550" lvl="1" indent="-514350">
              <a:spcAft>
                <a:spcPts val="1200"/>
              </a:spcAft>
              <a:buAutoNum type="alphaUcPeriod"/>
              <a:defRPr/>
            </a:pPr>
            <a:r>
              <a:rPr lang="en-US" sz="2800" dirty="0"/>
              <a:t>Structural</a:t>
            </a:r>
            <a:endParaRPr lang="en-US" sz="2800" dirty="0">
              <a:solidFill>
                <a:schemeClr val="tx1"/>
              </a:solidFill>
            </a:endParaRPr>
          </a:p>
          <a:p>
            <a:pPr marL="971550" lvl="1" indent="-514350">
              <a:spcAft>
                <a:spcPts val="1200"/>
              </a:spcAft>
              <a:buAutoNum type="alphaUcPeriod"/>
              <a:defRPr/>
            </a:pPr>
            <a:r>
              <a:rPr lang="en-US" sz="2800" dirty="0">
                <a:solidFill>
                  <a:schemeClr val="tx1"/>
                </a:solidFill>
              </a:rPr>
              <a:t>Categorical</a:t>
            </a:r>
          </a:p>
          <a:p>
            <a:pPr marL="971550" lvl="1" indent="-514350">
              <a:spcAft>
                <a:spcPts val="1200"/>
              </a:spcAft>
              <a:buAutoNum type="alphaUcPeriod"/>
              <a:defRPr/>
            </a:pPr>
            <a:r>
              <a:rPr lang="en-US" sz="2800" dirty="0"/>
              <a:t>Relational</a:t>
            </a:r>
            <a:endParaRPr lang="en-US" sz="2800" dirty="0">
              <a:solidFill>
                <a:schemeClr val="tx1"/>
              </a:solidFill>
            </a:endParaRPr>
          </a:p>
        </p:txBody>
      </p:sp>
    </p:spTree>
    <p:extLst>
      <p:ext uri="{BB962C8B-B14F-4D97-AF65-F5344CB8AC3E}">
        <p14:creationId xmlns:p14="http://schemas.microsoft.com/office/powerpoint/2010/main" val="3748803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5</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Which character is used to define a pseudo class in CSS?</a:t>
            </a:r>
          </a:p>
          <a:p>
            <a:pPr marL="0" indent="0">
              <a:buNone/>
            </a:pPr>
            <a:endParaRPr lang="en-US" sz="3200" dirty="0"/>
          </a:p>
          <a:p>
            <a:pPr marL="971550" lvl="1" indent="-514350">
              <a:spcAft>
                <a:spcPts val="1200"/>
              </a:spcAft>
              <a:buAutoNum type="alphaUcPeriod"/>
              <a:defRPr/>
            </a:pPr>
            <a:r>
              <a:rPr lang="en-US" sz="2800" dirty="0">
                <a:solidFill>
                  <a:schemeClr val="tx1"/>
                </a:solidFill>
              </a:rPr>
              <a:t>#</a:t>
            </a:r>
          </a:p>
          <a:p>
            <a:pPr marL="971550" lvl="1" indent="-514350">
              <a:spcAft>
                <a:spcPts val="1200"/>
              </a:spcAft>
              <a:buAutoNum type="alphaUcPeriod"/>
              <a:defRPr/>
            </a:pPr>
            <a:r>
              <a:rPr lang="en-US" sz="2800" dirty="0"/>
              <a:t>.</a:t>
            </a:r>
            <a:endParaRPr lang="en-US" sz="2800" dirty="0">
              <a:solidFill>
                <a:schemeClr val="tx1"/>
              </a:solidFill>
            </a:endParaRPr>
          </a:p>
          <a:p>
            <a:pPr marL="971550" lvl="1" indent="-514350">
              <a:spcAft>
                <a:spcPts val="1200"/>
              </a:spcAft>
              <a:buAutoNum type="alphaUcPeriod"/>
              <a:defRPr/>
            </a:pPr>
            <a:r>
              <a:rPr lang="en-US" sz="2800" dirty="0">
                <a:solidFill>
                  <a:schemeClr val="tx1"/>
                </a:solidFill>
              </a:rPr>
              <a:t>::</a:t>
            </a:r>
          </a:p>
          <a:p>
            <a:pPr marL="971550" lvl="1" indent="-514350">
              <a:spcAft>
                <a:spcPts val="1200"/>
              </a:spcAft>
              <a:buAutoNum type="alphaUcPeriod"/>
              <a:defRPr/>
            </a:pPr>
            <a:r>
              <a:rPr lang="en-US" sz="2800" dirty="0"/>
              <a:t>:</a:t>
            </a:r>
            <a:endParaRPr lang="en-US" sz="2800" dirty="0">
              <a:solidFill>
                <a:schemeClr val="tx1"/>
              </a:solidFill>
            </a:endParaRPr>
          </a:p>
        </p:txBody>
      </p:sp>
    </p:spTree>
    <p:extLst>
      <p:ext uri="{BB962C8B-B14F-4D97-AF65-F5344CB8AC3E}">
        <p14:creationId xmlns:p14="http://schemas.microsoft.com/office/powerpoint/2010/main" val="2424685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7</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In CSS, how do we remove the bullet points from an unordered list?</a:t>
            </a:r>
          </a:p>
          <a:p>
            <a:pPr marL="0" indent="0">
              <a:buNone/>
            </a:pPr>
            <a:endParaRPr lang="en-US" sz="3200" dirty="0"/>
          </a:p>
          <a:p>
            <a:pPr marL="971550" lvl="1" indent="-514350">
              <a:spcAft>
                <a:spcPts val="1200"/>
              </a:spcAft>
              <a:buAutoNum type="alphaUcPeriod"/>
              <a:defRPr/>
            </a:pPr>
            <a:r>
              <a:rPr lang="en-US" sz="2800" dirty="0">
                <a:solidFill>
                  <a:schemeClr val="tx1"/>
                </a:solidFill>
              </a:rPr>
              <a:t>list-style-type: plain;</a:t>
            </a:r>
          </a:p>
          <a:p>
            <a:pPr marL="971550" lvl="1" indent="-514350">
              <a:spcAft>
                <a:spcPts val="1200"/>
              </a:spcAft>
              <a:buAutoNum type="alphaUcPeriod"/>
              <a:defRPr/>
            </a:pPr>
            <a:r>
              <a:rPr lang="en-US" sz="2800" dirty="0">
                <a:solidFill>
                  <a:schemeClr val="tx1"/>
                </a:solidFill>
              </a:rPr>
              <a:t>list-style-type: none;</a:t>
            </a:r>
          </a:p>
          <a:p>
            <a:pPr marL="971550" lvl="1" indent="-514350">
              <a:spcAft>
                <a:spcPts val="1200"/>
              </a:spcAft>
              <a:buAutoNum type="alphaUcPeriod"/>
              <a:defRPr/>
            </a:pPr>
            <a:r>
              <a:rPr lang="en-US" sz="2800" dirty="0">
                <a:solidFill>
                  <a:schemeClr val="tx1"/>
                </a:solidFill>
              </a:rPr>
              <a:t>list-style-type: </a:t>
            </a:r>
            <a:r>
              <a:rPr lang="en-US" sz="2800" dirty="0" err="1">
                <a:solidFill>
                  <a:schemeClr val="tx1"/>
                </a:solidFill>
              </a:rPr>
              <a:t>nobullets</a:t>
            </a:r>
            <a:r>
              <a:rPr lang="en-US" sz="2800" dirty="0">
                <a:solidFill>
                  <a:schemeClr val="tx1"/>
                </a:solidFill>
              </a:rPr>
              <a:t>;</a:t>
            </a:r>
          </a:p>
          <a:p>
            <a:pPr marL="971550" lvl="1" indent="-514350">
              <a:spcAft>
                <a:spcPts val="1200"/>
              </a:spcAft>
              <a:buAutoNum type="alphaUcPeriod"/>
              <a:defRPr/>
            </a:pPr>
            <a:r>
              <a:rPr lang="en-US" sz="2800" dirty="0">
                <a:solidFill>
                  <a:schemeClr val="tx1"/>
                </a:solidFill>
              </a:rPr>
              <a:t>list-style-type: transparent;</a:t>
            </a:r>
          </a:p>
        </p:txBody>
      </p:sp>
    </p:spTree>
    <p:extLst>
      <p:ext uri="{BB962C8B-B14F-4D97-AF65-F5344CB8AC3E}">
        <p14:creationId xmlns:p14="http://schemas.microsoft.com/office/powerpoint/2010/main" val="3264353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8</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Which pseudo class allows us to style links to sites we've already been to?</a:t>
            </a:r>
          </a:p>
          <a:p>
            <a:pPr marL="0" indent="0">
              <a:buNone/>
            </a:pPr>
            <a:endParaRPr lang="en-US" sz="3200" dirty="0"/>
          </a:p>
          <a:p>
            <a:pPr marL="971550" lvl="1" indent="-514350">
              <a:spcAft>
                <a:spcPts val="1200"/>
              </a:spcAft>
              <a:buAutoNum type="alphaUcPeriod"/>
              <a:defRPr/>
            </a:pPr>
            <a:r>
              <a:rPr lang="en-US" sz="2800" dirty="0" err="1">
                <a:solidFill>
                  <a:schemeClr val="tx1"/>
                </a:solidFill>
              </a:rPr>
              <a:t>link:visited</a:t>
            </a:r>
            <a:endParaRPr lang="en-US" sz="2800" dirty="0">
              <a:solidFill>
                <a:schemeClr val="tx1"/>
              </a:solidFill>
            </a:endParaRPr>
          </a:p>
          <a:p>
            <a:pPr marL="971550" lvl="1" indent="-514350">
              <a:spcAft>
                <a:spcPts val="1200"/>
              </a:spcAft>
              <a:buAutoNum type="alphaUcPeriod"/>
              <a:defRPr/>
            </a:pPr>
            <a:r>
              <a:rPr lang="en-US" sz="2800" dirty="0"/>
              <a:t>a::hover</a:t>
            </a:r>
            <a:endParaRPr lang="en-US" sz="2800" dirty="0">
              <a:solidFill>
                <a:schemeClr val="tx1"/>
              </a:solidFill>
            </a:endParaRPr>
          </a:p>
          <a:p>
            <a:pPr marL="971550" lvl="1" indent="-514350">
              <a:spcAft>
                <a:spcPts val="1200"/>
              </a:spcAft>
              <a:buAutoNum type="alphaUcPeriod"/>
              <a:defRPr/>
            </a:pPr>
            <a:r>
              <a:rPr lang="en-US" sz="2800" dirty="0" err="1"/>
              <a:t>link:hover</a:t>
            </a:r>
            <a:endParaRPr lang="en-US" sz="2800" dirty="0">
              <a:solidFill>
                <a:schemeClr val="tx1"/>
              </a:solidFill>
            </a:endParaRPr>
          </a:p>
          <a:p>
            <a:pPr marL="971550" lvl="1" indent="-514350">
              <a:spcAft>
                <a:spcPts val="1200"/>
              </a:spcAft>
              <a:buAutoNum type="alphaUcPeriod"/>
              <a:defRPr/>
            </a:pPr>
            <a:r>
              <a:rPr lang="en-US" sz="2800" dirty="0">
                <a:solidFill>
                  <a:schemeClr val="tx1"/>
                </a:solidFill>
              </a:rPr>
              <a:t>a:visited</a:t>
            </a:r>
          </a:p>
        </p:txBody>
      </p:sp>
    </p:spTree>
    <p:extLst>
      <p:ext uri="{BB962C8B-B14F-4D97-AF65-F5344CB8AC3E}">
        <p14:creationId xmlns:p14="http://schemas.microsoft.com/office/powerpoint/2010/main" val="2666671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dirty="0"/>
              <a:t>Question 9</a:t>
            </a:r>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How does CSS 'know' when it is displaying a link to a site we've already been to?</a:t>
            </a:r>
          </a:p>
          <a:p>
            <a:pPr marL="0" indent="0">
              <a:buNone/>
            </a:pPr>
            <a:endParaRPr lang="en-US" sz="3200" dirty="0"/>
          </a:p>
          <a:p>
            <a:pPr marL="971550" lvl="1" indent="-514350">
              <a:spcAft>
                <a:spcPts val="1200"/>
              </a:spcAft>
              <a:buAutoNum type="alphaUcPeriod"/>
              <a:defRPr/>
            </a:pPr>
            <a:r>
              <a:rPr lang="en-US" sz="2800" dirty="0">
                <a:solidFill>
                  <a:schemeClr val="tx1"/>
                </a:solidFill>
              </a:rPr>
              <a:t>Browser history</a:t>
            </a:r>
          </a:p>
          <a:p>
            <a:pPr marL="971550" lvl="1" indent="-514350">
              <a:spcAft>
                <a:spcPts val="1200"/>
              </a:spcAft>
              <a:buAutoNum type="alphaUcPeriod"/>
              <a:defRPr/>
            </a:pPr>
            <a:r>
              <a:rPr lang="en-US" sz="2800" dirty="0"/>
              <a:t>The server sends a ‘visited’ signal</a:t>
            </a:r>
            <a:endParaRPr lang="en-US" sz="2800" dirty="0">
              <a:solidFill>
                <a:schemeClr val="tx1"/>
              </a:solidFill>
            </a:endParaRPr>
          </a:p>
          <a:p>
            <a:pPr marL="971550" lvl="1" indent="-514350">
              <a:spcAft>
                <a:spcPts val="1200"/>
              </a:spcAft>
              <a:buAutoNum type="alphaUcPeriod"/>
              <a:defRPr/>
            </a:pPr>
            <a:r>
              <a:rPr lang="en-US" sz="2800" dirty="0"/>
              <a:t>Windows keeps track of site visits</a:t>
            </a:r>
            <a:endParaRPr lang="en-US" sz="2800" dirty="0">
              <a:solidFill>
                <a:schemeClr val="tx1"/>
              </a:solidFill>
            </a:endParaRPr>
          </a:p>
          <a:p>
            <a:pPr marL="971550" lvl="1" indent="-514350">
              <a:spcAft>
                <a:spcPts val="1200"/>
              </a:spcAft>
              <a:buAutoNum type="alphaUcPeriod"/>
              <a:defRPr/>
            </a:pPr>
            <a:r>
              <a:rPr lang="en-US" sz="2800" dirty="0">
                <a:solidFill>
                  <a:schemeClr val="tx1"/>
                </a:solidFill>
              </a:rPr>
              <a:t>Cookies</a:t>
            </a:r>
          </a:p>
        </p:txBody>
      </p:sp>
    </p:spTree>
    <p:extLst>
      <p:ext uri="{BB962C8B-B14F-4D97-AF65-F5344CB8AC3E}">
        <p14:creationId xmlns:p14="http://schemas.microsoft.com/office/powerpoint/2010/main" val="4234811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4830E-5A12-038A-C5D7-41B2BE4E8A5E}"/>
              </a:ext>
            </a:extLst>
          </p:cNvPr>
          <p:cNvSpPr>
            <a:spLocks noGrp="1"/>
          </p:cNvSpPr>
          <p:nvPr>
            <p:ph type="title"/>
          </p:nvPr>
        </p:nvSpPr>
        <p:spPr/>
        <p:txBody>
          <a:bodyPr/>
          <a:lstStyle/>
          <a:p>
            <a:r>
              <a:rPr lang="en-US"/>
              <a:t>Question 10</a:t>
            </a:r>
            <a:endParaRPr lang="en-US" dirty="0"/>
          </a:p>
        </p:txBody>
      </p:sp>
      <p:sp>
        <p:nvSpPr>
          <p:cNvPr id="3" name="Content Placeholder 2">
            <a:extLst>
              <a:ext uri="{FF2B5EF4-FFF2-40B4-BE49-F238E27FC236}">
                <a16:creationId xmlns:a16="http://schemas.microsoft.com/office/drawing/2014/main" id="{B0C0D8B3-7B69-C108-802F-A32BBF803EC4}"/>
              </a:ext>
            </a:extLst>
          </p:cNvPr>
          <p:cNvSpPr>
            <a:spLocks noGrp="1"/>
          </p:cNvSpPr>
          <p:nvPr>
            <p:ph idx="1"/>
          </p:nvPr>
        </p:nvSpPr>
        <p:spPr/>
        <p:txBody>
          <a:bodyPr>
            <a:normAutofit/>
          </a:bodyPr>
          <a:lstStyle/>
          <a:p>
            <a:pPr marL="0" indent="0">
              <a:buNone/>
            </a:pPr>
            <a:r>
              <a:rPr lang="en-US" sz="3200" dirty="0"/>
              <a:t>List items in an unordered list are block level elements by default. How did we make them display side-by-side in our navigation bar example?</a:t>
            </a:r>
          </a:p>
          <a:p>
            <a:pPr marL="0" indent="0">
              <a:buNone/>
            </a:pPr>
            <a:endParaRPr lang="en-US" sz="3200" dirty="0"/>
          </a:p>
          <a:p>
            <a:pPr marL="971550" lvl="1" indent="-514350">
              <a:spcAft>
                <a:spcPts val="1200"/>
              </a:spcAft>
              <a:buAutoNum type="alphaUcPeriod"/>
              <a:defRPr/>
            </a:pPr>
            <a:r>
              <a:rPr lang="en-US" sz="2800" dirty="0">
                <a:solidFill>
                  <a:schemeClr val="tx1"/>
                </a:solidFill>
              </a:rPr>
              <a:t>display: inline;</a:t>
            </a:r>
          </a:p>
          <a:p>
            <a:pPr marL="971550" lvl="1" indent="-514350">
              <a:spcAft>
                <a:spcPts val="1200"/>
              </a:spcAft>
              <a:buAutoNum type="alphaUcPeriod"/>
              <a:defRPr/>
            </a:pPr>
            <a:r>
              <a:rPr lang="en-US" sz="2800" dirty="0"/>
              <a:t>float: left;</a:t>
            </a:r>
            <a:endParaRPr lang="en-US" sz="2800" dirty="0">
              <a:solidFill>
                <a:schemeClr val="tx1"/>
              </a:solidFill>
            </a:endParaRPr>
          </a:p>
          <a:p>
            <a:pPr marL="971550" lvl="1" indent="-514350">
              <a:spcAft>
                <a:spcPts val="1200"/>
              </a:spcAft>
              <a:buAutoNum type="alphaUcPeriod"/>
              <a:defRPr/>
            </a:pPr>
            <a:r>
              <a:rPr lang="en-US" sz="2800" dirty="0"/>
              <a:t>display: block;</a:t>
            </a:r>
            <a:endParaRPr lang="en-US" sz="2800" dirty="0">
              <a:solidFill>
                <a:schemeClr val="tx1"/>
              </a:solidFill>
            </a:endParaRPr>
          </a:p>
          <a:p>
            <a:pPr marL="971550" lvl="1" indent="-514350">
              <a:spcAft>
                <a:spcPts val="1200"/>
              </a:spcAft>
              <a:buAutoNum type="alphaUcPeriod"/>
              <a:defRPr/>
            </a:pPr>
            <a:r>
              <a:rPr lang="en-US" sz="2800" dirty="0">
                <a:solidFill>
                  <a:schemeClr val="tx1"/>
                </a:solidFill>
              </a:rPr>
              <a:t>position: relative;</a:t>
            </a:r>
          </a:p>
        </p:txBody>
      </p:sp>
    </p:spTree>
    <p:extLst>
      <p:ext uri="{BB962C8B-B14F-4D97-AF65-F5344CB8AC3E}">
        <p14:creationId xmlns:p14="http://schemas.microsoft.com/office/powerpoint/2010/main" val="3122192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Sources</a:t>
            </a:r>
          </a:p>
        </p:txBody>
      </p:sp>
      <p:sp>
        <p:nvSpPr>
          <p:cNvPr id="6" name="Content Placeholder 5"/>
          <p:cNvSpPr>
            <a:spLocks noGrp="1"/>
          </p:cNvSpPr>
          <p:nvPr>
            <p:ph idx="1"/>
          </p:nvPr>
        </p:nvSpPr>
        <p:spPr>
          <a:xfrm>
            <a:off x="2133598" y="2160591"/>
            <a:ext cx="6347714" cy="4586439"/>
          </a:xfrm>
        </p:spPr>
        <p:txBody>
          <a:bodyPr>
            <a:normAutofit/>
          </a:bodyPr>
          <a:lstStyle/>
          <a:p>
            <a:r>
              <a:rPr lang="en-US" sz="1000" dirty="0"/>
              <a:t>“CSS Navigation Bar”, W3Schools, Retrieved from http://www.w3schools.com/css/css_navbar.asp</a:t>
            </a:r>
          </a:p>
          <a:p>
            <a:r>
              <a:rPr lang="en-US" sz="1000" dirty="0"/>
              <a:t>“HTML5 Semantic Elements”, W3Schools, Retrieved from http://www.w3schools.com/html/html5_semantic_elements.asp</a:t>
            </a:r>
          </a:p>
          <a:p>
            <a:r>
              <a:rPr lang="en-US" sz="1000" dirty="0"/>
              <a:t>“HTML Reference”, W3Schools, Retrieved from http://www.w3schools.com/tags/default.asp</a:t>
            </a:r>
          </a:p>
          <a:p>
            <a:r>
              <a:rPr lang="en-US" sz="1000" dirty="0"/>
              <a:t>“CSS Reference”, W3Schools, Retrieved from http://www.w3schools.com/cssref/default.asp</a:t>
            </a:r>
          </a:p>
          <a:p>
            <a:endParaRPr lang="en-US" sz="1000" dirty="0"/>
          </a:p>
        </p:txBody>
      </p:sp>
    </p:spTree>
    <p:extLst>
      <p:ext uri="{BB962C8B-B14F-4D97-AF65-F5344CB8AC3E}">
        <p14:creationId xmlns:p14="http://schemas.microsoft.com/office/powerpoint/2010/main" val="711491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768"/>
            <a:ext cx="10515600" cy="701675"/>
          </a:xfrm>
        </p:spPr>
        <p:txBody>
          <a:bodyPr/>
          <a:lstStyle/>
          <a:p>
            <a:r>
              <a:rPr lang="en-US" dirty="0"/>
              <a:t>Copyrights</a:t>
            </a:r>
          </a:p>
        </p:txBody>
      </p:sp>
      <p:sp>
        <p:nvSpPr>
          <p:cNvPr id="3" name="Content Placeholder 2"/>
          <p:cNvSpPr>
            <a:spLocks noGrp="1"/>
          </p:cNvSpPr>
          <p:nvPr>
            <p:ph sz="quarter" idx="1"/>
          </p:nvPr>
        </p:nvSpPr>
        <p:spPr>
          <a:xfrm>
            <a:off x="179942" y="2038120"/>
            <a:ext cx="11832115" cy="3371161"/>
          </a:xfrm>
        </p:spPr>
        <p:txBody>
          <a:bodyPr>
            <a:noAutofit/>
          </a:bodyPr>
          <a:lstStyle/>
          <a:p>
            <a:pPr marL="0" indent="0">
              <a:spcBef>
                <a:spcPct val="50000"/>
              </a:spcBef>
            </a:pPr>
            <a:r>
              <a:rPr lang="en-GB" sz="1100" dirty="0"/>
              <a:t>Microsoft, Windows, Excel, Outlook, and PowerPoint are registered trademarks of Microsoft Corporation. </a:t>
            </a:r>
            <a:endParaRPr lang="de-DE" sz="1100" dirty="0"/>
          </a:p>
          <a:p>
            <a:pPr marL="0" indent="0">
              <a:spcBef>
                <a:spcPct val="50000"/>
              </a:spcBef>
            </a:pPr>
            <a:r>
              <a:rPr lang="en-GB" sz="1100" dirty="0"/>
              <a:t>IBM, DB2, DB2 Universal Database, System i, System i5, System p, System p5, System x, System z, System z10, System z9, z10, z9, iSeries, pSeries, xSeries, zSeries, eServer, z/VM, z/OS, i5/OS, S/390, OS/390, OS/400, AS/400, S/390 Parallel Enterprise Server, PowerVM, Power Architecture, POWER6+, POWER6, POWER5+, POWER5, POWER, OpenPower, PowerPC, BatchPipes, BladeCenter, System Storage, GPFS, HACMP, RETAIN, DB2 Connect, RACF, Redbooks, OS/2, Parallel Sysplex, MVS/ESA, AIX, Intelligent Miner, WebSphere, Netfinity, Tivoli and Informix are trademarks or registered trademarks of IBM Corporation.</a:t>
            </a:r>
            <a:endParaRPr lang="de-DE" sz="1100" dirty="0"/>
          </a:p>
          <a:p>
            <a:pPr marL="0" indent="0">
              <a:spcBef>
                <a:spcPct val="50000"/>
              </a:spcBef>
            </a:pPr>
            <a:r>
              <a:rPr lang="en-GB" sz="1100" dirty="0"/>
              <a:t>Linux is the registered trademark of Linus Torvalds in the U.S. and other countries.</a:t>
            </a:r>
            <a:endParaRPr lang="de-DE" sz="1100" dirty="0"/>
          </a:p>
          <a:p>
            <a:pPr marL="0" indent="0">
              <a:spcBef>
                <a:spcPct val="50000"/>
              </a:spcBef>
            </a:pPr>
            <a:r>
              <a:rPr lang="en-GB" sz="1100" dirty="0"/>
              <a:t>Oracle is a registered trademark of Oracle Corporation. </a:t>
            </a:r>
            <a:endParaRPr lang="de-DE" sz="1100" dirty="0"/>
          </a:p>
          <a:p>
            <a:pPr marL="0" indent="0">
              <a:spcBef>
                <a:spcPct val="50000"/>
              </a:spcBef>
            </a:pPr>
            <a:r>
              <a:rPr lang="en-GB" sz="1100" dirty="0"/>
              <a:t>HTML, XML, XHTML and W3C are trademarks or registered trademarks of W3C®, World Wide Web Consortium, Massachusetts Institute of Technology.</a:t>
            </a:r>
            <a:endParaRPr lang="de-DE" sz="1100" dirty="0"/>
          </a:p>
          <a:p>
            <a:pPr marL="0" indent="0">
              <a:spcBef>
                <a:spcPct val="50000"/>
              </a:spcBef>
            </a:pPr>
            <a:r>
              <a:rPr lang="en-GB" sz="1100" dirty="0"/>
              <a:t>Java is a registered trademark of Sun Microsystems, Inc.</a:t>
            </a:r>
            <a:endParaRPr lang="de-DE" sz="1100" dirty="0"/>
          </a:p>
          <a:p>
            <a:pPr marL="0" indent="0">
              <a:spcBef>
                <a:spcPct val="50000"/>
              </a:spcBef>
            </a:pPr>
            <a:r>
              <a:rPr lang="en-GB" sz="1100" dirty="0"/>
              <a:t>JavaScript is a registered trademark of Sun Microsystems, Inc., used under license for technology invented and implemented by Netscape. </a:t>
            </a:r>
            <a:endParaRPr lang="de-DE" sz="1100" dirty="0"/>
          </a:p>
          <a:p>
            <a:pPr marL="0" indent="0">
              <a:spcBef>
                <a:spcPct val="50000"/>
              </a:spcBef>
            </a:pPr>
            <a:r>
              <a:rPr lang="en-GB" sz="1100" dirty="0"/>
              <a:t>SAP, R/3, SAP NetWeaver, Duet, PartnerEdge, ByDesign, SAP Business ByDesign, and other SAP products and services mentioned herein as well as their respective logos are trademarks or registered trademarks of SAP AG in Germany and other countries. </a:t>
            </a:r>
            <a:endParaRPr lang="de-DE" sz="1100" dirty="0"/>
          </a:p>
          <a:p>
            <a:pPr marL="0" indent="0">
              <a:spcBef>
                <a:spcPct val="50000"/>
              </a:spcBef>
            </a:pPr>
            <a:r>
              <a:rPr lang="en-GB" sz="1100" dirty="0"/>
              <a:t>Business Objects and the Business Objects logo, BusinessObjects, Crystal Reports, Crystal Decisions, Web Intelligence, Xcelsius, and other Business Objects products and services mentioned herein as well as their respective logos are trademarks or registered trademarks of Business Objects S.A. in the United States and in other countries. Business Objects is an SAP company.</a:t>
            </a:r>
          </a:p>
          <a:p>
            <a:pPr marL="0" indent="0">
              <a:spcBef>
                <a:spcPct val="50000"/>
              </a:spcBef>
            </a:pPr>
            <a:r>
              <a:rPr lang="en-GB" sz="1100" dirty="0"/>
              <a:t>ERPsim is a registered copyright of ERPsim Labs, HEC Montreal.</a:t>
            </a:r>
          </a:p>
          <a:p>
            <a:pPr marL="0" indent="0">
              <a:spcBef>
                <a:spcPct val="50000"/>
              </a:spcBef>
            </a:pPr>
            <a:r>
              <a:rPr lang="de-DE" sz="1100" dirty="0"/>
              <a:t>Other products mentioned in this presentation are trademarks of their respective owners.</a:t>
            </a:r>
            <a:endParaRPr lang="en-GB" sz="1100" dirty="0"/>
          </a:p>
        </p:txBody>
      </p:sp>
      <p:sp>
        <p:nvSpPr>
          <p:cNvPr id="4" name="Content Placeholder 6"/>
          <p:cNvSpPr txBox="1">
            <a:spLocks/>
          </p:cNvSpPr>
          <p:nvPr/>
        </p:nvSpPr>
        <p:spPr>
          <a:xfrm>
            <a:off x="3200400" y="835443"/>
            <a:ext cx="5791200" cy="993354"/>
          </a:xfrm>
          <a:prstGeom prst="rect">
            <a:avLst/>
          </a:prstGeom>
        </p:spPr>
        <p:txBody>
          <a:bodyPr vert="horz">
            <a:normAutofit/>
          </a:bodyPr>
          <a:lstStyle/>
          <a:p>
            <a:pPr marL="228600" indent="-228600" algn="ctr">
              <a:spcAft>
                <a:spcPts val="300"/>
              </a:spcAft>
              <a:buClr>
                <a:schemeClr val="accent2"/>
              </a:buClr>
              <a:buSzPct val="90000"/>
              <a:defRPr/>
            </a:pPr>
            <a:r>
              <a:rPr lang="en-US" dirty="0">
                <a:latin typeface="Calibri" pitchFamily="34" charset="0"/>
              </a:rPr>
              <a:t>Presentation prepared by and copyright of John Ramsey, East Tennessee State University, Department of Computing . (</a:t>
            </a:r>
            <a:r>
              <a:rPr lang="en-US" dirty="0">
                <a:latin typeface="Calibri" pitchFamily="34" charset="0"/>
                <a:hlinkClick r:id="rId3"/>
              </a:rPr>
              <a:t>ramseyjw@etsu.edu</a:t>
            </a:r>
            <a:r>
              <a:rPr lang="en-US" dirty="0">
                <a:latin typeface="Calibri" pitchFamily="34" charset="0"/>
              </a:rPr>
              <a:t>)</a:t>
            </a:r>
          </a:p>
        </p:txBody>
      </p:sp>
      <p:pic>
        <p:nvPicPr>
          <p:cNvPr id="6" name="Picture 5" descr="sm-C&amp;IS-Logo.jpg"/>
          <p:cNvPicPr>
            <a:picLocks noChangeAspect="1"/>
          </p:cNvPicPr>
          <p:nvPr/>
        </p:nvPicPr>
        <p:blipFill>
          <a:blip r:embed="rId4" cstate="print"/>
          <a:stretch>
            <a:fillRect/>
          </a:stretch>
        </p:blipFill>
        <p:spPr>
          <a:xfrm>
            <a:off x="9551454" y="759243"/>
            <a:ext cx="945096" cy="1197121"/>
          </a:xfrm>
          <a:prstGeom prst="rect">
            <a:avLst/>
          </a:prstGeom>
        </p:spPr>
      </p:pic>
      <p:pic>
        <p:nvPicPr>
          <p:cNvPr id="7" name="Picture 6"/>
          <p:cNvPicPr>
            <a:picLocks noChangeAspect="1"/>
          </p:cNvPicPr>
          <p:nvPr/>
        </p:nvPicPr>
        <p:blipFill rotWithShape="1">
          <a:blip r:embed="rId5">
            <a:extLst>
              <a:ext uri="{28A0092B-C50C-407E-A947-70E740481C1C}">
                <a14:useLocalDpi xmlns:a14="http://schemas.microsoft.com/office/drawing/2010/main" val="0"/>
              </a:ext>
            </a:extLst>
          </a:blip>
          <a:srcRect l="30200" t="23395" r="33350" b="20101"/>
          <a:stretch/>
        </p:blipFill>
        <p:spPr>
          <a:xfrm>
            <a:off x="882771" y="835443"/>
            <a:ext cx="1221451" cy="1120921"/>
          </a:xfrm>
          <a:prstGeom prst="rect">
            <a:avLst/>
          </a:prstGeom>
          <a:effectLst>
            <a:glow rad="101600">
              <a:schemeClr val="accent1">
                <a:satMod val="175000"/>
                <a:alpha val="40000"/>
              </a:schemeClr>
            </a:glow>
          </a:effectLst>
        </p:spPr>
      </p:pic>
    </p:spTree>
    <p:extLst>
      <p:ext uri="{BB962C8B-B14F-4D97-AF65-F5344CB8AC3E}">
        <p14:creationId xmlns:p14="http://schemas.microsoft.com/office/powerpoint/2010/main" val="422606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sci1100_1150_lab_v2.3">
      <a:dk1>
        <a:sysClr val="windowText" lastClr="000000"/>
      </a:dk1>
      <a:lt1>
        <a:sysClr val="window" lastClr="FFFFFF"/>
      </a:lt1>
      <a:dk2>
        <a:srgbClr val="444F9C"/>
      </a:dk2>
      <a:lt2>
        <a:srgbClr val="E8E8E8"/>
      </a:lt2>
      <a:accent1>
        <a:srgbClr val="FDE379"/>
      </a:accent1>
      <a:accent2>
        <a:srgbClr val="7B9FAB"/>
      </a:accent2>
      <a:accent3>
        <a:srgbClr val="E8927C"/>
      </a:accent3>
      <a:accent4>
        <a:srgbClr val="FF5DBA"/>
      </a:accent4>
      <a:accent5>
        <a:srgbClr val="9B8BBD"/>
      </a:accent5>
      <a:accent6>
        <a:srgbClr val="95D08A"/>
      </a:accent6>
      <a:hlink>
        <a:srgbClr val="467886"/>
      </a:hlink>
      <a:folHlink>
        <a:srgbClr val="96607D"/>
      </a:folHlink>
    </a:clrScheme>
    <a:fontScheme name="Web Essentials">
      <a:majorFont>
        <a:latin typeface="Text Me One"/>
        <a:ea typeface=""/>
        <a:cs typeface=""/>
      </a:majorFont>
      <a:minorFont>
        <a:latin typeface="Aveni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3-html-part-2.pptx" id="{2DF8F905-1FA3-48F0-ABED-3D722CA0B907}" vid="{347B3FB8-E8A9-4463-9142-CE8F40D11C0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20010</TotalTime>
  <Words>6456</Words>
  <Application>Microsoft Office PowerPoint</Application>
  <PresentationFormat>Widescreen</PresentationFormat>
  <Paragraphs>780</Paragraphs>
  <Slides>84</Slides>
  <Notes>31</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84</vt:i4>
      </vt:variant>
    </vt:vector>
  </HeadingPairs>
  <TitlesOfParts>
    <vt:vector size="102" baseType="lpstr">
      <vt:lpstr>Aptos</vt:lpstr>
      <vt:lpstr>Arial</vt:lpstr>
      <vt:lpstr>Avenir</vt:lpstr>
      <vt:lpstr>Bahnschrift</vt:lpstr>
      <vt:lpstr>Book Antiqua</vt:lpstr>
      <vt:lpstr>Calibri</vt:lpstr>
      <vt:lpstr>Calibri Light</vt:lpstr>
      <vt:lpstr>Cambria Math</vt:lpstr>
      <vt:lpstr>Segoe UI</vt:lpstr>
      <vt:lpstr>Segoe UI Emoji</vt:lpstr>
      <vt:lpstr>Segoe UI Symbol</vt:lpstr>
      <vt:lpstr>Sorts Mill Goudy</vt:lpstr>
      <vt:lpstr>Source Sans Pro</vt:lpstr>
      <vt:lpstr>Text Me One</vt:lpstr>
      <vt:lpstr>Wingdings</vt:lpstr>
      <vt:lpstr>Office Theme</vt:lpstr>
      <vt:lpstr>1_Office Theme</vt:lpstr>
      <vt:lpstr>Image</vt:lpstr>
      <vt:lpstr>HTML5 Semantic Elements / Information Architecture  / Navigation</vt:lpstr>
      <vt:lpstr>Class Today</vt:lpstr>
      <vt:lpstr>Semantics</vt:lpstr>
      <vt:lpstr>HTML5 Semantic Tags</vt:lpstr>
      <vt:lpstr>Header</vt:lpstr>
      <vt:lpstr>Nav</vt:lpstr>
      <vt:lpstr>Nav</vt:lpstr>
      <vt:lpstr>Nav</vt:lpstr>
      <vt:lpstr>Section</vt:lpstr>
      <vt:lpstr>Section</vt:lpstr>
      <vt:lpstr>Article</vt:lpstr>
      <vt:lpstr>Article</vt:lpstr>
      <vt:lpstr>Aside</vt:lpstr>
      <vt:lpstr>Aside</vt:lpstr>
      <vt:lpstr>Footer</vt:lpstr>
      <vt:lpstr>Figure Captions</vt:lpstr>
      <vt:lpstr>Nesting Semantic Elements</vt:lpstr>
      <vt:lpstr>Nesting Semantic Elements</vt:lpstr>
      <vt:lpstr>Nesting Semantic Elements</vt:lpstr>
      <vt:lpstr>Nesting Semantic Elements</vt:lpstr>
      <vt:lpstr>PowerPoint Presentation</vt:lpstr>
      <vt:lpstr>PowerPoint Presentation</vt:lpstr>
      <vt:lpstr>Why Semantic HTML5 Elements?</vt:lpstr>
      <vt:lpstr>Why Semantic HTML5 Elements?</vt:lpstr>
      <vt:lpstr>HTML5 Semantic Tags</vt:lpstr>
      <vt:lpstr>HTML5 Semantic Tags</vt:lpstr>
      <vt:lpstr>HTML5 Semantic Tags</vt:lpstr>
      <vt:lpstr>HTML5 Semantic Tags</vt:lpstr>
      <vt:lpstr>Information Architecture &amp; Site Navigation</vt:lpstr>
      <vt:lpstr>Information Architecture (IA)</vt:lpstr>
      <vt:lpstr>Information Architecture (IA)</vt:lpstr>
      <vt:lpstr>The Goals of IA</vt:lpstr>
      <vt:lpstr>IA: Information “ scent” ?</vt:lpstr>
      <vt:lpstr>IA: Information “ scent” , cont’d</vt:lpstr>
      <vt:lpstr>Types of Information Seeking</vt:lpstr>
      <vt:lpstr>IA: Information-Seeking Strategies</vt:lpstr>
      <vt:lpstr>PowerPoint Presentation</vt:lpstr>
      <vt:lpstr>The Process for Planning Site Organization</vt:lpstr>
      <vt:lpstr>The Dept. of Computing’s Site Organization</vt:lpstr>
      <vt:lpstr>The Dept. of Computing’s Site Organization</vt:lpstr>
      <vt:lpstr>PowerPoint Presentation</vt:lpstr>
      <vt:lpstr>Supporting Browsing for Known Information</vt:lpstr>
      <vt:lpstr>PowerPoint Presentation</vt:lpstr>
      <vt:lpstr>Supporting Exploratory Browsing</vt:lpstr>
      <vt:lpstr>PowerPoint Presentation</vt:lpstr>
      <vt:lpstr>Creating Labels &amp; Defining Structure</vt:lpstr>
      <vt:lpstr>Exercise – Organizing Items Into Categories</vt:lpstr>
      <vt:lpstr>Many Ways to Organize</vt:lpstr>
      <vt:lpstr>Information Architecture (IA)</vt:lpstr>
      <vt:lpstr>Balancing Browsing Needs Known &amp; Exploratory</vt:lpstr>
      <vt:lpstr>PowerPoint Presentation</vt:lpstr>
      <vt:lpstr>PowerPoint Presentation</vt:lpstr>
      <vt:lpstr>The User's Mental Model: Top-down</vt:lpstr>
      <vt:lpstr>The User's Mental Model: Bottom-up</vt:lpstr>
      <vt:lpstr>Bottom-up IA Design Features: Specific Site Page</vt:lpstr>
      <vt:lpstr>Takeaways</vt:lpstr>
      <vt:lpstr>Takeaways: Critical IA Concerns to Support Info-Seeking</vt:lpstr>
      <vt:lpstr>Takeaways: What good navigation should answer</vt:lpstr>
      <vt:lpstr>Takeaways: Principles of Successful Navigation</vt:lpstr>
      <vt:lpstr>Takeaways: Principles of Successful Navigation</vt:lpstr>
      <vt:lpstr>Pseudo Classes</vt:lpstr>
      <vt:lpstr>Pseudo-classes </vt:lpstr>
      <vt:lpstr>Pseudo-classes </vt:lpstr>
      <vt:lpstr>Pseudo-classes</vt:lpstr>
      <vt:lpstr>Unordered List Navigation Bar</vt:lpstr>
      <vt:lpstr>HTML &amp; CSS – Navigation Bar</vt:lpstr>
      <vt:lpstr>Navigation Bar - HTML</vt:lpstr>
      <vt:lpstr>Navigation Bar - CSS</vt:lpstr>
      <vt:lpstr>Navigation Bar - CSS</vt:lpstr>
      <vt:lpstr>Navigation Bar - CSS</vt:lpstr>
      <vt:lpstr>Navigation Bar - CSS</vt:lpstr>
      <vt:lpstr>Navigation Bar - CSS</vt:lpstr>
      <vt:lpstr>Lecture Quiz 8</vt:lpstr>
      <vt:lpstr>Question 1</vt:lpstr>
      <vt:lpstr>Question 2</vt:lpstr>
      <vt:lpstr>Question 3</vt:lpstr>
      <vt:lpstr>Question 4</vt:lpstr>
      <vt:lpstr>Question 5</vt:lpstr>
      <vt:lpstr>Question 7</vt:lpstr>
      <vt:lpstr>Question 8</vt:lpstr>
      <vt:lpstr>Question 9</vt:lpstr>
      <vt:lpstr>Question 10</vt:lpstr>
      <vt:lpstr>Sources</vt:lpstr>
      <vt:lpstr>Copyrights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HTML5 Semantics and Information Architecture</dc:title>
  <dc:creator>Jack Ramsey;HAASRR@mail.etsu.edu</dc:creator>
  <cp:lastModifiedBy>Haas, Ryan R</cp:lastModifiedBy>
  <cp:revision>135</cp:revision>
  <dcterms:created xsi:type="dcterms:W3CDTF">2015-01-07T14:02:51Z</dcterms:created>
  <dcterms:modified xsi:type="dcterms:W3CDTF">2026-08-07T19:31:45Z</dcterms:modified>
</cp:coreProperties>
</file>